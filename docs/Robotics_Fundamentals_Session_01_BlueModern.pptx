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6"/>
  </p:notes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297" r:id="rId27"/>
    <p:sldId id="298" r:id="rId28"/>
    <p:sldId id="299" r:id="rId29"/>
    <p:sldId id="300" r:id="rId30"/>
    <p:sldId id="301" r:id="rId31"/>
    <p:sldId id="302" r:id="rId32"/>
    <p:sldId id="303" r:id="rId33"/>
    <p:sldId id="304" r:id="rId34"/>
    <p:sldId id="305" r:id="rId35"/>
    <p:sldId id="306" r:id="rId36"/>
    <p:sldId id="307" r:id="rId37"/>
    <p:sldId id="308" r:id="rId38"/>
    <p:sldId id="309" r:id="rId39"/>
    <p:sldId id="310" r:id="rId40"/>
    <p:sldId id="311" r:id="rId41"/>
    <p:sldId id="312" r:id="rId42"/>
    <p:sldId id="313" r:id="rId43"/>
    <p:sldId id="314" r:id="rId44"/>
    <p:sldId id="315" r:id="rId45"/>
  </p:sldIdLst>
  <p:sldSz cx="18288000" cy="10287000"/>
  <p:notesSz cx="6858000" cy="9144000"/>
  <p:embeddedFontLst>
    <p:embeddedFont>
      <p:font typeface="Segoe UI" panose="020B0502040204020203" pitchFamily="34" charset="0"/>
      <p:regular r:id="rId47"/>
      <p:bold r:id="rId48"/>
      <p:italic r:id="rId49"/>
      <p:boldItalic r:id="rId50"/>
    </p:embeddedFont>
    <p:embeddedFont>
      <p:font typeface="Segoe UI Semibold" panose="020B0702040204020203" pitchFamily="34" charset="0"/>
      <p:bold r:id="rId51"/>
      <p:boldItalic r:id="rId5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876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2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5.fntdata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173D69-06BD-43C1-AB23-6B1B720BF9C3}" type="datetimeFigureOut">
              <a:rPr lang="fr-FR" smtClean="0"/>
              <a:t>07/09/2026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540799-01D7-4BD6-AA4E-7725E4FD6E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9792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Welcome &amp; Energy:
   - "Good evening and welcome to Session 01 of Robotics Fundamentals!"
   - "Whether you are an engineering student, an enthusiast, or a maker, this workshop is designed for YOU."
2. The Session Goal:
   - "This is not a boring calculus lecture. We are here to understand how a robot actually becomes a working physical system—from the motors and bones to the batteries and code."
3. Logistics:
   - "Keep your chat window open! We will have live polls, design sprints, and Q&amp;A throughout."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40799-01D7-4BD6-AA4E-7725E4FD6E46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85848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Audience Poll:
   - "Vote in chat: A, B, C, or D! Which part is the most critical for a great robot?"
2. The Big Reveal:
   - "Most people vote Software. But think about it: If your muscles are strong and your brain is a supercomputer, but your bones are made of wet spaghetti... can you sign your name with a pen?"
   - "Robotics is the harmony of all four."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40799-01D7-4BD6-AA4E-7725E4FD6E46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52597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Human Body Metaphor:
   - "Keep this metaphor in your head all evening: Skeleton, Nerves, Reflexes, and Mind."
   - "Real robotics engineering happens at the intersections."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40799-01D7-4BD6-AA4E-7725E4FD6E46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82844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Walkthrough the Loop:
   - "Sense, Decide, Act. If any one of these three steps breaks, the robot is blind, paralyzed, or out of control."
2. Speed Matters:
   - "A quadcopter drone must run this loop at 500 Hz (500 times a second) or gravity wins."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40799-01D7-4BD6-AA4E-7725E4FD6E46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10043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The First Principles:
   - "Notice what is NOT on this slide: 'What programming language should I learn?'"
   - "First define reach, payload, and physical constraints."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40799-01D7-4BD6-AA4E-7725E4FD6E46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9327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Interaction:
   - "Close your eyes and try to walk 10 steps in a straight line. You will inevitably drift. That is open-loop control."
2. Encoders:
   - "Closing the loop with encoders is what separates an electric toy from a real robot."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40799-01D7-4BD6-AA4E-7725E4FD6E46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45327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Section Intro:
   - "Part 01: Mechanical Fundamentals. How does geometry become movement?"
2. Takeaway:
   - "Understand links, joints, and why 6 axes are the magic number."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40799-01D7-4BD6-AA4E-7725E4FD6E46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29286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Keep it Concrete:
   - "Look at your own arm: Shoulder = Joint 1, Upper arm = Link 1, Elbow = Joint 2, Forearm = Link 2, Wrist = Joint 3, Fingers = End-Effector."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40799-01D7-4BD6-AA4E-7725E4FD6E46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12071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Simplify Joints:
   - "Almost every joint in the universe is either a Hinge (Revolute) or a Slider (Prismatic)."
   - "Combine them, and you get Cartesian, SCARA, or articulated robot arms."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40799-01D7-4BD6-AA4E-7725E4FD6E46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42517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The 6-DOF Goal:
   - "In 3D space, any rigid object has exactly 6 degrees of freedom: 3 to position it, and 3 to orient it."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40799-01D7-4BD6-AA4E-7725E4FD6E46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81199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The Golden Rule:
   - "Use the MINIMUM number of joints to accomplish the mission. If your 3D printer only needs 3 axes, do not build a 6-axis arm!"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40799-01D7-4BD6-AA4E-7725E4FD6E46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79694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Industrial Arm Anatomy:
   - "Axes 1 to 3 are the crane: they put the wrist in position."
   - "Axes 4 to 6 are the hand: they orient the welding torch or spray gun."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40799-01D7-4BD6-AA4E-7725E4FD6E46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30924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Interactive Exercise:
   - "Look at any robot in your lab or online. Break it down using these 5 lenses."
   - "Where do the wires bend? That's where it will fail in 6 months."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40799-01D7-4BD6-AA4E-7725E4FD6E46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19894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Section Intro:
   - "Part 02: Actuation and Power Transmission. The muscles of the robot!"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40799-01D7-4BD6-AA4E-7725E4FD6E46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99519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Quick Guide:
   - "Wheels? Geared DC. 3D printer? Stepper. High-performance arm? Brushless (BLDC)."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40799-01D7-4BD6-AA4E-7725E4FD6E46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42200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Real-World Analogy:
   - "Have everyone in the audience imagine holding that shopping bag. That burning feeling in your shoulder is what your joint motor feels every second."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40799-01D7-4BD6-AA4E-7725E4FD6E46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0480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Don't Just Look at Torque:
   - "A winch motor has tons of torque, but takes 10 minutes to turn once. You need the right balance of torque and speed."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40799-01D7-4BD6-AA4E-7725E4FD6E46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46938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Archer Metaphor:
   - "High resolution without repeatability is useless. Always check repeatability on robot datasheets."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40799-01D7-4BD6-AA4E-7725E4FD6E46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05403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Steering Wheel Analogy:
   - "Have you ever driven an old car where you turn the wheel 2 inches before the tires react? That is backlash."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40799-01D7-4BD6-AA4E-7725E4FD6E46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55875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Trick Question Reveal:
   - "Trick question! None of them until you know your task requirements!"
   - "Never fall in love with motor specs before defining your payload."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40799-01D7-4BD6-AA4E-7725E4FD6E46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03283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Section Intro:
   - "Part 03: Mechanical Design. The skeleton that bears the load."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40799-01D7-4BD6-AA4E-7725E4FD6E46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46215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Human Bone Metaphor:
   - "Muscles generate pull, but bones and cartilage take the load. Separate torque generation from structural load bearing."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40799-01D7-4BD6-AA4E-7725E4FD6E46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40781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Explain L³ Simply:
   - "Double the reach = 8x the bend. That is why industrial robot arms look stocky and thick."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40799-01D7-4BD6-AA4E-7725E4FD6E46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27499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Maker Strategy:
   - "3D print brackets on Friday night, but use aluminum tubes for long structural arms!"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40799-01D7-4BD6-AA4E-7725E4FD6E46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714519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The Iron Law:
   - "You cannot build a NASA precision robot for 100 dollars. Great engineering is choosing the right compromise."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40799-01D7-4BD6-AA4E-7725E4FD6E46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993945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The Tuning Fork:
   - "When Arm B stops, it vibrates like a guitar string for 1.5 seconds. Always design arms compact."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40799-01D7-4BD6-AA4E-7725E4FD6E46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998014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3-Minute Sprint:
   - "Drop your choices in chat: Aluminum or plastic? Stepper or servo?"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40799-01D7-4BD6-AA4E-7725E4FD6E46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543501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Section Intro:
   - "Part 04: Power and Electrical Systems. A robot without power is an expensive paperweight."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40799-01D7-4BD6-AA4E-7725E4FD6E46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948854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Remember This:
   - "Voltage gives you SPEED. Current gives you TORQUE. Multiply them for Watts."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40799-01D7-4BD6-AA4E-7725E4FD6E46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031325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Real Competition Story:
   - "Robots reboot on the starting line because the 0.5-second acceleration spike trips the battery protection."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40799-01D7-4BD6-AA4E-7725E4FD6E46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61837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Field Truth:
   - "Sales sheet: 2 hours. Lab test: 42 minutes before safety shutoff. Plan accordingly."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40799-01D7-4BD6-AA4E-7725E4FD6E46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681819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Debugging Detective:
   - "'It worked on my desk!' On the desk, wheels spun freely. On carpet, friction triggered the brownout."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40799-01D7-4BD6-AA4E-7725E4FD6E46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582760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Section Intro:
   - "Part 05: Software, Tools &amp; Simulation. Where does code actually live in a robot?"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40799-01D7-4BD6-AA4E-7725E4FD6E46}" type="slidenum">
              <a:rPr lang="fr-FR" smtClean="0"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210293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Layer Rule:
   - "Never pulse motor pins from desktop Python, and never run heavy AI on an Arduino. Respect the layers."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40799-01D7-4BD6-AA4E-7725E4FD6E46}" type="slidenum">
              <a:rPr lang="fr-FR" smtClean="0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454239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Democratizing Robotics:
   - "You do not need $10,000 corporate licenses. Everything you need to build world-class robots is free."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40799-01D7-4BD6-AA4E-7725E4FD6E46}" type="slidenum">
              <a:rPr lang="fr-FR" smtClean="0"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883862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PRESENTER NOTES:
1. Quote:
   - "'Installing ROS doesn't make your robot autonomous—just like installing Photoshop doesn't make you Leonardo da Vinci!'"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40799-01D7-4BD6-AA4E-7725E4FD6E46}" type="slidenum">
              <a:rPr lang="fr-FR" smtClean="0"/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037435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Section Intro:
   - "Part 06: Prototyping and Reality. This is where engineers are forged."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40799-01D7-4BD6-AA4E-7725E4FD6E46}" type="slidenum">
              <a:rPr lang="fr-FR" smtClean="0"/>
              <a:t>37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636318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Mindset:
   - "If your first prototype doesn't break, you didn't test it hard enough. Breaking on your workbench is how you find your real safety boundaries."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40799-01D7-4BD6-AA4E-7725E4FD6E46}" type="slidenum">
              <a:rPr lang="fr-FR" smtClean="0"/>
              <a:t>38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322569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Relatable Humor:
   - "Every engineer laughs at this slide because every engineer has lived it. Leave room for cables from day one."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40799-01D7-4BD6-AA4E-7725E4FD6E46}" type="slidenum">
              <a:rPr lang="fr-FR" smtClean="0"/>
              <a:t>39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40280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Don't Hide Failures:
   - "In your portfolio, document your failures and how you solved them. That is what top engineering companies hire for."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40799-01D7-4BD6-AA4E-7725E4FD6E46}" type="slidenum">
              <a:rPr lang="fr-FR" smtClean="0"/>
              <a:t>40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167597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Team Sprint:
   - "You are the chief engineers. Drop your drive topology and battery choice in chat!"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40799-01D7-4BD6-AA4E-7725E4FD6E46}" type="slidenum">
              <a:rPr lang="fr-FR" smtClean="0"/>
              <a:t>41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292457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The Lesson of the Ramp:
   - "One small change in terrain ripples through motor torque, battery runtime, tire material, and center of gravity."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40799-01D7-4BD6-AA4E-7725E4FD6E46}" type="slidenum">
              <a:rPr lang="fr-FR" smtClean="0"/>
              <a:t>42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351936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The Cheatsheet:
   - "Take a screenshot of this slide and put it above your workbench."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40799-01D7-4BD6-AA4E-7725E4FD6E46}" type="slidenum">
              <a:rPr lang="fr-FR" smtClean="0"/>
              <a:t>43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602077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PRESENTER NOTES:
1. Inspiring Close:
   - "Define. Design. Calculate. Build. Test. Break. Improve. That is the true path of robotics."
2. Teaser:
   - "Next week in Session 02: We give our robot eyes and ears with LiDAR, depth cameras, and Kalman filtering."
3. Q&amp;A:
   - "I'll now open the floor for questions! Drop them in the chat or unmute."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40799-01D7-4BD6-AA4E-7725E4FD6E46}" type="slidenum">
              <a:rPr lang="fr-FR" smtClean="0"/>
              <a:t>44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619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744190" y="-4042349"/>
            <a:ext cx="6446938" cy="6458681"/>
          </a:xfrm>
          <a:custGeom>
            <a:avLst/>
            <a:gdLst/>
            <a:ahLst/>
            <a:cxnLst/>
            <a:rect l="l" t="t" r="r" b="b"/>
            <a:pathLst>
              <a:path w="6446938" h="6458681">
                <a:moveTo>
                  <a:pt x="0" y="0"/>
                </a:moveTo>
                <a:lnTo>
                  <a:pt x="6446937" y="0"/>
                </a:lnTo>
                <a:lnTo>
                  <a:pt x="6446937" y="6458681"/>
                </a:lnTo>
                <a:lnTo>
                  <a:pt x="0" y="64586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9703520" y="1954573"/>
            <a:ext cx="11124397" cy="6377854"/>
            <a:chOff x="0" y="0"/>
            <a:chExt cx="888424" cy="5093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88424" cy="509352"/>
            </a:xfrm>
            <a:custGeom>
              <a:avLst/>
              <a:gdLst/>
              <a:ahLst/>
              <a:cxnLst/>
              <a:rect l="l" t="t" r="r" b="b"/>
              <a:pathLst>
                <a:path w="888424" h="509352">
                  <a:moveTo>
                    <a:pt x="685224" y="0"/>
                  </a:moveTo>
                  <a:cubicBezTo>
                    <a:pt x="797454" y="0"/>
                    <a:pt x="888424" y="114015"/>
                    <a:pt x="888424" y="254676"/>
                  </a:cubicBezTo>
                  <a:cubicBezTo>
                    <a:pt x="888424" y="395337"/>
                    <a:pt x="797454" y="509352"/>
                    <a:pt x="685224" y="509352"/>
                  </a:cubicBezTo>
                  <a:lnTo>
                    <a:pt x="203200" y="509352"/>
                  </a:lnTo>
                  <a:cubicBezTo>
                    <a:pt x="90970" y="509352"/>
                    <a:pt x="0" y="395337"/>
                    <a:pt x="0" y="254676"/>
                  </a:cubicBezTo>
                  <a:cubicBezTo>
                    <a:pt x="0" y="114015"/>
                    <a:pt x="90970" y="0"/>
                    <a:pt x="203200" y="0"/>
                  </a:cubicBezTo>
                  <a:lnTo>
                    <a:pt x="685224" y="0"/>
                  </a:lnTo>
                </a:path>
              </a:pathLst>
            </a:custGeom>
            <a:blipFill>
              <a:blip r:embed="rId4"/>
              <a:stretch>
                <a:fillRect/>
              </a:stretch>
            </a:blipFill>
            <a:ln w="171450" cap="sq">
              <a:solidFill>
                <a:srgbClr val="22588D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6" name="Freeform 6"/>
          <p:cNvSpPr/>
          <p:nvPr/>
        </p:nvSpPr>
        <p:spPr>
          <a:xfrm>
            <a:off x="-1080828" y="4476186"/>
            <a:ext cx="6446938" cy="6458681"/>
          </a:xfrm>
          <a:custGeom>
            <a:avLst/>
            <a:gdLst/>
            <a:ahLst/>
            <a:cxnLst/>
            <a:rect l="l" t="t" r="r" b="b"/>
            <a:pathLst>
              <a:path w="6446938" h="6458681">
                <a:moveTo>
                  <a:pt x="0" y="0"/>
                </a:moveTo>
                <a:lnTo>
                  <a:pt x="6446938" y="0"/>
                </a:lnTo>
                <a:lnTo>
                  <a:pt x="6446938" y="6458681"/>
                </a:lnTo>
                <a:lnTo>
                  <a:pt x="0" y="64586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" name="TextBox 7"/>
          <p:cNvSpPr txBox="1"/>
          <p:nvPr/>
        </p:nvSpPr>
        <p:spPr>
          <a:xfrm>
            <a:off x="1028700" y="2921000"/>
            <a:ext cx="8255000" cy="1974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099"/>
              </a:lnSpc>
            </a:pPr>
            <a:r>
              <a:rPr lang="en-US" sz="5400" b="1" u="none" strike="noStrike">
                <a:solidFill>
                  <a:srgbClr val="22588D"/>
                </a:solidFill>
                <a:latin typeface="Segoe UI Semibold" panose="020B0702040204020203" pitchFamily="34" charset="0"/>
                <a:ea typeface="Museo Moderno Bold"/>
                <a:cs typeface="Museo Moderno Bold"/>
                <a:sym typeface="Museo Moderno Bold"/>
              </a:rPr>
              <a:t>ROBOTICS
FUNDAMENTALS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5588000"/>
            <a:ext cx="8255000" cy="11353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2000">
                <a:solidFill>
                  <a:srgbClr val="22588D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Session 01 / 04: Mechanical, Electrical Systems &amp; Design
How a robot becomes a real, functioning physical system.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699" y="9461499"/>
            <a:ext cx="12700000" cy="8232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1500">
                <a:solidFill>
                  <a:srgbClr val="476690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Thursday, 10 September 2026 • 20:00 GMT+3
Online Interactive Workshop for Beginners &amp; Makers</a:t>
            </a:r>
          </a:p>
        </p:txBody>
      </p:sp>
      <p:sp>
        <p:nvSpPr>
          <p:cNvPr id="11" name="IndicationBadge">
            <a:extLst>
              <a:ext uri="{FF2B5EF4-FFF2-40B4-BE49-F238E27FC236}">
                <a16:creationId xmlns:a16="http://schemas.microsoft.com/office/drawing/2014/main" id="{E3A6439A-AEBA-31B2-C01B-18A8B867A117}"/>
              </a:ext>
            </a:extLst>
          </p:cNvPr>
          <p:cNvSpPr/>
          <p:nvPr/>
        </p:nvSpPr>
        <p:spPr>
          <a:xfrm>
            <a:off x="1028700" y="533400"/>
            <a:ext cx="3830320" cy="355600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2258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25400" rIns="127000" bIns="25400" rtlCol="0" anchor="ctr"/>
          <a:lstStyle/>
          <a:p>
            <a:pPr algn="ctr"/>
            <a:r>
              <a:rPr lang="en-US" sz="1050" b="1">
                <a:solidFill>
                  <a:srgbClr val="22588D"/>
                </a:solidFill>
                <a:latin typeface="Segoe UI Semibold" panose="020B0702040204020203" pitchFamily="34" charset="0"/>
              </a:rPr>
              <a:t>ROBOTICS MASTERCLASS • SESSION 01 / 04</a:t>
            </a:r>
            <a:endParaRPr lang="fr-FR" sz="1050" b="1">
              <a:solidFill>
                <a:srgbClr val="22588D"/>
              </a:solidFill>
              <a:latin typeface="Segoe UI Semibold" panose="020B0702040204020203" pitchFamily="34" charset="0"/>
            </a:endParaRPr>
          </a:p>
        </p:txBody>
      </p:sp>
      <p:pic>
        <p:nvPicPr>
          <p:cNvPr id="12" name="AcademyCrest">
            <a:extLst>
              <a:ext uri="{FF2B5EF4-FFF2-40B4-BE49-F238E27FC236}">
                <a16:creationId xmlns:a16="http://schemas.microsoft.com/office/drawing/2014/main" id="{A3B95F65-BC85-BDAC-F22F-A49A6EDE5184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1778000"/>
            <a:ext cx="29210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509398"/>
      </p:ext>
    </p:extLst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7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7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07159" y="-6035048"/>
            <a:ext cx="10704366" cy="10723864"/>
          </a:xfrm>
          <a:custGeom>
            <a:avLst/>
            <a:gdLst/>
            <a:ahLst/>
            <a:cxnLst/>
            <a:rect l="l" t="t" r="r" b="b"/>
            <a:pathLst>
              <a:path w="10704366" h="10723864">
                <a:moveTo>
                  <a:pt x="0" y="0"/>
                </a:moveTo>
                <a:lnTo>
                  <a:pt x="10704366" y="0"/>
                </a:lnTo>
                <a:lnTo>
                  <a:pt x="10704366" y="10723864"/>
                </a:lnTo>
                <a:lnTo>
                  <a:pt x="0" y="107238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2794000" y="1142999"/>
            <a:ext cx="12700000" cy="9066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3400" b="1" u="none" strike="noStrike">
                <a:solidFill>
                  <a:srgbClr val="22588D"/>
                </a:solidFill>
                <a:latin typeface="Segoe UI Semibold" panose="020B0702040204020203" pitchFamily="34" charset="0"/>
                <a:ea typeface="Museo Moderno Bold"/>
                <a:cs typeface="Museo Moderno Bold"/>
                <a:sym typeface="Museo Moderno Bold"/>
              </a:rPr>
              <a:t>What Actually Makes a Robot Move?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995747"/>
            <a:ext cx="7334260" cy="8580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Strong &amp; fast muscles
that turn electrical currents into mechanical force.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363922"/>
            <a:ext cx="6870825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2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A. THE MOTORS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6072975"/>
            <a:ext cx="5604938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2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C. THE SOFTWARE</a:t>
            </a:r>
            <a:endParaRPr lang="en-US" sz="2200" b="1" u="none" strike="noStrike">
              <a:solidFill>
                <a:srgbClr val="22588D"/>
              </a:solidFill>
              <a:latin typeface="Segoe UI Semibold" panose="020B0702040204020203" pitchFamily="34" charset="0"/>
              <a:ea typeface="Poppins Bold"/>
              <a:cs typeface="Poppins Bold"/>
              <a:sym typeface="Poppi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6704800"/>
            <a:ext cx="7334260" cy="8319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The intelligent mind:
Path planning, sensor feedback, and real-time control loops.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5040" y="3995747"/>
            <a:ext cx="7334260" cy="8319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The power &amp; nerves:
Motor drivers, clean wiring, and batteries supplying peak surges.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5040" y="3363922"/>
            <a:ext cx="6870825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2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B. THE ELECTRONICS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5040" y="6072975"/>
            <a:ext cx="6683482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2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D. THE SKELETON</a:t>
            </a:r>
            <a:endParaRPr lang="en-US" sz="2200" b="1" u="none" strike="noStrike">
              <a:solidFill>
                <a:srgbClr val="22588D"/>
              </a:solidFill>
              <a:latin typeface="Segoe UI Semibold" panose="020B0702040204020203" pitchFamily="34" charset="0"/>
              <a:ea typeface="Poppins Bold"/>
              <a:cs typeface="Poppins Bold"/>
              <a:sym typeface="Poppi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925040" y="6704800"/>
            <a:ext cx="7334260" cy="8319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The rigid structure:
Links, bearings, and gears that bear loads without flexing.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699" y="9461499"/>
            <a:ext cx="12700000" cy="374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1300">
                <a:solidFill>
                  <a:srgbClr val="476690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ROBOTICS FUNDAMENTALS • SESSION 01 / 04 • THURSDAY, 10 SEPT 2026</a:t>
            </a:r>
          </a:p>
        </p:txBody>
      </p:sp>
      <p:sp>
        <p:nvSpPr>
          <p:cNvPr id="12" name="IndicationBadge">
            <a:extLst>
              <a:ext uri="{FF2B5EF4-FFF2-40B4-BE49-F238E27FC236}">
                <a16:creationId xmlns:a16="http://schemas.microsoft.com/office/drawing/2014/main" id="{F995FA34-BF0D-7620-0513-2F06B827E4F8}"/>
              </a:ext>
            </a:extLst>
          </p:cNvPr>
          <p:cNvSpPr/>
          <p:nvPr/>
        </p:nvSpPr>
        <p:spPr>
          <a:xfrm>
            <a:off x="7137400" y="533400"/>
            <a:ext cx="4013200" cy="355600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2258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25400" rIns="127000" bIns="25400" rtlCol="0" anchor="ctr"/>
          <a:lstStyle/>
          <a:p>
            <a:pPr algn="ctr"/>
            <a:r>
              <a:rPr lang="en-US" sz="1050" b="1">
                <a:solidFill>
                  <a:srgbClr val="22588D"/>
                </a:solidFill>
                <a:latin typeface="Segoe UI Semibold" panose="020B0702040204020203" pitchFamily="34" charset="0"/>
              </a:rPr>
              <a:t>INTERACTIVE POLL • 💬 DROP ANSWER IN CHAT</a:t>
            </a:r>
            <a:endParaRPr lang="fr-FR" sz="1050" b="1">
              <a:solidFill>
                <a:srgbClr val="22588D"/>
              </a:solidFill>
              <a:latin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5426123"/>
      </p:ext>
    </p:extLst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4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4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14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34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4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74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94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07159" y="-6035048"/>
            <a:ext cx="10704366" cy="10723864"/>
          </a:xfrm>
          <a:custGeom>
            <a:avLst/>
            <a:gdLst/>
            <a:ahLst/>
            <a:cxnLst/>
            <a:rect l="l" t="t" r="r" b="b"/>
            <a:pathLst>
              <a:path w="10704366" h="10723864">
                <a:moveTo>
                  <a:pt x="0" y="0"/>
                </a:moveTo>
                <a:lnTo>
                  <a:pt x="10704366" y="0"/>
                </a:lnTo>
                <a:lnTo>
                  <a:pt x="10704366" y="10723864"/>
                </a:lnTo>
                <a:lnTo>
                  <a:pt x="0" y="107238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2794000" y="1142999"/>
            <a:ext cx="12700000" cy="9298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4200" b="1" u="none" strike="noStrike">
                <a:solidFill>
                  <a:srgbClr val="22588D"/>
                </a:solidFill>
                <a:latin typeface="Segoe UI Semibold" panose="020B0702040204020203" pitchFamily="34" charset="0"/>
                <a:ea typeface="Museo Moderno Bold"/>
                <a:cs typeface="Museo Moderno Bold"/>
                <a:sym typeface="Museo Moderno Bold"/>
              </a:rPr>
              <a:t>Robotics = Integration (The 4 Pillars)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995747"/>
            <a:ext cx="7334260" cy="1324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The Physical Skeleton:
Bones (Links), Hinges (Joints), and Gears. Gives the robot reach, strength, and stiffness.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363922"/>
            <a:ext cx="6870825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2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01. MECHANICS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6072975"/>
            <a:ext cx="5604938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2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03. CONTROL</a:t>
            </a:r>
            <a:endParaRPr lang="en-US" sz="2200" b="1" u="none" strike="noStrike">
              <a:solidFill>
                <a:srgbClr val="22588D"/>
              </a:solidFill>
              <a:latin typeface="Segoe UI Semibold" panose="020B0702040204020203" pitchFamily="34" charset="0"/>
              <a:ea typeface="Poppins Bold"/>
              <a:cs typeface="Poppins Bold"/>
              <a:sym typeface="Poppi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6704800"/>
            <a:ext cx="7334260" cy="13068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The Reflexes:
The closed-loop math (PID) that keeps joints stable and stops shaking or ringing oscillations.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5040" y="3995747"/>
            <a:ext cx="7334260" cy="13068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The Nerves &amp; Power:
Converts gentle microcontroller logic into heavy physical muscle power without brownouts.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5040" y="3363922"/>
            <a:ext cx="6870825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2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02. ELECTRONICS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5040" y="6072975"/>
            <a:ext cx="6683482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2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04. SOFTWARE</a:t>
            </a:r>
            <a:endParaRPr lang="en-US" sz="2200" b="1" u="none" strike="noStrike">
              <a:solidFill>
                <a:srgbClr val="22588D"/>
              </a:solidFill>
              <a:latin typeface="Segoe UI Semibold" panose="020B0702040204020203" pitchFamily="34" charset="0"/>
              <a:ea typeface="Poppins Bold"/>
              <a:cs typeface="Poppins Bold"/>
              <a:sym typeface="Poppi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925040" y="6704800"/>
            <a:ext cx="7334260" cy="1324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The Mind:
ROS 2, computer vision, and mapping: 'Where am I, and what task do I execute next?'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699" y="9461499"/>
            <a:ext cx="12700000" cy="374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1300">
                <a:solidFill>
                  <a:srgbClr val="476690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ROBOTICS FUNDAMENTALS • SESSION 01 / 04 • THURSDAY, 10 SEPT 2026</a:t>
            </a:r>
          </a:p>
        </p:txBody>
      </p:sp>
      <p:sp>
        <p:nvSpPr>
          <p:cNvPr id="12" name="IndicationBadge">
            <a:extLst>
              <a:ext uri="{FF2B5EF4-FFF2-40B4-BE49-F238E27FC236}">
                <a16:creationId xmlns:a16="http://schemas.microsoft.com/office/drawing/2014/main" id="{FF53F5D8-C4A6-07CE-7C34-AA7E417DF492}"/>
              </a:ext>
            </a:extLst>
          </p:cNvPr>
          <p:cNvSpPr/>
          <p:nvPr/>
        </p:nvSpPr>
        <p:spPr>
          <a:xfrm>
            <a:off x="1028700" y="533400"/>
            <a:ext cx="3556000" cy="355600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2258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25400" rIns="127000" bIns="25400" rtlCol="0" anchor="ctr"/>
          <a:lstStyle/>
          <a:p>
            <a:pPr algn="ctr"/>
            <a:r>
              <a:rPr lang="en-US" sz="1050" b="1">
                <a:solidFill>
                  <a:srgbClr val="22588D"/>
                </a:solidFill>
                <a:latin typeface="Segoe UI Semibold" panose="020B0702040204020203" pitchFamily="34" charset="0"/>
              </a:rPr>
              <a:t>SYSTEM PHILOSOPHY • 🧠 THE 4 PILLARS</a:t>
            </a:r>
            <a:endParaRPr lang="fr-FR" sz="1050" b="1">
              <a:solidFill>
                <a:srgbClr val="22588D"/>
              </a:solidFill>
              <a:latin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4785768"/>
      </p:ext>
    </p:extLst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4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4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14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34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4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74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94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206499"/>
            <a:ext cx="8001000" cy="205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sz="4000" b="1">
                <a:solidFill>
                  <a:srgbClr val="22588D"/>
                </a:solidFill>
                <a:latin typeface="Segoe UI Semibold" panose="020B0702040204020203" pitchFamily="34" charset="0"/>
                <a:ea typeface="Museo Moderno Bold"/>
                <a:cs typeface="Museo Moderno Bold"/>
                <a:sym typeface="Museo Moderno Bold"/>
              </a:rPr>
              <a:t>The Robotic System:
Sense ➔ Decide ➔ Act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682999"/>
            <a:ext cx="8001000" cy="532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7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How does a machine become autonomous?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7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
1. SENSE (Inputs):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7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   Encoders, cameras, LiDAR, and current sensors measure reality.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7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
2. DECIDE (Compute):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7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   Computes error between target position and actual position.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7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
3. ACT (Outputs):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7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   Motor drivers push current to wheels and joints to correct the error!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7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
⚡ Loop Rate: This happens 100 to 1,000 times every single second!</a:t>
            </a:r>
          </a:p>
        </p:txBody>
      </p:sp>
      <p:sp>
        <p:nvSpPr>
          <p:cNvPr id="4" name="Freeform 4"/>
          <p:cNvSpPr/>
          <p:nvPr/>
        </p:nvSpPr>
        <p:spPr>
          <a:xfrm>
            <a:off x="4957277" y="-4113214"/>
            <a:ext cx="6785337" cy="6797697"/>
          </a:xfrm>
          <a:custGeom>
            <a:avLst/>
            <a:gdLst/>
            <a:ahLst/>
            <a:cxnLst/>
            <a:rect l="l" t="t" r="r" b="b"/>
            <a:pathLst>
              <a:path w="6785337" h="6797697">
                <a:moveTo>
                  <a:pt x="0" y="0"/>
                </a:moveTo>
                <a:lnTo>
                  <a:pt x="6785337" y="0"/>
                </a:lnTo>
                <a:lnTo>
                  <a:pt x="6785337" y="6797697"/>
                </a:lnTo>
                <a:lnTo>
                  <a:pt x="0" y="67976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5" name="Group 5"/>
          <p:cNvGrpSpPr/>
          <p:nvPr/>
        </p:nvGrpSpPr>
        <p:grpSpPr>
          <a:xfrm>
            <a:off x="10210393" y="1619047"/>
            <a:ext cx="7048907" cy="704890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171450" cap="sq">
              <a:solidFill>
                <a:srgbClr val="22588D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699" y="9461499"/>
            <a:ext cx="12700000" cy="374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1300">
                <a:solidFill>
                  <a:srgbClr val="476690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ROBOTICS FUNDAMENTALS • SESSION 01 / 04 • THURSDAY, 10 SEPT 2026</a:t>
            </a:r>
          </a:p>
        </p:txBody>
      </p:sp>
      <p:sp>
        <p:nvSpPr>
          <p:cNvPr id="7" name="IndicationBadge">
            <a:extLst>
              <a:ext uri="{FF2B5EF4-FFF2-40B4-BE49-F238E27FC236}">
                <a16:creationId xmlns:a16="http://schemas.microsoft.com/office/drawing/2014/main" id="{0AEA0E2D-82F5-208B-FEAD-ACD930D97C60}"/>
              </a:ext>
            </a:extLst>
          </p:cNvPr>
          <p:cNvSpPr/>
          <p:nvPr/>
        </p:nvSpPr>
        <p:spPr>
          <a:xfrm>
            <a:off x="1028700" y="533400"/>
            <a:ext cx="4013200" cy="355600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2258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25400" rIns="127000" bIns="25400" rtlCol="0" anchor="ctr"/>
          <a:lstStyle/>
          <a:p>
            <a:pPr algn="ctr"/>
            <a:r>
              <a:rPr lang="en-US" sz="1050" b="1">
                <a:solidFill>
                  <a:srgbClr val="22588D"/>
                </a:solidFill>
                <a:latin typeface="Segoe UI Semibold" panose="020B0702040204020203" pitchFamily="34" charset="0"/>
              </a:rPr>
              <a:t>CORE ROBOTIC LOOP • SENSE ➔ DECIDE ➔ ACT</a:t>
            </a:r>
            <a:endParaRPr lang="fr-FR" sz="1050" b="1">
              <a:solidFill>
                <a:srgbClr val="22588D"/>
              </a:solidFill>
              <a:latin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4116510"/>
      </p:ext>
    </p:extLst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7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4775670" y="-6094246"/>
            <a:ext cx="10704366" cy="10723864"/>
          </a:xfrm>
          <a:custGeom>
            <a:avLst/>
            <a:gdLst/>
            <a:ahLst/>
            <a:cxnLst/>
            <a:rect l="l" t="t" r="r" b="b"/>
            <a:pathLst>
              <a:path w="10704366" h="10723864">
                <a:moveTo>
                  <a:pt x="10704366" y="0"/>
                </a:moveTo>
                <a:lnTo>
                  <a:pt x="0" y="0"/>
                </a:lnTo>
                <a:lnTo>
                  <a:pt x="0" y="10723864"/>
                </a:lnTo>
                <a:lnTo>
                  <a:pt x="10704366" y="10723864"/>
                </a:lnTo>
                <a:lnTo>
                  <a:pt x="1070436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 flipH="1">
            <a:off x="11605167" y="1699435"/>
            <a:ext cx="10704366" cy="10723864"/>
          </a:xfrm>
          <a:custGeom>
            <a:avLst/>
            <a:gdLst/>
            <a:ahLst/>
            <a:cxnLst/>
            <a:rect l="l" t="t" r="r" b="b"/>
            <a:pathLst>
              <a:path w="10704366" h="10723864">
                <a:moveTo>
                  <a:pt x="10704366" y="0"/>
                </a:moveTo>
                <a:lnTo>
                  <a:pt x="0" y="0"/>
                </a:lnTo>
                <a:lnTo>
                  <a:pt x="0" y="10723864"/>
                </a:lnTo>
                <a:lnTo>
                  <a:pt x="10704366" y="10723864"/>
                </a:lnTo>
                <a:lnTo>
                  <a:pt x="1070436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TextBox 4"/>
          <p:cNvSpPr txBox="1"/>
          <p:nvPr/>
        </p:nvSpPr>
        <p:spPr>
          <a:xfrm>
            <a:off x="2794000" y="1206499"/>
            <a:ext cx="12700000" cy="9066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3400" b="1" u="none" strike="noStrike">
                <a:solidFill>
                  <a:srgbClr val="22588D"/>
                </a:solidFill>
                <a:latin typeface="Segoe UI Semibold" panose="020B0702040204020203" pitchFamily="34" charset="0"/>
                <a:ea typeface="Museo Moderno Bold"/>
                <a:cs typeface="Museo Moderno Bold"/>
                <a:sym typeface="Museo Moderno Bold"/>
              </a:rPr>
              <a:t>Before Building: Three Simple Questions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336883" y="3862560"/>
            <a:ext cx="4598047" cy="1159467"/>
            <a:chOff x="0" y="0"/>
            <a:chExt cx="1211008" cy="30537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11008" cy="305374"/>
            </a:xfrm>
            <a:custGeom>
              <a:avLst/>
              <a:gdLst/>
              <a:ahLst/>
              <a:cxnLst/>
              <a:rect l="l" t="t" r="r" b="b"/>
              <a:pathLst>
                <a:path w="1211008" h="305374">
                  <a:moveTo>
                    <a:pt x="52196" y="0"/>
                  </a:moveTo>
                  <a:lnTo>
                    <a:pt x="1158812" y="0"/>
                  </a:lnTo>
                  <a:cubicBezTo>
                    <a:pt x="1187639" y="0"/>
                    <a:pt x="1211008" y="23369"/>
                    <a:pt x="1211008" y="52196"/>
                  </a:cubicBezTo>
                  <a:lnTo>
                    <a:pt x="1211008" y="253178"/>
                  </a:lnTo>
                  <a:cubicBezTo>
                    <a:pt x="1211008" y="282005"/>
                    <a:pt x="1187639" y="305374"/>
                    <a:pt x="1158812" y="305374"/>
                  </a:cubicBezTo>
                  <a:lnTo>
                    <a:pt x="52196" y="305374"/>
                  </a:lnTo>
                  <a:cubicBezTo>
                    <a:pt x="38353" y="305374"/>
                    <a:pt x="25076" y="299875"/>
                    <a:pt x="15288" y="290086"/>
                  </a:cubicBezTo>
                  <a:cubicBezTo>
                    <a:pt x="5499" y="280297"/>
                    <a:pt x="0" y="267021"/>
                    <a:pt x="0" y="253178"/>
                  </a:cubicBezTo>
                  <a:lnTo>
                    <a:pt x="0" y="52196"/>
                  </a:lnTo>
                  <a:cubicBezTo>
                    <a:pt x="0" y="23369"/>
                    <a:pt x="23369" y="0"/>
                    <a:pt x="52196" y="0"/>
                  </a:cubicBezTo>
                  <a:close/>
                </a:path>
              </a:pathLst>
            </a:custGeom>
            <a:solidFill>
              <a:srgbClr val="22588D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1211008" cy="3720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991031" y="4188293"/>
            <a:ext cx="3289750" cy="3888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1">
                <a:solidFill>
                  <a:srgbClr val="FFFFFF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01. WHERE REACH?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30650" y="5312826"/>
            <a:ext cx="4598047" cy="1280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• How far must the arm stretch?
• Working on a flat table (2D) or full 3D space?
• Rule: Keep joints to the bare minimum needed!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43934" y="5312826"/>
            <a:ext cx="4598047" cy="17296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• Lifting a 10g feather or a 2kg bottle of water?
• What motor torque is required?
• ⚠️ Don't forget: The arm must lift its OWN weight too!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355729" y="5312826"/>
            <a:ext cx="4598047" cy="1280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• Will the battery die in 10 minutes?
• Will 3D printed links bend like rubber?
• Will loose gear teeth (backlash) destroy accuracy?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843934" y="3862560"/>
            <a:ext cx="4598047" cy="1159467"/>
            <a:chOff x="0" y="0"/>
            <a:chExt cx="1211008" cy="30537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11008" cy="305374"/>
            </a:xfrm>
            <a:custGeom>
              <a:avLst/>
              <a:gdLst/>
              <a:ahLst/>
              <a:cxnLst/>
              <a:rect l="l" t="t" r="r" b="b"/>
              <a:pathLst>
                <a:path w="1211008" h="305374">
                  <a:moveTo>
                    <a:pt x="52196" y="0"/>
                  </a:moveTo>
                  <a:lnTo>
                    <a:pt x="1158812" y="0"/>
                  </a:lnTo>
                  <a:cubicBezTo>
                    <a:pt x="1187639" y="0"/>
                    <a:pt x="1211008" y="23369"/>
                    <a:pt x="1211008" y="52196"/>
                  </a:cubicBezTo>
                  <a:lnTo>
                    <a:pt x="1211008" y="253178"/>
                  </a:lnTo>
                  <a:cubicBezTo>
                    <a:pt x="1211008" y="282005"/>
                    <a:pt x="1187639" y="305374"/>
                    <a:pt x="1158812" y="305374"/>
                  </a:cubicBezTo>
                  <a:lnTo>
                    <a:pt x="52196" y="305374"/>
                  </a:lnTo>
                  <a:cubicBezTo>
                    <a:pt x="38353" y="305374"/>
                    <a:pt x="25076" y="299875"/>
                    <a:pt x="15288" y="290086"/>
                  </a:cubicBezTo>
                  <a:cubicBezTo>
                    <a:pt x="5499" y="280297"/>
                    <a:pt x="0" y="267021"/>
                    <a:pt x="0" y="253178"/>
                  </a:cubicBezTo>
                  <a:lnTo>
                    <a:pt x="0" y="52196"/>
                  </a:lnTo>
                  <a:cubicBezTo>
                    <a:pt x="0" y="23369"/>
                    <a:pt x="23369" y="0"/>
                    <a:pt x="52196" y="0"/>
                  </a:cubicBezTo>
                  <a:close/>
                </a:path>
              </a:pathLst>
            </a:custGeom>
            <a:solidFill>
              <a:srgbClr val="22588D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66675"/>
              <a:ext cx="1211008" cy="3720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498082" y="4188293"/>
            <a:ext cx="3289750" cy="3888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1">
                <a:solidFill>
                  <a:srgbClr val="FFFFFF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02. HOW HEAVY?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2359304" y="3862560"/>
            <a:ext cx="4598047" cy="1159467"/>
            <a:chOff x="0" y="0"/>
            <a:chExt cx="1211008" cy="30537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11008" cy="305374"/>
            </a:xfrm>
            <a:custGeom>
              <a:avLst/>
              <a:gdLst/>
              <a:ahLst/>
              <a:cxnLst/>
              <a:rect l="l" t="t" r="r" b="b"/>
              <a:pathLst>
                <a:path w="1211008" h="305374">
                  <a:moveTo>
                    <a:pt x="52196" y="0"/>
                  </a:moveTo>
                  <a:lnTo>
                    <a:pt x="1158812" y="0"/>
                  </a:lnTo>
                  <a:cubicBezTo>
                    <a:pt x="1187639" y="0"/>
                    <a:pt x="1211008" y="23369"/>
                    <a:pt x="1211008" y="52196"/>
                  </a:cubicBezTo>
                  <a:lnTo>
                    <a:pt x="1211008" y="253178"/>
                  </a:lnTo>
                  <a:cubicBezTo>
                    <a:pt x="1211008" y="282005"/>
                    <a:pt x="1187639" y="305374"/>
                    <a:pt x="1158812" y="305374"/>
                  </a:cubicBezTo>
                  <a:lnTo>
                    <a:pt x="52196" y="305374"/>
                  </a:lnTo>
                  <a:cubicBezTo>
                    <a:pt x="38353" y="305374"/>
                    <a:pt x="25076" y="299875"/>
                    <a:pt x="15288" y="290086"/>
                  </a:cubicBezTo>
                  <a:cubicBezTo>
                    <a:pt x="5499" y="280297"/>
                    <a:pt x="0" y="267021"/>
                    <a:pt x="0" y="253178"/>
                  </a:cubicBezTo>
                  <a:lnTo>
                    <a:pt x="0" y="52196"/>
                  </a:lnTo>
                  <a:cubicBezTo>
                    <a:pt x="0" y="23369"/>
                    <a:pt x="23369" y="0"/>
                    <a:pt x="52196" y="0"/>
                  </a:cubicBezTo>
                  <a:close/>
                </a:path>
              </a:pathLst>
            </a:custGeom>
            <a:solidFill>
              <a:srgbClr val="22588D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66675"/>
              <a:ext cx="1211008" cy="3720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3013452" y="4188293"/>
            <a:ext cx="3289750" cy="3888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1">
                <a:solidFill>
                  <a:srgbClr val="FFFFFF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03. WHAT LIMITS?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699" y="9461499"/>
            <a:ext cx="12700000" cy="374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1300">
                <a:solidFill>
                  <a:srgbClr val="476690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ROBOTICS FUNDAMENTALS • SESSION 01 / 04 • THURSDAY, 10 SEPT 2026</a:t>
            </a:r>
          </a:p>
        </p:txBody>
      </p:sp>
      <p:sp>
        <p:nvSpPr>
          <p:cNvPr id="20" name="IndicationBadge">
            <a:extLst>
              <a:ext uri="{FF2B5EF4-FFF2-40B4-BE49-F238E27FC236}">
                <a16:creationId xmlns:a16="http://schemas.microsoft.com/office/drawing/2014/main" id="{4BBBB4AF-0FEE-FD20-DD2A-97D389435864}"/>
              </a:ext>
            </a:extLst>
          </p:cNvPr>
          <p:cNvSpPr/>
          <p:nvPr/>
        </p:nvSpPr>
        <p:spPr>
          <a:xfrm>
            <a:off x="7183120" y="533400"/>
            <a:ext cx="3921760" cy="355600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2258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25400" rIns="127000" bIns="25400" rtlCol="0" anchor="ctr"/>
          <a:lstStyle/>
          <a:p>
            <a:pPr algn="ctr"/>
            <a:r>
              <a:rPr lang="fr-FR" sz="1050" b="1">
                <a:solidFill>
                  <a:srgbClr val="22588D"/>
                </a:solidFill>
                <a:latin typeface="Segoe UI Semibold" panose="020B0702040204020203" pitchFamily="34" charset="0"/>
              </a:rPr>
              <a:t>FIRST PRINCIPLES • 📐 3 SIMPLE QUESTIONS</a:t>
            </a:r>
          </a:p>
        </p:txBody>
      </p:sp>
    </p:spTree>
    <p:extLst>
      <p:ext uri="{BB962C8B-B14F-4D97-AF65-F5344CB8AC3E}">
        <p14:creationId xmlns:p14="http://schemas.microsoft.com/office/powerpoint/2010/main" val="3717712539"/>
      </p:ext>
    </p:extLst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7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7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7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27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47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7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9" grpId="0"/>
      <p:bldP spid="10" grpId="0"/>
      <p:bldP spid="11" grpId="0"/>
      <p:bldP spid="15" grpId="0"/>
      <p:bldP spid="19" grpId="0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206499"/>
            <a:ext cx="8001000" cy="19954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sz="3800" b="1">
                <a:solidFill>
                  <a:srgbClr val="22588D"/>
                </a:solidFill>
                <a:latin typeface="Segoe UI Semibold" panose="020B0702040204020203" pitchFamily="34" charset="0"/>
                <a:ea typeface="Museo Moderno Bold"/>
                <a:cs typeface="Museo Moderno Bold"/>
                <a:sym typeface="Museo Moderno Bold"/>
              </a:rPr>
              <a:t>The Closed Feedback Loop:
What Happens Without Sensors?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682999"/>
            <a:ext cx="8001000" cy="39767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7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OPEN LOOP (Blind Walking):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7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• Sending commands to motors without feedback.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7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• If a wheel slips on tile, the robot has NO IDEA it drifted off course!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7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
CLOSED LOOP (Eyes Open):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7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• Encoders continuously report wheel revolutions.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7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• If motor slows under load, controller increases current instantly.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7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
👉 Takeaway: Sensors turn dumb blind motion into smart, adaptable robotics!</a:t>
            </a:r>
          </a:p>
        </p:txBody>
      </p:sp>
      <p:sp>
        <p:nvSpPr>
          <p:cNvPr id="4" name="Freeform 4"/>
          <p:cNvSpPr/>
          <p:nvPr/>
        </p:nvSpPr>
        <p:spPr>
          <a:xfrm>
            <a:off x="4957277" y="-4113214"/>
            <a:ext cx="6785337" cy="6797697"/>
          </a:xfrm>
          <a:custGeom>
            <a:avLst/>
            <a:gdLst/>
            <a:ahLst/>
            <a:cxnLst/>
            <a:rect l="l" t="t" r="r" b="b"/>
            <a:pathLst>
              <a:path w="6785337" h="6797697">
                <a:moveTo>
                  <a:pt x="0" y="0"/>
                </a:moveTo>
                <a:lnTo>
                  <a:pt x="6785337" y="0"/>
                </a:lnTo>
                <a:lnTo>
                  <a:pt x="6785337" y="6797697"/>
                </a:lnTo>
                <a:lnTo>
                  <a:pt x="0" y="67976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5" name="Group 5"/>
          <p:cNvGrpSpPr/>
          <p:nvPr/>
        </p:nvGrpSpPr>
        <p:grpSpPr>
          <a:xfrm>
            <a:off x="10210393" y="1619047"/>
            <a:ext cx="7048907" cy="704890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171450" cap="sq">
              <a:solidFill>
                <a:srgbClr val="22588D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699" y="9461499"/>
            <a:ext cx="12700000" cy="374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1300">
                <a:solidFill>
                  <a:srgbClr val="476690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ROBOTICS FUNDAMENTALS • SESSION 01 / 04 • THURSDAY, 10 SEPT 2026</a:t>
            </a:r>
          </a:p>
        </p:txBody>
      </p:sp>
      <p:sp>
        <p:nvSpPr>
          <p:cNvPr id="7" name="IndicationBadge">
            <a:extLst>
              <a:ext uri="{FF2B5EF4-FFF2-40B4-BE49-F238E27FC236}">
                <a16:creationId xmlns:a16="http://schemas.microsoft.com/office/drawing/2014/main" id="{1576E2F7-9EB6-2A84-371D-AD74B7D94EAB}"/>
              </a:ext>
            </a:extLst>
          </p:cNvPr>
          <p:cNvSpPr/>
          <p:nvPr/>
        </p:nvSpPr>
        <p:spPr>
          <a:xfrm>
            <a:off x="1028700" y="533400"/>
            <a:ext cx="3830320" cy="355600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2258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25400" rIns="127000" bIns="25400" rtlCol="0" anchor="ctr"/>
          <a:lstStyle/>
          <a:p>
            <a:pPr algn="ctr"/>
            <a:r>
              <a:rPr lang="en-US" sz="1050" b="1">
                <a:solidFill>
                  <a:srgbClr val="22588D"/>
                </a:solidFill>
                <a:latin typeface="Segoe UI Semibold" panose="020B0702040204020203" pitchFamily="34" charset="0"/>
              </a:rPr>
              <a:t>CONTROL THEORY • 🔄 OPEN VS CLOSED LOOP</a:t>
            </a:r>
            <a:endParaRPr lang="fr-FR" sz="1050" b="1">
              <a:solidFill>
                <a:srgbClr val="22588D"/>
              </a:solidFill>
              <a:latin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1326197"/>
      </p:ext>
    </p:extLst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7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744190" y="-4042349"/>
            <a:ext cx="6446938" cy="6458681"/>
          </a:xfrm>
          <a:custGeom>
            <a:avLst/>
            <a:gdLst/>
            <a:ahLst/>
            <a:cxnLst/>
            <a:rect l="l" t="t" r="r" b="b"/>
            <a:pathLst>
              <a:path w="6446938" h="6458681">
                <a:moveTo>
                  <a:pt x="0" y="0"/>
                </a:moveTo>
                <a:lnTo>
                  <a:pt x="6446937" y="0"/>
                </a:lnTo>
                <a:lnTo>
                  <a:pt x="6446937" y="6458681"/>
                </a:lnTo>
                <a:lnTo>
                  <a:pt x="0" y="64586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9703520" y="1954573"/>
            <a:ext cx="11124397" cy="6377854"/>
            <a:chOff x="0" y="0"/>
            <a:chExt cx="888424" cy="5093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88424" cy="509352"/>
            </a:xfrm>
            <a:custGeom>
              <a:avLst/>
              <a:gdLst/>
              <a:ahLst/>
              <a:cxnLst/>
              <a:rect l="l" t="t" r="r" b="b"/>
              <a:pathLst>
                <a:path w="888424" h="509352">
                  <a:moveTo>
                    <a:pt x="685224" y="0"/>
                  </a:moveTo>
                  <a:cubicBezTo>
                    <a:pt x="797454" y="0"/>
                    <a:pt x="888424" y="114015"/>
                    <a:pt x="888424" y="254676"/>
                  </a:cubicBezTo>
                  <a:cubicBezTo>
                    <a:pt x="888424" y="395337"/>
                    <a:pt x="797454" y="509352"/>
                    <a:pt x="685224" y="509352"/>
                  </a:cubicBezTo>
                  <a:lnTo>
                    <a:pt x="203200" y="509352"/>
                  </a:lnTo>
                  <a:cubicBezTo>
                    <a:pt x="90970" y="509352"/>
                    <a:pt x="0" y="395337"/>
                    <a:pt x="0" y="254676"/>
                  </a:cubicBezTo>
                  <a:cubicBezTo>
                    <a:pt x="0" y="114015"/>
                    <a:pt x="90970" y="0"/>
                    <a:pt x="203200" y="0"/>
                  </a:cubicBezTo>
                  <a:lnTo>
                    <a:pt x="685224" y="0"/>
                  </a:lnTo>
                </a:path>
              </a:pathLst>
            </a:custGeom>
            <a:blipFill>
              <a:blip r:embed="rId4"/>
              <a:stretch>
                <a:fillRect/>
              </a:stretch>
            </a:blipFill>
            <a:ln w="171450" cap="sq">
              <a:solidFill>
                <a:srgbClr val="22588D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6" name="Freeform 6"/>
          <p:cNvSpPr/>
          <p:nvPr/>
        </p:nvSpPr>
        <p:spPr>
          <a:xfrm>
            <a:off x="-1080828" y="4476186"/>
            <a:ext cx="6446938" cy="6458681"/>
          </a:xfrm>
          <a:custGeom>
            <a:avLst/>
            <a:gdLst/>
            <a:ahLst/>
            <a:cxnLst/>
            <a:rect l="l" t="t" r="r" b="b"/>
            <a:pathLst>
              <a:path w="6446938" h="6458681">
                <a:moveTo>
                  <a:pt x="0" y="0"/>
                </a:moveTo>
                <a:lnTo>
                  <a:pt x="6446938" y="0"/>
                </a:lnTo>
                <a:lnTo>
                  <a:pt x="6446938" y="6458681"/>
                </a:lnTo>
                <a:lnTo>
                  <a:pt x="0" y="64586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" name="TextBox 7"/>
          <p:cNvSpPr txBox="1"/>
          <p:nvPr/>
        </p:nvSpPr>
        <p:spPr>
          <a:xfrm>
            <a:off x="1028700" y="2286000"/>
            <a:ext cx="8255000" cy="2966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099"/>
              </a:lnSpc>
            </a:pPr>
            <a:r>
              <a:rPr lang="en-US" sz="3800" b="1" u="none" strike="noStrike">
                <a:solidFill>
                  <a:srgbClr val="22588D"/>
                </a:solidFill>
                <a:latin typeface="Segoe UI Semibold" panose="020B0702040204020203" pitchFamily="34" charset="0"/>
                <a:ea typeface="Museo Moderno Bold"/>
                <a:cs typeface="Museo Moderno Bold"/>
                <a:sym typeface="Museo Moderno Bold"/>
              </a:rPr>
              <a:t>PART 01
MECHANICAL
FUNDAMENTALS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5588000"/>
            <a:ext cx="8255000" cy="5168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1900">
                <a:solidFill>
                  <a:srgbClr val="22588D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Links • Joints • Degrees of Freedom • The 6 Axes of Motion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699" y="9461499"/>
            <a:ext cx="12700000" cy="380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1500">
                <a:solidFill>
                  <a:srgbClr val="476690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ROBOTICS FUNDAMENTALS • PART 01 / 06</a:t>
            </a:r>
          </a:p>
        </p:txBody>
      </p:sp>
      <p:sp>
        <p:nvSpPr>
          <p:cNvPr id="5" name="IndicationBadge">
            <a:extLst>
              <a:ext uri="{FF2B5EF4-FFF2-40B4-BE49-F238E27FC236}">
                <a16:creationId xmlns:a16="http://schemas.microsoft.com/office/drawing/2014/main" id="{D7F605F6-BA0E-CCF8-FEB3-63E8CB6A4777}"/>
              </a:ext>
            </a:extLst>
          </p:cNvPr>
          <p:cNvSpPr/>
          <p:nvPr/>
        </p:nvSpPr>
        <p:spPr>
          <a:xfrm>
            <a:off x="1028700" y="533400"/>
            <a:ext cx="3647440" cy="355600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2258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25400" rIns="127000" bIns="25400" rtlCol="0" anchor="ctr"/>
          <a:lstStyle/>
          <a:p>
            <a:pPr algn="ctr"/>
            <a:r>
              <a:rPr lang="fr-FR" sz="1050" b="1">
                <a:solidFill>
                  <a:srgbClr val="22588D"/>
                </a:solidFill>
                <a:latin typeface="Segoe UI Semibold" panose="020B0702040204020203" pitchFamily="34" charset="0"/>
              </a:rPr>
              <a:t>SECTION 01 • MECHANICAL FUNDAMENTALS</a:t>
            </a:r>
          </a:p>
        </p:txBody>
      </p:sp>
    </p:spTree>
    <p:extLst>
      <p:ext uri="{BB962C8B-B14F-4D97-AF65-F5344CB8AC3E}">
        <p14:creationId xmlns:p14="http://schemas.microsoft.com/office/powerpoint/2010/main" val="3051783229"/>
      </p:ext>
    </p:extLst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7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45911" y="702935"/>
            <a:ext cx="10704366" cy="10723864"/>
          </a:xfrm>
          <a:custGeom>
            <a:avLst/>
            <a:gdLst/>
            <a:ahLst/>
            <a:cxnLst/>
            <a:rect l="l" t="t" r="r" b="b"/>
            <a:pathLst>
              <a:path w="10704366" h="10723864">
                <a:moveTo>
                  <a:pt x="0" y="0"/>
                </a:moveTo>
                <a:lnTo>
                  <a:pt x="10704366" y="0"/>
                </a:lnTo>
                <a:lnTo>
                  <a:pt x="10704366" y="10723864"/>
                </a:lnTo>
                <a:lnTo>
                  <a:pt x="0" y="107238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9489654" y="1523999"/>
            <a:ext cx="7620000" cy="9008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sz="3200" b="1">
                <a:solidFill>
                  <a:srgbClr val="22588D"/>
                </a:solidFill>
                <a:latin typeface="Segoe UI Semibold" panose="020B0702040204020203" pitchFamily="34" charset="0"/>
                <a:ea typeface="Museo Moderno Bold"/>
                <a:cs typeface="Museo Moderno Bold"/>
                <a:sym typeface="Museo Moderno Bold"/>
              </a:rPr>
              <a:t>Links &amp; Joints: The Kinematic Chain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489654" y="2920999"/>
            <a:ext cx="7620000" cy="3973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A robot arm is simply a chain of rigid bones and hinges: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
• LINKS = The Rigid Bones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  Beams, extrusions, and brackets that maintain fixed distance between joints.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
• JOINTS = The Hinges &amp; Sliders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  The precise points where controlled motion occurs, powered by motors.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
🔗 Kinematic Chain: Base ➔ Link 1 ➔ Joint 1 ➔ Link 2 ➔ Joint 2 ➔ Tool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-2223350" y="-1405966"/>
            <a:ext cx="10664266" cy="10664266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171450" cap="sq">
              <a:solidFill>
                <a:srgbClr val="22588D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7" name="Freeform 7"/>
          <p:cNvSpPr/>
          <p:nvPr/>
        </p:nvSpPr>
        <p:spPr>
          <a:xfrm>
            <a:off x="14592533" y="1028700"/>
            <a:ext cx="763777" cy="670735"/>
          </a:xfrm>
          <a:custGeom>
            <a:avLst/>
            <a:gdLst/>
            <a:ahLst/>
            <a:cxnLst/>
            <a:rect l="l" t="t" r="r" b="b"/>
            <a:pathLst>
              <a:path w="763777" h="670735">
                <a:moveTo>
                  <a:pt x="0" y="0"/>
                </a:moveTo>
                <a:lnTo>
                  <a:pt x="763777" y="0"/>
                </a:lnTo>
                <a:lnTo>
                  <a:pt x="763777" y="670735"/>
                </a:lnTo>
                <a:lnTo>
                  <a:pt x="0" y="6707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8" name="TextBox 8"/>
          <p:cNvSpPr txBox="1"/>
          <p:nvPr/>
        </p:nvSpPr>
        <p:spPr>
          <a:xfrm>
            <a:off x="1028699" y="9461499"/>
            <a:ext cx="12700000" cy="374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1300">
                <a:solidFill>
                  <a:srgbClr val="476690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ROBOTICS FUNDAMENTALS • SESSION 01 / 04 • THURSDAY, 10 SEPT 2026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084923" y="1110068"/>
            <a:ext cx="2174377" cy="3831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1600" b="1">
                <a:solidFill>
                  <a:srgbClr val="476690"/>
                </a:solidFill>
                <a:latin typeface="Segoe UI Semibold" panose="020B0702040204020203" pitchFamily="34" charset="0"/>
                <a:ea typeface="Poppins"/>
                <a:cs typeface="Poppins"/>
                <a:sym typeface="Poppins"/>
              </a:rPr>
              <a:t>CORE CONCEPT</a:t>
            </a:r>
          </a:p>
        </p:txBody>
      </p:sp>
      <p:sp>
        <p:nvSpPr>
          <p:cNvPr id="10" name="IndicationBadge">
            <a:extLst>
              <a:ext uri="{FF2B5EF4-FFF2-40B4-BE49-F238E27FC236}">
                <a16:creationId xmlns:a16="http://schemas.microsoft.com/office/drawing/2014/main" id="{169B2CC4-13DA-79CF-9CDF-6481A417FB33}"/>
              </a:ext>
            </a:extLst>
          </p:cNvPr>
          <p:cNvSpPr/>
          <p:nvPr/>
        </p:nvSpPr>
        <p:spPr>
          <a:xfrm>
            <a:off x="1028700" y="533400"/>
            <a:ext cx="3190240" cy="355600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2258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25400" rIns="127000" bIns="25400" rtlCol="0" anchor="ctr"/>
          <a:lstStyle/>
          <a:p>
            <a:pPr algn="ctr"/>
            <a:r>
              <a:rPr lang="fr-FR" sz="1050" b="1">
                <a:solidFill>
                  <a:srgbClr val="22588D"/>
                </a:solidFill>
                <a:latin typeface="Segoe UI Semibold" panose="020B0702040204020203" pitchFamily="34" charset="0"/>
              </a:rPr>
              <a:t>CORE ANATOMY • 🔗 LINKS &amp; JOINTS</a:t>
            </a:r>
          </a:p>
        </p:txBody>
      </p:sp>
    </p:spTree>
    <p:extLst>
      <p:ext uri="{BB962C8B-B14F-4D97-AF65-F5344CB8AC3E}">
        <p14:creationId xmlns:p14="http://schemas.microsoft.com/office/powerpoint/2010/main" val="382920941"/>
      </p:ext>
    </p:extLst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7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7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9" grpId="0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07159" y="-6035048"/>
            <a:ext cx="10704366" cy="10723864"/>
          </a:xfrm>
          <a:custGeom>
            <a:avLst/>
            <a:gdLst/>
            <a:ahLst/>
            <a:cxnLst/>
            <a:rect l="l" t="t" r="r" b="b"/>
            <a:pathLst>
              <a:path w="10704366" h="10723864">
                <a:moveTo>
                  <a:pt x="0" y="0"/>
                </a:moveTo>
                <a:lnTo>
                  <a:pt x="10704366" y="0"/>
                </a:lnTo>
                <a:lnTo>
                  <a:pt x="10704366" y="10723864"/>
                </a:lnTo>
                <a:lnTo>
                  <a:pt x="0" y="107238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2794000" y="1142999"/>
            <a:ext cx="12700000" cy="9298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4200" b="1" u="none" strike="noStrike">
                <a:solidFill>
                  <a:srgbClr val="22588D"/>
                </a:solidFill>
                <a:latin typeface="Segoe UI Semibold" panose="020B0702040204020203" pitchFamily="34" charset="0"/>
                <a:ea typeface="Museo Moderno Bold"/>
                <a:cs typeface="Museo Moderno Bold"/>
                <a:sym typeface="Museo Moderno Bold"/>
              </a:rPr>
              <a:t>The Two Fundamental Joint Types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995747"/>
            <a:ext cx="7334260" cy="1280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• Like an elbow, knee, or door hinge
• Motion: Rotation around an axis (Angle θ in degrees)
• 90% of robotic arms are built purely of Revolute joints!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363922"/>
            <a:ext cx="6870825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REVOLUTE (R) — ROTATIONAL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6072975"/>
            <a:ext cx="5604938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SCARA ROBOT (R-R-P)</a:t>
            </a:r>
            <a:endParaRPr lang="en-US" sz="2000" b="1" u="none" strike="noStrike">
              <a:solidFill>
                <a:srgbClr val="22588D"/>
              </a:solidFill>
              <a:latin typeface="Segoe UI Semibold" panose="020B0702040204020203" pitchFamily="34" charset="0"/>
              <a:ea typeface="Poppins Bold"/>
              <a:cs typeface="Poppins Bold"/>
              <a:sym typeface="Poppi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6704800"/>
            <a:ext cx="7334260" cy="13068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• 2 Revolute joints for superfast horizontal sweeps
• 1 Prismatic vertical slider for pick-and-place
• High speed, ultra-rigid vertical assembly.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5040" y="3995747"/>
            <a:ext cx="7334260" cy="1280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• Like an elevator, syringe, or 3D printer rail
• Motion: Pure straight sliding (Distance d in millimeters)
• Powered by lead screws, timing belts, or rack &amp; pinion.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5040" y="3363922"/>
            <a:ext cx="6870825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PRISMATIC (P) — LINEAR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5040" y="6072975"/>
            <a:ext cx="6683482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CARTESIAN (P-P-P)</a:t>
            </a:r>
            <a:endParaRPr lang="en-US" sz="2000" b="1" u="none" strike="noStrike">
              <a:solidFill>
                <a:srgbClr val="22588D"/>
              </a:solidFill>
              <a:latin typeface="Segoe UI Semibold" panose="020B0702040204020203" pitchFamily="34" charset="0"/>
              <a:ea typeface="Poppins Bold"/>
              <a:cs typeface="Poppins Bold"/>
              <a:sym typeface="Poppi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925040" y="6704800"/>
            <a:ext cx="7334260" cy="13068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• 3 Orthogonal sliding axes (X, Y, Z)
• Used in 3D printers and CNC milling machines
• Super simple kinematics (X=d1, Y=d2, Z=d3).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699" y="9461499"/>
            <a:ext cx="12700000" cy="374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1300">
                <a:solidFill>
                  <a:srgbClr val="476690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ROBOTICS FUNDAMENTALS • SESSION 01 / 04 • THURSDAY, 10 SEPT 2026</a:t>
            </a:r>
          </a:p>
        </p:txBody>
      </p:sp>
      <p:sp>
        <p:nvSpPr>
          <p:cNvPr id="12" name="IndicationBadge">
            <a:extLst>
              <a:ext uri="{FF2B5EF4-FFF2-40B4-BE49-F238E27FC236}">
                <a16:creationId xmlns:a16="http://schemas.microsoft.com/office/drawing/2014/main" id="{AD1C2814-81B6-397F-927D-F2832EF879A2}"/>
              </a:ext>
            </a:extLst>
          </p:cNvPr>
          <p:cNvSpPr/>
          <p:nvPr/>
        </p:nvSpPr>
        <p:spPr>
          <a:xfrm>
            <a:off x="7274560" y="533400"/>
            <a:ext cx="3738879" cy="355600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2258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25400" rIns="127000" bIns="25400" rtlCol="0" anchor="ctr"/>
          <a:lstStyle/>
          <a:p>
            <a:pPr algn="ctr"/>
            <a:r>
              <a:rPr lang="fr-FR" sz="1050" b="1">
                <a:solidFill>
                  <a:srgbClr val="22588D"/>
                </a:solidFill>
                <a:latin typeface="Segoe UI Semibold" panose="020B0702040204020203" pitchFamily="34" charset="0"/>
              </a:rPr>
              <a:t>KINEMATICS • ⚙️ REVOLUTE VS PRISMATIC</a:t>
            </a:r>
          </a:p>
        </p:txBody>
      </p:sp>
    </p:spTree>
    <p:extLst>
      <p:ext uri="{BB962C8B-B14F-4D97-AF65-F5344CB8AC3E}">
        <p14:creationId xmlns:p14="http://schemas.microsoft.com/office/powerpoint/2010/main" val="2531746122"/>
      </p:ext>
    </p:extLst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4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4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14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34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4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74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94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206499"/>
            <a:ext cx="8001000" cy="2001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sz="4000" b="1">
                <a:solidFill>
                  <a:srgbClr val="22588D"/>
                </a:solidFill>
                <a:latin typeface="Segoe UI Semibold" panose="020B0702040204020203" pitchFamily="34" charset="0"/>
                <a:ea typeface="Museo Moderno Bold"/>
                <a:cs typeface="Museo Moderno Bold"/>
                <a:sym typeface="Museo Moderno Bold"/>
              </a:rPr>
              <a:t>What is Degrees of Freedom (DOF)?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682999"/>
            <a:ext cx="8001000" cy="4425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7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DOF = Number of independent directions a robot can move.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7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
• 1 DOF: A train on a straight track (Forward / Backward)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7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
• 2 DOF: A computer mouse on a mousepad (X and Y)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7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
• 3 DOF: A drone in air without turning (X, Y, Z translation)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7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
• 6 DOF: Complete spatial freedom! Can reach ANY position (X, Y, Z) and ANY orientation (Roll, Pitch, Yaw)!</a:t>
            </a:r>
          </a:p>
        </p:txBody>
      </p:sp>
      <p:sp>
        <p:nvSpPr>
          <p:cNvPr id="4" name="Freeform 4"/>
          <p:cNvSpPr/>
          <p:nvPr/>
        </p:nvSpPr>
        <p:spPr>
          <a:xfrm>
            <a:off x="4957277" y="-4113214"/>
            <a:ext cx="6785337" cy="6797697"/>
          </a:xfrm>
          <a:custGeom>
            <a:avLst/>
            <a:gdLst/>
            <a:ahLst/>
            <a:cxnLst/>
            <a:rect l="l" t="t" r="r" b="b"/>
            <a:pathLst>
              <a:path w="6785337" h="6797697">
                <a:moveTo>
                  <a:pt x="0" y="0"/>
                </a:moveTo>
                <a:lnTo>
                  <a:pt x="6785337" y="0"/>
                </a:lnTo>
                <a:lnTo>
                  <a:pt x="6785337" y="6797697"/>
                </a:lnTo>
                <a:lnTo>
                  <a:pt x="0" y="67976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5" name="Group 5"/>
          <p:cNvGrpSpPr/>
          <p:nvPr/>
        </p:nvGrpSpPr>
        <p:grpSpPr>
          <a:xfrm>
            <a:off x="10210393" y="1619047"/>
            <a:ext cx="7048907" cy="704890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171450" cap="sq">
              <a:solidFill>
                <a:srgbClr val="22588D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699" y="9461499"/>
            <a:ext cx="12700000" cy="374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1300">
                <a:solidFill>
                  <a:srgbClr val="476690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ROBOTICS FUNDAMENTALS • SESSION 01 / 04 • THURSDAY, 10 SEPT 2026</a:t>
            </a:r>
          </a:p>
        </p:txBody>
      </p:sp>
      <p:sp>
        <p:nvSpPr>
          <p:cNvPr id="7" name="IndicationBadge">
            <a:extLst>
              <a:ext uri="{FF2B5EF4-FFF2-40B4-BE49-F238E27FC236}">
                <a16:creationId xmlns:a16="http://schemas.microsoft.com/office/drawing/2014/main" id="{60C2DF61-F660-A3CD-1EB1-62111CFAC8B7}"/>
              </a:ext>
            </a:extLst>
          </p:cNvPr>
          <p:cNvSpPr/>
          <p:nvPr/>
        </p:nvSpPr>
        <p:spPr>
          <a:xfrm>
            <a:off x="1028700" y="533400"/>
            <a:ext cx="3738880" cy="355600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2258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25400" rIns="127000" bIns="25400" rtlCol="0" anchor="ctr"/>
          <a:lstStyle/>
          <a:p>
            <a:pPr algn="ctr"/>
            <a:r>
              <a:rPr lang="en-US" sz="1050" b="1">
                <a:solidFill>
                  <a:srgbClr val="22588D"/>
                </a:solidFill>
                <a:latin typeface="Segoe UI Semibold" panose="020B0702040204020203" pitchFamily="34" charset="0"/>
              </a:rPr>
              <a:t>DEGREES OF FREEDOM • 🌐 SPATIAL MOTION</a:t>
            </a:r>
            <a:endParaRPr lang="fr-FR" sz="1050" b="1">
              <a:solidFill>
                <a:srgbClr val="22588D"/>
              </a:solidFill>
              <a:latin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1567204"/>
      </p:ext>
    </p:extLst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7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07159" y="-6035048"/>
            <a:ext cx="10704366" cy="10723864"/>
          </a:xfrm>
          <a:custGeom>
            <a:avLst/>
            <a:gdLst/>
            <a:ahLst/>
            <a:cxnLst/>
            <a:rect l="l" t="t" r="r" b="b"/>
            <a:pathLst>
              <a:path w="10704366" h="10723864">
                <a:moveTo>
                  <a:pt x="0" y="0"/>
                </a:moveTo>
                <a:lnTo>
                  <a:pt x="10704366" y="0"/>
                </a:lnTo>
                <a:lnTo>
                  <a:pt x="10704366" y="10723864"/>
                </a:lnTo>
                <a:lnTo>
                  <a:pt x="0" y="107238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2794000" y="1142999"/>
            <a:ext cx="12700000" cy="9066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3400" b="1" u="none" strike="noStrike">
                <a:solidFill>
                  <a:srgbClr val="22588D"/>
                </a:solidFill>
                <a:latin typeface="Segoe UI Semibold" panose="020B0702040204020203" pitchFamily="34" charset="0"/>
                <a:ea typeface="Museo Moderno Bold"/>
                <a:cs typeface="Museo Moderno Bold"/>
                <a:sym typeface="Museo Moderno Bold"/>
              </a:rPr>
              <a:t>Engineering Truth: More DOF ≠ Better!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995747"/>
            <a:ext cx="7334260" cy="8580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Every extra motor adds weight. Joint 1 at the base must now lift the heavy motor of Joint 2, 3, 4, and 5!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363922"/>
            <a:ext cx="6870825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1. COMPOUNDING MASS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6072975"/>
            <a:ext cx="5604938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3. BACKLASH ACCUMULATION</a:t>
            </a:r>
            <a:endParaRPr lang="en-US" sz="2000" b="1" u="none" strike="noStrike">
              <a:solidFill>
                <a:srgbClr val="22588D"/>
              </a:solidFill>
              <a:latin typeface="Segoe UI Semibold" panose="020B0702040204020203" pitchFamily="34" charset="0"/>
              <a:ea typeface="Poppins Bold"/>
              <a:cs typeface="Poppins Bold"/>
              <a:sym typeface="Poppi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6704800"/>
            <a:ext cx="7334260" cy="8319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0.5° of loose gear play in 6 consecutive joints compounds into a massive 15 mm wobble at the gripper!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5040" y="3995747"/>
            <a:ext cx="7334260" cy="8580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Each joint requires a precision motor, driver, gearbox, bearings, encoder, and machined brackets.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5040" y="3363922"/>
            <a:ext cx="6870825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2. MULTIPLIED COST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5040" y="6072975"/>
            <a:ext cx="6683482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4. WIRING FATIGUE</a:t>
            </a:r>
            <a:endParaRPr lang="en-US" sz="2000" b="1" u="none" strike="noStrike">
              <a:solidFill>
                <a:srgbClr val="22588D"/>
              </a:solidFill>
              <a:latin typeface="Segoe UI Semibold" panose="020B0702040204020203" pitchFamily="34" charset="0"/>
              <a:ea typeface="Poppins Bold"/>
              <a:cs typeface="Poppins Bold"/>
              <a:sym typeface="Poppi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925040" y="6704800"/>
            <a:ext cx="7334260" cy="8580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Passing 30 copper wires through 6 twisting joints is the #1 cause of broken wires and field failures.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699" y="9461499"/>
            <a:ext cx="12700000" cy="374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1300">
                <a:solidFill>
                  <a:srgbClr val="476690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ROBOTICS FUNDAMENTALS • SESSION 01 / 04 • THURSDAY, 10 SEPT 2026</a:t>
            </a:r>
          </a:p>
        </p:txBody>
      </p:sp>
      <p:sp>
        <p:nvSpPr>
          <p:cNvPr id="12" name="IndicationBadge">
            <a:extLst>
              <a:ext uri="{FF2B5EF4-FFF2-40B4-BE49-F238E27FC236}">
                <a16:creationId xmlns:a16="http://schemas.microsoft.com/office/drawing/2014/main" id="{D5F177B7-D872-069B-088B-841189C0AC0E}"/>
              </a:ext>
            </a:extLst>
          </p:cNvPr>
          <p:cNvSpPr/>
          <p:nvPr/>
        </p:nvSpPr>
        <p:spPr>
          <a:xfrm>
            <a:off x="7137400" y="533400"/>
            <a:ext cx="4013200" cy="355600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2258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25400" rIns="127000" bIns="25400" rtlCol="0" anchor="ctr"/>
          <a:lstStyle/>
          <a:p>
            <a:pPr algn="ctr"/>
            <a:r>
              <a:rPr lang="en-US" sz="1050" b="1">
                <a:solidFill>
                  <a:srgbClr val="22588D"/>
                </a:solidFill>
                <a:latin typeface="Segoe UI Semibold" panose="020B0702040204020203" pitchFamily="34" charset="0"/>
              </a:rPr>
              <a:t>ENGINEERING TRUTH • ⚠️ MORE DOF ≠ BETTER</a:t>
            </a:r>
            <a:endParaRPr lang="fr-FR" sz="1050" b="1">
              <a:solidFill>
                <a:srgbClr val="22588D"/>
              </a:solidFill>
              <a:latin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3802595"/>
      </p:ext>
    </p:extLst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4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4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14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34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4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74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94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206499"/>
            <a:ext cx="8001000" cy="9240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sz="4000" b="1">
                <a:solidFill>
                  <a:srgbClr val="22588D"/>
                </a:solidFill>
                <a:latin typeface="Segoe UI Semibold" panose="020B0702040204020203" pitchFamily="34" charset="0"/>
                <a:ea typeface="Museo Moderno Bold"/>
                <a:cs typeface="Museo Moderno Bold"/>
                <a:sym typeface="Museo Moderno Bold"/>
              </a:rPr>
              <a:t>Real Robot Anatomy: Why 6 Axes?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682999"/>
            <a:ext cx="8001000" cy="44487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7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Why is the 6-Axis Industrial Arm (KUKA / ABB / FANUC) the king of factory automation?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7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
• AXES 1, 2, 3 (The Arm Base):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7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  Position the wrist anywhere in 3D space (X, Y, Z).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7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
• AXES 4, 5, 6 (The Spherical Wrist):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7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  Orient the tool in any direction: Roll, Pitch, and Yaw!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7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
👉 Result: Can weld a car door seam from any angle!</a:t>
            </a:r>
          </a:p>
        </p:txBody>
      </p:sp>
      <p:sp>
        <p:nvSpPr>
          <p:cNvPr id="4" name="Freeform 4"/>
          <p:cNvSpPr/>
          <p:nvPr/>
        </p:nvSpPr>
        <p:spPr>
          <a:xfrm>
            <a:off x="4957277" y="-4113214"/>
            <a:ext cx="6785337" cy="6797697"/>
          </a:xfrm>
          <a:custGeom>
            <a:avLst/>
            <a:gdLst/>
            <a:ahLst/>
            <a:cxnLst/>
            <a:rect l="l" t="t" r="r" b="b"/>
            <a:pathLst>
              <a:path w="6785337" h="6797697">
                <a:moveTo>
                  <a:pt x="0" y="0"/>
                </a:moveTo>
                <a:lnTo>
                  <a:pt x="6785337" y="0"/>
                </a:lnTo>
                <a:lnTo>
                  <a:pt x="6785337" y="6797697"/>
                </a:lnTo>
                <a:lnTo>
                  <a:pt x="0" y="67976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5" name="Group 5"/>
          <p:cNvGrpSpPr/>
          <p:nvPr/>
        </p:nvGrpSpPr>
        <p:grpSpPr>
          <a:xfrm>
            <a:off x="10210393" y="1619047"/>
            <a:ext cx="7048907" cy="704890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171450" cap="sq">
              <a:solidFill>
                <a:srgbClr val="22588D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699" y="9461499"/>
            <a:ext cx="12700000" cy="374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1300">
                <a:solidFill>
                  <a:srgbClr val="476690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ROBOTICS FUNDAMENTALS • SESSION 01 / 04 • THURSDAY, 10 SEPT 2026</a:t>
            </a:r>
          </a:p>
        </p:txBody>
      </p:sp>
      <p:sp>
        <p:nvSpPr>
          <p:cNvPr id="7" name="IndicationBadge">
            <a:extLst>
              <a:ext uri="{FF2B5EF4-FFF2-40B4-BE49-F238E27FC236}">
                <a16:creationId xmlns:a16="http://schemas.microsoft.com/office/drawing/2014/main" id="{92F4FFA2-0237-A9C2-D07E-BBA620893922}"/>
              </a:ext>
            </a:extLst>
          </p:cNvPr>
          <p:cNvSpPr/>
          <p:nvPr/>
        </p:nvSpPr>
        <p:spPr>
          <a:xfrm>
            <a:off x="1028700" y="533400"/>
            <a:ext cx="3556000" cy="355600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2258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25400" rIns="127000" bIns="25400" rtlCol="0" anchor="ctr"/>
          <a:lstStyle/>
          <a:p>
            <a:pPr algn="ctr"/>
            <a:r>
              <a:rPr lang="en-US" sz="1050" b="1">
                <a:solidFill>
                  <a:srgbClr val="22588D"/>
                </a:solidFill>
                <a:latin typeface="Segoe UI Semibold" panose="020B0702040204020203" pitchFamily="34" charset="0"/>
              </a:rPr>
              <a:t>INDUSTRIAL ROBOTICS • 🦾 WHY 6 AXES?</a:t>
            </a:r>
            <a:endParaRPr lang="fr-FR" sz="1050" b="1">
              <a:solidFill>
                <a:srgbClr val="22588D"/>
              </a:solidFill>
              <a:latin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8980667"/>
      </p:ext>
    </p:extLst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7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5045241" y="-6586096"/>
            <a:ext cx="10704366" cy="10723864"/>
          </a:xfrm>
          <a:custGeom>
            <a:avLst/>
            <a:gdLst/>
            <a:ahLst/>
            <a:cxnLst/>
            <a:rect l="l" t="t" r="r" b="b"/>
            <a:pathLst>
              <a:path w="10704366" h="10723864">
                <a:moveTo>
                  <a:pt x="10704366" y="0"/>
                </a:moveTo>
                <a:lnTo>
                  <a:pt x="0" y="0"/>
                </a:lnTo>
                <a:lnTo>
                  <a:pt x="0" y="10723864"/>
                </a:lnTo>
                <a:lnTo>
                  <a:pt x="10704366" y="10723864"/>
                </a:lnTo>
                <a:lnTo>
                  <a:pt x="1070436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 flipH="1">
            <a:off x="11335596" y="1207585"/>
            <a:ext cx="10704366" cy="10723864"/>
          </a:xfrm>
          <a:custGeom>
            <a:avLst/>
            <a:gdLst/>
            <a:ahLst/>
            <a:cxnLst/>
            <a:rect l="l" t="t" r="r" b="b"/>
            <a:pathLst>
              <a:path w="10704366" h="10723864">
                <a:moveTo>
                  <a:pt x="10704366" y="0"/>
                </a:moveTo>
                <a:lnTo>
                  <a:pt x="0" y="0"/>
                </a:lnTo>
                <a:lnTo>
                  <a:pt x="0" y="10723864"/>
                </a:lnTo>
                <a:lnTo>
                  <a:pt x="10704366" y="10723864"/>
                </a:lnTo>
                <a:lnTo>
                  <a:pt x="1070436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TextBox 4"/>
          <p:cNvSpPr txBox="1"/>
          <p:nvPr/>
        </p:nvSpPr>
        <p:spPr>
          <a:xfrm>
            <a:off x="3072296" y="2091652"/>
            <a:ext cx="12143409" cy="9298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4200" b="1">
                <a:solidFill>
                  <a:srgbClr val="22588D"/>
                </a:solidFill>
                <a:latin typeface="Segoe UI Semibold" panose="020B0702040204020203" pitchFamily="34" charset="0"/>
                <a:ea typeface="Museo Moderno Bold"/>
                <a:cs typeface="Museo Moderno Bold"/>
                <a:sym typeface="Museo Moderno Bold"/>
              </a:rPr>
              <a:t>Audit This Robot: What Do You See?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3614760" y="3872827"/>
            <a:ext cx="4882600" cy="879493"/>
            <a:chOff x="0" y="0"/>
            <a:chExt cx="1285952" cy="23163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5952" cy="231636"/>
            </a:xfrm>
            <a:custGeom>
              <a:avLst/>
              <a:gdLst/>
              <a:ahLst/>
              <a:cxnLst/>
              <a:rect l="l" t="t" r="r" b="b"/>
              <a:pathLst>
                <a:path w="1285952" h="231636">
                  <a:moveTo>
                    <a:pt x="80866" y="0"/>
                  </a:moveTo>
                  <a:lnTo>
                    <a:pt x="1205086" y="0"/>
                  </a:lnTo>
                  <a:cubicBezTo>
                    <a:pt x="1226533" y="0"/>
                    <a:pt x="1247102" y="8520"/>
                    <a:pt x="1262267" y="23685"/>
                  </a:cubicBezTo>
                  <a:cubicBezTo>
                    <a:pt x="1277433" y="38851"/>
                    <a:pt x="1285952" y="59419"/>
                    <a:pt x="1285952" y="80866"/>
                  </a:cubicBezTo>
                  <a:lnTo>
                    <a:pt x="1285952" y="150770"/>
                  </a:lnTo>
                  <a:cubicBezTo>
                    <a:pt x="1285952" y="195431"/>
                    <a:pt x="1249747" y="231636"/>
                    <a:pt x="1205086" y="231636"/>
                  </a:cubicBezTo>
                  <a:lnTo>
                    <a:pt x="80866" y="231636"/>
                  </a:lnTo>
                  <a:cubicBezTo>
                    <a:pt x="36205" y="231636"/>
                    <a:pt x="0" y="195431"/>
                    <a:pt x="0" y="150770"/>
                  </a:cubicBezTo>
                  <a:lnTo>
                    <a:pt x="0" y="80866"/>
                  </a:lnTo>
                  <a:cubicBezTo>
                    <a:pt x="0" y="36205"/>
                    <a:pt x="36205" y="0"/>
                    <a:pt x="80866" y="0"/>
                  </a:cubicBezTo>
                  <a:close/>
                </a:path>
              </a:pathLst>
            </a:custGeom>
            <a:solidFill>
              <a:srgbClr val="22588D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1285952" cy="298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266703" y="4058573"/>
            <a:ext cx="3578715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"/>
                <a:cs typeface="Poppins"/>
                <a:sym typeface="Poppins"/>
              </a:rPr>
              <a:t>01. Count Links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790639" y="3872827"/>
            <a:ext cx="4882600" cy="879493"/>
            <a:chOff x="0" y="0"/>
            <a:chExt cx="1285952" cy="23163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85952" cy="231636"/>
            </a:xfrm>
            <a:custGeom>
              <a:avLst/>
              <a:gdLst/>
              <a:ahLst/>
              <a:cxnLst/>
              <a:rect l="l" t="t" r="r" b="b"/>
              <a:pathLst>
                <a:path w="1285952" h="231636">
                  <a:moveTo>
                    <a:pt x="80866" y="0"/>
                  </a:moveTo>
                  <a:lnTo>
                    <a:pt x="1205086" y="0"/>
                  </a:lnTo>
                  <a:cubicBezTo>
                    <a:pt x="1226533" y="0"/>
                    <a:pt x="1247102" y="8520"/>
                    <a:pt x="1262267" y="23685"/>
                  </a:cubicBezTo>
                  <a:cubicBezTo>
                    <a:pt x="1277433" y="38851"/>
                    <a:pt x="1285952" y="59419"/>
                    <a:pt x="1285952" y="80866"/>
                  </a:cubicBezTo>
                  <a:lnTo>
                    <a:pt x="1285952" y="150770"/>
                  </a:lnTo>
                  <a:cubicBezTo>
                    <a:pt x="1285952" y="195431"/>
                    <a:pt x="1249747" y="231636"/>
                    <a:pt x="1205086" y="231636"/>
                  </a:cubicBezTo>
                  <a:lnTo>
                    <a:pt x="80866" y="231636"/>
                  </a:lnTo>
                  <a:cubicBezTo>
                    <a:pt x="36205" y="231636"/>
                    <a:pt x="0" y="195431"/>
                    <a:pt x="0" y="150770"/>
                  </a:cubicBezTo>
                  <a:lnTo>
                    <a:pt x="0" y="80866"/>
                  </a:lnTo>
                  <a:cubicBezTo>
                    <a:pt x="0" y="36205"/>
                    <a:pt x="36205" y="0"/>
                    <a:pt x="80866" y="0"/>
                  </a:cubicBezTo>
                  <a:close/>
                </a:path>
              </a:pathLst>
            </a:custGeom>
            <a:solidFill>
              <a:srgbClr val="22588D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1285952" cy="298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442582" y="4058573"/>
            <a:ext cx="3578715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"/>
                <a:cs typeface="Poppins"/>
                <a:sym typeface="Poppins"/>
              </a:rPr>
              <a:t>02. Identify Joints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3614760" y="5560330"/>
            <a:ext cx="4882600" cy="879493"/>
            <a:chOff x="0" y="0"/>
            <a:chExt cx="1285952" cy="23163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85952" cy="231636"/>
            </a:xfrm>
            <a:custGeom>
              <a:avLst/>
              <a:gdLst/>
              <a:ahLst/>
              <a:cxnLst/>
              <a:rect l="l" t="t" r="r" b="b"/>
              <a:pathLst>
                <a:path w="1285952" h="231636">
                  <a:moveTo>
                    <a:pt x="80866" y="0"/>
                  </a:moveTo>
                  <a:lnTo>
                    <a:pt x="1205086" y="0"/>
                  </a:lnTo>
                  <a:cubicBezTo>
                    <a:pt x="1226533" y="0"/>
                    <a:pt x="1247102" y="8520"/>
                    <a:pt x="1262267" y="23685"/>
                  </a:cubicBezTo>
                  <a:cubicBezTo>
                    <a:pt x="1277433" y="38851"/>
                    <a:pt x="1285952" y="59419"/>
                    <a:pt x="1285952" y="80866"/>
                  </a:cubicBezTo>
                  <a:lnTo>
                    <a:pt x="1285952" y="150770"/>
                  </a:lnTo>
                  <a:cubicBezTo>
                    <a:pt x="1285952" y="195431"/>
                    <a:pt x="1249747" y="231636"/>
                    <a:pt x="1205086" y="231636"/>
                  </a:cubicBezTo>
                  <a:lnTo>
                    <a:pt x="80866" y="231636"/>
                  </a:lnTo>
                  <a:cubicBezTo>
                    <a:pt x="36205" y="231636"/>
                    <a:pt x="0" y="195431"/>
                    <a:pt x="0" y="150770"/>
                  </a:cubicBezTo>
                  <a:lnTo>
                    <a:pt x="0" y="80866"/>
                  </a:lnTo>
                  <a:cubicBezTo>
                    <a:pt x="0" y="36205"/>
                    <a:pt x="36205" y="0"/>
                    <a:pt x="80866" y="0"/>
                  </a:cubicBezTo>
                  <a:close/>
                </a:path>
              </a:pathLst>
            </a:custGeom>
            <a:solidFill>
              <a:srgbClr val="22588D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66675"/>
              <a:ext cx="1285952" cy="298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4266703" y="5746077"/>
            <a:ext cx="3578715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"/>
                <a:cs typeface="Poppins"/>
                <a:sym typeface="Poppins"/>
              </a:rPr>
              <a:t>03. Calculate DOF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790639" y="5495270"/>
            <a:ext cx="4882600" cy="879493"/>
            <a:chOff x="0" y="0"/>
            <a:chExt cx="1285952" cy="23163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85952" cy="231636"/>
            </a:xfrm>
            <a:custGeom>
              <a:avLst/>
              <a:gdLst/>
              <a:ahLst/>
              <a:cxnLst/>
              <a:rect l="l" t="t" r="r" b="b"/>
              <a:pathLst>
                <a:path w="1285952" h="231636">
                  <a:moveTo>
                    <a:pt x="80866" y="0"/>
                  </a:moveTo>
                  <a:lnTo>
                    <a:pt x="1205086" y="0"/>
                  </a:lnTo>
                  <a:cubicBezTo>
                    <a:pt x="1226533" y="0"/>
                    <a:pt x="1247102" y="8520"/>
                    <a:pt x="1262267" y="23685"/>
                  </a:cubicBezTo>
                  <a:cubicBezTo>
                    <a:pt x="1277433" y="38851"/>
                    <a:pt x="1285952" y="59419"/>
                    <a:pt x="1285952" y="80866"/>
                  </a:cubicBezTo>
                  <a:lnTo>
                    <a:pt x="1285952" y="150770"/>
                  </a:lnTo>
                  <a:cubicBezTo>
                    <a:pt x="1285952" y="195431"/>
                    <a:pt x="1249747" y="231636"/>
                    <a:pt x="1205086" y="231636"/>
                  </a:cubicBezTo>
                  <a:lnTo>
                    <a:pt x="80866" y="231636"/>
                  </a:lnTo>
                  <a:cubicBezTo>
                    <a:pt x="36205" y="231636"/>
                    <a:pt x="0" y="195431"/>
                    <a:pt x="0" y="150770"/>
                  </a:cubicBezTo>
                  <a:lnTo>
                    <a:pt x="0" y="80866"/>
                  </a:lnTo>
                  <a:cubicBezTo>
                    <a:pt x="0" y="36205"/>
                    <a:pt x="36205" y="0"/>
                    <a:pt x="80866" y="0"/>
                  </a:cubicBezTo>
                  <a:close/>
                </a:path>
              </a:pathLst>
            </a:custGeom>
            <a:solidFill>
              <a:srgbClr val="22588D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66675"/>
              <a:ext cx="1285952" cy="298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0442582" y="5681017"/>
            <a:ext cx="3578715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"/>
                <a:cs typeface="Poppins"/>
                <a:sym typeface="Poppins"/>
              </a:rPr>
              <a:t>04. Locate Motors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6702700" y="7192030"/>
            <a:ext cx="4882600" cy="879493"/>
            <a:chOff x="0" y="0"/>
            <a:chExt cx="1285952" cy="23163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85952" cy="231636"/>
            </a:xfrm>
            <a:custGeom>
              <a:avLst/>
              <a:gdLst/>
              <a:ahLst/>
              <a:cxnLst/>
              <a:rect l="l" t="t" r="r" b="b"/>
              <a:pathLst>
                <a:path w="1285952" h="231636">
                  <a:moveTo>
                    <a:pt x="80866" y="0"/>
                  </a:moveTo>
                  <a:lnTo>
                    <a:pt x="1205086" y="0"/>
                  </a:lnTo>
                  <a:cubicBezTo>
                    <a:pt x="1226533" y="0"/>
                    <a:pt x="1247102" y="8520"/>
                    <a:pt x="1262267" y="23685"/>
                  </a:cubicBezTo>
                  <a:cubicBezTo>
                    <a:pt x="1277433" y="38851"/>
                    <a:pt x="1285952" y="59419"/>
                    <a:pt x="1285952" y="80866"/>
                  </a:cubicBezTo>
                  <a:lnTo>
                    <a:pt x="1285952" y="150770"/>
                  </a:lnTo>
                  <a:cubicBezTo>
                    <a:pt x="1285952" y="195431"/>
                    <a:pt x="1249747" y="231636"/>
                    <a:pt x="1205086" y="231636"/>
                  </a:cubicBezTo>
                  <a:lnTo>
                    <a:pt x="80866" y="231636"/>
                  </a:lnTo>
                  <a:cubicBezTo>
                    <a:pt x="36205" y="231636"/>
                    <a:pt x="0" y="195431"/>
                    <a:pt x="0" y="150770"/>
                  </a:cubicBezTo>
                  <a:lnTo>
                    <a:pt x="0" y="80866"/>
                  </a:lnTo>
                  <a:cubicBezTo>
                    <a:pt x="0" y="36205"/>
                    <a:pt x="36205" y="0"/>
                    <a:pt x="80866" y="0"/>
                  </a:cubicBezTo>
                  <a:close/>
                </a:path>
              </a:pathLst>
            </a:custGeom>
            <a:solidFill>
              <a:srgbClr val="22588D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66675"/>
              <a:ext cx="1285952" cy="298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7354642" y="7377776"/>
            <a:ext cx="3578715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"/>
                <a:cs typeface="Poppins"/>
                <a:sym typeface="Poppins"/>
              </a:rPr>
              <a:t>05. Spot Wire Stress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8699" y="9461499"/>
            <a:ext cx="12700000" cy="374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1300">
                <a:solidFill>
                  <a:srgbClr val="476690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ROBOTICS FUNDAMENTALS • SESSION 01 / 04 • THURSDAY, 10 SEPT 2026</a:t>
            </a:r>
          </a:p>
        </p:txBody>
      </p:sp>
      <p:sp>
        <p:nvSpPr>
          <p:cNvPr id="25" name="IndicationBadge">
            <a:extLst>
              <a:ext uri="{FF2B5EF4-FFF2-40B4-BE49-F238E27FC236}">
                <a16:creationId xmlns:a16="http://schemas.microsoft.com/office/drawing/2014/main" id="{E7AE4D04-C341-063A-A2E1-6CDDA9BB5EB0}"/>
              </a:ext>
            </a:extLst>
          </p:cNvPr>
          <p:cNvSpPr/>
          <p:nvPr/>
        </p:nvSpPr>
        <p:spPr>
          <a:xfrm>
            <a:off x="1028700" y="533400"/>
            <a:ext cx="3738880" cy="355600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2258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25400" rIns="127000" bIns="25400" rtlCol="0" anchor="ctr"/>
          <a:lstStyle/>
          <a:p>
            <a:pPr algn="ctr"/>
            <a:r>
              <a:rPr lang="en-US" sz="1050" b="1">
                <a:solidFill>
                  <a:srgbClr val="22588D"/>
                </a:solidFill>
                <a:latin typeface="Segoe UI Semibold" panose="020B0702040204020203" pitchFamily="34" charset="0"/>
              </a:rPr>
              <a:t>HANDS-ON AUDIT • 🔍 INSPECT THIS ROBOT</a:t>
            </a:r>
            <a:endParaRPr lang="fr-FR" sz="1050" b="1">
              <a:solidFill>
                <a:srgbClr val="22588D"/>
              </a:solidFill>
              <a:latin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117177"/>
      </p:ext>
    </p:extLst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7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7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7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27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47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2" grpId="0"/>
      <p:bldP spid="16" grpId="0"/>
      <p:bldP spid="20" grpId="0"/>
      <p:bldP spid="24" grpId="0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744190" y="-4042349"/>
            <a:ext cx="6446938" cy="6458681"/>
          </a:xfrm>
          <a:custGeom>
            <a:avLst/>
            <a:gdLst/>
            <a:ahLst/>
            <a:cxnLst/>
            <a:rect l="l" t="t" r="r" b="b"/>
            <a:pathLst>
              <a:path w="6446938" h="6458681">
                <a:moveTo>
                  <a:pt x="0" y="0"/>
                </a:moveTo>
                <a:lnTo>
                  <a:pt x="6446937" y="0"/>
                </a:lnTo>
                <a:lnTo>
                  <a:pt x="6446937" y="6458681"/>
                </a:lnTo>
                <a:lnTo>
                  <a:pt x="0" y="64586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9703520" y="1954573"/>
            <a:ext cx="11124397" cy="6377854"/>
            <a:chOff x="0" y="0"/>
            <a:chExt cx="888424" cy="5093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88424" cy="509352"/>
            </a:xfrm>
            <a:custGeom>
              <a:avLst/>
              <a:gdLst/>
              <a:ahLst/>
              <a:cxnLst/>
              <a:rect l="l" t="t" r="r" b="b"/>
              <a:pathLst>
                <a:path w="888424" h="509352">
                  <a:moveTo>
                    <a:pt x="685224" y="0"/>
                  </a:moveTo>
                  <a:cubicBezTo>
                    <a:pt x="797454" y="0"/>
                    <a:pt x="888424" y="114015"/>
                    <a:pt x="888424" y="254676"/>
                  </a:cubicBezTo>
                  <a:cubicBezTo>
                    <a:pt x="888424" y="395337"/>
                    <a:pt x="797454" y="509352"/>
                    <a:pt x="685224" y="509352"/>
                  </a:cubicBezTo>
                  <a:lnTo>
                    <a:pt x="203200" y="509352"/>
                  </a:lnTo>
                  <a:cubicBezTo>
                    <a:pt x="90970" y="509352"/>
                    <a:pt x="0" y="395337"/>
                    <a:pt x="0" y="254676"/>
                  </a:cubicBezTo>
                  <a:cubicBezTo>
                    <a:pt x="0" y="114015"/>
                    <a:pt x="90970" y="0"/>
                    <a:pt x="203200" y="0"/>
                  </a:cubicBezTo>
                  <a:lnTo>
                    <a:pt x="685224" y="0"/>
                  </a:lnTo>
                </a:path>
              </a:pathLst>
            </a:custGeom>
            <a:blipFill>
              <a:blip r:embed="rId4"/>
              <a:stretch>
                <a:fillRect/>
              </a:stretch>
            </a:blipFill>
            <a:ln w="171450" cap="sq">
              <a:solidFill>
                <a:srgbClr val="22588D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6" name="Freeform 6"/>
          <p:cNvSpPr/>
          <p:nvPr/>
        </p:nvSpPr>
        <p:spPr>
          <a:xfrm>
            <a:off x="-1080828" y="4476186"/>
            <a:ext cx="6446938" cy="6458681"/>
          </a:xfrm>
          <a:custGeom>
            <a:avLst/>
            <a:gdLst/>
            <a:ahLst/>
            <a:cxnLst/>
            <a:rect l="l" t="t" r="r" b="b"/>
            <a:pathLst>
              <a:path w="6446938" h="6458681">
                <a:moveTo>
                  <a:pt x="0" y="0"/>
                </a:moveTo>
                <a:lnTo>
                  <a:pt x="6446938" y="0"/>
                </a:lnTo>
                <a:lnTo>
                  <a:pt x="6446938" y="6458681"/>
                </a:lnTo>
                <a:lnTo>
                  <a:pt x="0" y="64586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" name="TextBox 7"/>
          <p:cNvSpPr txBox="1"/>
          <p:nvPr/>
        </p:nvSpPr>
        <p:spPr>
          <a:xfrm>
            <a:off x="1028700" y="2286000"/>
            <a:ext cx="8255000" cy="2966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099"/>
              </a:lnSpc>
            </a:pPr>
            <a:r>
              <a:rPr lang="en-US" sz="3800" b="1" u="none" strike="noStrike">
                <a:solidFill>
                  <a:srgbClr val="22588D"/>
                </a:solidFill>
                <a:latin typeface="Segoe UI Semibold" panose="020B0702040204020203" pitchFamily="34" charset="0"/>
                <a:ea typeface="Museo Moderno Bold"/>
                <a:cs typeface="Museo Moderno Bold"/>
                <a:sym typeface="Museo Moderno Bold"/>
              </a:rPr>
              <a:t>PART 02
ACTUATION &amp;
MOTORS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5588000"/>
            <a:ext cx="8255000" cy="5168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1900">
                <a:solidFill>
                  <a:srgbClr val="22588D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Motors • Torque • Speed • Backlash • Choosing the Right Drive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699" y="9461499"/>
            <a:ext cx="12700000" cy="380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1500">
                <a:solidFill>
                  <a:srgbClr val="476690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ROBOTICS FUNDAMENTALS • PART 02 / 06</a:t>
            </a:r>
          </a:p>
        </p:txBody>
      </p:sp>
      <p:sp>
        <p:nvSpPr>
          <p:cNvPr id="5" name="IndicationBadge">
            <a:extLst>
              <a:ext uri="{FF2B5EF4-FFF2-40B4-BE49-F238E27FC236}">
                <a16:creationId xmlns:a16="http://schemas.microsoft.com/office/drawing/2014/main" id="{80C66099-BEF3-EBE8-DAF9-408C733C780E}"/>
              </a:ext>
            </a:extLst>
          </p:cNvPr>
          <p:cNvSpPr/>
          <p:nvPr/>
        </p:nvSpPr>
        <p:spPr>
          <a:xfrm>
            <a:off x="1028700" y="533400"/>
            <a:ext cx="3190240" cy="355600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2258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25400" rIns="127000" bIns="25400" rtlCol="0" anchor="ctr"/>
          <a:lstStyle/>
          <a:p>
            <a:pPr algn="ctr"/>
            <a:r>
              <a:rPr lang="fr-FR" sz="1050" b="1">
                <a:solidFill>
                  <a:srgbClr val="22588D"/>
                </a:solidFill>
                <a:latin typeface="Segoe UI Semibold" panose="020B0702040204020203" pitchFamily="34" charset="0"/>
              </a:rPr>
              <a:t>SECTION 02 • ACTUATION &amp; MOTORS</a:t>
            </a:r>
          </a:p>
        </p:txBody>
      </p:sp>
    </p:spTree>
    <p:extLst>
      <p:ext uri="{BB962C8B-B14F-4D97-AF65-F5344CB8AC3E}">
        <p14:creationId xmlns:p14="http://schemas.microsoft.com/office/powerpoint/2010/main" val="1706574001"/>
      </p:ext>
    </p:extLst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7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07159" y="-6035048"/>
            <a:ext cx="10704366" cy="10723864"/>
          </a:xfrm>
          <a:custGeom>
            <a:avLst/>
            <a:gdLst/>
            <a:ahLst/>
            <a:cxnLst/>
            <a:rect l="l" t="t" r="r" b="b"/>
            <a:pathLst>
              <a:path w="10704366" h="10723864">
                <a:moveTo>
                  <a:pt x="0" y="0"/>
                </a:moveTo>
                <a:lnTo>
                  <a:pt x="10704366" y="0"/>
                </a:lnTo>
                <a:lnTo>
                  <a:pt x="10704366" y="10723864"/>
                </a:lnTo>
                <a:lnTo>
                  <a:pt x="0" y="107238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2794000" y="1142999"/>
            <a:ext cx="12700000" cy="9066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3400" b="1" u="none" strike="noStrike">
                <a:solidFill>
                  <a:srgbClr val="22588D"/>
                </a:solidFill>
                <a:latin typeface="Segoe UI Semibold" panose="020B0702040204020203" pitchFamily="34" charset="0"/>
                <a:ea typeface="Museo Moderno Bold"/>
                <a:cs typeface="Museo Moderno Bold"/>
                <a:sym typeface="Museo Moderno Bold"/>
              </a:rPr>
              <a:t>Which Motor for Which Job?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995747"/>
            <a:ext cx="7334260" cy="1324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• Cheap, simple 2-wire control
• High speed, moderate torque
• Perfect for mobile robot driving wheels.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363922"/>
            <a:ext cx="6870825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BRUSHED DC + GEARS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6072975"/>
            <a:ext cx="5604938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STEPPER MOTOR (NEMA)</a:t>
            </a:r>
            <a:endParaRPr lang="en-US" sz="2000" b="1" u="none" strike="noStrike">
              <a:solidFill>
                <a:srgbClr val="22588D"/>
              </a:solidFill>
              <a:latin typeface="Segoe UI Semibold" panose="020B0702040204020203" pitchFamily="34" charset="0"/>
              <a:ea typeface="Poppins Bold"/>
              <a:cs typeface="Poppins Bold"/>
              <a:sym typeface="Poppi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6704800"/>
            <a:ext cx="7334260" cy="1324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• Precise discrete steps (e.g. 1.8°/step)
• High holding torque at low speed
• The gold standard for 3D printers &amp; CNCs.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5040" y="3995747"/>
            <a:ext cx="7334260" cy="1324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• All-in-one: Motor + Potentiometer + Driver
• Easy PWM angle control (0°-180°)
• Great for small camera gimbals &amp; grippers.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5040" y="3363922"/>
            <a:ext cx="6870825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RC HOBBY SERVO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5040" y="6072975"/>
            <a:ext cx="6683482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BLDC + PLANETARY GEARS</a:t>
            </a:r>
            <a:endParaRPr lang="en-US" sz="2000" b="1" u="none" strike="noStrike">
              <a:solidFill>
                <a:srgbClr val="22588D"/>
              </a:solidFill>
              <a:latin typeface="Segoe UI Semibold" panose="020B0702040204020203" pitchFamily="34" charset="0"/>
              <a:ea typeface="Poppins Bold"/>
              <a:cs typeface="Poppins Bold"/>
              <a:sym typeface="Poppi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925040" y="6704800"/>
            <a:ext cx="7334260" cy="13068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• Supreme power-to-weight density &amp; efficiency
• High speed, quiet, zero brush wear
• Used in Boston Dynamics quadrupeds &amp; drones.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699" y="9461499"/>
            <a:ext cx="12700000" cy="374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1300">
                <a:solidFill>
                  <a:srgbClr val="476690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ROBOTICS FUNDAMENTALS • SESSION 01 / 04 • THURSDAY, 10 SEPT 2026</a:t>
            </a:r>
          </a:p>
        </p:txBody>
      </p:sp>
      <p:sp>
        <p:nvSpPr>
          <p:cNvPr id="12" name="IndicationBadge">
            <a:extLst>
              <a:ext uri="{FF2B5EF4-FFF2-40B4-BE49-F238E27FC236}">
                <a16:creationId xmlns:a16="http://schemas.microsoft.com/office/drawing/2014/main" id="{3A6B8EEB-7111-C829-F65A-B9005F3F87B7}"/>
              </a:ext>
            </a:extLst>
          </p:cNvPr>
          <p:cNvSpPr/>
          <p:nvPr/>
        </p:nvSpPr>
        <p:spPr>
          <a:xfrm>
            <a:off x="7091680" y="533400"/>
            <a:ext cx="4104640" cy="355600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2258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25400" rIns="127000" bIns="25400" rtlCol="0" anchor="ctr"/>
          <a:lstStyle/>
          <a:p>
            <a:pPr algn="ctr"/>
            <a:r>
              <a:rPr lang="en-US" sz="1050" b="1">
                <a:solidFill>
                  <a:srgbClr val="22588D"/>
                </a:solidFill>
                <a:latin typeface="Segoe UI Semibold" panose="020B0702040204020203" pitchFamily="34" charset="0"/>
              </a:rPr>
              <a:t>SELECTION MATRIX • ⚡ WHICH MOTOR TO PICK?</a:t>
            </a:r>
            <a:endParaRPr lang="fr-FR" sz="1050" b="1">
              <a:solidFill>
                <a:srgbClr val="22588D"/>
              </a:solidFill>
              <a:latin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1365941"/>
      </p:ext>
    </p:extLst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4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4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14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34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4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74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94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9572797" flipV="1">
            <a:off x="-5352183" y="-7112624"/>
            <a:ext cx="10704366" cy="10723864"/>
          </a:xfrm>
          <a:custGeom>
            <a:avLst/>
            <a:gdLst/>
            <a:ahLst/>
            <a:cxnLst/>
            <a:rect l="l" t="t" r="r" b="b"/>
            <a:pathLst>
              <a:path w="10704366" h="10723864">
                <a:moveTo>
                  <a:pt x="0" y="10723863"/>
                </a:moveTo>
                <a:lnTo>
                  <a:pt x="10704366" y="10723863"/>
                </a:lnTo>
                <a:lnTo>
                  <a:pt x="10704366" y="0"/>
                </a:lnTo>
                <a:lnTo>
                  <a:pt x="0" y="0"/>
                </a:lnTo>
                <a:lnTo>
                  <a:pt x="0" y="1072386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3697613" y="952499"/>
            <a:ext cx="16256000" cy="9298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4200" b="1" u="none" strike="noStrike">
                <a:solidFill>
                  <a:srgbClr val="22588D"/>
                </a:solidFill>
                <a:latin typeface="Segoe UI Semibold" panose="020B0702040204020203" pitchFamily="34" charset="0"/>
                <a:ea typeface="Museo Moderno Bold"/>
                <a:cs typeface="Museo Moderno Bold"/>
                <a:sym typeface="Museo Moderno Bold"/>
              </a:rPr>
              <a:t>Torque: The Shopping Bag Principle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857499"/>
            <a:ext cx="7334260" cy="26534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5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Holding a 2 kg bag against your hip is easy.
Now hold that exact same bag straight out horizontally: Your shoulder burns within seconds!
The weight didn't change—the DISTANCE changed! Distance multiplies rotational effort.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285999"/>
            <a:ext cx="7803545" cy="4053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TORQUE = FORCE × DISTANCE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5841999"/>
            <a:ext cx="7964281" cy="4053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THE 2× SAFETY FACTOR RULE</a:t>
            </a:r>
            <a:endParaRPr lang="en-US" sz="2000" b="1" u="none" strike="noStrike">
              <a:solidFill>
                <a:srgbClr val="22588D"/>
              </a:solidFill>
              <a:latin typeface="Segoe UI Semibold" panose="020B0702040204020203" pitchFamily="34" charset="0"/>
              <a:ea typeface="Poppins Bold"/>
              <a:cs typeface="Poppins Bold"/>
              <a:sym typeface="Poppi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6413499"/>
            <a:ext cx="7334260" cy="21835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5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Beginner Mistake: 'My static math says 2 N·m, so I bought a 2 N·m motor.'
Why it stalls: You forgot the arm's own weight, acceleration torque, and bearing friction!
Always multiply static torque by 2.0×.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5040" y="2867823"/>
            <a:ext cx="7165689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QUICK WORKED EXAMPLE</a:t>
            </a:r>
            <a:endParaRPr lang="en-US" sz="2000" b="1" u="none" strike="noStrike">
              <a:solidFill>
                <a:srgbClr val="22588D"/>
              </a:solidFill>
              <a:latin typeface="Segoe UI Semibold" panose="020B0702040204020203" pitchFamily="34" charset="0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925040" y="3499648"/>
            <a:ext cx="7334260" cy="8319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1 kg payload (~10 N) at 20 cm reach (0.2 m) = 2.0 N·m torque.
At 40 cm reach (0.4 m) = 4.0 N·m torque (Doubled!).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925040" y="5751231"/>
            <a:ext cx="7334260" cy="3010971"/>
            <a:chOff x="0" y="0"/>
            <a:chExt cx="1136269" cy="46647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36269" cy="466478"/>
            </a:xfrm>
            <a:custGeom>
              <a:avLst/>
              <a:gdLst/>
              <a:ahLst/>
              <a:cxnLst/>
              <a:rect l="l" t="t" r="r" b="b"/>
              <a:pathLst>
                <a:path w="1136269" h="466478">
                  <a:moveTo>
                    <a:pt x="59113" y="0"/>
                  </a:moveTo>
                  <a:lnTo>
                    <a:pt x="1077156" y="0"/>
                  </a:lnTo>
                  <a:cubicBezTo>
                    <a:pt x="1092834" y="0"/>
                    <a:pt x="1107869" y="6228"/>
                    <a:pt x="1118955" y="17314"/>
                  </a:cubicBezTo>
                  <a:cubicBezTo>
                    <a:pt x="1130041" y="28399"/>
                    <a:pt x="1136269" y="43435"/>
                    <a:pt x="1136269" y="59113"/>
                  </a:cubicBezTo>
                  <a:lnTo>
                    <a:pt x="1136269" y="407366"/>
                  </a:lnTo>
                  <a:cubicBezTo>
                    <a:pt x="1136269" y="423043"/>
                    <a:pt x="1130041" y="438079"/>
                    <a:pt x="1118955" y="449165"/>
                  </a:cubicBezTo>
                  <a:cubicBezTo>
                    <a:pt x="1107869" y="460250"/>
                    <a:pt x="1092834" y="466478"/>
                    <a:pt x="1077156" y="466478"/>
                  </a:cubicBezTo>
                  <a:lnTo>
                    <a:pt x="59113" y="466478"/>
                  </a:lnTo>
                  <a:cubicBezTo>
                    <a:pt x="43435" y="466478"/>
                    <a:pt x="28399" y="460250"/>
                    <a:pt x="17314" y="449165"/>
                  </a:cubicBezTo>
                  <a:cubicBezTo>
                    <a:pt x="6228" y="438079"/>
                    <a:pt x="0" y="423043"/>
                    <a:pt x="0" y="407366"/>
                  </a:cubicBezTo>
                  <a:lnTo>
                    <a:pt x="0" y="59113"/>
                  </a:lnTo>
                  <a:cubicBezTo>
                    <a:pt x="0" y="43435"/>
                    <a:pt x="6228" y="28399"/>
                    <a:pt x="17314" y="17314"/>
                  </a:cubicBezTo>
                  <a:cubicBezTo>
                    <a:pt x="28399" y="6228"/>
                    <a:pt x="43435" y="0"/>
                    <a:pt x="59113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171450" cap="rnd">
              <a:solidFill>
                <a:srgbClr val="22588D"/>
              </a:soli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28699" y="9461499"/>
            <a:ext cx="12700000" cy="374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1300">
                <a:solidFill>
                  <a:srgbClr val="476690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ROBOTICS FUNDAMENTALS • SESSION 01 / 04 • THURSDAY, 10 SEPT 2026</a:t>
            </a:r>
          </a:p>
        </p:txBody>
      </p:sp>
      <p:sp>
        <p:nvSpPr>
          <p:cNvPr id="12" name="IndicationBadge">
            <a:extLst>
              <a:ext uri="{FF2B5EF4-FFF2-40B4-BE49-F238E27FC236}">
                <a16:creationId xmlns:a16="http://schemas.microsoft.com/office/drawing/2014/main" id="{A4BFBAE7-46C1-B66F-3DB7-B6A77CC8EE5F}"/>
              </a:ext>
            </a:extLst>
          </p:cNvPr>
          <p:cNvSpPr/>
          <p:nvPr/>
        </p:nvSpPr>
        <p:spPr>
          <a:xfrm>
            <a:off x="1028700" y="533400"/>
            <a:ext cx="3373120" cy="355600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2258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25400" rIns="127000" bIns="25400" rtlCol="0" anchor="ctr"/>
          <a:lstStyle/>
          <a:p>
            <a:pPr algn="ctr"/>
            <a:r>
              <a:rPr lang="en-US" sz="1050" b="1">
                <a:solidFill>
                  <a:srgbClr val="22588D"/>
                </a:solidFill>
                <a:latin typeface="Segoe UI Semibold" panose="020B0702040204020203" pitchFamily="34" charset="0"/>
              </a:rPr>
              <a:t>PHYSICS LAW • 📐 TORQUE &amp; LEVERAGE</a:t>
            </a:r>
            <a:endParaRPr lang="fr-FR" sz="1050" b="1">
              <a:solidFill>
                <a:srgbClr val="22588D"/>
              </a:solidFill>
              <a:latin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4382386"/>
      </p:ext>
    </p:extLst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7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7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7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27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47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7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07159" y="-6035048"/>
            <a:ext cx="10704366" cy="10723864"/>
          </a:xfrm>
          <a:custGeom>
            <a:avLst/>
            <a:gdLst/>
            <a:ahLst/>
            <a:cxnLst/>
            <a:rect l="l" t="t" r="r" b="b"/>
            <a:pathLst>
              <a:path w="10704366" h="10723864">
                <a:moveTo>
                  <a:pt x="0" y="0"/>
                </a:moveTo>
                <a:lnTo>
                  <a:pt x="10704366" y="0"/>
                </a:lnTo>
                <a:lnTo>
                  <a:pt x="10704366" y="10723864"/>
                </a:lnTo>
                <a:lnTo>
                  <a:pt x="0" y="107238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2794000" y="1142999"/>
            <a:ext cx="12700000" cy="9298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4200" b="1" u="none" strike="noStrike">
                <a:solidFill>
                  <a:srgbClr val="22588D"/>
                </a:solidFill>
                <a:latin typeface="Segoe UI Semibold" panose="020B0702040204020203" pitchFamily="34" charset="0"/>
                <a:ea typeface="Museo Moderno Bold"/>
                <a:cs typeface="Museo Moderno Bold"/>
                <a:sym typeface="Museo Moderno Bold"/>
              </a:rPr>
              <a:t>A Motor is More Than Just Torque!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995747"/>
            <a:ext cx="7334260" cy="3831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Rotational strength. Can it lift the payload from a dead stop?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363922"/>
            <a:ext cx="6870825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TORQUE (N·m)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6072975"/>
            <a:ext cx="5604938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RESOLUTION (Counts/Rev)</a:t>
            </a:r>
            <a:endParaRPr lang="en-US" sz="2000" b="1" u="none" strike="noStrike">
              <a:solidFill>
                <a:srgbClr val="22588D"/>
              </a:solidFill>
              <a:latin typeface="Segoe UI Semibold" panose="020B0702040204020203" pitchFamily="34" charset="0"/>
              <a:ea typeface="Poppins Bold"/>
              <a:cs typeface="Poppins Bold"/>
              <a:sym typeface="Poppi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6704800"/>
            <a:ext cx="7334260" cy="3831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How finely the encoder divides a circle. (e.g. 4096 pulses per turn).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5040" y="3995747"/>
            <a:ext cx="7334260" cy="3831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Rotational velocity. How fast can the joint travel?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5040" y="3363922"/>
            <a:ext cx="6870825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SPEED (RPM)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5040" y="6072975"/>
            <a:ext cx="6683482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BACKLASH (Arcmin / Degrees)</a:t>
            </a:r>
            <a:endParaRPr lang="en-US" sz="2000" b="1" u="none" strike="noStrike">
              <a:solidFill>
                <a:srgbClr val="22588D"/>
              </a:solidFill>
              <a:latin typeface="Segoe UI Semibold" panose="020B0702040204020203" pitchFamily="34" charset="0"/>
              <a:ea typeface="Poppins Bold"/>
              <a:cs typeface="Poppins Bold"/>
              <a:sym typeface="Poppi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925040" y="6704800"/>
            <a:ext cx="7334260" cy="3831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Mechanical wiggle between gear teeth when reversing direction.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699" y="9461499"/>
            <a:ext cx="12700000" cy="374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1300">
                <a:solidFill>
                  <a:srgbClr val="476690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ROBOTICS FUNDAMENTALS • SESSION 01 / 04 • THURSDAY, 10 SEPT 2026</a:t>
            </a:r>
          </a:p>
        </p:txBody>
      </p:sp>
      <p:sp>
        <p:nvSpPr>
          <p:cNvPr id="12" name="IndicationBadge">
            <a:extLst>
              <a:ext uri="{FF2B5EF4-FFF2-40B4-BE49-F238E27FC236}">
                <a16:creationId xmlns:a16="http://schemas.microsoft.com/office/drawing/2014/main" id="{59954EC2-81A2-6BEF-6AE6-79514471FBE9}"/>
              </a:ext>
            </a:extLst>
          </p:cNvPr>
          <p:cNvSpPr/>
          <p:nvPr/>
        </p:nvSpPr>
        <p:spPr>
          <a:xfrm>
            <a:off x="1028700" y="533400"/>
            <a:ext cx="3921760" cy="355600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2258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25400" rIns="127000" bIns="25400" rtlCol="0" anchor="ctr"/>
          <a:lstStyle/>
          <a:p>
            <a:pPr algn="ctr"/>
            <a:r>
              <a:rPr lang="en-US" sz="1050" b="1">
                <a:solidFill>
                  <a:srgbClr val="22588D"/>
                </a:solidFill>
                <a:latin typeface="Segoe UI Semibold" panose="020B0702040204020203" pitchFamily="34" charset="0"/>
              </a:rPr>
              <a:t>PERFORMANCE SPECS • 📊 KEY MOTOR METRICS</a:t>
            </a:r>
            <a:endParaRPr lang="fr-FR" sz="1050" b="1">
              <a:solidFill>
                <a:srgbClr val="22588D"/>
              </a:solidFill>
              <a:latin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1907612"/>
      </p:ext>
    </p:extLst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4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4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14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34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4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74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94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206499"/>
            <a:ext cx="8001000" cy="205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sz="3800" b="1">
                <a:solidFill>
                  <a:srgbClr val="22588D"/>
                </a:solidFill>
                <a:latin typeface="Segoe UI Semibold" panose="020B0702040204020203" pitchFamily="34" charset="0"/>
                <a:ea typeface="Museo Moderno Bold"/>
                <a:cs typeface="Museo Moderno Bold"/>
                <a:sym typeface="Museo Moderno Bold"/>
              </a:rPr>
              <a:t>Resolution ≠ Accuracy ≠ Repeatability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682999"/>
            <a:ext cx="8001000" cy="4871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THE ARCHER ANALOGY: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
• RESOLUTION: The finest tick mark on the sight.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  Can measure tiny moves, but doesn't guarantee hitting bullseye!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
• ACCURACY: Hitting near the center on average.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
• REPEATABILITY: Hitting the exact same spot 100 times in a row!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
👉 Industrial Secret: Factories care more about REPEATABILITY than absolute accuracy. If an arm is repeatable, software can calibrate the offset!</a:t>
            </a:r>
          </a:p>
        </p:txBody>
      </p:sp>
      <p:sp>
        <p:nvSpPr>
          <p:cNvPr id="4" name="Freeform 4"/>
          <p:cNvSpPr/>
          <p:nvPr/>
        </p:nvSpPr>
        <p:spPr>
          <a:xfrm>
            <a:off x="4957277" y="-4113214"/>
            <a:ext cx="6785337" cy="6797697"/>
          </a:xfrm>
          <a:custGeom>
            <a:avLst/>
            <a:gdLst/>
            <a:ahLst/>
            <a:cxnLst/>
            <a:rect l="l" t="t" r="r" b="b"/>
            <a:pathLst>
              <a:path w="6785337" h="6797697">
                <a:moveTo>
                  <a:pt x="0" y="0"/>
                </a:moveTo>
                <a:lnTo>
                  <a:pt x="6785337" y="0"/>
                </a:lnTo>
                <a:lnTo>
                  <a:pt x="6785337" y="6797697"/>
                </a:lnTo>
                <a:lnTo>
                  <a:pt x="0" y="67976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5" name="Group 5"/>
          <p:cNvGrpSpPr/>
          <p:nvPr/>
        </p:nvGrpSpPr>
        <p:grpSpPr>
          <a:xfrm>
            <a:off x="10210393" y="1619047"/>
            <a:ext cx="7048907" cy="704890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171450" cap="sq">
              <a:solidFill>
                <a:srgbClr val="22588D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699" y="9461499"/>
            <a:ext cx="12700000" cy="374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1300">
                <a:solidFill>
                  <a:srgbClr val="476690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ROBOTICS FUNDAMENTALS • SESSION 01 / 04 • THURSDAY, 10 SEPT 2026</a:t>
            </a:r>
          </a:p>
        </p:txBody>
      </p:sp>
      <p:sp>
        <p:nvSpPr>
          <p:cNvPr id="7" name="IndicationBadge">
            <a:extLst>
              <a:ext uri="{FF2B5EF4-FFF2-40B4-BE49-F238E27FC236}">
                <a16:creationId xmlns:a16="http://schemas.microsoft.com/office/drawing/2014/main" id="{19AEDD6C-1D03-9A20-A6DA-DA35DBC8F9C5}"/>
              </a:ext>
            </a:extLst>
          </p:cNvPr>
          <p:cNvSpPr/>
          <p:nvPr/>
        </p:nvSpPr>
        <p:spPr>
          <a:xfrm>
            <a:off x="1028700" y="533400"/>
            <a:ext cx="4561840" cy="355600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2258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25400" rIns="127000" bIns="25400" rtlCol="0" anchor="ctr"/>
          <a:lstStyle/>
          <a:p>
            <a:pPr algn="ctr"/>
            <a:r>
              <a:rPr lang="en-US" sz="1050" b="1">
                <a:solidFill>
                  <a:srgbClr val="22588D"/>
                </a:solidFill>
                <a:latin typeface="Segoe UI Semibold" panose="020B0702040204020203" pitchFamily="34" charset="0"/>
              </a:rPr>
              <a:t>METROLOGY TARGET • 🎯 ACCURACY VS REPEATABILITY</a:t>
            </a:r>
            <a:endParaRPr lang="fr-FR" sz="1050" b="1">
              <a:solidFill>
                <a:srgbClr val="22588D"/>
              </a:solidFill>
              <a:latin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1499290"/>
      </p:ext>
    </p:extLst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7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9144000" y="-6504289"/>
            <a:ext cx="10704366" cy="10723864"/>
          </a:xfrm>
          <a:custGeom>
            <a:avLst/>
            <a:gdLst/>
            <a:ahLst/>
            <a:cxnLst/>
            <a:rect l="l" t="t" r="r" b="b"/>
            <a:pathLst>
              <a:path w="10704366" h="10723864">
                <a:moveTo>
                  <a:pt x="10704366" y="10723864"/>
                </a:moveTo>
                <a:lnTo>
                  <a:pt x="0" y="10723864"/>
                </a:lnTo>
                <a:lnTo>
                  <a:pt x="0" y="0"/>
                </a:lnTo>
                <a:lnTo>
                  <a:pt x="10704366" y="0"/>
                </a:lnTo>
                <a:lnTo>
                  <a:pt x="10704366" y="1072386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1735405" y="952499"/>
            <a:ext cx="16256000" cy="9298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4200" b="1" u="none" strike="noStrike">
                <a:solidFill>
                  <a:srgbClr val="22588D"/>
                </a:solidFill>
                <a:latin typeface="Segoe UI Semibold" panose="020B0702040204020203" pitchFamily="34" charset="0"/>
                <a:ea typeface="Museo Moderno Bold"/>
                <a:cs typeface="Museo Moderno Bold"/>
                <a:sym typeface="Museo Moderno Bold"/>
              </a:rPr>
              <a:t>Backlash: The Loose Steering Wheel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857499"/>
            <a:ext cx="7334260" cy="1280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The tiny clearance gap between gear teeth so they don't bind.
When you reverse motor direction, the motor turns slightly before the output gear engages!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285999"/>
            <a:ext cx="7803545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WHAT IS BACKLASH?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5841999"/>
            <a:ext cx="7964281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THE DEAD ZONE DANGER</a:t>
            </a:r>
            <a:endParaRPr lang="en-US" sz="2000" b="1" u="none" strike="noStrike">
              <a:solidFill>
                <a:srgbClr val="22588D"/>
              </a:solidFill>
              <a:latin typeface="Segoe UI Semibold" panose="020B0702040204020203" pitchFamily="34" charset="0"/>
              <a:ea typeface="Poppins Bold"/>
              <a:cs typeface="Poppins Bold"/>
              <a:sym typeface="Poppi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6413499"/>
            <a:ext cx="7334260" cy="8319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Inside the backlash gap, the arm floats freely with ZERO resistance from the motor! Your controller becomes blind and the arm shakes.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5040" y="6296025"/>
            <a:ext cx="7165689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HOW TO BEAT IT</a:t>
            </a:r>
            <a:endParaRPr lang="en-US" sz="2000" b="1" u="none" strike="noStrike">
              <a:solidFill>
                <a:srgbClr val="22588D"/>
              </a:solidFill>
              <a:latin typeface="Segoe UI Semibold" panose="020B0702040204020203" pitchFamily="34" charset="0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925040" y="6927850"/>
            <a:ext cx="7334260" cy="13068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• Timing belts with tensioners
• Harmonic strain-wave drives (zero backlash!)
• Dual output encoders placed after the gearbox.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925040" y="3127375"/>
            <a:ext cx="7334260" cy="2623185"/>
            <a:chOff x="0" y="0"/>
            <a:chExt cx="1136269" cy="406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36269" cy="406400"/>
            </a:xfrm>
            <a:custGeom>
              <a:avLst/>
              <a:gdLst/>
              <a:ahLst/>
              <a:cxnLst/>
              <a:rect l="l" t="t" r="r" b="b"/>
              <a:pathLst>
                <a:path w="1136269" h="406400">
                  <a:moveTo>
                    <a:pt x="41168" y="0"/>
                  </a:moveTo>
                  <a:lnTo>
                    <a:pt x="1095101" y="0"/>
                  </a:lnTo>
                  <a:cubicBezTo>
                    <a:pt x="1106019" y="0"/>
                    <a:pt x="1116491" y="4337"/>
                    <a:pt x="1124211" y="12058"/>
                  </a:cubicBezTo>
                  <a:cubicBezTo>
                    <a:pt x="1131931" y="19778"/>
                    <a:pt x="1136269" y="30249"/>
                    <a:pt x="1136269" y="41168"/>
                  </a:cubicBezTo>
                  <a:lnTo>
                    <a:pt x="1136269" y="365232"/>
                  </a:lnTo>
                  <a:cubicBezTo>
                    <a:pt x="1136269" y="376151"/>
                    <a:pt x="1131931" y="386622"/>
                    <a:pt x="1124211" y="394342"/>
                  </a:cubicBezTo>
                  <a:cubicBezTo>
                    <a:pt x="1116491" y="402063"/>
                    <a:pt x="1106019" y="406400"/>
                    <a:pt x="1095101" y="406400"/>
                  </a:cubicBezTo>
                  <a:lnTo>
                    <a:pt x="41168" y="406400"/>
                  </a:lnTo>
                  <a:cubicBezTo>
                    <a:pt x="30249" y="406400"/>
                    <a:pt x="19778" y="402063"/>
                    <a:pt x="12058" y="394342"/>
                  </a:cubicBezTo>
                  <a:cubicBezTo>
                    <a:pt x="4337" y="386622"/>
                    <a:pt x="0" y="376151"/>
                    <a:pt x="0" y="365232"/>
                  </a:cubicBezTo>
                  <a:lnTo>
                    <a:pt x="0" y="41168"/>
                  </a:lnTo>
                  <a:cubicBezTo>
                    <a:pt x="0" y="30249"/>
                    <a:pt x="4337" y="19778"/>
                    <a:pt x="12058" y="12058"/>
                  </a:cubicBezTo>
                  <a:cubicBezTo>
                    <a:pt x="19778" y="4337"/>
                    <a:pt x="30249" y="0"/>
                    <a:pt x="41168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171450" cap="rnd">
              <a:solidFill>
                <a:srgbClr val="22588D"/>
              </a:soli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28699" y="9461499"/>
            <a:ext cx="12700000" cy="374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1300">
                <a:solidFill>
                  <a:srgbClr val="476690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ROBOTICS FUNDAMENTALS • SESSION 01 / 04 • THURSDAY, 10 SEPT 2026</a:t>
            </a:r>
          </a:p>
        </p:txBody>
      </p:sp>
      <p:sp>
        <p:nvSpPr>
          <p:cNvPr id="12" name="IndicationBadge">
            <a:extLst>
              <a:ext uri="{FF2B5EF4-FFF2-40B4-BE49-F238E27FC236}">
                <a16:creationId xmlns:a16="http://schemas.microsoft.com/office/drawing/2014/main" id="{F900DAF6-E08D-E659-7DEF-F92136E9D6AC}"/>
              </a:ext>
            </a:extLst>
          </p:cNvPr>
          <p:cNvSpPr/>
          <p:nvPr/>
        </p:nvSpPr>
        <p:spPr>
          <a:xfrm>
            <a:off x="1028700" y="533400"/>
            <a:ext cx="3921760" cy="355600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2258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25400" rIns="127000" bIns="25400" rtlCol="0" anchor="ctr"/>
          <a:lstStyle/>
          <a:p>
            <a:pPr algn="ctr"/>
            <a:r>
              <a:rPr lang="fr-FR" sz="1050" b="1">
                <a:solidFill>
                  <a:srgbClr val="22588D"/>
                </a:solidFill>
                <a:latin typeface="Segoe UI Semibold" panose="020B0702040204020203" pitchFamily="34" charset="0"/>
              </a:rPr>
              <a:t>MECHANICAL DANGER • ⚠️ GEARBOX BACKLASH</a:t>
            </a:r>
          </a:p>
        </p:txBody>
      </p:sp>
    </p:spTree>
    <p:extLst>
      <p:ext uri="{BB962C8B-B14F-4D97-AF65-F5344CB8AC3E}">
        <p14:creationId xmlns:p14="http://schemas.microsoft.com/office/powerpoint/2010/main" val="343293145"/>
      </p:ext>
    </p:extLst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7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7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7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27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47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7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4775670" y="-6094246"/>
            <a:ext cx="10704366" cy="10723864"/>
          </a:xfrm>
          <a:custGeom>
            <a:avLst/>
            <a:gdLst/>
            <a:ahLst/>
            <a:cxnLst/>
            <a:rect l="l" t="t" r="r" b="b"/>
            <a:pathLst>
              <a:path w="10704366" h="10723864">
                <a:moveTo>
                  <a:pt x="10704366" y="0"/>
                </a:moveTo>
                <a:lnTo>
                  <a:pt x="0" y="0"/>
                </a:lnTo>
                <a:lnTo>
                  <a:pt x="0" y="10723864"/>
                </a:lnTo>
                <a:lnTo>
                  <a:pt x="10704366" y="10723864"/>
                </a:lnTo>
                <a:lnTo>
                  <a:pt x="1070436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 flipH="1">
            <a:off x="11605167" y="1699435"/>
            <a:ext cx="10704366" cy="10723864"/>
          </a:xfrm>
          <a:custGeom>
            <a:avLst/>
            <a:gdLst/>
            <a:ahLst/>
            <a:cxnLst/>
            <a:rect l="l" t="t" r="r" b="b"/>
            <a:pathLst>
              <a:path w="10704366" h="10723864">
                <a:moveTo>
                  <a:pt x="10704366" y="0"/>
                </a:moveTo>
                <a:lnTo>
                  <a:pt x="0" y="0"/>
                </a:lnTo>
                <a:lnTo>
                  <a:pt x="0" y="10723864"/>
                </a:lnTo>
                <a:lnTo>
                  <a:pt x="10704366" y="10723864"/>
                </a:lnTo>
                <a:lnTo>
                  <a:pt x="1070436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TextBox 4"/>
          <p:cNvSpPr txBox="1"/>
          <p:nvPr/>
        </p:nvSpPr>
        <p:spPr>
          <a:xfrm>
            <a:off x="2794000" y="1206499"/>
            <a:ext cx="12700000" cy="9066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3400" b="1" u="none" strike="noStrike">
                <a:solidFill>
                  <a:srgbClr val="22588D"/>
                </a:solidFill>
                <a:latin typeface="Segoe UI Semibold" panose="020B0702040204020203" pitchFamily="34" charset="0"/>
                <a:ea typeface="Museo Moderno Bold"/>
                <a:cs typeface="Museo Moderno Bold"/>
                <a:sym typeface="Museo Moderno Bold"/>
              </a:rPr>
              <a:t>Which Motor Would You Choose? [VOTE]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336883" y="3862560"/>
            <a:ext cx="4598047" cy="1159467"/>
            <a:chOff x="0" y="0"/>
            <a:chExt cx="1211008" cy="30537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11008" cy="305374"/>
            </a:xfrm>
            <a:custGeom>
              <a:avLst/>
              <a:gdLst/>
              <a:ahLst/>
              <a:cxnLst/>
              <a:rect l="l" t="t" r="r" b="b"/>
              <a:pathLst>
                <a:path w="1211008" h="305374">
                  <a:moveTo>
                    <a:pt x="52196" y="0"/>
                  </a:moveTo>
                  <a:lnTo>
                    <a:pt x="1158812" y="0"/>
                  </a:lnTo>
                  <a:cubicBezTo>
                    <a:pt x="1187639" y="0"/>
                    <a:pt x="1211008" y="23369"/>
                    <a:pt x="1211008" y="52196"/>
                  </a:cubicBezTo>
                  <a:lnTo>
                    <a:pt x="1211008" y="253178"/>
                  </a:lnTo>
                  <a:cubicBezTo>
                    <a:pt x="1211008" y="282005"/>
                    <a:pt x="1187639" y="305374"/>
                    <a:pt x="1158812" y="305374"/>
                  </a:cubicBezTo>
                  <a:lnTo>
                    <a:pt x="52196" y="305374"/>
                  </a:lnTo>
                  <a:cubicBezTo>
                    <a:pt x="38353" y="305374"/>
                    <a:pt x="25076" y="299875"/>
                    <a:pt x="15288" y="290086"/>
                  </a:cubicBezTo>
                  <a:cubicBezTo>
                    <a:pt x="5499" y="280297"/>
                    <a:pt x="0" y="267021"/>
                    <a:pt x="0" y="253178"/>
                  </a:cubicBezTo>
                  <a:lnTo>
                    <a:pt x="0" y="52196"/>
                  </a:lnTo>
                  <a:cubicBezTo>
                    <a:pt x="0" y="23369"/>
                    <a:pt x="23369" y="0"/>
                    <a:pt x="52196" y="0"/>
                  </a:cubicBezTo>
                  <a:close/>
                </a:path>
              </a:pathLst>
            </a:custGeom>
            <a:solidFill>
              <a:srgbClr val="22588D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1211008" cy="3720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991031" y="4188293"/>
            <a:ext cx="3289750" cy="3888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1">
                <a:solidFill>
                  <a:srgbClr val="FFFFFF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MOTOR 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30650" y="5312826"/>
            <a:ext cx="4598047" cy="1772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• Torque: 0.5 N·m
• Speed: 3000 RPM
• Price: €25
• High speed, low torque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43934" y="5312826"/>
            <a:ext cx="4598047" cy="1772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• Torque: 10.0 N·m
• Speed: 50 RPM
• Price: €120
• Massive torque, slow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355729" y="5312826"/>
            <a:ext cx="4598047" cy="1772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• Torque: 4.0 N·m
• Speed: 1000 RPM
• Price: €60
• Balanced specs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843934" y="3862560"/>
            <a:ext cx="4598047" cy="1159467"/>
            <a:chOff x="0" y="0"/>
            <a:chExt cx="1211008" cy="30537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11008" cy="305374"/>
            </a:xfrm>
            <a:custGeom>
              <a:avLst/>
              <a:gdLst/>
              <a:ahLst/>
              <a:cxnLst/>
              <a:rect l="l" t="t" r="r" b="b"/>
              <a:pathLst>
                <a:path w="1211008" h="305374">
                  <a:moveTo>
                    <a:pt x="52196" y="0"/>
                  </a:moveTo>
                  <a:lnTo>
                    <a:pt x="1158812" y="0"/>
                  </a:lnTo>
                  <a:cubicBezTo>
                    <a:pt x="1187639" y="0"/>
                    <a:pt x="1211008" y="23369"/>
                    <a:pt x="1211008" y="52196"/>
                  </a:cubicBezTo>
                  <a:lnTo>
                    <a:pt x="1211008" y="253178"/>
                  </a:lnTo>
                  <a:cubicBezTo>
                    <a:pt x="1211008" y="282005"/>
                    <a:pt x="1187639" y="305374"/>
                    <a:pt x="1158812" y="305374"/>
                  </a:cubicBezTo>
                  <a:lnTo>
                    <a:pt x="52196" y="305374"/>
                  </a:lnTo>
                  <a:cubicBezTo>
                    <a:pt x="38353" y="305374"/>
                    <a:pt x="25076" y="299875"/>
                    <a:pt x="15288" y="290086"/>
                  </a:cubicBezTo>
                  <a:cubicBezTo>
                    <a:pt x="5499" y="280297"/>
                    <a:pt x="0" y="267021"/>
                    <a:pt x="0" y="253178"/>
                  </a:cubicBezTo>
                  <a:lnTo>
                    <a:pt x="0" y="52196"/>
                  </a:lnTo>
                  <a:cubicBezTo>
                    <a:pt x="0" y="23369"/>
                    <a:pt x="23369" y="0"/>
                    <a:pt x="52196" y="0"/>
                  </a:cubicBezTo>
                  <a:close/>
                </a:path>
              </a:pathLst>
            </a:custGeom>
            <a:solidFill>
              <a:srgbClr val="22588D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66675"/>
              <a:ext cx="1211008" cy="3720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498082" y="4188293"/>
            <a:ext cx="3289750" cy="3888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1">
                <a:solidFill>
                  <a:srgbClr val="FFFFFF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MOTOR B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2359304" y="3862560"/>
            <a:ext cx="4598047" cy="1159467"/>
            <a:chOff x="0" y="0"/>
            <a:chExt cx="1211008" cy="30537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11008" cy="305374"/>
            </a:xfrm>
            <a:custGeom>
              <a:avLst/>
              <a:gdLst/>
              <a:ahLst/>
              <a:cxnLst/>
              <a:rect l="l" t="t" r="r" b="b"/>
              <a:pathLst>
                <a:path w="1211008" h="305374">
                  <a:moveTo>
                    <a:pt x="52196" y="0"/>
                  </a:moveTo>
                  <a:lnTo>
                    <a:pt x="1158812" y="0"/>
                  </a:lnTo>
                  <a:cubicBezTo>
                    <a:pt x="1187639" y="0"/>
                    <a:pt x="1211008" y="23369"/>
                    <a:pt x="1211008" y="52196"/>
                  </a:cubicBezTo>
                  <a:lnTo>
                    <a:pt x="1211008" y="253178"/>
                  </a:lnTo>
                  <a:cubicBezTo>
                    <a:pt x="1211008" y="282005"/>
                    <a:pt x="1187639" y="305374"/>
                    <a:pt x="1158812" y="305374"/>
                  </a:cubicBezTo>
                  <a:lnTo>
                    <a:pt x="52196" y="305374"/>
                  </a:lnTo>
                  <a:cubicBezTo>
                    <a:pt x="38353" y="305374"/>
                    <a:pt x="25076" y="299875"/>
                    <a:pt x="15288" y="290086"/>
                  </a:cubicBezTo>
                  <a:cubicBezTo>
                    <a:pt x="5499" y="280297"/>
                    <a:pt x="0" y="267021"/>
                    <a:pt x="0" y="253178"/>
                  </a:cubicBezTo>
                  <a:lnTo>
                    <a:pt x="0" y="52196"/>
                  </a:lnTo>
                  <a:cubicBezTo>
                    <a:pt x="0" y="23369"/>
                    <a:pt x="23369" y="0"/>
                    <a:pt x="52196" y="0"/>
                  </a:cubicBezTo>
                  <a:close/>
                </a:path>
              </a:pathLst>
            </a:custGeom>
            <a:solidFill>
              <a:srgbClr val="22588D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66675"/>
              <a:ext cx="1211008" cy="3720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3013452" y="4188293"/>
            <a:ext cx="3289750" cy="3888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1">
                <a:solidFill>
                  <a:srgbClr val="FFFFFF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MOTOR C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699" y="9461499"/>
            <a:ext cx="12700000" cy="374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1300">
                <a:solidFill>
                  <a:srgbClr val="476690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ROBOTICS FUNDAMENTALS • SESSION 01 / 04 • THURSDAY, 10 SEPT 2026</a:t>
            </a:r>
          </a:p>
        </p:txBody>
      </p:sp>
      <p:sp>
        <p:nvSpPr>
          <p:cNvPr id="20" name="IndicationBadge">
            <a:extLst>
              <a:ext uri="{FF2B5EF4-FFF2-40B4-BE49-F238E27FC236}">
                <a16:creationId xmlns:a16="http://schemas.microsoft.com/office/drawing/2014/main" id="{AD3C9517-11B0-2B55-DDAF-128FC1E46276}"/>
              </a:ext>
            </a:extLst>
          </p:cNvPr>
          <p:cNvSpPr/>
          <p:nvPr/>
        </p:nvSpPr>
        <p:spPr>
          <a:xfrm>
            <a:off x="7503160" y="533400"/>
            <a:ext cx="3281679" cy="355600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2258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25400" rIns="127000" bIns="25400" rtlCol="0" anchor="ctr"/>
          <a:lstStyle/>
          <a:p>
            <a:pPr algn="ctr"/>
            <a:r>
              <a:rPr lang="en-US" sz="1050" b="1">
                <a:solidFill>
                  <a:srgbClr val="22588D"/>
                </a:solidFill>
                <a:latin typeface="Segoe UI Semibold" panose="020B0702040204020203" pitchFamily="34" charset="0"/>
              </a:rPr>
              <a:t>LIVE VOTE • 🗳️ CHOOSE YOUR MOTOR</a:t>
            </a:r>
            <a:endParaRPr lang="fr-FR" sz="1050" b="1">
              <a:solidFill>
                <a:srgbClr val="22588D"/>
              </a:solidFill>
              <a:latin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5932802"/>
      </p:ext>
    </p:extLst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7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7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7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27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47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7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9" grpId="0"/>
      <p:bldP spid="10" grpId="0"/>
      <p:bldP spid="11" grpId="0"/>
      <p:bldP spid="15" grpId="0"/>
      <p:bldP spid="19" grpId="0"/>
      <p:bldP spid="2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744190" y="-4042349"/>
            <a:ext cx="6446938" cy="6458681"/>
          </a:xfrm>
          <a:custGeom>
            <a:avLst/>
            <a:gdLst/>
            <a:ahLst/>
            <a:cxnLst/>
            <a:rect l="l" t="t" r="r" b="b"/>
            <a:pathLst>
              <a:path w="6446938" h="6458681">
                <a:moveTo>
                  <a:pt x="0" y="0"/>
                </a:moveTo>
                <a:lnTo>
                  <a:pt x="6446937" y="0"/>
                </a:lnTo>
                <a:lnTo>
                  <a:pt x="6446937" y="6458681"/>
                </a:lnTo>
                <a:lnTo>
                  <a:pt x="0" y="64586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9703520" y="1954573"/>
            <a:ext cx="11124397" cy="6377854"/>
            <a:chOff x="0" y="0"/>
            <a:chExt cx="888424" cy="5093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88424" cy="509352"/>
            </a:xfrm>
            <a:custGeom>
              <a:avLst/>
              <a:gdLst/>
              <a:ahLst/>
              <a:cxnLst/>
              <a:rect l="l" t="t" r="r" b="b"/>
              <a:pathLst>
                <a:path w="888424" h="509352">
                  <a:moveTo>
                    <a:pt x="685224" y="0"/>
                  </a:moveTo>
                  <a:cubicBezTo>
                    <a:pt x="797454" y="0"/>
                    <a:pt x="888424" y="114015"/>
                    <a:pt x="888424" y="254676"/>
                  </a:cubicBezTo>
                  <a:cubicBezTo>
                    <a:pt x="888424" y="395337"/>
                    <a:pt x="797454" y="509352"/>
                    <a:pt x="685224" y="509352"/>
                  </a:cubicBezTo>
                  <a:lnTo>
                    <a:pt x="203200" y="509352"/>
                  </a:lnTo>
                  <a:cubicBezTo>
                    <a:pt x="90970" y="509352"/>
                    <a:pt x="0" y="395337"/>
                    <a:pt x="0" y="254676"/>
                  </a:cubicBezTo>
                  <a:cubicBezTo>
                    <a:pt x="0" y="114015"/>
                    <a:pt x="90970" y="0"/>
                    <a:pt x="203200" y="0"/>
                  </a:cubicBezTo>
                  <a:lnTo>
                    <a:pt x="685224" y="0"/>
                  </a:lnTo>
                </a:path>
              </a:pathLst>
            </a:custGeom>
            <a:blipFill>
              <a:blip r:embed="rId4"/>
              <a:stretch>
                <a:fillRect/>
              </a:stretch>
            </a:blipFill>
            <a:ln w="171450" cap="sq">
              <a:solidFill>
                <a:srgbClr val="22588D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6" name="Freeform 6"/>
          <p:cNvSpPr/>
          <p:nvPr/>
        </p:nvSpPr>
        <p:spPr>
          <a:xfrm>
            <a:off x="-1080828" y="4476186"/>
            <a:ext cx="6446938" cy="6458681"/>
          </a:xfrm>
          <a:custGeom>
            <a:avLst/>
            <a:gdLst/>
            <a:ahLst/>
            <a:cxnLst/>
            <a:rect l="l" t="t" r="r" b="b"/>
            <a:pathLst>
              <a:path w="6446938" h="6458681">
                <a:moveTo>
                  <a:pt x="0" y="0"/>
                </a:moveTo>
                <a:lnTo>
                  <a:pt x="6446938" y="0"/>
                </a:lnTo>
                <a:lnTo>
                  <a:pt x="6446938" y="6458681"/>
                </a:lnTo>
                <a:lnTo>
                  <a:pt x="0" y="64586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" name="TextBox 7"/>
          <p:cNvSpPr txBox="1"/>
          <p:nvPr/>
        </p:nvSpPr>
        <p:spPr>
          <a:xfrm>
            <a:off x="1028700" y="2286000"/>
            <a:ext cx="8255000" cy="2966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099"/>
              </a:lnSpc>
            </a:pPr>
            <a:r>
              <a:rPr lang="en-US" sz="3800" b="1" u="none" strike="noStrike">
                <a:solidFill>
                  <a:srgbClr val="22588D"/>
                </a:solidFill>
                <a:latin typeface="Segoe UI Semibold" panose="020B0702040204020203" pitchFamily="34" charset="0"/>
                <a:ea typeface="Museo Moderno Bold"/>
                <a:cs typeface="Museo Moderno Bold"/>
                <a:sym typeface="Museo Moderno Bold"/>
              </a:rPr>
              <a:t>PART 03
MECHANICAL
DESIGN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5588000"/>
            <a:ext cx="8255000" cy="5168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1900">
                <a:solidFill>
                  <a:srgbClr val="22588D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Structure • Materials • Stiffness • Real-World Trade-Offs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699" y="9461499"/>
            <a:ext cx="12700000" cy="380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1500">
                <a:solidFill>
                  <a:srgbClr val="476690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ROBOTICS FUNDAMENTALS • PART 03 / 06</a:t>
            </a:r>
          </a:p>
        </p:txBody>
      </p:sp>
      <p:sp>
        <p:nvSpPr>
          <p:cNvPr id="5" name="IndicationBadge">
            <a:extLst>
              <a:ext uri="{FF2B5EF4-FFF2-40B4-BE49-F238E27FC236}">
                <a16:creationId xmlns:a16="http://schemas.microsoft.com/office/drawing/2014/main" id="{34E63650-4B65-D4AA-5B86-3BFC1D3BD19D}"/>
              </a:ext>
            </a:extLst>
          </p:cNvPr>
          <p:cNvSpPr/>
          <p:nvPr/>
        </p:nvSpPr>
        <p:spPr>
          <a:xfrm>
            <a:off x="1028700" y="533400"/>
            <a:ext cx="4196080" cy="355600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2258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25400" rIns="127000" bIns="25400" rtlCol="0" anchor="ctr"/>
          <a:lstStyle/>
          <a:p>
            <a:pPr algn="ctr"/>
            <a:r>
              <a:rPr lang="en-US" sz="1050" b="1">
                <a:solidFill>
                  <a:srgbClr val="22588D"/>
                </a:solidFill>
                <a:latin typeface="Segoe UI Semibold" panose="020B0702040204020203" pitchFamily="34" charset="0"/>
              </a:rPr>
              <a:t>SECTION 03 • MECHANICAL DESIGN &amp; STIFFNESS</a:t>
            </a:r>
            <a:endParaRPr lang="fr-FR" sz="1050" b="1">
              <a:solidFill>
                <a:srgbClr val="22588D"/>
              </a:solidFill>
              <a:latin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305778"/>
      </p:ext>
    </p:extLst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7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4775670" y="-6094246"/>
            <a:ext cx="10704366" cy="10723864"/>
          </a:xfrm>
          <a:custGeom>
            <a:avLst/>
            <a:gdLst/>
            <a:ahLst/>
            <a:cxnLst/>
            <a:rect l="l" t="t" r="r" b="b"/>
            <a:pathLst>
              <a:path w="10704366" h="10723864">
                <a:moveTo>
                  <a:pt x="10704366" y="0"/>
                </a:moveTo>
                <a:lnTo>
                  <a:pt x="0" y="0"/>
                </a:lnTo>
                <a:lnTo>
                  <a:pt x="0" y="10723864"/>
                </a:lnTo>
                <a:lnTo>
                  <a:pt x="10704366" y="10723864"/>
                </a:lnTo>
                <a:lnTo>
                  <a:pt x="1070436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 flipH="1">
            <a:off x="11605167" y="1699435"/>
            <a:ext cx="10704366" cy="10723864"/>
          </a:xfrm>
          <a:custGeom>
            <a:avLst/>
            <a:gdLst/>
            <a:ahLst/>
            <a:cxnLst/>
            <a:rect l="l" t="t" r="r" b="b"/>
            <a:pathLst>
              <a:path w="10704366" h="10723864">
                <a:moveTo>
                  <a:pt x="10704366" y="0"/>
                </a:moveTo>
                <a:lnTo>
                  <a:pt x="0" y="0"/>
                </a:lnTo>
                <a:lnTo>
                  <a:pt x="0" y="10723864"/>
                </a:lnTo>
                <a:lnTo>
                  <a:pt x="10704366" y="10723864"/>
                </a:lnTo>
                <a:lnTo>
                  <a:pt x="1070436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TextBox 4"/>
          <p:cNvSpPr txBox="1"/>
          <p:nvPr/>
        </p:nvSpPr>
        <p:spPr>
          <a:xfrm>
            <a:off x="2794000" y="1206499"/>
            <a:ext cx="12700000" cy="9066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3400" b="1" u="none" strike="noStrike">
                <a:solidFill>
                  <a:srgbClr val="22588D"/>
                </a:solidFill>
                <a:latin typeface="Segoe UI Semibold" panose="020B0702040204020203" pitchFamily="34" charset="0"/>
                <a:ea typeface="Museo Moderno Bold"/>
                <a:cs typeface="Museo Moderno Bold"/>
                <a:sym typeface="Museo Moderno Bold"/>
              </a:rPr>
              <a:t>The Load Path: Where Does Force Really Go?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336883" y="3862560"/>
            <a:ext cx="4598047" cy="1159467"/>
            <a:chOff x="0" y="0"/>
            <a:chExt cx="1211008" cy="30537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11008" cy="305374"/>
            </a:xfrm>
            <a:custGeom>
              <a:avLst/>
              <a:gdLst/>
              <a:ahLst/>
              <a:cxnLst/>
              <a:rect l="l" t="t" r="r" b="b"/>
              <a:pathLst>
                <a:path w="1211008" h="305374">
                  <a:moveTo>
                    <a:pt x="52196" y="0"/>
                  </a:moveTo>
                  <a:lnTo>
                    <a:pt x="1158812" y="0"/>
                  </a:lnTo>
                  <a:cubicBezTo>
                    <a:pt x="1187639" y="0"/>
                    <a:pt x="1211008" y="23369"/>
                    <a:pt x="1211008" y="52196"/>
                  </a:cubicBezTo>
                  <a:lnTo>
                    <a:pt x="1211008" y="253178"/>
                  </a:lnTo>
                  <a:cubicBezTo>
                    <a:pt x="1211008" y="282005"/>
                    <a:pt x="1187639" y="305374"/>
                    <a:pt x="1158812" y="305374"/>
                  </a:cubicBezTo>
                  <a:lnTo>
                    <a:pt x="52196" y="305374"/>
                  </a:lnTo>
                  <a:cubicBezTo>
                    <a:pt x="38353" y="305374"/>
                    <a:pt x="25076" y="299875"/>
                    <a:pt x="15288" y="290086"/>
                  </a:cubicBezTo>
                  <a:cubicBezTo>
                    <a:pt x="5499" y="280297"/>
                    <a:pt x="0" y="267021"/>
                    <a:pt x="0" y="253178"/>
                  </a:cubicBezTo>
                  <a:lnTo>
                    <a:pt x="0" y="52196"/>
                  </a:lnTo>
                  <a:cubicBezTo>
                    <a:pt x="0" y="23369"/>
                    <a:pt x="23369" y="0"/>
                    <a:pt x="52196" y="0"/>
                  </a:cubicBezTo>
                  <a:close/>
                </a:path>
              </a:pathLst>
            </a:custGeom>
            <a:solidFill>
              <a:srgbClr val="22588D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1211008" cy="3720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991031" y="4188293"/>
            <a:ext cx="3289750" cy="3888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1">
                <a:solidFill>
                  <a:srgbClr val="FFFFFF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01. THE MOTOR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30650" y="5312826"/>
            <a:ext cx="4598047" cy="1280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• Generates spinning torque only!
• ⚠️ NOT built to hold bending side weight!
• Never bolt an arm directly to a motor shaft.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43934" y="5312826"/>
            <a:ext cx="4598047" cy="17296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• The unsung heroes of robotics!
• Soak up massive bending loads so the motor shaft doesn't snap.
• Dual ball or cross-roller bearings.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355729" y="5312826"/>
            <a:ext cx="4598047" cy="1280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• The rigid bones: Tubes and gussets.
• If the arm bends even 2 millimeters under load, the gripper misses its target completely!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843934" y="3862560"/>
            <a:ext cx="4598047" cy="1159467"/>
            <a:chOff x="0" y="0"/>
            <a:chExt cx="1211008" cy="30537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11008" cy="305374"/>
            </a:xfrm>
            <a:custGeom>
              <a:avLst/>
              <a:gdLst/>
              <a:ahLst/>
              <a:cxnLst/>
              <a:rect l="l" t="t" r="r" b="b"/>
              <a:pathLst>
                <a:path w="1211008" h="305374">
                  <a:moveTo>
                    <a:pt x="52196" y="0"/>
                  </a:moveTo>
                  <a:lnTo>
                    <a:pt x="1158812" y="0"/>
                  </a:lnTo>
                  <a:cubicBezTo>
                    <a:pt x="1187639" y="0"/>
                    <a:pt x="1211008" y="23369"/>
                    <a:pt x="1211008" y="52196"/>
                  </a:cubicBezTo>
                  <a:lnTo>
                    <a:pt x="1211008" y="253178"/>
                  </a:lnTo>
                  <a:cubicBezTo>
                    <a:pt x="1211008" y="282005"/>
                    <a:pt x="1187639" y="305374"/>
                    <a:pt x="1158812" y="305374"/>
                  </a:cubicBezTo>
                  <a:lnTo>
                    <a:pt x="52196" y="305374"/>
                  </a:lnTo>
                  <a:cubicBezTo>
                    <a:pt x="38353" y="305374"/>
                    <a:pt x="25076" y="299875"/>
                    <a:pt x="15288" y="290086"/>
                  </a:cubicBezTo>
                  <a:cubicBezTo>
                    <a:pt x="5499" y="280297"/>
                    <a:pt x="0" y="267021"/>
                    <a:pt x="0" y="253178"/>
                  </a:cubicBezTo>
                  <a:lnTo>
                    <a:pt x="0" y="52196"/>
                  </a:lnTo>
                  <a:cubicBezTo>
                    <a:pt x="0" y="23369"/>
                    <a:pt x="23369" y="0"/>
                    <a:pt x="52196" y="0"/>
                  </a:cubicBezTo>
                  <a:close/>
                </a:path>
              </a:pathLst>
            </a:custGeom>
            <a:solidFill>
              <a:srgbClr val="22588D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66675"/>
              <a:ext cx="1211008" cy="3720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498082" y="4188293"/>
            <a:ext cx="3289750" cy="3888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1">
                <a:solidFill>
                  <a:srgbClr val="FFFFFF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02. THE BEARINGS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2359304" y="3862560"/>
            <a:ext cx="4598047" cy="1159467"/>
            <a:chOff x="0" y="0"/>
            <a:chExt cx="1211008" cy="30537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11008" cy="305374"/>
            </a:xfrm>
            <a:custGeom>
              <a:avLst/>
              <a:gdLst/>
              <a:ahLst/>
              <a:cxnLst/>
              <a:rect l="l" t="t" r="r" b="b"/>
              <a:pathLst>
                <a:path w="1211008" h="305374">
                  <a:moveTo>
                    <a:pt x="52196" y="0"/>
                  </a:moveTo>
                  <a:lnTo>
                    <a:pt x="1158812" y="0"/>
                  </a:lnTo>
                  <a:cubicBezTo>
                    <a:pt x="1187639" y="0"/>
                    <a:pt x="1211008" y="23369"/>
                    <a:pt x="1211008" y="52196"/>
                  </a:cubicBezTo>
                  <a:lnTo>
                    <a:pt x="1211008" y="253178"/>
                  </a:lnTo>
                  <a:cubicBezTo>
                    <a:pt x="1211008" y="282005"/>
                    <a:pt x="1187639" y="305374"/>
                    <a:pt x="1158812" y="305374"/>
                  </a:cubicBezTo>
                  <a:lnTo>
                    <a:pt x="52196" y="305374"/>
                  </a:lnTo>
                  <a:cubicBezTo>
                    <a:pt x="38353" y="305374"/>
                    <a:pt x="25076" y="299875"/>
                    <a:pt x="15288" y="290086"/>
                  </a:cubicBezTo>
                  <a:cubicBezTo>
                    <a:pt x="5499" y="280297"/>
                    <a:pt x="0" y="267021"/>
                    <a:pt x="0" y="253178"/>
                  </a:cubicBezTo>
                  <a:lnTo>
                    <a:pt x="0" y="52196"/>
                  </a:lnTo>
                  <a:cubicBezTo>
                    <a:pt x="0" y="23369"/>
                    <a:pt x="23369" y="0"/>
                    <a:pt x="52196" y="0"/>
                  </a:cubicBezTo>
                  <a:close/>
                </a:path>
              </a:pathLst>
            </a:custGeom>
            <a:solidFill>
              <a:srgbClr val="22588D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66675"/>
              <a:ext cx="1211008" cy="3720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3013452" y="4188293"/>
            <a:ext cx="3289750" cy="3888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1">
                <a:solidFill>
                  <a:srgbClr val="FFFFFF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03. THE STRUCTURE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699" y="9461499"/>
            <a:ext cx="12700000" cy="374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1300">
                <a:solidFill>
                  <a:srgbClr val="476690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ROBOTICS FUNDAMENTALS • SESSION 01 / 04 • THURSDAY, 10 SEPT 2026</a:t>
            </a:r>
          </a:p>
        </p:txBody>
      </p:sp>
      <p:sp>
        <p:nvSpPr>
          <p:cNvPr id="20" name="IndicationBadge">
            <a:extLst>
              <a:ext uri="{FF2B5EF4-FFF2-40B4-BE49-F238E27FC236}">
                <a16:creationId xmlns:a16="http://schemas.microsoft.com/office/drawing/2014/main" id="{4B91F56B-E601-E1DC-63BB-06F4761B4581}"/>
              </a:ext>
            </a:extLst>
          </p:cNvPr>
          <p:cNvSpPr/>
          <p:nvPr/>
        </p:nvSpPr>
        <p:spPr>
          <a:xfrm>
            <a:off x="7274560" y="533400"/>
            <a:ext cx="3738879" cy="355600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2258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25400" rIns="127000" bIns="25400" rtlCol="0" anchor="ctr"/>
          <a:lstStyle/>
          <a:p>
            <a:pPr algn="ctr"/>
            <a:r>
              <a:rPr lang="en-US" sz="1050" b="1">
                <a:solidFill>
                  <a:srgbClr val="22588D"/>
                </a:solidFill>
                <a:latin typeface="Segoe UI Semibold" panose="020B0702040204020203" pitchFamily="34" charset="0"/>
              </a:rPr>
              <a:t>STRUCTURAL ANALYSIS • 🧱 THE LOAD PATH</a:t>
            </a:r>
            <a:endParaRPr lang="fr-FR" sz="1050" b="1">
              <a:solidFill>
                <a:srgbClr val="22588D"/>
              </a:solidFill>
              <a:latin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0482476"/>
      </p:ext>
    </p:extLst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7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7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7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27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47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7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9" grpId="0"/>
      <p:bldP spid="10" grpId="0"/>
      <p:bldP spid="11" grpId="0"/>
      <p:bldP spid="15" grpId="0"/>
      <p:bldP spid="19" grpId="0"/>
      <p:bldP spid="2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9144000" y="-6504289"/>
            <a:ext cx="10704366" cy="10723864"/>
          </a:xfrm>
          <a:custGeom>
            <a:avLst/>
            <a:gdLst/>
            <a:ahLst/>
            <a:cxnLst/>
            <a:rect l="l" t="t" r="r" b="b"/>
            <a:pathLst>
              <a:path w="10704366" h="10723864">
                <a:moveTo>
                  <a:pt x="10704366" y="10723864"/>
                </a:moveTo>
                <a:lnTo>
                  <a:pt x="0" y="10723864"/>
                </a:lnTo>
                <a:lnTo>
                  <a:pt x="0" y="0"/>
                </a:lnTo>
                <a:lnTo>
                  <a:pt x="10704366" y="0"/>
                </a:lnTo>
                <a:lnTo>
                  <a:pt x="10704366" y="1072386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1735405" y="952499"/>
            <a:ext cx="16256000" cy="918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3800" b="1" u="none" strike="noStrike">
                <a:solidFill>
                  <a:srgbClr val="22588D"/>
                </a:solidFill>
                <a:latin typeface="Segoe UI Semibold" panose="020B0702040204020203" pitchFamily="34" charset="0"/>
                <a:ea typeface="Museo Moderno Bold"/>
                <a:cs typeface="Museo Moderno Bold"/>
                <a:sym typeface="Museo Moderno Bold"/>
              </a:rPr>
              <a:t>Why Do Robot Arms Bend? (The Diving Board Effect)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857499"/>
            <a:ext cx="7334260" cy="1280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Stand near the pool wall on a diving board: Feels solid as rock.
Walk out to the tip: It bounces dramatically!
Robot arms behave the exact same way.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285999"/>
            <a:ext cx="7803545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THE DIVING BOARD ANALOGY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5841999"/>
            <a:ext cx="7964281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⚠️ THE L³ CUBIC DANGER!</a:t>
            </a:r>
            <a:endParaRPr lang="en-US" sz="2000" b="1" u="none" strike="noStrike">
              <a:solidFill>
                <a:srgbClr val="22588D"/>
              </a:solidFill>
              <a:latin typeface="Segoe UI Semibold" panose="020B0702040204020203" pitchFamily="34" charset="0"/>
              <a:ea typeface="Poppins Bold"/>
              <a:cs typeface="Poppins Bold"/>
              <a:sym typeface="Poppi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6413499"/>
            <a:ext cx="7334260" cy="17557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Deflection ∝ (Force × Length³) / Stiffness.
Length is CUBED (L³)! If you double the arm length (2×), it bends EIGHT TIMES as much (2³ = 8)!
Small reach increases destroy stiffness.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5040" y="6296025"/>
            <a:ext cx="7165689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THE TUBE SECRET</a:t>
            </a:r>
            <a:endParaRPr lang="en-US" sz="2000" b="1" u="none" strike="noStrike">
              <a:solidFill>
                <a:srgbClr val="22588D"/>
              </a:solidFill>
              <a:latin typeface="Segoe UI Semibold" panose="020B0702040204020203" pitchFamily="34" charset="0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925040" y="6927850"/>
            <a:ext cx="7334260" cy="840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Use hollow square tubes or cylinders instead of solid flat bars!
Material far from the center axis gives 10× more stiffness without added weight.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925040" y="3127375"/>
            <a:ext cx="7334260" cy="2623185"/>
            <a:chOff x="0" y="0"/>
            <a:chExt cx="1136269" cy="406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36269" cy="406400"/>
            </a:xfrm>
            <a:custGeom>
              <a:avLst/>
              <a:gdLst/>
              <a:ahLst/>
              <a:cxnLst/>
              <a:rect l="l" t="t" r="r" b="b"/>
              <a:pathLst>
                <a:path w="1136269" h="406400">
                  <a:moveTo>
                    <a:pt x="41168" y="0"/>
                  </a:moveTo>
                  <a:lnTo>
                    <a:pt x="1095101" y="0"/>
                  </a:lnTo>
                  <a:cubicBezTo>
                    <a:pt x="1106019" y="0"/>
                    <a:pt x="1116491" y="4337"/>
                    <a:pt x="1124211" y="12058"/>
                  </a:cubicBezTo>
                  <a:cubicBezTo>
                    <a:pt x="1131931" y="19778"/>
                    <a:pt x="1136269" y="30249"/>
                    <a:pt x="1136269" y="41168"/>
                  </a:cubicBezTo>
                  <a:lnTo>
                    <a:pt x="1136269" y="365232"/>
                  </a:lnTo>
                  <a:cubicBezTo>
                    <a:pt x="1136269" y="376151"/>
                    <a:pt x="1131931" y="386622"/>
                    <a:pt x="1124211" y="394342"/>
                  </a:cubicBezTo>
                  <a:cubicBezTo>
                    <a:pt x="1116491" y="402063"/>
                    <a:pt x="1106019" y="406400"/>
                    <a:pt x="1095101" y="406400"/>
                  </a:cubicBezTo>
                  <a:lnTo>
                    <a:pt x="41168" y="406400"/>
                  </a:lnTo>
                  <a:cubicBezTo>
                    <a:pt x="30249" y="406400"/>
                    <a:pt x="19778" y="402063"/>
                    <a:pt x="12058" y="394342"/>
                  </a:cubicBezTo>
                  <a:cubicBezTo>
                    <a:pt x="4337" y="386622"/>
                    <a:pt x="0" y="376151"/>
                    <a:pt x="0" y="365232"/>
                  </a:cubicBezTo>
                  <a:lnTo>
                    <a:pt x="0" y="41168"/>
                  </a:lnTo>
                  <a:cubicBezTo>
                    <a:pt x="0" y="30249"/>
                    <a:pt x="4337" y="19778"/>
                    <a:pt x="12058" y="12058"/>
                  </a:cubicBezTo>
                  <a:cubicBezTo>
                    <a:pt x="19778" y="4337"/>
                    <a:pt x="30249" y="0"/>
                    <a:pt x="41168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171450" cap="rnd">
              <a:solidFill>
                <a:srgbClr val="22588D"/>
              </a:soli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28699" y="9461499"/>
            <a:ext cx="12700000" cy="374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1300">
                <a:solidFill>
                  <a:srgbClr val="476690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ROBOTICS FUNDAMENTALS • SESSION 01 / 04 • THURSDAY, 10 SEPT 2026</a:t>
            </a:r>
          </a:p>
        </p:txBody>
      </p:sp>
      <p:sp>
        <p:nvSpPr>
          <p:cNvPr id="12" name="IndicationBadge">
            <a:extLst>
              <a:ext uri="{FF2B5EF4-FFF2-40B4-BE49-F238E27FC236}">
                <a16:creationId xmlns:a16="http://schemas.microsoft.com/office/drawing/2014/main" id="{CD48C4A4-249E-EBEB-4697-7159425833C7}"/>
              </a:ext>
            </a:extLst>
          </p:cNvPr>
          <p:cNvSpPr/>
          <p:nvPr/>
        </p:nvSpPr>
        <p:spPr>
          <a:xfrm>
            <a:off x="1028700" y="533400"/>
            <a:ext cx="3738880" cy="355600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2258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25400" rIns="127000" bIns="25400" rtlCol="0" anchor="ctr"/>
          <a:lstStyle/>
          <a:p>
            <a:pPr algn="ctr"/>
            <a:r>
              <a:rPr lang="en-US" sz="1050" b="1">
                <a:solidFill>
                  <a:srgbClr val="22588D"/>
                </a:solidFill>
                <a:latin typeface="Segoe UI Semibold" panose="020B0702040204020203" pitchFamily="34" charset="0"/>
              </a:rPr>
              <a:t>PHYSICS LAW • 📏 CUBIC DEFLECTION (L³)</a:t>
            </a:r>
            <a:endParaRPr lang="fr-FR" sz="1050" b="1">
              <a:solidFill>
                <a:srgbClr val="22588D"/>
              </a:solidFill>
              <a:latin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6471018"/>
      </p:ext>
    </p:extLst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7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7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7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27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47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7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5045241" y="-6586096"/>
            <a:ext cx="10704366" cy="10723864"/>
          </a:xfrm>
          <a:custGeom>
            <a:avLst/>
            <a:gdLst/>
            <a:ahLst/>
            <a:cxnLst/>
            <a:rect l="l" t="t" r="r" b="b"/>
            <a:pathLst>
              <a:path w="10704366" h="10723864">
                <a:moveTo>
                  <a:pt x="10704366" y="0"/>
                </a:moveTo>
                <a:lnTo>
                  <a:pt x="0" y="0"/>
                </a:lnTo>
                <a:lnTo>
                  <a:pt x="0" y="10723864"/>
                </a:lnTo>
                <a:lnTo>
                  <a:pt x="10704366" y="10723864"/>
                </a:lnTo>
                <a:lnTo>
                  <a:pt x="1070436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 flipH="1">
            <a:off x="11335596" y="1207585"/>
            <a:ext cx="10704366" cy="10723864"/>
          </a:xfrm>
          <a:custGeom>
            <a:avLst/>
            <a:gdLst/>
            <a:ahLst/>
            <a:cxnLst/>
            <a:rect l="l" t="t" r="r" b="b"/>
            <a:pathLst>
              <a:path w="10704366" h="10723864">
                <a:moveTo>
                  <a:pt x="10704366" y="0"/>
                </a:moveTo>
                <a:lnTo>
                  <a:pt x="0" y="0"/>
                </a:lnTo>
                <a:lnTo>
                  <a:pt x="0" y="10723864"/>
                </a:lnTo>
                <a:lnTo>
                  <a:pt x="10704366" y="10723864"/>
                </a:lnTo>
                <a:lnTo>
                  <a:pt x="1070436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TextBox 4"/>
          <p:cNvSpPr txBox="1"/>
          <p:nvPr/>
        </p:nvSpPr>
        <p:spPr>
          <a:xfrm>
            <a:off x="3072296" y="2091652"/>
            <a:ext cx="12143409" cy="9240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4000" b="1">
                <a:solidFill>
                  <a:srgbClr val="22588D"/>
                </a:solidFill>
                <a:latin typeface="Segoe UI Semibold" panose="020B0702040204020203" pitchFamily="34" charset="0"/>
                <a:ea typeface="Museo Moderno Bold"/>
                <a:cs typeface="Museo Moderno Bold"/>
                <a:sym typeface="Museo Moderno Bold"/>
              </a:rPr>
              <a:t>Choosing Materials: What Should You Build With?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3614760" y="3872827"/>
            <a:ext cx="4882600" cy="879493"/>
            <a:chOff x="0" y="0"/>
            <a:chExt cx="1285952" cy="23163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5952" cy="231636"/>
            </a:xfrm>
            <a:custGeom>
              <a:avLst/>
              <a:gdLst/>
              <a:ahLst/>
              <a:cxnLst/>
              <a:rect l="l" t="t" r="r" b="b"/>
              <a:pathLst>
                <a:path w="1285952" h="231636">
                  <a:moveTo>
                    <a:pt x="80866" y="0"/>
                  </a:moveTo>
                  <a:lnTo>
                    <a:pt x="1205086" y="0"/>
                  </a:lnTo>
                  <a:cubicBezTo>
                    <a:pt x="1226533" y="0"/>
                    <a:pt x="1247102" y="8520"/>
                    <a:pt x="1262267" y="23685"/>
                  </a:cubicBezTo>
                  <a:cubicBezTo>
                    <a:pt x="1277433" y="38851"/>
                    <a:pt x="1285952" y="59419"/>
                    <a:pt x="1285952" y="80866"/>
                  </a:cubicBezTo>
                  <a:lnTo>
                    <a:pt x="1285952" y="150770"/>
                  </a:lnTo>
                  <a:cubicBezTo>
                    <a:pt x="1285952" y="195431"/>
                    <a:pt x="1249747" y="231636"/>
                    <a:pt x="1205086" y="231636"/>
                  </a:cubicBezTo>
                  <a:lnTo>
                    <a:pt x="80866" y="231636"/>
                  </a:lnTo>
                  <a:cubicBezTo>
                    <a:pt x="36205" y="231636"/>
                    <a:pt x="0" y="195431"/>
                    <a:pt x="0" y="150770"/>
                  </a:cubicBezTo>
                  <a:lnTo>
                    <a:pt x="0" y="80866"/>
                  </a:lnTo>
                  <a:cubicBezTo>
                    <a:pt x="0" y="36205"/>
                    <a:pt x="36205" y="0"/>
                    <a:pt x="80866" y="0"/>
                  </a:cubicBezTo>
                  <a:close/>
                </a:path>
              </a:pathLst>
            </a:custGeom>
            <a:solidFill>
              <a:srgbClr val="22588D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1285952" cy="298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266703" y="4058573"/>
            <a:ext cx="3578715" cy="8713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1">
                <a:solidFill>
                  <a:srgbClr val="22588D"/>
                </a:solidFill>
                <a:latin typeface="Segoe UI Semibold" panose="020B0702040204020203" pitchFamily="34" charset="0"/>
                <a:ea typeface="Poppins"/>
                <a:cs typeface="Poppins"/>
                <a:sym typeface="Poppins"/>
              </a:rPr>
              <a:t>PLA (3D Print): Cheap &amp; fast, but sags at 55°C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790639" y="3872827"/>
            <a:ext cx="4882600" cy="879493"/>
            <a:chOff x="0" y="0"/>
            <a:chExt cx="1285952" cy="23163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85952" cy="231636"/>
            </a:xfrm>
            <a:custGeom>
              <a:avLst/>
              <a:gdLst/>
              <a:ahLst/>
              <a:cxnLst/>
              <a:rect l="l" t="t" r="r" b="b"/>
              <a:pathLst>
                <a:path w="1285952" h="231636">
                  <a:moveTo>
                    <a:pt x="80866" y="0"/>
                  </a:moveTo>
                  <a:lnTo>
                    <a:pt x="1205086" y="0"/>
                  </a:lnTo>
                  <a:cubicBezTo>
                    <a:pt x="1226533" y="0"/>
                    <a:pt x="1247102" y="8520"/>
                    <a:pt x="1262267" y="23685"/>
                  </a:cubicBezTo>
                  <a:cubicBezTo>
                    <a:pt x="1277433" y="38851"/>
                    <a:pt x="1285952" y="59419"/>
                    <a:pt x="1285952" y="80866"/>
                  </a:cubicBezTo>
                  <a:lnTo>
                    <a:pt x="1285952" y="150770"/>
                  </a:lnTo>
                  <a:cubicBezTo>
                    <a:pt x="1285952" y="195431"/>
                    <a:pt x="1249747" y="231636"/>
                    <a:pt x="1205086" y="231636"/>
                  </a:cubicBezTo>
                  <a:lnTo>
                    <a:pt x="80866" y="231636"/>
                  </a:lnTo>
                  <a:cubicBezTo>
                    <a:pt x="36205" y="231636"/>
                    <a:pt x="0" y="195431"/>
                    <a:pt x="0" y="150770"/>
                  </a:cubicBezTo>
                  <a:lnTo>
                    <a:pt x="0" y="80866"/>
                  </a:lnTo>
                  <a:cubicBezTo>
                    <a:pt x="0" y="36205"/>
                    <a:pt x="36205" y="0"/>
                    <a:pt x="80866" y="0"/>
                  </a:cubicBezTo>
                  <a:close/>
                </a:path>
              </a:pathLst>
            </a:custGeom>
            <a:solidFill>
              <a:srgbClr val="22588D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1285952" cy="298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442582" y="4058573"/>
            <a:ext cx="3578715" cy="8580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1">
                <a:solidFill>
                  <a:srgbClr val="22588D"/>
                </a:solidFill>
                <a:latin typeface="Segoe UI Semibold" panose="020B0702040204020203" pitchFamily="34" charset="0"/>
                <a:ea typeface="Poppins"/>
                <a:cs typeface="Poppins"/>
                <a:sym typeface="Poppins"/>
              </a:rPr>
              <a:t>PETG / ABS: Tougher prints, great for brackets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3614760" y="5560330"/>
            <a:ext cx="4882600" cy="879493"/>
            <a:chOff x="0" y="0"/>
            <a:chExt cx="1285952" cy="23163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85952" cy="231636"/>
            </a:xfrm>
            <a:custGeom>
              <a:avLst/>
              <a:gdLst/>
              <a:ahLst/>
              <a:cxnLst/>
              <a:rect l="l" t="t" r="r" b="b"/>
              <a:pathLst>
                <a:path w="1285952" h="231636">
                  <a:moveTo>
                    <a:pt x="80866" y="0"/>
                  </a:moveTo>
                  <a:lnTo>
                    <a:pt x="1205086" y="0"/>
                  </a:lnTo>
                  <a:cubicBezTo>
                    <a:pt x="1226533" y="0"/>
                    <a:pt x="1247102" y="8520"/>
                    <a:pt x="1262267" y="23685"/>
                  </a:cubicBezTo>
                  <a:cubicBezTo>
                    <a:pt x="1277433" y="38851"/>
                    <a:pt x="1285952" y="59419"/>
                    <a:pt x="1285952" y="80866"/>
                  </a:cubicBezTo>
                  <a:lnTo>
                    <a:pt x="1285952" y="150770"/>
                  </a:lnTo>
                  <a:cubicBezTo>
                    <a:pt x="1285952" y="195431"/>
                    <a:pt x="1249747" y="231636"/>
                    <a:pt x="1205086" y="231636"/>
                  </a:cubicBezTo>
                  <a:lnTo>
                    <a:pt x="80866" y="231636"/>
                  </a:lnTo>
                  <a:cubicBezTo>
                    <a:pt x="36205" y="231636"/>
                    <a:pt x="0" y="195431"/>
                    <a:pt x="0" y="150770"/>
                  </a:cubicBezTo>
                  <a:lnTo>
                    <a:pt x="0" y="80866"/>
                  </a:lnTo>
                  <a:cubicBezTo>
                    <a:pt x="0" y="36205"/>
                    <a:pt x="36205" y="0"/>
                    <a:pt x="80866" y="0"/>
                  </a:cubicBezTo>
                  <a:close/>
                </a:path>
              </a:pathLst>
            </a:custGeom>
            <a:solidFill>
              <a:srgbClr val="22588D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66675"/>
              <a:ext cx="1285952" cy="298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4266703" y="5746077"/>
            <a:ext cx="3578715" cy="8377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1">
                <a:solidFill>
                  <a:srgbClr val="22588D"/>
                </a:solidFill>
                <a:latin typeface="Segoe UI Semibold" panose="020B0702040204020203" pitchFamily="34" charset="0"/>
                <a:ea typeface="Poppins"/>
                <a:cs typeface="Poppins"/>
                <a:sym typeface="Poppins"/>
              </a:rPr>
              <a:t>ALUMINUM 6061: 20× stiffer than plastic! (Winner)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790639" y="5495270"/>
            <a:ext cx="4882600" cy="879493"/>
            <a:chOff x="0" y="0"/>
            <a:chExt cx="1285952" cy="23163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85952" cy="231636"/>
            </a:xfrm>
            <a:custGeom>
              <a:avLst/>
              <a:gdLst/>
              <a:ahLst/>
              <a:cxnLst/>
              <a:rect l="l" t="t" r="r" b="b"/>
              <a:pathLst>
                <a:path w="1285952" h="231636">
                  <a:moveTo>
                    <a:pt x="80866" y="0"/>
                  </a:moveTo>
                  <a:lnTo>
                    <a:pt x="1205086" y="0"/>
                  </a:lnTo>
                  <a:cubicBezTo>
                    <a:pt x="1226533" y="0"/>
                    <a:pt x="1247102" y="8520"/>
                    <a:pt x="1262267" y="23685"/>
                  </a:cubicBezTo>
                  <a:cubicBezTo>
                    <a:pt x="1277433" y="38851"/>
                    <a:pt x="1285952" y="59419"/>
                    <a:pt x="1285952" y="80866"/>
                  </a:cubicBezTo>
                  <a:lnTo>
                    <a:pt x="1285952" y="150770"/>
                  </a:lnTo>
                  <a:cubicBezTo>
                    <a:pt x="1285952" y="195431"/>
                    <a:pt x="1249747" y="231636"/>
                    <a:pt x="1205086" y="231636"/>
                  </a:cubicBezTo>
                  <a:lnTo>
                    <a:pt x="80866" y="231636"/>
                  </a:lnTo>
                  <a:cubicBezTo>
                    <a:pt x="36205" y="231636"/>
                    <a:pt x="0" y="195431"/>
                    <a:pt x="0" y="150770"/>
                  </a:cubicBezTo>
                  <a:lnTo>
                    <a:pt x="0" y="80866"/>
                  </a:lnTo>
                  <a:cubicBezTo>
                    <a:pt x="0" y="36205"/>
                    <a:pt x="36205" y="0"/>
                    <a:pt x="80866" y="0"/>
                  </a:cubicBezTo>
                  <a:close/>
                </a:path>
              </a:pathLst>
            </a:custGeom>
            <a:solidFill>
              <a:srgbClr val="22588D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66675"/>
              <a:ext cx="1285952" cy="298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0442582" y="5681017"/>
            <a:ext cx="3578715" cy="8377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1">
                <a:solidFill>
                  <a:srgbClr val="22588D"/>
                </a:solidFill>
                <a:latin typeface="Segoe UI Semibold" panose="020B0702040204020203" pitchFamily="34" charset="0"/>
                <a:ea typeface="Poppins"/>
                <a:cs typeface="Poppins"/>
                <a:sym typeface="Poppins"/>
              </a:rPr>
              <a:t>STEEL: Maximum strength, great for heavy base plates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6702700" y="7192030"/>
            <a:ext cx="4882600" cy="879493"/>
            <a:chOff x="0" y="0"/>
            <a:chExt cx="1285952" cy="23163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85952" cy="231636"/>
            </a:xfrm>
            <a:custGeom>
              <a:avLst/>
              <a:gdLst/>
              <a:ahLst/>
              <a:cxnLst/>
              <a:rect l="l" t="t" r="r" b="b"/>
              <a:pathLst>
                <a:path w="1285952" h="231636">
                  <a:moveTo>
                    <a:pt x="80866" y="0"/>
                  </a:moveTo>
                  <a:lnTo>
                    <a:pt x="1205086" y="0"/>
                  </a:lnTo>
                  <a:cubicBezTo>
                    <a:pt x="1226533" y="0"/>
                    <a:pt x="1247102" y="8520"/>
                    <a:pt x="1262267" y="23685"/>
                  </a:cubicBezTo>
                  <a:cubicBezTo>
                    <a:pt x="1277433" y="38851"/>
                    <a:pt x="1285952" y="59419"/>
                    <a:pt x="1285952" y="80866"/>
                  </a:cubicBezTo>
                  <a:lnTo>
                    <a:pt x="1285952" y="150770"/>
                  </a:lnTo>
                  <a:cubicBezTo>
                    <a:pt x="1285952" y="195431"/>
                    <a:pt x="1249747" y="231636"/>
                    <a:pt x="1205086" y="231636"/>
                  </a:cubicBezTo>
                  <a:lnTo>
                    <a:pt x="80866" y="231636"/>
                  </a:lnTo>
                  <a:cubicBezTo>
                    <a:pt x="36205" y="231636"/>
                    <a:pt x="0" y="195431"/>
                    <a:pt x="0" y="150770"/>
                  </a:cubicBezTo>
                  <a:lnTo>
                    <a:pt x="0" y="80866"/>
                  </a:lnTo>
                  <a:cubicBezTo>
                    <a:pt x="0" y="36205"/>
                    <a:pt x="36205" y="0"/>
                    <a:pt x="80866" y="0"/>
                  </a:cubicBezTo>
                  <a:close/>
                </a:path>
              </a:pathLst>
            </a:custGeom>
            <a:solidFill>
              <a:srgbClr val="22588D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66675"/>
              <a:ext cx="1285952" cy="298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7354642" y="7377776"/>
            <a:ext cx="3578715" cy="8377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1">
                <a:solidFill>
                  <a:srgbClr val="22588D"/>
                </a:solidFill>
                <a:latin typeface="Segoe UI Semibold" panose="020B0702040204020203" pitchFamily="34" charset="0"/>
                <a:ea typeface="Poppins"/>
                <a:cs typeface="Poppins"/>
                <a:sym typeface="Poppins"/>
              </a:rPr>
              <a:t>CARBON FIBER: Featherweight rigidity, but expensive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8699" y="9461499"/>
            <a:ext cx="12700000" cy="374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1300">
                <a:solidFill>
                  <a:srgbClr val="476690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ROBOTICS FUNDAMENTALS • SESSION 01 / 04 • THURSDAY, 10 SEPT 2026</a:t>
            </a:r>
          </a:p>
        </p:txBody>
      </p:sp>
      <p:sp>
        <p:nvSpPr>
          <p:cNvPr id="25" name="IndicationBadge">
            <a:extLst>
              <a:ext uri="{FF2B5EF4-FFF2-40B4-BE49-F238E27FC236}">
                <a16:creationId xmlns:a16="http://schemas.microsoft.com/office/drawing/2014/main" id="{497E5619-46BE-332E-B71E-7BDEA071FFBE}"/>
              </a:ext>
            </a:extLst>
          </p:cNvPr>
          <p:cNvSpPr/>
          <p:nvPr/>
        </p:nvSpPr>
        <p:spPr>
          <a:xfrm>
            <a:off x="7091680" y="533400"/>
            <a:ext cx="4104640" cy="355600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2258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25400" rIns="127000" bIns="25400" rtlCol="0" anchor="ctr"/>
          <a:lstStyle/>
          <a:p>
            <a:pPr algn="ctr"/>
            <a:r>
              <a:rPr lang="pt-BR" sz="1050" b="1">
                <a:solidFill>
                  <a:srgbClr val="22588D"/>
                </a:solidFill>
                <a:latin typeface="Segoe UI Semibold" panose="020B0702040204020203" pitchFamily="34" charset="0"/>
              </a:rPr>
              <a:t>MATERIAL MATRIX • 🔬 ALUMINUM VS PLA VS CF</a:t>
            </a:r>
            <a:endParaRPr lang="fr-FR" sz="1050" b="1">
              <a:solidFill>
                <a:srgbClr val="22588D"/>
              </a:solidFill>
              <a:latin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1696427"/>
      </p:ext>
    </p:extLst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7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7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7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27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47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2" grpId="0"/>
      <p:bldP spid="16" grpId="0"/>
      <p:bldP spid="20" grpId="0"/>
      <p:bldP spid="24" grpId="0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4775670" y="-6094246"/>
            <a:ext cx="10704366" cy="10723864"/>
          </a:xfrm>
          <a:custGeom>
            <a:avLst/>
            <a:gdLst/>
            <a:ahLst/>
            <a:cxnLst/>
            <a:rect l="l" t="t" r="r" b="b"/>
            <a:pathLst>
              <a:path w="10704366" h="10723864">
                <a:moveTo>
                  <a:pt x="10704366" y="0"/>
                </a:moveTo>
                <a:lnTo>
                  <a:pt x="0" y="0"/>
                </a:lnTo>
                <a:lnTo>
                  <a:pt x="0" y="10723864"/>
                </a:lnTo>
                <a:lnTo>
                  <a:pt x="10704366" y="10723864"/>
                </a:lnTo>
                <a:lnTo>
                  <a:pt x="1070436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 flipH="1">
            <a:off x="11605167" y="1699435"/>
            <a:ext cx="10704366" cy="10723864"/>
          </a:xfrm>
          <a:custGeom>
            <a:avLst/>
            <a:gdLst/>
            <a:ahLst/>
            <a:cxnLst/>
            <a:rect l="l" t="t" r="r" b="b"/>
            <a:pathLst>
              <a:path w="10704366" h="10723864">
                <a:moveTo>
                  <a:pt x="10704366" y="0"/>
                </a:moveTo>
                <a:lnTo>
                  <a:pt x="0" y="0"/>
                </a:lnTo>
                <a:lnTo>
                  <a:pt x="0" y="10723864"/>
                </a:lnTo>
                <a:lnTo>
                  <a:pt x="10704366" y="10723864"/>
                </a:lnTo>
                <a:lnTo>
                  <a:pt x="1070436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TextBox 4"/>
          <p:cNvSpPr txBox="1"/>
          <p:nvPr/>
        </p:nvSpPr>
        <p:spPr>
          <a:xfrm>
            <a:off x="2794000" y="1206499"/>
            <a:ext cx="12700000" cy="9066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3400" b="1" u="none" strike="noStrike">
                <a:solidFill>
                  <a:srgbClr val="22588D"/>
                </a:solidFill>
                <a:latin typeface="Segoe UI Semibold" panose="020B0702040204020203" pitchFamily="34" charset="0"/>
                <a:ea typeface="Museo Moderno Bold"/>
                <a:cs typeface="Museo Moderno Bold"/>
                <a:sym typeface="Museo Moderno Bold"/>
              </a:rPr>
              <a:t>The Engineering Triangle: Pick Any Two!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336883" y="3862560"/>
            <a:ext cx="4598047" cy="1159467"/>
            <a:chOff x="0" y="0"/>
            <a:chExt cx="1211008" cy="30537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11008" cy="305374"/>
            </a:xfrm>
            <a:custGeom>
              <a:avLst/>
              <a:gdLst/>
              <a:ahLst/>
              <a:cxnLst/>
              <a:rect l="l" t="t" r="r" b="b"/>
              <a:pathLst>
                <a:path w="1211008" h="305374">
                  <a:moveTo>
                    <a:pt x="52196" y="0"/>
                  </a:moveTo>
                  <a:lnTo>
                    <a:pt x="1158812" y="0"/>
                  </a:lnTo>
                  <a:cubicBezTo>
                    <a:pt x="1187639" y="0"/>
                    <a:pt x="1211008" y="23369"/>
                    <a:pt x="1211008" y="52196"/>
                  </a:cubicBezTo>
                  <a:lnTo>
                    <a:pt x="1211008" y="253178"/>
                  </a:lnTo>
                  <a:cubicBezTo>
                    <a:pt x="1211008" y="282005"/>
                    <a:pt x="1187639" y="305374"/>
                    <a:pt x="1158812" y="305374"/>
                  </a:cubicBezTo>
                  <a:lnTo>
                    <a:pt x="52196" y="305374"/>
                  </a:lnTo>
                  <a:cubicBezTo>
                    <a:pt x="38353" y="305374"/>
                    <a:pt x="25076" y="299875"/>
                    <a:pt x="15288" y="290086"/>
                  </a:cubicBezTo>
                  <a:cubicBezTo>
                    <a:pt x="5499" y="280297"/>
                    <a:pt x="0" y="267021"/>
                    <a:pt x="0" y="253178"/>
                  </a:cubicBezTo>
                  <a:lnTo>
                    <a:pt x="0" y="52196"/>
                  </a:lnTo>
                  <a:cubicBezTo>
                    <a:pt x="0" y="23369"/>
                    <a:pt x="23369" y="0"/>
                    <a:pt x="52196" y="0"/>
                  </a:cubicBezTo>
                  <a:close/>
                </a:path>
              </a:pathLst>
            </a:custGeom>
            <a:solidFill>
              <a:srgbClr val="22588D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1211008" cy="3720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991031" y="4188293"/>
            <a:ext cx="3289750" cy="3888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1">
                <a:solidFill>
                  <a:srgbClr val="FFFFFF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HIGH PRECISION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30650" y="5312826"/>
            <a:ext cx="4598047" cy="17296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• Sub-millimeter accuracy
• Zero gear backlash
• Machined joints &amp; harmonic drives
• Rigid steel rails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43934" y="5312826"/>
            <a:ext cx="4598047" cy="1772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• Carbon fiber links
• High power density motors
• Featherweight agility
• Fast acceleration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355729" y="5312826"/>
            <a:ext cx="4598047" cy="17557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• 3D printed brackets
• Hobby timing belts
• Standard hardware fasteners
• Under €300 budget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843934" y="3862560"/>
            <a:ext cx="4598047" cy="1159467"/>
            <a:chOff x="0" y="0"/>
            <a:chExt cx="1211008" cy="30537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11008" cy="305374"/>
            </a:xfrm>
            <a:custGeom>
              <a:avLst/>
              <a:gdLst/>
              <a:ahLst/>
              <a:cxnLst/>
              <a:rect l="l" t="t" r="r" b="b"/>
              <a:pathLst>
                <a:path w="1211008" h="305374">
                  <a:moveTo>
                    <a:pt x="52196" y="0"/>
                  </a:moveTo>
                  <a:lnTo>
                    <a:pt x="1158812" y="0"/>
                  </a:lnTo>
                  <a:cubicBezTo>
                    <a:pt x="1187639" y="0"/>
                    <a:pt x="1211008" y="23369"/>
                    <a:pt x="1211008" y="52196"/>
                  </a:cubicBezTo>
                  <a:lnTo>
                    <a:pt x="1211008" y="253178"/>
                  </a:lnTo>
                  <a:cubicBezTo>
                    <a:pt x="1211008" y="282005"/>
                    <a:pt x="1187639" y="305374"/>
                    <a:pt x="1158812" y="305374"/>
                  </a:cubicBezTo>
                  <a:lnTo>
                    <a:pt x="52196" y="305374"/>
                  </a:lnTo>
                  <a:cubicBezTo>
                    <a:pt x="38353" y="305374"/>
                    <a:pt x="25076" y="299875"/>
                    <a:pt x="15288" y="290086"/>
                  </a:cubicBezTo>
                  <a:cubicBezTo>
                    <a:pt x="5499" y="280297"/>
                    <a:pt x="0" y="267021"/>
                    <a:pt x="0" y="253178"/>
                  </a:cubicBezTo>
                  <a:lnTo>
                    <a:pt x="0" y="52196"/>
                  </a:lnTo>
                  <a:cubicBezTo>
                    <a:pt x="0" y="23369"/>
                    <a:pt x="23369" y="0"/>
                    <a:pt x="52196" y="0"/>
                  </a:cubicBezTo>
                  <a:close/>
                </a:path>
              </a:pathLst>
            </a:custGeom>
            <a:solidFill>
              <a:srgbClr val="22588D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66675"/>
              <a:ext cx="1211008" cy="3720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498082" y="4188293"/>
            <a:ext cx="3289750" cy="3888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1">
                <a:solidFill>
                  <a:srgbClr val="FFFFFF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LIGHT WEIGHT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2359304" y="3862560"/>
            <a:ext cx="4598047" cy="1159467"/>
            <a:chOff x="0" y="0"/>
            <a:chExt cx="1211008" cy="30537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11008" cy="305374"/>
            </a:xfrm>
            <a:custGeom>
              <a:avLst/>
              <a:gdLst/>
              <a:ahLst/>
              <a:cxnLst/>
              <a:rect l="l" t="t" r="r" b="b"/>
              <a:pathLst>
                <a:path w="1211008" h="305374">
                  <a:moveTo>
                    <a:pt x="52196" y="0"/>
                  </a:moveTo>
                  <a:lnTo>
                    <a:pt x="1158812" y="0"/>
                  </a:lnTo>
                  <a:cubicBezTo>
                    <a:pt x="1187639" y="0"/>
                    <a:pt x="1211008" y="23369"/>
                    <a:pt x="1211008" y="52196"/>
                  </a:cubicBezTo>
                  <a:lnTo>
                    <a:pt x="1211008" y="253178"/>
                  </a:lnTo>
                  <a:cubicBezTo>
                    <a:pt x="1211008" y="282005"/>
                    <a:pt x="1187639" y="305374"/>
                    <a:pt x="1158812" y="305374"/>
                  </a:cubicBezTo>
                  <a:lnTo>
                    <a:pt x="52196" y="305374"/>
                  </a:lnTo>
                  <a:cubicBezTo>
                    <a:pt x="38353" y="305374"/>
                    <a:pt x="25076" y="299875"/>
                    <a:pt x="15288" y="290086"/>
                  </a:cubicBezTo>
                  <a:cubicBezTo>
                    <a:pt x="5499" y="280297"/>
                    <a:pt x="0" y="267021"/>
                    <a:pt x="0" y="253178"/>
                  </a:cubicBezTo>
                  <a:lnTo>
                    <a:pt x="0" y="52196"/>
                  </a:lnTo>
                  <a:cubicBezTo>
                    <a:pt x="0" y="23369"/>
                    <a:pt x="23369" y="0"/>
                    <a:pt x="52196" y="0"/>
                  </a:cubicBezTo>
                  <a:close/>
                </a:path>
              </a:pathLst>
            </a:custGeom>
            <a:solidFill>
              <a:srgbClr val="22588D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66675"/>
              <a:ext cx="1211008" cy="3720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3013452" y="4188293"/>
            <a:ext cx="3289750" cy="3888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1">
                <a:solidFill>
                  <a:srgbClr val="FFFFFF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LOW COST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699" y="9461499"/>
            <a:ext cx="12700000" cy="374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1300">
                <a:solidFill>
                  <a:srgbClr val="476690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ROBOTICS FUNDAMENTALS • SESSION 01 / 04 • THURSDAY, 10 SEPT 2026</a:t>
            </a:r>
          </a:p>
        </p:txBody>
      </p:sp>
      <p:sp>
        <p:nvSpPr>
          <p:cNvPr id="20" name="IndicationBadge">
            <a:extLst>
              <a:ext uri="{FF2B5EF4-FFF2-40B4-BE49-F238E27FC236}">
                <a16:creationId xmlns:a16="http://schemas.microsoft.com/office/drawing/2014/main" id="{4610006B-F172-6369-53ED-4AE7306DD608}"/>
              </a:ext>
            </a:extLst>
          </p:cNvPr>
          <p:cNvSpPr/>
          <p:nvPr/>
        </p:nvSpPr>
        <p:spPr>
          <a:xfrm>
            <a:off x="7045960" y="533400"/>
            <a:ext cx="4196079" cy="355600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2258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25400" rIns="127000" bIns="25400" rtlCol="0" anchor="ctr"/>
          <a:lstStyle/>
          <a:p>
            <a:pPr algn="ctr"/>
            <a:r>
              <a:rPr lang="en-US" sz="1050" b="1">
                <a:solidFill>
                  <a:srgbClr val="22588D"/>
                </a:solidFill>
                <a:latin typeface="Segoe UI Semibold" panose="020B0702040204020203" pitchFamily="34" charset="0"/>
              </a:rPr>
              <a:t>DESIGN TRADEOFF • ⚖️ THE TRIANGLE (PICK 2)</a:t>
            </a:r>
            <a:endParaRPr lang="fr-FR" sz="1050" b="1">
              <a:solidFill>
                <a:srgbClr val="22588D"/>
              </a:solidFill>
              <a:latin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771600"/>
      </p:ext>
    </p:extLst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7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7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7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27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47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7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9" grpId="0"/>
      <p:bldP spid="10" grpId="0"/>
      <p:bldP spid="11" grpId="0"/>
      <p:bldP spid="15" grpId="0"/>
      <p:bldP spid="19" grpId="0"/>
      <p:bldP spid="2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07159" y="-6035048"/>
            <a:ext cx="10704366" cy="10723864"/>
          </a:xfrm>
          <a:custGeom>
            <a:avLst/>
            <a:gdLst/>
            <a:ahLst/>
            <a:cxnLst/>
            <a:rect l="l" t="t" r="r" b="b"/>
            <a:pathLst>
              <a:path w="10704366" h="10723864">
                <a:moveTo>
                  <a:pt x="0" y="0"/>
                </a:moveTo>
                <a:lnTo>
                  <a:pt x="10704366" y="0"/>
                </a:lnTo>
                <a:lnTo>
                  <a:pt x="10704366" y="10723864"/>
                </a:lnTo>
                <a:lnTo>
                  <a:pt x="0" y="107238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2794000" y="1142999"/>
            <a:ext cx="12700000" cy="9066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3400" b="1" u="none" strike="noStrike">
                <a:solidFill>
                  <a:srgbClr val="22588D"/>
                </a:solidFill>
                <a:latin typeface="Segoe UI Semibold" panose="020B0702040204020203" pitchFamily="34" charset="0"/>
                <a:ea typeface="Museo Moderno Bold"/>
                <a:cs typeface="Museo Moderno Bold"/>
                <a:sym typeface="Museo Moderno Bold"/>
              </a:rPr>
              <a:t>What Happens When You Double the Reach?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995747"/>
            <a:ext cx="7334260" cy="17557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• Payload: 1.0 kg
• Joint Torque: 2.5 N·m (Small motor)
• Tip Sag: 1.0 mm (Barely noticeable)
• Settling Time: 0.15s (Rock steady!)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363922"/>
            <a:ext cx="6870825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ARM A: 25 CM (COMPACT)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6072975"/>
            <a:ext cx="5604938" cy="4053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ROTATIONAL INERTIA (4×)</a:t>
            </a:r>
            <a:endParaRPr lang="en-US" sz="2000" b="1" u="none" strike="noStrike">
              <a:solidFill>
                <a:srgbClr val="22588D"/>
              </a:solidFill>
              <a:latin typeface="Segoe UI Semibold" panose="020B0702040204020203" pitchFamily="34" charset="0"/>
              <a:ea typeface="Poppins Bold"/>
              <a:cs typeface="Poppins Bold"/>
              <a:sym typeface="Poppi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6704800"/>
            <a:ext cx="7334260" cy="8319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Inertia = Mass × Radius².
Doubling arm length quadruples rotational resistance to stopping!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5040" y="3995747"/>
            <a:ext cx="7334260" cy="17557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• Payload: 1.0 kg (Exact same payload!)
• Joint Torque: 5.0 N·m (2× bigger motor)
• Tip Sag: 8.0 mm! (8× worse sag!)
• Settling: Shakes for 1.5s like tuning fork!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5040" y="3363922"/>
            <a:ext cx="6870825" cy="4053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ARM B: 50 CM (2× DOUBLED!)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5040" y="6072975"/>
            <a:ext cx="6683482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DESIGN TAKEAWAY</a:t>
            </a:r>
            <a:endParaRPr lang="en-US" sz="2000" b="1" u="none" strike="noStrike">
              <a:solidFill>
                <a:srgbClr val="22588D"/>
              </a:solidFill>
              <a:latin typeface="Segoe UI Semibold" panose="020B0702040204020203" pitchFamily="34" charset="0"/>
              <a:ea typeface="Poppins Bold"/>
              <a:cs typeface="Poppins Bold"/>
              <a:sym typeface="Poppi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925040" y="6704800"/>
            <a:ext cx="7334260" cy="8319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Keep your robot arms as short and compact as humanly possible!
Every extra centimeter costs motor torque and stiffness.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699" y="9461499"/>
            <a:ext cx="12700000" cy="374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1300">
                <a:solidFill>
                  <a:srgbClr val="476690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ROBOTICS FUNDAMENTALS • SESSION 01 / 04 • THURSDAY, 10 SEPT 2026</a:t>
            </a:r>
          </a:p>
        </p:txBody>
      </p:sp>
      <p:sp>
        <p:nvSpPr>
          <p:cNvPr id="12" name="IndicationBadge">
            <a:extLst>
              <a:ext uri="{FF2B5EF4-FFF2-40B4-BE49-F238E27FC236}">
                <a16:creationId xmlns:a16="http://schemas.microsoft.com/office/drawing/2014/main" id="{627F10AC-D56F-3E87-FD87-98D7DB7B83E7}"/>
              </a:ext>
            </a:extLst>
          </p:cNvPr>
          <p:cNvSpPr/>
          <p:nvPr/>
        </p:nvSpPr>
        <p:spPr>
          <a:xfrm>
            <a:off x="7320280" y="533400"/>
            <a:ext cx="3647440" cy="355600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2258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25400" rIns="127000" bIns="25400" rtlCol="0" anchor="ctr"/>
          <a:lstStyle/>
          <a:p>
            <a:pPr algn="ctr"/>
            <a:r>
              <a:rPr lang="en-US" sz="1050" b="1">
                <a:solidFill>
                  <a:srgbClr val="22588D"/>
                </a:solidFill>
                <a:latin typeface="Segoe UI Semibold" panose="020B0702040204020203" pitchFamily="34" charset="0"/>
              </a:rPr>
              <a:t>LEVERAGE COST • 💥 DOUBLING THE REACH</a:t>
            </a:r>
            <a:endParaRPr lang="fr-FR" sz="1050" b="1">
              <a:solidFill>
                <a:srgbClr val="22588D"/>
              </a:solidFill>
              <a:latin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5857127"/>
      </p:ext>
    </p:extLst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4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4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14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34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4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74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94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9144000" y="-6504289"/>
            <a:ext cx="10704366" cy="10723864"/>
          </a:xfrm>
          <a:custGeom>
            <a:avLst/>
            <a:gdLst/>
            <a:ahLst/>
            <a:cxnLst/>
            <a:rect l="l" t="t" r="r" b="b"/>
            <a:pathLst>
              <a:path w="10704366" h="10723864">
                <a:moveTo>
                  <a:pt x="10704366" y="10723864"/>
                </a:moveTo>
                <a:lnTo>
                  <a:pt x="0" y="10723864"/>
                </a:lnTo>
                <a:lnTo>
                  <a:pt x="0" y="0"/>
                </a:lnTo>
                <a:lnTo>
                  <a:pt x="10704366" y="0"/>
                </a:lnTo>
                <a:lnTo>
                  <a:pt x="10704366" y="1072386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1735405" y="952499"/>
            <a:ext cx="16256000" cy="918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3800" b="1" u="none" strike="noStrike">
                <a:solidFill>
                  <a:srgbClr val="22588D"/>
                </a:solidFill>
                <a:latin typeface="Segoe UI Semibold" panose="020B0702040204020203" pitchFamily="34" charset="0"/>
                <a:ea typeface="Museo Moderno Bold"/>
                <a:cs typeface="Museo Moderno Bold"/>
                <a:sym typeface="Museo Moderno Bold"/>
              </a:rPr>
              <a:t>Design Challenge: Specify This Arm! [5-MIN]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857499"/>
            <a:ext cx="7334260" cy="26534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5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• Payload: 2.0 kg
• Reach: 60 cm (0.60 m)
• Accuracy: &lt; 1.5 mm
• Budget: €400 total parts
What material? What motor? What transmission?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285999"/>
            <a:ext cx="7803545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CLIENT REQUIREMENTS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5841999"/>
            <a:ext cx="7964281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ROOKIE TRAPS</a:t>
            </a:r>
            <a:endParaRPr lang="en-US" sz="2000" b="1" u="none" strike="noStrike">
              <a:solidFill>
                <a:srgbClr val="22588D"/>
              </a:solidFill>
              <a:latin typeface="Segoe UI Semibold" panose="020B0702040204020203" pitchFamily="34" charset="0"/>
              <a:ea typeface="Poppins Bold"/>
              <a:cs typeface="Poppins Bold"/>
              <a:sym typeface="Poppi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6413499"/>
            <a:ext cx="7334260" cy="8290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5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❌ Trap 1: 'Print the 60 cm arm in PLA!' (Will sag 12 mm!)
❌ Trap 2: 'Direct drive servo!' (Plastic gears strip instantly!)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5040" y="6296025"/>
            <a:ext cx="7165689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WINNING PRO SPEC</a:t>
            </a:r>
            <a:endParaRPr lang="en-US" sz="2000" b="1" u="none" strike="noStrike">
              <a:solidFill>
                <a:srgbClr val="22588D"/>
              </a:solidFill>
              <a:latin typeface="Segoe UI Semibold" panose="020B0702040204020203" pitchFamily="34" charset="0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925040" y="6927850"/>
            <a:ext cx="7334260" cy="1324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• Hollow square aluminum tube links
• NEMA 23 stepper with 15:1 planetary gearbox
• Dual preloaded ball bearings on main pivot.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925040" y="3127375"/>
            <a:ext cx="7334260" cy="2623185"/>
            <a:chOff x="0" y="0"/>
            <a:chExt cx="1136269" cy="406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36269" cy="406400"/>
            </a:xfrm>
            <a:custGeom>
              <a:avLst/>
              <a:gdLst/>
              <a:ahLst/>
              <a:cxnLst/>
              <a:rect l="l" t="t" r="r" b="b"/>
              <a:pathLst>
                <a:path w="1136269" h="406400">
                  <a:moveTo>
                    <a:pt x="41168" y="0"/>
                  </a:moveTo>
                  <a:lnTo>
                    <a:pt x="1095101" y="0"/>
                  </a:lnTo>
                  <a:cubicBezTo>
                    <a:pt x="1106019" y="0"/>
                    <a:pt x="1116491" y="4337"/>
                    <a:pt x="1124211" y="12058"/>
                  </a:cubicBezTo>
                  <a:cubicBezTo>
                    <a:pt x="1131931" y="19778"/>
                    <a:pt x="1136269" y="30249"/>
                    <a:pt x="1136269" y="41168"/>
                  </a:cubicBezTo>
                  <a:lnTo>
                    <a:pt x="1136269" y="365232"/>
                  </a:lnTo>
                  <a:cubicBezTo>
                    <a:pt x="1136269" y="376151"/>
                    <a:pt x="1131931" y="386622"/>
                    <a:pt x="1124211" y="394342"/>
                  </a:cubicBezTo>
                  <a:cubicBezTo>
                    <a:pt x="1116491" y="402063"/>
                    <a:pt x="1106019" y="406400"/>
                    <a:pt x="1095101" y="406400"/>
                  </a:cubicBezTo>
                  <a:lnTo>
                    <a:pt x="41168" y="406400"/>
                  </a:lnTo>
                  <a:cubicBezTo>
                    <a:pt x="30249" y="406400"/>
                    <a:pt x="19778" y="402063"/>
                    <a:pt x="12058" y="394342"/>
                  </a:cubicBezTo>
                  <a:cubicBezTo>
                    <a:pt x="4337" y="386622"/>
                    <a:pt x="0" y="376151"/>
                    <a:pt x="0" y="365232"/>
                  </a:cubicBezTo>
                  <a:lnTo>
                    <a:pt x="0" y="41168"/>
                  </a:lnTo>
                  <a:cubicBezTo>
                    <a:pt x="0" y="30249"/>
                    <a:pt x="4337" y="19778"/>
                    <a:pt x="12058" y="12058"/>
                  </a:cubicBezTo>
                  <a:cubicBezTo>
                    <a:pt x="19778" y="4337"/>
                    <a:pt x="30249" y="0"/>
                    <a:pt x="41168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171450" cap="rnd">
              <a:solidFill>
                <a:srgbClr val="22588D"/>
              </a:soli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28699" y="9461499"/>
            <a:ext cx="12700000" cy="374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1300">
                <a:solidFill>
                  <a:srgbClr val="476690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ROBOTICS FUNDAMENTALS • SESSION 01 / 04 • THURSDAY, 10 SEPT 2026</a:t>
            </a:r>
          </a:p>
        </p:txBody>
      </p:sp>
      <p:sp>
        <p:nvSpPr>
          <p:cNvPr id="12" name="IndicationBadge">
            <a:extLst>
              <a:ext uri="{FF2B5EF4-FFF2-40B4-BE49-F238E27FC236}">
                <a16:creationId xmlns:a16="http://schemas.microsoft.com/office/drawing/2014/main" id="{F8DD6F8E-22AA-C4C0-E267-C7FF2D4B8955}"/>
              </a:ext>
            </a:extLst>
          </p:cNvPr>
          <p:cNvSpPr/>
          <p:nvPr/>
        </p:nvSpPr>
        <p:spPr>
          <a:xfrm>
            <a:off x="1028700" y="533400"/>
            <a:ext cx="3921760" cy="355600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2258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25400" rIns="127000" bIns="25400" rtlCol="0" anchor="ctr"/>
          <a:lstStyle/>
          <a:p>
            <a:pPr algn="ctr"/>
            <a:r>
              <a:rPr lang="nn-NO" sz="1050" b="1">
                <a:solidFill>
                  <a:srgbClr val="22588D"/>
                </a:solidFill>
                <a:latin typeface="Segoe UI Semibold" panose="020B0702040204020203" pitchFamily="34" charset="0"/>
              </a:rPr>
              <a:t>DESIGN SPRINT • ⏱️ 5-MIN SPEC CHALLENGE</a:t>
            </a:r>
            <a:endParaRPr lang="fr-FR" sz="1050" b="1">
              <a:solidFill>
                <a:srgbClr val="22588D"/>
              </a:solidFill>
              <a:latin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2991065"/>
      </p:ext>
    </p:extLst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7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7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7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27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47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7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744190" y="-4042349"/>
            <a:ext cx="6446938" cy="6458681"/>
          </a:xfrm>
          <a:custGeom>
            <a:avLst/>
            <a:gdLst/>
            <a:ahLst/>
            <a:cxnLst/>
            <a:rect l="l" t="t" r="r" b="b"/>
            <a:pathLst>
              <a:path w="6446938" h="6458681">
                <a:moveTo>
                  <a:pt x="0" y="0"/>
                </a:moveTo>
                <a:lnTo>
                  <a:pt x="6446937" y="0"/>
                </a:lnTo>
                <a:lnTo>
                  <a:pt x="6446937" y="6458681"/>
                </a:lnTo>
                <a:lnTo>
                  <a:pt x="0" y="64586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9703520" y="1954573"/>
            <a:ext cx="11124397" cy="6377854"/>
            <a:chOff x="0" y="0"/>
            <a:chExt cx="888424" cy="5093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88424" cy="509352"/>
            </a:xfrm>
            <a:custGeom>
              <a:avLst/>
              <a:gdLst/>
              <a:ahLst/>
              <a:cxnLst/>
              <a:rect l="l" t="t" r="r" b="b"/>
              <a:pathLst>
                <a:path w="888424" h="509352">
                  <a:moveTo>
                    <a:pt x="685224" y="0"/>
                  </a:moveTo>
                  <a:cubicBezTo>
                    <a:pt x="797454" y="0"/>
                    <a:pt x="888424" y="114015"/>
                    <a:pt x="888424" y="254676"/>
                  </a:cubicBezTo>
                  <a:cubicBezTo>
                    <a:pt x="888424" y="395337"/>
                    <a:pt x="797454" y="509352"/>
                    <a:pt x="685224" y="509352"/>
                  </a:cubicBezTo>
                  <a:lnTo>
                    <a:pt x="203200" y="509352"/>
                  </a:lnTo>
                  <a:cubicBezTo>
                    <a:pt x="90970" y="509352"/>
                    <a:pt x="0" y="395337"/>
                    <a:pt x="0" y="254676"/>
                  </a:cubicBezTo>
                  <a:cubicBezTo>
                    <a:pt x="0" y="114015"/>
                    <a:pt x="90970" y="0"/>
                    <a:pt x="203200" y="0"/>
                  </a:cubicBezTo>
                  <a:lnTo>
                    <a:pt x="685224" y="0"/>
                  </a:lnTo>
                </a:path>
              </a:pathLst>
            </a:custGeom>
            <a:blipFill>
              <a:blip r:embed="rId4"/>
              <a:stretch>
                <a:fillRect/>
              </a:stretch>
            </a:blipFill>
            <a:ln w="171450" cap="sq">
              <a:solidFill>
                <a:srgbClr val="22588D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6" name="Freeform 6"/>
          <p:cNvSpPr/>
          <p:nvPr/>
        </p:nvSpPr>
        <p:spPr>
          <a:xfrm>
            <a:off x="-1080828" y="4476186"/>
            <a:ext cx="6446938" cy="6458681"/>
          </a:xfrm>
          <a:custGeom>
            <a:avLst/>
            <a:gdLst/>
            <a:ahLst/>
            <a:cxnLst/>
            <a:rect l="l" t="t" r="r" b="b"/>
            <a:pathLst>
              <a:path w="6446938" h="6458681">
                <a:moveTo>
                  <a:pt x="0" y="0"/>
                </a:moveTo>
                <a:lnTo>
                  <a:pt x="6446938" y="0"/>
                </a:lnTo>
                <a:lnTo>
                  <a:pt x="6446938" y="6458681"/>
                </a:lnTo>
                <a:lnTo>
                  <a:pt x="0" y="64586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" name="TextBox 7"/>
          <p:cNvSpPr txBox="1"/>
          <p:nvPr/>
        </p:nvSpPr>
        <p:spPr>
          <a:xfrm>
            <a:off x="1028700" y="2286000"/>
            <a:ext cx="8255000" cy="2966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099"/>
              </a:lnSpc>
            </a:pPr>
            <a:r>
              <a:rPr lang="en-US" sz="3800" b="1" u="none" strike="noStrike">
                <a:solidFill>
                  <a:srgbClr val="22588D"/>
                </a:solidFill>
                <a:latin typeface="Segoe UI Semibold" panose="020B0702040204020203" pitchFamily="34" charset="0"/>
                <a:ea typeface="Museo Moderno Bold"/>
                <a:cs typeface="Museo Moderno Bold"/>
                <a:sym typeface="Museo Moderno Bold"/>
              </a:rPr>
              <a:t>PART 04
POWER &amp;
ELECTRICAL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5588000"/>
            <a:ext cx="8255000" cy="5168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1900">
                <a:solidFill>
                  <a:srgbClr val="22588D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Voltage • Current • Batteries • The Dreaded Brownout Mystery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699" y="9461499"/>
            <a:ext cx="12700000" cy="380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1500">
                <a:solidFill>
                  <a:srgbClr val="476690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ROBOTICS FUNDAMENTALS • PART 04 / 06</a:t>
            </a:r>
          </a:p>
        </p:txBody>
      </p:sp>
      <p:sp>
        <p:nvSpPr>
          <p:cNvPr id="5" name="IndicationBadge">
            <a:extLst>
              <a:ext uri="{FF2B5EF4-FFF2-40B4-BE49-F238E27FC236}">
                <a16:creationId xmlns:a16="http://schemas.microsoft.com/office/drawing/2014/main" id="{612E7C11-4F1C-4D5B-B23C-38A48DB00529}"/>
              </a:ext>
            </a:extLst>
          </p:cNvPr>
          <p:cNvSpPr/>
          <p:nvPr/>
        </p:nvSpPr>
        <p:spPr>
          <a:xfrm>
            <a:off x="1028700" y="533400"/>
            <a:ext cx="3190240" cy="355600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2258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25400" rIns="127000" bIns="25400" rtlCol="0" anchor="ctr"/>
          <a:lstStyle/>
          <a:p>
            <a:pPr algn="ctr"/>
            <a:r>
              <a:rPr lang="fr-FR" sz="1050" b="1">
                <a:solidFill>
                  <a:srgbClr val="22588D"/>
                </a:solidFill>
                <a:latin typeface="Segoe UI Semibold" panose="020B0702040204020203" pitchFamily="34" charset="0"/>
              </a:rPr>
              <a:t>SECTION 04 • POWER &amp; ELECTRICAL</a:t>
            </a:r>
          </a:p>
        </p:txBody>
      </p:sp>
    </p:spTree>
    <p:extLst>
      <p:ext uri="{BB962C8B-B14F-4D97-AF65-F5344CB8AC3E}">
        <p14:creationId xmlns:p14="http://schemas.microsoft.com/office/powerpoint/2010/main" val="136861884"/>
      </p:ext>
    </p:extLst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7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4775670" y="-6094246"/>
            <a:ext cx="10704366" cy="10723864"/>
          </a:xfrm>
          <a:custGeom>
            <a:avLst/>
            <a:gdLst/>
            <a:ahLst/>
            <a:cxnLst/>
            <a:rect l="l" t="t" r="r" b="b"/>
            <a:pathLst>
              <a:path w="10704366" h="10723864">
                <a:moveTo>
                  <a:pt x="10704366" y="0"/>
                </a:moveTo>
                <a:lnTo>
                  <a:pt x="0" y="0"/>
                </a:lnTo>
                <a:lnTo>
                  <a:pt x="0" y="10723864"/>
                </a:lnTo>
                <a:lnTo>
                  <a:pt x="10704366" y="10723864"/>
                </a:lnTo>
                <a:lnTo>
                  <a:pt x="1070436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 flipH="1">
            <a:off x="11605167" y="1699435"/>
            <a:ext cx="10704366" cy="10723864"/>
          </a:xfrm>
          <a:custGeom>
            <a:avLst/>
            <a:gdLst/>
            <a:ahLst/>
            <a:cxnLst/>
            <a:rect l="l" t="t" r="r" b="b"/>
            <a:pathLst>
              <a:path w="10704366" h="10723864">
                <a:moveTo>
                  <a:pt x="10704366" y="0"/>
                </a:moveTo>
                <a:lnTo>
                  <a:pt x="0" y="0"/>
                </a:lnTo>
                <a:lnTo>
                  <a:pt x="0" y="10723864"/>
                </a:lnTo>
                <a:lnTo>
                  <a:pt x="10704366" y="10723864"/>
                </a:lnTo>
                <a:lnTo>
                  <a:pt x="1070436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TextBox 4"/>
          <p:cNvSpPr txBox="1"/>
          <p:nvPr/>
        </p:nvSpPr>
        <p:spPr>
          <a:xfrm>
            <a:off x="2794000" y="1206499"/>
            <a:ext cx="12700000" cy="9066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3400" b="1" u="none" strike="noStrike">
                <a:solidFill>
                  <a:srgbClr val="22588D"/>
                </a:solidFill>
                <a:latin typeface="Segoe UI Semibold" panose="020B0702040204020203" pitchFamily="34" charset="0"/>
                <a:ea typeface="Museo Moderno Bold"/>
                <a:cs typeface="Museo Moderno Bold"/>
                <a:sym typeface="Museo Moderno Bold"/>
              </a:rPr>
              <a:t>Electrical Fundamentals: The Water Pipe Analogy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336883" y="3862560"/>
            <a:ext cx="4598047" cy="1159467"/>
            <a:chOff x="0" y="0"/>
            <a:chExt cx="1211008" cy="30537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11008" cy="305374"/>
            </a:xfrm>
            <a:custGeom>
              <a:avLst/>
              <a:gdLst/>
              <a:ahLst/>
              <a:cxnLst/>
              <a:rect l="l" t="t" r="r" b="b"/>
              <a:pathLst>
                <a:path w="1211008" h="305374">
                  <a:moveTo>
                    <a:pt x="52196" y="0"/>
                  </a:moveTo>
                  <a:lnTo>
                    <a:pt x="1158812" y="0"/>
                  </a:lnTo>
                  <a:cubicBezTo>
                    <a:pt x="1187639" y="0"/>
                    <a:pt x="1211008" y="23369"/>
                    <a:pt x="1211008" y="52196"/>
                  </a:cubicBezTo>
                  <a:lnTo>
                    <a:pt x="1211008" y="253178"/>
                  </a:lnTo>
                  <a:cubicBezTo>
                    <a:pt x="1211008" y="282005"/>
                    <a:pt x="1187639" y="305374"/>
                    <a:pt x="1158812" y="305374"/>
                  </a:cubicBezTo>
                  <a:lnTo>
                    <a:pt x="52196" y="305374"/>
                  </a:lnTo>
                  <a:cubicBezTo>
                    <a:pt x="38353" y="305374"/>
                    <a:pt x="25076" y="299875"/>
                    <a:pt x="15288" y="290086"/>
                  </a:cubicBezTo>
                  <a:cubicBezTo>
                    <a:pt x="5499" y="280297"/>
                    <a:pt x="0" y="267021"/>
                    <a:pt x="0" y="253178"/>
                  </a:cubicBezTo>
                  <a:lnTo>
                    <a:pt x="0" y="52196"/>
                  </a:lnTo>
                  <a:cubicBezTo>
                    <a:pt x="0" y="23369"/>
                    <a:pt x="23369" y="0"/>
                    <a:pt x="52196" y="0"/>
                  </a:cubicBezTo>
                  <a:close/>
                </a:path>
              </a:pathLst>
            </a:custGeom>
            <a:solidFill>
              <a:srgbClr val="22588D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1211008" cy="3720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991031" y="4188293"/>
            <a:ext cx="3289750" cy="3888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1">
                <a:solidFill>
                  <a:srgbClr val="FFFFFF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VOLTAGE (Volts)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30650" y="5312826"/>
            <a:ext cx="4598047" cy="17296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• Water Pressure in the pipe
• Electrical push driving electrons
• Higher Voltage = Higher maximum motor RPM (Speed)!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43934" y="5312826"/>
            <a:ext cx="4598047" cy="17296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• Water Flow Volume per second
• Actual amount of electrons moving
• More Current = STRONGER MOTOR TORQUE (Strength)!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355729" y="5312826"/>
            <a:ext cx="4598047" cy="12893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• Total Work Done (P = V × I)
• Pressure × Volume = Power washing force!
• 12V × 2A = 24 Watts continuous.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843934" y="3862560"/>
            <a:ext cx="4598047" cy="1159467"/>
            <a:chOff x="0" y="0"/>
            <a:chExt cx="1211008" cy="30537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11008" cy="305374"/>
            </a:xfrm>
            <a:custGeom>
              <a:avLst/>
              <a:gdLst/>
              <a:ahLst/>
              <a:cxnLst/>
              <a:rect l="l" t="t" r="r" b="b"/>
              <a:pathLst>
                <a:path w="1211008" h="305374">
                  <a:moveTo>
                    <a:pt x="52196" y="0"/>
                  </a:moveTo>
                  <a:lnTo>
                    <a:pt x="1158812" y="0"/>
                  </a:lnTo>
                  <a:cubicBezTo>
                    <a:pt x="1187639" y="0"/>
                    <a:pt x="1211008" y="23369"/>
                    <a:pt x="1211008" y="52196"/>
                  </a:cubicBezTo>
                  <a:lnTo>
                    <a:pt x="1211008" y="253178"/>
                  </a:lnTo>
                  <a:cubicBezTo>
                    <a:pt x="1211008" y="282005"/>
                    <a:pt x="1187639" y="305374"/>
                    <a:pt x="1158812" y="305374"/>
                  </a:cubicBezTo>
                  <a:lnTo>
                    <a:pt x="52196" y="305374"/>
                  </a:lnTo>
                  <a:cubicBezTo>
                    <a:pt x="38353" y="305374"/>
                    <a:pt x="25076" y="299875"/>
                    <a:pt x="15288" y="290086"/>
                  </a:cubicBezTo>
                  <a:cubicBezTo>
                    <a:pt x="5499" y="280297"/>
                    <a:pt x="0" y="267021"/>
                    <a:pt x="0" y="253178"/>
                  </a:cubicBezTo>
                  <a:lnTo>
                    <a:pt x="0" y="52196"/>
                  </a:lnTo>
                  <a:cubicBezTo>
                    <a:pt x="0" y="23369"/>
                    <a:pt x="23369" y="0"/>
                    <a:pt x="52196" y="0"/>
                  </a:cubicBezTo>
                  <a:close/>
                </a:path>
              </a:pathLst>
            </a:custGeom>
            <a:solidFill>
              <a:srgbClr val="22588D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66675"/>
              <a:ext cx="1211008" cy="3720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498082" y="4188293"/>
            <a:ext cx="3289750" cy="3888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1">
                <a:solidFill>
                  <a:srgbClr val="FFFFFF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CURRENT (Amps)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2359304" y="3862560"/>
            <a:ext cx="4598047" cy="1159467"/>
            <a:chOff x="0" y="0"/>
            <a:chExt cx="1211008" cy="30537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11008" cy="305374"/>
            </a:xfrm>
            <a:custGeom>
              <a:avLst/>
              <a:gdLst/>
              <a:ahLst/>
              <a:cxnLst/>
              <a:rect l="l" t="t" r="r" b="b"/>
              <a:pathLst>
                <a:path w="1211008" h="305374">
                  <a:moveTo>
                    <a:pt x="52196" y="0"/>
                  </a:moveTo>
                  <a:lnTo>
                    <a:pt x="1158812" y="0"/>
                  </a:lnTo>
                  <a:cubicBezTo>
                    <a:pt x="1187639" y="0"/>
                    <a:pt x="1211008" y="23369"/>
                    <a:pt x="1211008" y="52196"/>
                  </a:cubicBezTo>
                  <a:lnTo>
                    <a:pt x="1211008" y="253178"/>
                  </a:lnTo>
                  <a:cubicBezTo>
                    <a:pt x="1211008" y="282005"/>
                    <a:pt x="1187639" y="305374"/>
                    <a:pt x="1158812" y="305374"/>
                  </a:cubicBezTo>
                  <a:lnTo>
                    <a:pt x="52196" y="305374"/>
                  </a:lnTo>
                  <a:cubicBezTo>
                    <a:pt x="38353" y="305374"/>
                    <a:pt x="25076" y="299875"/>
                    <a:pt x="15288" y="290086"/>
                  </a:cubicBezTo>
                  <a:cubicBezTo>
                    <a:pt x="5499" y="280297"/>
                    <a:pt x="0" y="267021"/>
                    <a:pt x="0" y="253178"/>
                  </a:cubicBezTo>
                  <a:lnTo>
                    <a:pt x="0" y="52196"/>
                  </a:lnTo>
                  <a:cubicBezTo>
                    <a:pt x="0" y="23369"/>
                    <a:pt x="23369" y="0"/>
                    <a:pt x="52196" y="0"/>
                  </a:cubicBezTo>
                  <a:close/>
                </a:path>
              </a:pathLst>
            </a:custGeom>
            <a:solidFill>
              <a:srgbClr val="22588D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66675"/>
              <a:ext cx="1211008" cy="3720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3013452" y="4188293"/>
            <a:ext cx="3289750" cy="3888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1">
                <a:solidFill>
                  <a:srgbClr val="FFFFFF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POWER (Watts)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699" y="9461499"/>
            <a:ext cx="12700000" cy="374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1300">
                <a:solidFill>
                  <a:srgbClr val="476690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ROBOTICS FUNDAMENTALS • SESSION 01 / 04 • THURSDAY, 10 SEPT 2026</a:t>
            </a:r>
          </a:p>
        </p:txBody>
      </p:sp>
      <p:sp>
        <p:nvSpPr>
          <p:cNvPr id="20" name="IndicationBadge">
            <a:extLst>
              <a:ext uri="{FF2B5EF4-FFF2-40B4-BE49-F238E27FC236}">
                <a16:creationId xmlns:a16="http://schemas.microsoft.com/office/drawing/2014/main" id="{FC0AEE2B-4EA3-5E17-8A24-FB4950E4AE60}"/>
              </a:ext>
            </a:extLst>
          </p:cNvPr>
          <p:cNvSpPr/>
          <p:nvPr/>
        </p:nvSpPr>
        <p:spPr>
          <a:xfrm>
            <a:off x="7045960" y="533400"/>
            <a:ext cx="4196079" cy="355600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2258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25400" rIns="127000" bIns="25400" rtlCol="0" anchor="ctr"/>
          <a:lstStyle/>
          <a:p>
            <a:pPr algn="ctr"/>
            <a:r>
              <a:rPr lang="en-US" sz="1050" b="1">
                <a:solidFill>
                  <a:srgbClr val="22588D"/>
                </a:solidFill>
                <a:latin typeface="Segoe UI Semibold" panose="020B0702040204020203" pitchFamily="34" charset="0"/>
              </a:rPr>
              <a:t>INTUITIVE ANALOGY • 🚰 THE WATER PIPE MODEL</a:t>
            </a:r>
            <a:endParaRPr lang="fr-FR" sz="1050" b="1">
              <a:solidFill>
                <a:srgbClr val="22588D"/>
              </a:solidFill>
              <a:latin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4303386"/>
      </p:ext>
    </p:extLst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7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7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7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27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47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7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9" grpId="0"/>
      <p:bldP spid="10" grpId="0"/>
      <p:bldP spid="11" grpId="0"/>
      <p:bldP spid="15" grpId="0"/>
      <p:bldP spid="19" grpId="0"/>
      <p:bldP spid="2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07159" y="-6035048"/>
            <a:ext cx="10704366" cy="10723864"/>
          </a:xfrm>
          <a:custGeom>
            <a:avLst/>
            <a:gdLst/>
            <a:ahLst/>
            <a:cxnLst/>
            <a:rect l="l" t="t" r="r" b="b"/>
            <a:pathLst>
              <a:path w="10704366" h="10723864">
                <a:moveTo>
                  <a:pt x="0" y="0"/>
                </a:moveTo>
                <a:lnTo>
                  <a:pt x="10704366" y="0"/>
                </a:lnTo>
                <a:lnTo>
                  <a:pt x="10704366" y="10723864"/>
                </a:lnTo>
                <a:lnTo>
                  <a:pt x="0" y="107238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2794000" y="1142999"/>
            <a:ext cx="12700000" cy="918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3800" b="1" u="none" strike="noStrike">
                <a:solidFill>
                  <a:srgbClr val="22588D"/>
                </a:solidFill>
                <a:latin typeface="Segoe UI Semibold" panose="020B0702040204020203" pitchFamily="34" charset="0"/>
                <a:ea typeface="Museo Moderno Bold"/>
                <a:cs typeface="Museo Moderno Bold"/>
                <a:sym typeface="Museo Moderno Bold"/>
              </a:rPr>
              <a:t>The 4-Motor Trap: Why Robots Shut Down on Startup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995747"/>
            <a:ext cx="7334260" cy="1280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• 1 Motor: 12V × 2A = 24 Watts
• 4 Motors: 4 × 24W = 96 Watts
• Beginner buys a '100W' power pack: 'Looks plenty!'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363922"/>
            <a:ext cx="6870825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PAPER CALCULATION (96W)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6072975"/>
            <a:ext cx="5604938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THE COLLAPSE</a:t>
            </a:r>
            <a:endParaRPr lang="en-US" sz="2000" b="1" u="none" strike="noStrike">
              <a:solidFill>
                <a:srgbClr val="22588D"/>
              </a:solidFill>
              <a:latin typeface="Segoe UI Semibold" panose="020B0702040204020203" pitchFamily="34" charset="0"/>
              <a:ea typeface="Poppins Bold"/>
              <a:cs typeface="Poppins Bold"/>
              <a:sym typeface="Poppi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6704800"/>
            <a:ext cx="7334260" cy="8319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The 100W battery pack cannot deliver 480W. Voltage crashes to 8V, and the robot instantly reboots!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5040" y="3995747"/>
            <a:ext cx="7334260" cy="12893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• At 0 RPM, a motor is a direct short circuit!
• Starting draws 5× stall current (10A per motor)!
• 4 Motors × 10A = 40 AMPS (480 Watts) peak burst!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5040" y="3363922"/>
            <a:ext cx="6870825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THE STARTUP SURGE (480W!)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5040" y="6072975"/>
            <a:ext cx="6683482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GOLDEN POWER RULE</a:t>
            </a:r>
            <a:endParaRPr lang="en-US" sz="2000" b="1" u="none" strike="noStrike">
              <a:solidFill>
                <a:srgbClr val="22588D"/>
              </a:solidFill>
              <a:latin typeface="Segoe UI Semibold" panose="020B0702040204020203" pitchFamily="34" charset="0"/>
              <a:ea typeface="Poppins Bold"/>
              <a:cs typeface="Poppins Bold"/>
              <a:sym typeface="Poppi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925040" y="6704800"/>
            <a:ext cx="7334260" cy="8580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Always size batteries, wires, and fuses for PEAK SURGE, never for gentle average cruising speed!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699" y="9461499"/>
            <a:ext cx="12700000" cy="374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1300">
                <a:solidFill>
                  <a:srgbClr val="476690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ROBOTICS FUNDAMENTALS • SESSION 01 / 04 • THURSDAY, 10 SEPT 2026</a:t>
            </a:r>
          </a:p>
        </p:txBody>
      </p:sp>
      <p:sp>
        <p:nvSpPr>
          <p:cNvPr id="12" name="IndicationBadge">
            <a:extLst>
              <a:ext uri="{FF2B5EF4-FFF2-40B4-BE49-F238E27FC236}">
                <a16:creationId xmlns:a16="http://schemas.microsoft.com/office/drawing/2014/main" id="{E275A407-59CA-0531-ADFC-E010C0564DC8}"/>
              </a:ext>
            </a:extLst>
          </p:cNvPr>
          <p:cNvSpPr/>
          <p:nvPr/>
        </p:nvSpPr>
        <p:spPr>
          <a:xfrm>
            <a:off x="7274560" y="533400"/>
            <a:ext cx="3738879" cy="355600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2258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25400" rIns="127000" bIns="25400" rtlCol="0" anchor="ctr"/>
          <a:lstStyle/>
          <a:p>
            <a:pPr algn="ctr"/>
            <a:r>
              <a:rPr lang="en-US" sz="1050" b="1">
                <a:solidFill>
                  <a:srgbClr val="22588D"/>
                </a:solidFill>
                <a:latin typeface="Segoe UI Semibold" panose="020B0702040204020203" pitchFamily="34" charset="0"/>
              </a:rPr>
              <a:t>ELECTRICAL TRAP • ⚠️ THE 4-MOTOR TRAP</a:t>
            </a:r>
            <a:endParaRPr lang="fr-FR" sz="1050" b="1">
              <a:solidFill>
                <a:srgbClr val="22588D"/>
              </a:solidFill>
              <a:latin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9216779"/>
      </p:ext>
    </p:extLst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4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4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14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34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4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74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94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9144000" y="-6504289"/>
            <a:ext cx="10704366" cy="10723864"/>
          </a:xfrm>
          <a:custGeom>
            <a:avLst/>
            <a:gdLst/>
            <a:ahLst/>
            <a:cxnLst/>
            <a:rect l="l" t="t" r="r" b="b"/>
            <a:pathLst>
              <a:path w="10704366" h="10723864">
                <a:moveTo>
                  <a:pt x="10704366" y="10723864"/>
                </a:moveTo>
                <a:lnTo>
                  <a:pt x="0" y="10723864"/>
                </a:lnTo>
                <a:lnTo>
                  <a:pt x="0" y="0"/>
                </a:lnTo>
                <a:lnTo>
                  <a:pt x="10704366" y="0"/>
                </a:lnTo>
                <a:lnTo>
                  <a:pt x="10704366" y="1072386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1735405" y="952499"/>
            <a:ext cx="16256000" cy="918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3800" b="1" u="none" strike="noStrike">
                <a:solidFill>
                  <a:srgbClr val="22588D"/>
                </a:solidFill>
                <a:latin typeface="Segoe UI Semibold" panose="020B0702040204020203" pitchFamily="34" charset="0"/>
                <a:ea typeface="Museo Moderno Bold"/>
                <a:cs typeface="Museo Moderno Bold"/>
                <a:sym typeface="Museo Moderno Bold"/>
              </a:rPr>
              <a:t>Battery Runtime: Why Does 1 Hour Become 38 Mins?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857499"/>
            <a:ext cx="7334260" cy="12893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• Battery: 12V × 10Ah = 120 Watt-Hours (Wh)
• Robot draws: 120 Watts continuous
• Ideal Runtime: 120 Wh ÷ 120 W = 1.0 Hour (60 mins)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285999"/>
            <a:ext cx="7803545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THEORY (Watt-Hours)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5841999"/>
            <a:ext cx="7964281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THE 4 RUNTIME THIEVES</a:t>
            </a:r>
            <a:endParaRPr lang="en-US" sz="2000" b="1" u="none" strike="noStrike">
              <a:solidFill>
                <a:srgbClr val="22588D"/>
              </a:solidFill>
              <a:latin typeface="Segoe UI Semibold" panose="020B0702040204020203" pitchFamily="34" charset="0"/>
              <a:ea typeface="Poppins Bold"/>
              <a:cs typeface="Poppins Bold"/>
              <a:sym typeface="Poppi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6413499"/>
            <a:ext cx="7334260" cy="2178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1. Usable Depth: Discharging lithium below 20% damages cells (lose 20% capacity).
2. Heat Sag: Fast discharge wastes energy as heat.
3. Regulators: DC-DC step-down converters waste 12%.
4. Sensors: LiDAR &amp; Jetson draw steady base power.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5040" y="6296025"/>
            <a:ext cx="7165689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THE 70% DERATING RULE</a:t>
            </a:r>
            <a:endParaRPr lang="en-US" sz="2000" b="1" u="none" strike="noStrike">
              <a:solidFill>
                <a:srgbClr val="22588D"/>
              </a:solidFill>
              <a:latin typeface="Segoe UI Semibold" panose="020B0702040204020203" pitchFamily="34" charset="0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925040" y="6927850"/>
            <a:ext cx="7334260" cy="8319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Always multiply theoretical paper runtime by 0.65× to 0.70× for real mission planning!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925040" y="3127375"/>
            <a:ext cx="7334260" cy="2623185"/>
            <a:chOff x="0" y="0"/>
            <a:chExt cx="1136269" cy="406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36269" cy="406400"/>
            </a:xfrm>
            <a:custGeom>
              <a:avLst/>
              <a:gdLst/>
              <a:ahLst/>
              <a:cxnLst/>
              <a:rect l="l" t="t" r="r" b="b"/>
              <a:pathLst>
                <a:path w="1136269" h="406400">
                  <a:moveTo>
                    <a:pt x="41168" y="0"/>
                  </a:moveTo>
                  <a:lnTo>
                    <a:pt x="1095101" y="0"/>
                  </a:lnTo>
                  <a:cubicBezTo>
                    <a:pt x="1106019" y="0"/>
                    <a:pt x="1116491" y="4337"/>
                    <a:pt x="1124211" y="12058"/>
                  </a:cubicBezTo>
                  <a:cubicBezTo>
                    <a:pt x="1131931" y="19778"/>
                    <a:pt x="1136269" y="30249"/>
                    <a:pt x="1136269" y="41168"/>
                  </a:cubicBezTo>
                  <a:lnTo>
                    <a:pt x="1136269" y="365232"/>
                  </a:lnTo>
                  <a:cubicBezTo>
                    <a:pt x="1136269" y="376151"/>
                    <a:pt x="1131931" y="386622"/>
                    <a:pt x="1124211" y="394342"/>
                  </a:cubicBezTo>
                  <a:cubicBezTo>
                    <a:pt x="1116491" y="402063"/>
                    <a:pt x="1106019" y="406400"/>
                    <a:pt x="1095101" y="406400"/>
                  </a:cubicBezTo>
                  <a:lnTo>
                    <a:pt x="41168" y="406400"/>
                  </a:lnTo>
                  <a:cubicBezTo>
                    <a:pt x="30249" y="406400"/>
                    <a:pt x="19778" y="402063"/>
                    <a:pt x="12058" y="394342"/>
                  </a:cubicBezTo>
                  <a:cubicBezTo>
                    <a:pt x="4337" y="386622"/>
                    <a:pt x="0" y="376151"/>
                    <a:pt x="0" y="365232"/>
                  </a:cubicBezTo>
                  <a:lnTo>
                    <a:pt x="0" y="41168"/>
                  </a:lnTo>
                  <a:cubicBezTo>
                    <a:pt x="0" y="30249"/>
                    <a:pt x="4337" y="19778"/>
                    <a:pt x="12058" y="12058"/>
                  </a:cubicBezTo>
                  <a:cubicBezTo>
                    <a:pt x="19778" y="4337"/>
                    <a:pt x="30249" y="0"/>
                    <a:pt x="41168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171450" cap="rnd">
              <a:solidFill>
                <a:srgbClr val="22588D"/>
              </a:soli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28699" y="9461499"/>
            <a:ext cx="12700000" cy="374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1300">
                <a:solidFill>
                  <a:srgbClr val="476690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ROBOTICS FUNDAMENTALS • SESSION 01 / 04 • THURSDAY, 10 SEPT 2026</a:t>
            </a:r>
          </a:p>
        </p:txBody>
      </p:sp>
      <p:sp>
        <p:nvSpPr>
          <p:cNvPr id="12" name="IndicationBadge">
            <a:extLst>
              <a:ext uri="{FF2B5EF4-FFF2-40B4-BE49-F238E27FC236}">
                <a16:creationId xmlns:a16="http://schemas.microsoft.com/office/drawing/2014/main" id="{1D5A4948-CC9D-1948-D7B3-E81875E41629}"/>
              </a:ext>
            </a:extLst>
          </p:cNvPr>
          <p:cNvSpPr/>
          <p:nvPr/>
        </p:nvSpPr>
        <p:spPr>
          <a:xfrm>
            <a:off x="1028700" y="533400"/>
            <a:ext cx="3647440" cy="355600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2258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25400" rIns="127000" bIns="25400" rtlCol="0" anchor="ctr"/>
          <a:lstStyle/>
          <a:p>
            <a:pPr algn="ctr"/>
            <a:r>
              <a:rPr lang="en-US" sz="1050" b="1">
                <a:solidFill>
                  <a:srgbClr val="22588D"/>
                </a:solidFill>
                <a:latin typeface="Segoe UI Semibold" panose="020B0702040204020203" pitchFamily="34" charset="0"/>
              </a:rPr>
              <a:t>ENERGY MATH • 🔋 BATTERY RUNTIME CALC</a:t>
            </a:r>
            <a:endParaRPr lang="fr-FR" sz="1050" b="1">
              <a:solidFill>
                <a:srgbClr val="22588D"/>
              </a:solidFill>
              <a:latin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8071273"/>
      </p:ext>
    </p:extLst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7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7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7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27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47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7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07159" y="-6035048"/>
            <a:ext cx="10704366" cy="10723864"/>
          </a:xfrm>
          <a:custGeom>
            <a:avLst/>
            <a:gdLst/>
            <a:ahLst/>
            <a:cxnLst/>
            <a:rect l="l" t="t" r="r" b="b"/>
            <a:pathLst>
              <a:path w="10704366" h="10723864">
                <a:moveTo>
                  <a:pt x="0" y="0"/>
                </a:moveTo>
                <a:lnTo>
                  <a:pt x="10704366" y="0"/>
                </a:lnTo>
                <a:lnTo>
                  <a:pt x="10704366" y="10723864"/>
                </a:lnTo>
                <a:lnTo>
                  <a:pt x="0" y="107238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2794000" y="1142999"/>
            <a:ext cx="12700000" cy="918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3800" b="1" u="none" strike="noStrike">
                <a:solidFill>
                  <a:srgbClr val="22588D"/>
                </a:solidFill>
                <a:latin typeface="Segoe UI Semibold" panose="020B0702040204020203" pitchFamily="34" charset="0"/>
                <a:ea typeface="Museo Moderno Bold"/>
                <a:cs typeface="Museo Moderno Bold"/>
                <a:sym typeface="Museo Moderno Bold"/>
              </a:rPr>
              <a:t>The Brownout Mystery: Why Did My Robot Reboot?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995747"/>
            <a:ext cx="7334260" cy="3831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Motors demand high current (30A+) to overcome carpet friction and accelerate.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363922"/>
            <a:ext cx="6870825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1. ACCELERATION BURST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6072975"/>
            <a:ext cx="5604938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3. REGULATOR DROPOUT</a:t>
            </a:r>
            <a:endParaRPr lang="en-US" sz="2000" b="1" u="none" strike="noStrike">
              <a:solidFill>
                <a:srgbClr val="22588D"/>
              </a:solidFill>
              <a:latin typeface="Segoe UI Semibold" panose="020B0702040204020203" pitchFamily="34" charset="0"/>
              <a:ea typeface="Poppins Bold"/>
              <a:cs typeface="Poppins Bold"/>
              <a:sym typeface="Poppi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6704800"/>
            <a:ext cx="7334260" cy="8319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The 5V regulator dips to 4.2V for just 2 milliseconds. Microcontroller triggers reset!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5040" y="3995747"/>
            <a:ext cx="7334260" cy="3831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Battery internal resistance causes terminal voltage to sag from 12V down to 9V.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5040" y="3363922"/>
            <a:ext cx="6870825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2. VOLTAGE DROOPS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5040" y="6072975"/>
            <a:ext cx="6683482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4. HOW TO FIX IT</a:t>
            </a:r>
            <a:endParaRPr lang="en-US" sz="2000" b="1" u="none" strike="noStrike">
              <a:solidFill>
                <a:srgbClr val="22588D"/>
              </a:solidFill>
              <a:latin typeface="Segoe UI Semibold" panose="020B0702040204020203" pitchFamily="34" charset="0"/>
              <a:ea typeface="Poppins Bold"/>
              <a:cs typeface="Poppins Bold"/>
              <a:sym typeface="Poppi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925040" y="6704800"/>
            <a:ext cx="7334260" cy="1324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• Isolate brain power rail from motor rail
• Add 1000 µF bulk capacitor at motor drivers
• Separate signal grounds to prevent noise.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699" y="9461499"/>
            <a:ext cx="12700000" cy="374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1300">
                <a:solidFill>
                  <a:srgbClr val="476690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ROBOTICS FUNDAMENTALS • SESSION 01 / 04 • THURSDAY, 10 SEPT 2026</a:t>
            </a:r>
          </a:p>
        </p:txBody>
      </p:sp>
      <p:sp>
        <p:nvSpPr>
          <p:cNvPr id="12" name="IndicationBadge">
            <a:extLst>
              <a:ext uri="{FF2B5EF4-FFF2-40B4-BE49-F238E27FC236}">
                <a16:creationId xmlns:a16="http://schemas.microsoft.com/office/drawing/2014/main" id="{88C09560-CA09-AE7B-9D21-2DD15DB74D8E}"/>
              </a:ext>
            </a:extLst>
          </p:cNvPr>
          <p:cNvSpPr/>
          <p:nvPr/>
        </p:nvSpPr>
        <p:spPr>
          <a:xfrm>
            <a:off x="7091680" y="533400"/>
            <a:ext cx="4104640" cy="355600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2258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25400" rIns="127000" bIns="25400" rtlCol="0" anchor="ctr"/>
          <a:lstStyle/>
          <a:p>
            <a:pPr algn="ctr"/>
            <a:r>
              <a:rPr lang="en-US" sz="1050" b="1">
                <a:solidFill>
                  <a:srgbClr val="22588D"/>
                </a:solidFill>
                <a:latin typeface="Segoe UI Semibold" panose="020B0702040204020203" pitchFamily="34" charset="0"/>
              </a:rPr>
              <a:t>DETECTIVE STORY • 🕵️ THE BROWNOUT MYSTERY</a:t>
            </a:r>
            <a:endParaRPr lang="fr-FR" sz="1050" b="1">
              <a:solidFill>
                <a:srgbClr val="22588D"/>
              </a:solidFill>
              <a:latin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8416002"/>
      </p:ext>
    </p:extLst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4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4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14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34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4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74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94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744190" y="-4042349"/>
            <a:ext cx="6446938" cy="6458681"/>
          </a:xfrm>
          <a:custGeom>
            <a:avLst/>
            <a:gdLst/>
            <a:ahLst/>
            <a:cxnLst/>
            <a:rect l="l" t="t" r="r" b="b"/>
            <a:pathLst>
              <a:path w="6446938" h="6458681">
                <a:moveTo>
                  <a:pt x="0" y="0"/>
                </a:moveTo>
                <a:lnTo>
                  <a:pt x="6446937" y="0"/>
                </a:lnTo>
                <a:lnTo>
                  <a:pt x="6446937" y="6458681"/>
                </a:lnTo>
                <a:lnTo>
                  <a:pt x="0" y="64586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9703520" y="1954573"/>
            <a:ext cx="11124397" cy="6377854"/>
            <a:chOff x="0" y="0"/>
            <a:chExt cx="888424" cy="5093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88424" cy="509352"/>
            </a:xfrm>
            <a:custGeom>
              <a:avLst/>
              <a:gdLst/>
              <a:ahLst/>
              <a:cxnLst/>
              <a:rect l="l" t="t" r="r" b="b"/>
              <a:pathLst>
                <a:path w="888424" h="509352">
                  <a:moveTo>
                    <a:pt x="685224" y="0"/>
                  </a:moveTo>
                  <a:cubicBezTo>
                    <a:pt x="797454" y="0"/>
                    <a:pt x="888424" y="114015"/>
                    <a:pt x="888424" y="254676"/>
                  </a:cubicBezTo>
                  <a:cubicBezTo>
                    <a:pt x="888424" y="395337"/>
                    <a:pt x="797454" y="509352"/>
                    <a:pt x="685224" y="509352"/>
                  </a:cubicBezTo>
                  <a:lnTo>
                    <a:pt x="203200" y="509352"/>
                  </a:lnTo>
                  <a:cubicBezTo>
                    <a:pt x="90970" y="509352"/>
                    <a:pt x="0" y="395337"/>
                    <a:pt x="0" y="254676"/>
                  </a:cubicBezTo>
                  <a:cubicBezTo>
                    <a:pt x="0" y="114015"/>
                    <a:pt x="90970" y="0"/>
                    <a:pt x="203200" y="0"/>
                  </a:cubicBezTo>
                  <a:lnTo>
                    <a:pt x="685224" y="0"/>
                  </a:lnTo>
                </a:path>
              </a:pathLst>
            </a:custGeom>
            <a:blipFill>
              <a:blip r:embed="rId4"/>
              <a:stretch>
                <a:fillRect/>
              </a:stretch>
            </a:blipFill>
            <a:ln w="171450" cap="sq">
              <a:solidFill>
                <a:srgbClr val="22588D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6" name="Freeform 6"/>
          <p:cNvSpPr/>
          <p:nvPr/>
        </p:nvSpPr>
        <p:spPr>
          <a:xfrm>
            <a:off x="-1080828" y="4476186"/>
            <a:ext cx="6446938" cy="6458681"/>
          </a:xfrm>
          <a:custGeom>
            <a:avLst/>
            <a:gdLst/>
            <a:ahLst/>
            <a:cxnLst/>
            <a:rect l="l" t="t" r="r" b="b"/>
            <a:pathLst>
              <a:path w="6446938" h="6458681">
                <a:moveTo>
                  <a:pt x="0" y="0"/>
                </a:moveTo>
                <a:lnTo>
                  <a:pt x="6446938" y="0"/>
                </a:lnTo>
                <a:lnTo>
                  <a:pt x="6446938" y="6458681"/>
                </a:lnTo>
                <a:lnTo>
                  <a:pt x="0" y="64586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" name="TextBox 7"/>
          <p:cNvSpPr txBox="1"/>
          <p:nvPr/>
        </p:nvSpPr>
        <p:spPr>
          <a:xfrm>
            <a:off x="1028700" y="2286000"/>
            <a:ext cx="8255000" cy="2966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099"/>
              </a:lnSpc>
            </a:pPr>
            <a:r>
              <a:rPr lang="en-US" sz="3800" b="1" u="none" strike="noStrike">
                <a:solidFill>
                  <a:srgbClr val="22588D"/>
                </a:solidFill>
                <a:latin typeface="Segoe UI Semibold" panose="020B0702040204020203" pitchFamily="34" charset="0"/>
                <a:ea typeface="Museo Moderno Bold"/>
                <a:cs typeface="Museo Moderno Bold"/>
                <a:sym typeface="Museo Moderno Bold"/>
              </a:rPr>
              <a:t>PART 05
SOFTWARE &amp;
SIMULATION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5588000"/>
            <a:ext cx="8255000" cy="5168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1900">
                <a:solidFill>
                  <a:srgbClr val="22588D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Software Stacks • Free Tools • Firmware • ROS 2 Architecture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699" y="9461499"/>
            <a:ext cx="12700000" cy="380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1500">
                <a:solidFill>
                  <a:srgbClr val="476690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ROBOTICS FUNDAMENTALS • PART 05 / 06</a:t>
            </a:r>
          </a:p>
        </p:txBody>
      </p:sp>
      <p:sp>
        <p:nvSpPr>
          <p:cNvPr id="5" name="IndicationBadge">
            <a:extLst>
              <a:ext uri="{FF2B5EF4-FFF2-40B4-BE49-F238E27FC236}">
                <a16:creationId xmlns:a16="http://schemas.microsoft.com/office/drawing/2014/main" id="{7402E3F5-4F1E-2B5C-5713-BC9D513DC530}"/>
              </a:ext>
            </a:extLst>
          </p:cNvPr>
          <p:cNvSpPr/>
          <p:nvPr/>
        </p:nvSpPr>
        <p:spPr>
          <a:xfrm>
            <a:off x="1028700" y="533400"/>
            <a:ext cx="3464560" cy="355600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2258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25400" rIns="127000" bIns="25400" rtlCol="0" anchor="ctr"/>
          <a:lstStyle/>
          <a:p>
            <a:pPr algn="ctr"/>
            <a:r>
              <a:rPr lang="fr-FR" sz="1050" b="1">
                <a:solidFill>
                  <a:srgbClr val="22588D"/>
                </a:solidFill>
                <a:latin typeface="Segoe UI Semibold" panose="020B0702040204020203" pitchFamily="34" charset="0"/>
              </a:rPr>
              <a:t>SECTION 05 • SOFTWARE &amp; SIMULATION</a:t>
            </a:r>
          </a:p>
        </p:txBody>
      </p:sp>
    </p:spTree>
    <p:extLst>
      <p:ext uri="{BB962C8B-B14F-4D97-AF65-F5344CB8AC3E}">
        <p14:creationId xmlns:p14="http://schemas.microsoft.com/office/powerpoint/2010/main" val="1773675307"/>
      </p:ext>
    </p:extLst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7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07159" y="-6035048"/>
            <a:ext cx="10704366" cy="10723864"/>
          </a:xfrm>
          <a:custGeom>
            <a:avLst/>
            <a:gdLst/>
            <a:ahLst/>
            <a:cxnLst/>
            <a:rect l="l" t="t" r="r" b="b"/>
            <a:pathLst>
              <a:path w="10704366" h="10723864">
                <a:moveTo>
                  <a:pt x="0" y="0"/>
                </a:moveTo>
                <a:lnTo>
                  <a:pt x="10704366" y="0"/>
                </a:lnTo>
                <a:lnTo>
                  <a:pt x="10704366" y="10723864"/>
                </a:lnTo>
                <a:lnTo>
                  <a:pt x="0" y="107238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2794000" y="1142999"/>
            <a:ext cx="12700000" cy="9066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3400" b="1" u="none" strike="noStrike">
                <a:solidFill>
                  <a:srgbClr val="22588D"/>
                </a:solidFill>
                <a:latin typeface="Segoe UI Semibold" panose="020B0702040204020203" pitchFamily="34" charset="0"/>
                <a:ea typeface="Museo Moderno Bold"/>
                <a:cs typeface="Museo Moderno Bold"/>
                <a:sym typeface="Museo Moderno Bold"/>
              </a:rPr>
              <a:t>The Robot Software Stack: Separation of Layers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995747"/>
            <a:ext cx="7334260" cy="8580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High-level planning: Object detection (YOLO), SLAM mapping, speech recognition, and mission logic.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363922"/>
            <a:ext cx="6870825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AI &amp; AUTONOMY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6072975"/>
            <a:ext cx="5604938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MOTION PLANNING</a:t>
            </a:r>
            <a:endParaRPr lang="en-US" sz="2000" b="1" u="none" strike="noStrike">
              <a:solidFill>
                <a:srgbClr val="22588D"/>
              </a:solidFill>
              <a:latin typeface="Segoe UI Semibold" panose="020B0702040204020203" pitchFamily="34" charset="0"/>
              <a:ea typeface="Poppins Bold"/>
              <a:cs typeface="Poppins Bold"/>
              <a:sym typeface="Poppi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6704800"/>
            <a:ext cx="7334260" cy="8580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Calculates smooth trajectories (Nav2, MoveIt) so arms and wheels move without hitting walls.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5040" y="3995747"/>
            <a:ext cx="7334260" cy="8580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The telephone network: Lets modular software nodes communicate via Publish/Subscribe topics.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5040" y="3363922"/>
            <a:ext cx="6870825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ROS 2 MIDDLEWARE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5040" y="6072975"/>
            <a:ext cx="6683482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EMBEDDED FIRMWARE</a:t>
            </a:r>
            <a:endParaRPr lang="en-US" sz="2000" b="1" u="none" strike="noStrike">
              <a:solidFill>
                <a:srgbClr val="22588D"/>
              </a:solidFill>
              <a:latin typeface="Segoe UI Semibold" panose="020B0702040204020203" pitchFamily="34" charset="0"/>
              <a:ea typeface="Poppins Bold"/>
              <a:cs typeface="Poppins Bold"/>
              <a:sym typeface="Poppi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925040" y="6704800"/>
            <a:ext cx="7334260" cy="8319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Hard real-time C/C++ on microcontroller (STM32/ESP32) reading encoders and pulsing motor PWM pins.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699" y="9461499"/>
            <a:ext cx="12700000" cy="374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1300">
                <a:solidFill>
                  <a:srgbClr val="476690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ROBOTICS FUNDAMENTALS • SESSION 01 / 04 • THURSDAY, 10 SEPT 2026</a:t>
            </a:r>
          </a:p>
        </p:txBody>
      </p:sp>
      <p:pic>
        <p:nvPicPr>
          <p:cNvPr id="14" name="BadgePython">
            <a:extLst>
              <a:ext uri="{FF2B5EF4-FFF2-40B4-BE49-F238E27FC236}">
                <a16:creationId xmlns:a16="http://schemas.microsoft.com/office/drawing/2014/main" id="{51E6296E-131E-85FA-EFF3-067624D3CAFB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4953000"/>
            <a:ext cx="2159000" cy="660400"/>
          </a:xfrm>
          <a:prstGeom prst="rect">
            <a:avLst/>
          </a:prstGeom>
        </p:spPr>
      </p:pic>
      <p:pic>
        <p:nvPicPr>
          <p:cNvPr id="16" name="BadgeROS2">
            <a:extLst>
              <a:ext uri="{FF2B5EF4-FFF2-40B4-BE49-F238E27FC236}">
                <a16:creationId xmlns:a16="http://schemas.microsoft.com/office/drawing/2014/main" id="{C99EDC83-8757-145F-C6EB-48C5737FBB0C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5050" y="4953000"/>
            <a:ext cx="2159000" cy="660400"/>
          </a:xfrm>
          <a:prstGeom prst="rect">
            <a:avLst/>
          </a:prstGeom>
        </p:spPr>
      </p:pic>
      <p:pic>
        <p:nvPicPr>
          <p:cNvPr id="18" name="BadgeCPP">
            <a:extLst>
              <a:ext uri="{FF2B5EF4-FFF2-40B4-BE49-F238E27FC236}">
                <a16:creationId xmlns:a16="http://schemas.microsoft.com/office/drawing/2014/main" id="{2136205A-154E-A737-D0F0-5DAFF10C0186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7620000"/>
            <a:ext cx="2159000" cy="660400"/>
          </a:xfrm>
          <a:prstGeom prst="rect">
            <a:avLst/>
          </a:prstGeom>
        </p:spPr>
      </p:pic>
      <p:pic>
        <p:nvPicPr>
          <p:cNvPr id="20" name="BadgeLinux">
            <a:extLst>
              <a:ext uri="{FF2B5EF4-FFF2-40B4-BE49-F238E27FC236}">
                <a16:creationId xmlns:a16="http://schemas.microsoft.com/office/drawing/2014/main" id="{A5C25827-A353-69B8-186F-89D25C1EDDA6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5050" y="7620000"/>
            <a:ext cx="2159000" cy="660400"/>
          </a:xfrm>
          <a:prstGeom prst="rect">
            <a:avLst/>
          </a:prstGeom>
        </p:spPr>
      </p:pic>
      <p:sp>
        <p:nvSpPr>
          <p:cNvPr id="21" name="IndicationBadge">
            <a:extLst>
              <a:ext uri="{FF2B5EF4-FFF2-40B4-BE49-F238E27FC236}">
                <a16:creationId xmlns:a16="http://schemas.microsoft.com/office/drawing/2014/main" id="{AEF1BE13-6CB4-7A6B-D801-1AD88E024CF5}"/>
              </a:ext>
            </a:extLst>
          </p:cNvPr>
          <p:cNvSpPr/>
          <p:nvPr/>
        </p:nvSpPr>
        <p:spPr>
          <a:xfrm>
            <a:off x="7045960" y="533400"/>
            <a:ext cx="4196079" cy="355600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2258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25400" rIns="127000" bIns="25400" rtlCol="0" anchor="ctr"/>
          <a:lstStyle/>
          <a:p>
            <a:pPr algn="ctr"/>
            <a:r>
              <a:rPr lang="en-US" sz="1050" b="1">
                <a:solidFill>
                  <a:srgbClr val="22588D"/>
                </a:solidFill>
                <a:latin typeface="Segoe UI Semibold" panose="020B0702040204020203" pitchFamily="34" charset="0"/>
              </a:rPr>
              <a:t>SYSTEM LAYERS • 🧠 THE ROBOT SOFTWARE STACK</a:t>
            </a:r>
            <a:endParaRPr lang="fr-FR" sz="1050" b="1">
              <a:solidFill>
                <a:srgbClr val="22588D"/>
              </a:solidFill>
              <a:latin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4372072"/>
      </p:ext>
    </p:extLst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7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7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97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17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37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7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77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97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2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07159" y="-6035048"/>
            <a:ext cx="10704366" cy="10723864"/>
          </a:xfrm>
          <a:custGeom>
            <a:avLst/>
            <a:gdLst/>
            <a:ahLst/>
            <a:cxnLst/>
            <a:rect l="l" t="t" r="r" b="b"/>
            <a:pathLst>
              <a:path w="10704366" h="10723864">
                <a:moveTo>
                  <a:pt x="0" y="0"/>
                </a:moveTo>
                <a:lnTo>
                  <a:pt x="10704366" y="0"/>
                </a:lnTo>
                <a:lnTo>
                  <a:pt x="10704366" y="10723864"/>
                </a:lnTo>
                <a:lnTo>
                  <a:pt x="0" y="107238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2794000" y="1142999"/>
            <a:ext cx="12700000" cy="9066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3400" b="1" u="none" strike="noStrike">
                <a:solidFill>
                  <a:srgbClr val="22588D"/>
                </a:solidFill>
                <a:latin typeface="Segoe UI Semibold" panose="020B0702040204020203" pitchFamily="34" charset="0"/>
                <a:ea typeface="Museo Moderno Bold"/>
                <a:cs typeface="Museo Moderno Bold"/>
                <a:sym typeface="Museo Moderno Bold"/>
              </a:rPr>
              <a:t>Your Free Robotics Starter Kit (Zero License Cost!)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995747"/>
            <a:ext cx="7334260" cy="8580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Autodesk Fusion (Free Hobbyist) or FreeCAD. Model parts, check clearances, and export 3D STL files.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363922"/>
            <a:ext cx="6870825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3D CAD MODELING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6072975"/>
            <a:ext cx="5604938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PHYSICS SIMULATION</a:t>
            </a:r>
            <a:endParaRPr lang="en-US" sz="2000" b="1" u="none" strike="noStrike">
              <a:solidFill>
                <a:srgbClr val="22588D"/>
              </a:solidFill>
              <a:latin typeface="Segoe UI Semibold" panose="020B0702040204020203" pitchFamily="34" charset="0"/>
              <a:ea typeface="Poppins Bold"/>
              <a:cs typeface="Poppins Bold"/>
              <a:sym typeface="Poppi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6704800"/>
            <a:ext cx="7334260" cy="8319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Webots or Gazebo. Test navigation and obstacle avoidance in 3D worlds without paying for broken hardware!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5040" y="3995747"/>
            <a:ext cx="7334260" cy="8580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KiCad (100% Free &amp; Open-Source). Draw schematics and route real motor driver boards without paywalls.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5040" y="3363922"/>
            <a:ext cx="6870825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CIRCUITS &amp; PCBS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5040" y="6072975"/>
            <a:ext cx="6683482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ROBOT MIDDLEWARE</a:t>
            </a:r>
            <a:endParaRPr lang="en-US" sz="2000" b="1" u="none" strike="noStrike">
              <a:solidFill>
                <a:srgbClr val="22588D"/>
              </a:solidFill>
              <a:latin typeface="Segoe UI Semibold" panose="020B0702040204020203" pitchFamily="34" charset="0"/>
              <a:ea typeface="Poppins Bold"/>
              <a:cs typeface="Poppins Bold"/>
              <a:sym typeface="Poppi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925040" y="6704800"/>
            <a:ext cx="7334260" cy="8580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ROS 2 (Humble / Jazzy). The industry framework used by NASA and autonomous car companies.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699" y="9461499"/>
            <a:ext cx="12700000" cy="374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1300">
                <a:solidFill>
                  <a:srgbClr val="476690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ROBOTICS FUNDAMENTALS • SESSION 01 / 04 • THURSDAY, 10 SEPT 2026</a:t>
            </a:r>
          </a:p>
        </p:txBody>
      </p:sp>
      <p:pic>
        <p:nvPicPr>
          <p:cNvPr id="14" name="BadgeFusion">
            <a:extLst>
              <a:ext uri="{FF2B5EF4-FFF2-40B4-BE49-F238E27FC236}">
                <a16:creationId xmlns:a16="http://schemas.microsoft.com/office/drawing/2014/main" id="{812D3AE8-DBB7-4E9B-ED7B-8E70F8035B43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4953000"/>
            <a:ext cx="2159000" cy="660400"/>
          </a:xfrm>
          <a:prstGeom prst="rect">
            <a:avLst/>
          </a:prstGeom>
        </p:spPr>
      </p:pic>
      <p:pic>
        <p:nvPicPr>
          <p:cNvPr id="16" name="BadgeKiCad">
            <a:extLst>
              <a:ext uri="{FF2B5EF4-FFF2-40B4-BE49-F238E27FC236}">
                <a16:creationId xmlns:a16="http://schemas.microsoft.com/office/drawing/2014/main" id="{B85C8E0B-C145-FB35-D3D8-D830EA908312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5050" y="4953000"/>
            <a:ext cx="2159000" cy="660400"/>
          </a:xfrm>
          <a:prstGeom prst="rect">
            <a:avLst/>
          </a:prstGeom>
        </p:spPr>
      </p:pic>
      <p:pic>
        <p:nvPicPr>
          <p:cNvPr id="18" name="BadgeGazebo">
            <a:extLst>
              <a:ext uri="{FF2B5EF4-FFF2-40B4-BE49-F238E27FC236}">
                <a16:creationId xmlns:a16="http://schemas.microsoft.com/office/drawing/2014/main" id="{C3896B71-E2C5-1B2D-502C-FB3E1F334F78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7620000"/>
            <a:ext cx="2159000" cy="660400"/>
          </a:xfrm>
          <a:prstGeom prst="rect">
            <a:avLst/>
          </a:prstGeom>
        </p:spPr>
      </p:pic>
      <p:pic>
        <p:nvPicPr>
          <p:cNvPr id="20" name="BadgeArduino">
            <a:extLst>
              <a:ext uri="{FF2B5EF4-FFF2-40B4-BE49-F238E27FC236}">
                <a16:creationId xmlns:a16="http://schemas.microsoft.com/office/drawing/2014/main" id="{DC9D3D22-5C9F-7EA9-C64F-9A4CCBD35EB2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5050" y="7620000"/>
            <a:ext cx="2159000" cy="660400"/>
          </a:xfrm>
          <a:prstGeom prst="rect">
            <a:avLst/>
          </a:prstGeom>
        </p:spPr>
      </p:pic>
      <p:sp>
        <p:nvSpPr>
          <p:cNvPr id="21" name="IndicationBadge">
            <a:extLst>
              <a:ext uri="{FF2B5EF4-FFF2-40B4-BE49-F238E27FC236}">
                <a16:creationId xmlns:a16="http://schemas.microsoft.com/office/drawing/2014/main" id="{DB45CD92-5F48-5802-AA2C-D026FFE6CC03}"/>
              </a:ext>
            </a:extLst>
          </p:cNvPr>
          <p:cNvSpPr/>
          <p:nvPr/>
        </p:nvSpPr>
        <p:spPr>
          <a:xfrm>
            <a:off x="7183120" y="533400"/>
            <a:ext cx="3921760" cy="355600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2258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25400" rIns="127000" bIns="25400" rtlCol="0" anchor="ctr"/>
          <a:lstStyle/>
          <a:p>
            <a:pPr algn="ctr"/>
            <a:r>
              <a:rPr lang="en-US" sz="1050" b="1">
                <a:solidFill>
                  <a:srgbClr val="22588D"/>
                </a:solidFill>
                <a:latin typeface="Segoe UI Semibold" panose="020B0702040204020203" pitchFamily="34" charset="0"/>
              </a:rPr>
              <a:t>OPEN SOURCE TOOLS • 🛠️ FREE STARTER KIT</a:t>
            </a:r>
            <a:endParaRPr lang="fr-FR" sz="1050" b="1">
              <a:solidFill>
                <a:srgbClr val="22588D"/>
              </a:solidFill>
              <a:latin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235620"/>
      </p:ext>
    </p:extLst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7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7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97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17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37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7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77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97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2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4775670" y="-6094246"/>
            <a:ext cx="10704366" cy="10723864"/>
          </a:xfrm>
          <a:custGeom>
            <a:avLst/>
            <a:gdLst/>
            <a:ahLst/>
            <a:cxnLst/>
            <a:rect l="l" t="t" r="r" b="b"/>
            <a:pathLst>
              <a:path w="10704366" h="10723864">
                <a:moveTo>
                  <a:pt x="10704366" y="0"/>
                </a:moveTo>
                <a:lnTo>
                  <a:pt x="0" y="0"/>
                </a:lnTo>
                <a:lnTo>
                  <a:pt x="0" y="10723864"/>
                </a:lnTo>
                <a:lnTo>
                  <a:pt x="10704366" y="10723864"/>
                </a:lnTo>
                <a:lnTo>
                  <a:pt x="1070436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 flipH="1">
            <a:off x="11605167" y="1699435"/>
            <a:ext cx="10704366" cy="10723864"/>
          </a:xfrm>
          <a:custGeom>
            <a:avLst/>
            <a:gdLst/>
            <a:ahLst/>
            <a:cxnLst/>
            <a:rect l="l" t="t" r="r" b="b"/>
            <a:pathLst>
              <a:path w="10704366" h="10723864">
                <a:moveTo>
                  <a:pt x="10704366" y="0"/>
                </a:moveTo>
                <a:lnTo>
                  <a:pt x="0" y="0"/>
                </a:lnTo>
                <a:lnTo>
                  <a:pt x="0" y="10723864"/>
                </a:lnTo>
                <a:lnTo>
                  <a:pt x="10704366" y="10723864"/>
                </a:lnTo>
                <a:lnTo>
                  <a:pt x="1070436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TextBox 4"/>
          <p:cNvSpPr txBox="1"/>
          <p:nvPr/>
        </p:nvSpPr>
        <p:spPr>
          <a:xfrm>
            <a:off x="2794000" y="1206499"/>
            <a:ext cx="12700000" cy="9066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3400" b="1" u="none" strike="noStrike">
                <a:solidFill>
                  <a:srgbClr val="22588D"/>
                </a:solidFill>
                <a:latin typeface="Segoe UI Semibold" panose="020B0702040204020203" pitchFamily="34" charset="0"/>
                <a:ea typeface="Museo Moderno Bold"/>
                <a:cs typeface="Museo Moderno Bold"/>
                <a:sym typeface="Museo Moderno Bold"/>
              </a:rPr>
              <a:t>The Rookie Trap: Don't Confuse CAD, Sim &amp; Reality!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336883" y="3862560"/>
            <a:ext cx="4598047" cy="1159467"/>
            <a:chOff x="0" y="0"/>
            <a:chExt cx="1211008" cy="30537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11008" cy="305374"/>
            </a:xfrm>
            <a:custGeom>
              <a:avLst/>
              <a:gdLst/>
              <a:ahLst/>
              <a:cxnLst/>
              <a:rect l="l" t="t" r="r" b="b"/>
              <a:pathLst>
                <a:path w="1211008" h="305374">
                  <a:moveTo>
                    <a:pt x="52196" y="0"/>
                  </a:moveTo>
                  <a:lnTo>
                    <a:pt x="1158812" y="0"/>
                  </a:lnTo>
                  <a:cubicBezTo>
                    <a:pt x="1187639" y="0"/>
                    <a:pt x="1211008" y="23369"/>
                    <a:pt x="1211008" y="52196"/>
                  </a:cubicBezTo>
                  <a:lnTo>
                    <a:pt x="1211008" y="253178"/>
                  </a:lnTo>
                  <a:cubicBezTo>
                    <a:pt x="1211008" y="282005"/>
                    <a:pt x="1187639" y="305374"/>
                    <a:pt x="1158812" y="305374"/>
                  </a:cubicBezTo>
                  <a:lnTo>
                    <a:pt x="52196" y="305374"/>
                  </a:lnTo>
                  <a:cubicBezTo>
                    <a:pt x="38353" y="305374"/>
                    <a:pt x="25076" y="299875"/>
                    <a:pt x="15288" y="290086"/>
                  </a:cubicBezTo>
                  <a:cubicBezTo>
                    <a:pt x="5499" y="280297"/>
                    <a:pt x="0" y="267021"/>
                    <a:pt x="0" y="253178"/>
                  </a:cubicBezTo>
                  <a:lnTo>
                    <a:pt x="0" y="52196"/>
                  </a:lnTo>
                  <a:cubicBezTo>
                    <a:pt x="0" y="23369"/>
                    <a:pt x="23369" y="0"/>
                    <a:pt x="52196" y="0"/>
                  </a:cubicBezTo>
                  <a:close/>
                </a:path>
              </a:pathLst>
            </a:custGeom>
            <a:solidFill>
              <a:srgbClr val="22588D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1211008" cy="3720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991031" y="4188293"/>
            <a:ext cx="3289750" cy="3888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1">
                <a:solidFill>
                  <a:srgbClr val="FFFFFF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IN CAD DESIGN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30650" y="5312826"/>
            <a:ext cx="4598047" cy="17381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• The ideal fantasy world
• Zero friction &amp; infinite stiffness
• Perfect zero-clearance bearings
• Ambient temperature: 20.00°C!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43934" y="5312826"/>
            <a:ext cx="4598047" cy="17296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• Physics is simulated
• Friction is just an estimated number
• ⚠️ Wheels never get dust or wires caught around axles!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355729" y="5312826"/>
            <a:ext cx="4598047" cy="17296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• Screws vibrate loose
• Batteries sag under load
• Carpet has 3× more friction than tile
• Real physical floor truth!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843934" y="3862560"/>
            <a:ext cx="4598047" cy="1159467"/>
            <a:chOff x="0" y="0"/>
            <a:chExt cx="1211008" cy="30537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11008" cy="305374"/>
            </a:xfrm>
            <a:custGeom>
              <a:avLst/>
              <a:gdLst/>
              <a:ahLst/>
              <a:cxnLst/>
              <a:rect l="l" t="t" r="r" b="b"/>
              <a:pathLst>
                <a:path w="1211008" h="305374">
                  <a:moveTo>
                    <a:pt x="52196" y="0"/>
                  </a:moveTo>
                  <a:lnTo>
                    <a:pt x="1158812" y="0"/>
                  </a:lnTo>
                  <a:cubicBezTo>
                    <a:pt x="1187639" y="0"/>
                    <a:pt x="1211008" y="23369"/>
                    <a:pt x="1211008" y="52196"/>
                  </a:cubicBezTo>
                  <a:lnTo>
                    <a:pt x="1211008" y="253178"/>
                  </a:lnTo>
                  <a:cubicBezTo>
                    <a:pt x="1211008" y="282005"/>
                    <a:pt x="1187639" y="305374"/>
                    <a:pt x="1158812" y="305374"/>
                  </a:cubicBezTo>
                  <a:lnTo>
                    <a:pt x="52196" y="305374"/>
                  </a:lnTo>
                  <a:cubicBezTo>
                    <a:pt x="38353" y="305374"/>
                    <a:pt x="25076" y="299875"/>
                    <a:pt x="15288" y="290086"/>
                  </a:cubicBezTo>
                  <a:cubicBezTo>
                    <a:pt x="5499" y="280297"/>
                    <a:pt x="0" y="267021"/>
                    <a:pt x="0" y="253178"/>
                  </a:cubicBezTo>
                  <a:lnTo>
                    <a:pt x="0" y="52196"/>
                  </a:lnTo>
                  <a:cubicBezTo>
                    <a:pt x="0" y="23369"/>
                    <a:pt x="23369" y="0"/>
                    <a:pt x="52196" y="0"/>
                  </a:cubicBezTo>
                  <a:close/>
                </a:path>
              </a:pathLst>
            </a:custGeom>
            <a:solidFill>
              <a:srgbClr val="22588D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66675"/>
              <a:ext cx="1211008" cy="3720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498082" y="4188293"/>
            <a:ext cx="3289750" cy="3888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1">
                <a:solidFill>
                  <a:srgbClr val="FFFFFF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IN SIMULATION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2359304" y="3862560"/>
            <a:ext cx="4598047" cy="1159467"/>
            <a:chOff x="0" y="0"/>
            <a:chExt cx="1211008" cy="30537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11008" cy="305374"/>
            </a:xfrm>
            <a:custGeom>
              <a:avLst/>
              <a:gdLst/>
              <a:ahLst/>
              <a:cxnLst/>
              <a:rect l="l" t="t" r="r" b="b"/>
              <a:pathLst>
                <a:path w="1211008" h="305374">
                  <a:moveTo>
                    <a:pt x="52196" y="0"/>
                  </a:moveTo>
                  <a:lnTo>
                    <a:pt x="1158812" y="0"/>
                  </a:lnTo>
                  <a:cubicBezTo>
                    <a:pt x="1187639" y="0"/>
                    <a:pt x="1211008" y="23369"/>
                    <a:pt x="1211008" y="52196"/>
                  </a:cubicBezTo>
                  <a:lnTo>
                    <a:pt x="1211008" y="253178"/>
                  </a:lnTo>
                  <a:cubicBezTo>
                    <a:pt x="1211008" y="282005"/>
                    <a:pt x="1187639" y="305374"/>
                    <a:pt x="1158812" y="305374"/>
                  </a:cubicBezTo>
                  <a:lnTo>
                    <a:pt x="52196" y="305374"/>
                  </a:lnTo>
                  <a:cubicBezTo>
                    <a:pt x="38353" y="305374"/>
                    <a:pt x="25076" y="299875"/>
                    <a:pt x="15288" y="290086"/>
                  </a:cubicBezTo>
                  <a:cubicBezTo>
                    <a:pt x="5499" y="280297"/>
                    <a:pt x="0" y="267021"/>
                    <a:pt x="0" y="253178"/>
                  </a:cubicBezTo>
                  <a:lnTo>
                    <a:pt x="0" y="52196"/>
                  </a:lnTo>
                  <a:cubicBezTo>
                    <a:pt x="0" y="23369"/>
                    <a:pt x="23369" y="0"/>
                    <a:pt x="52196" y="0"/>
                  </a:cubicBezTo>
                  <a:close/>
                </a:path>
              </a:pathLst>
            </a:custGeom>
            <a:solidFill>
              <a:srgbClr val="22588D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66675"/>
              <a:ext cx="1211008" cy="3720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3013452" y="4188293"/>
            <a:ext cx="3289750" cy="3888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1">
                <a:solidFill>
                  <a:srgbClr val="FFFFFF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IN REALITY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699" y="9461499"/>
            <a:ext cx="12700000" cy="374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1300">
                <a:solidFill>
                  <a:srgbClr val="476690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ROBOTICS FUNDAMENTALS • SESSION 01 / 04 • THURSDAY, 10 SEPT 2026</a:t>
            </a:r>
          </a:p>
        </p:txBody>
      </p:sp>
      <p:sp>
        <p:nvSpPr>
          <p:cNvPr id="20" name="IndicationBadge">
            <a:extLst>
              <a:ext uri="{FF2B5EF4-FFF2-40B4-BE49-F238E27FC236}">
                <a16:creationId xmlns:a16="http://schemas.microsoft.com/office/drawing/2014/main" id="{CBDF2268-AC26-B03C-DE2E-93C153A03F11}"/>
              </a:ext>
            </a:extLst>
          </p:cNvPr>
          <p:cNvSpPr/>
          <p:nvPr/>
        </p:nvSpPr>
        <p:spPr>
          <a:xfrm>
            <a:off x="7228840" y="533400"/>
            <a:ext cx="3830321" cy="355600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2258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25400" rIns="127000" bIns="25400" rtlCol="0" anchor="ctr"/>
          <a:lstStyle/>
          <a:p>
            <a:pPr algn="ctr"/>
            <a:r>
              <a:rPr lang="fr-FR" sz="1050" b="1">
                <a:solidFill>
                  <a:srgbClr val="22588D"/>
                </a:solidFill>
                <a:latin typeface="Segoe UI Semibold" panose="020B0702040204020203" pitchFamily="34" charset="0"/>
              </a:rPr>
              <a:t>ROOKIE TRAP • ⚠️ CAD VS SIM VS REALITY</a:t>
            </a:r>
          </a:p>
        </p:txBody>
      </p:sp>
    </p:spTree>
    <p:extLst>
      <p:ext uri="{BB962C8B-B14F-4D97-AF65-F5344CB8AC3E}">
        <p14:creationId xmlns:p14="http://schemas.microsoft.com/office/powerpoint/2010/main" val="4092124609"/>
      </p:ext>
    </p:extLst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7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7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7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27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47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7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9" grpId="0"/>
      <p:bldP spid="10" grpId="0"/>
      <p:bldP spid="11" grpId="0"/>
      <p:bldP spid="15" grpId="0"/>
      <p:bldP spid="19" grpId="0"/>
      <p:bldP spid="2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744190" y="-4042349"/>
            <a:ext cx="6446938" cy="6458681"/>
          </a:xfrm>
          <a:custGeom>
            <a:avLst/>
            <a:gdLst/>
            <a:ahLst/>
            <a:cxnLst/>
            <a:rect l="l" t="t" r="r" b="b"/>
            <a:pathLst>
              <a:path w="6446938" h="6458681">
                <a:moveTo>
                  <a:pt x="0" y="0"/>
                </a:moveTo>
                <a:lnTo>
                  <a:pt x="6446937" y="0"/>
                </a:lnTo>
                <a:lnTo>
                  <a:pt x="6446937" y="6458681"/>
                </a:lnTo>
                <a:lnTo>
                  <a:pt x="0" y="64586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9703520" y="1954573"/>
            <a:ext cx="11124397" cy="6377854"/>
            <a:chOff x="0" y="0"/>
            <a:chExt cx="888424" cy="5093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88424" cy="509352"/>
            </a:xfrm>
            <a:custGeom>
              <a:avLst/>
              <a:gdLst/>
              <a:ahLst/>
              <a:cxnLst/>
              <a:rect l="l" t="t" r="r" b="b"/>
              <a:pathLst>
                <a:path w="888424" h="509352">
                  <a:moveTo>
                    <a:pt x="685224" y="0"/>
                  </a:moveTo>
                  <a:cubicBezTo>
                    <a:pt x="797454" y="0"/>
                    <a:pt x="888424" y="114015"/>
                    <a:pt x="888424" y="254676"/>
                  </a:cubicBezTo>
                  <a:cubicBezTo>
                    <a:pt x="888424" y="395337"/>
                    <a:pt x="797454" y="509352"/>
                    <a:pt x="685224" y="509352"/>
                  </a:cubicBezTo>
                  <a:lnTo>
                    <a:pt x="203200" y="509352"/>
                  </a:lnTo>
                  <a:cubicBezTo>
                    <a:pt x="90970" y="509352"/>
                    <a:pt x="0" y="395337"/>
                    <a:pt x="0" y="254676"/>
                  </a:cubicBezTo>
                  <a:cubicBezTo>
                    <a:pt x="0" y="114015"/>
                    <a:pt x="90970" y="0"/>
                    <a:pt x="203200" y="0"/>
                  </a:cubicBezTo>
                  <a:lnTo>
                    <a:pt x="685224" y="0"/>
                  </a:lnTo>
                </a:path>
              </a:pathLst>
            </a:custGeom>
            <a:blipFill>
              <a:blip r:embed="rId4"/>
              <a:stretch>
                <a:fillRect/>
              </a:stretch>
            </a:blipFill>
            <a:ln w="171450" cap="sq">
              <a:solidFill>
                <a:srgbClr val="22588D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6" name="Freeform 6"/>
          <p:cNvSpPr/>
          <p:nvPr/>
        </p:nvSpPr>
        <p:spPr>
          <a:xfrm>
            <a:off x="-1080828" y="4476186"/>
            <a:ext cx="6446938" cy="6458681"/>
          </a:xfrm>
          <a:custGeom>
            <a:avLst/>
            <a:gdLst/>
            <a:ahLst/>
            <a:cxnLst/>
            <a:rect l="l" t="t" r="r" b="b"/>
            <a:pathLst>
              <a:path w="6446938" h="6458681">
                <a:moveTo>
                  <a:pt x="0" y="0"/>
                </a:moveTo>
                <a:lnTo>
                  <a:pt x="6446938" y="0"/>
                </a:lnTo>
                <a:lnTo>
                  <a:pt x="6446938" y="6458681"/>
                </a:lnTo>
                <a:lnTo>
                  <a:pt x="0" y="64586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" name="TextBox 7"/>
          <p:cNvSpPr txBox="1"/>
          <p:nvPr/>
        </p:nvSpPr>
        <p:spPr>
          <a:xfrm>
            <a:off x="1028700" y="2286000"/>
            <a:ext cx="8255000" cy="2966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099"/>
              </a:lnSpc>
            </a:pPr>
            <a:r>
              <a:rPr lang="en-US" sz="3800" b="1" u="none" strike="noStrike">
                <a:solidFill>
                  <a:srgbClr val="22588D"/>
                </a:solidFill>
                <a:latin typeface="Segoe UI Semibold" panose="020B0702040204020203" pitchFamily="34" charset="0"/>
                <a:ea typeface="Museo Moderno Bold"/>
                <a:cs typeface="Museo Moderno Bold"/>
                <a:sym typeface="Museo Moderno Bold"/>
              </a:rPr>
              <a:t>PART 06
FROM IDEA TO
WORKING ROBOT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5588000"/>
            <a:ext cx="8255000" cy="5168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1900">
                <a:solidFill>
                  <a:srgbClr val="22588D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The Engineering Loop • Why Prototypes Fail • The Capstone Challenge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699" y="9461499"/>
            <a:ext cx="12700000" cy="380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1500">
                <a:solidFill>
                  <a:srgbClr val="476690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ROBOTICS FUNDAMENTALS • PART 06 / 06</a:t>
            </a:r>
          </a:p>
        </p:txBody>
      </p:sp>
      <p:sp>
        <p:nvSpPr>
          <p:cNvPr id="5" name="IndicationBadge">
            <a:extLst>
              <a:ext uri="{FF2B5EF4-FFF2-40B4-BE49-F238E27FC236}">
                <a16:creationId xmlns:a16="http://schemas.microsoft.com/office/drawing/2014/main" id="{59BCD81A-FCA1-56F8-AD97-7F3072DB4FE2}"/>
              </a:ext>
            </a:extLst>
          </p:cNvPr>
          <p:cNvSpPr/>
          <p:nvPr/>
        </p:nvSpPr>
        <p:spPr>
          <a:xfrm>
            <a:off x="1028700" y="533400"/>
            <a:ext cx="3921760" cy="355600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2258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25400" rIns="127000" bIns="25400" rtlCol="0" anchor="ctr"/>
          <a:lstStyle/>
          <a:p>
            <a:pPr algn="ctr"/>
            <a:r>
              <a:rPr lang="en-US" sz="1050" b="1">
                <a:solidFill>
                  <a:srgbClr val="22588D"/>
                </a:solidFill>
                <a:latin typeface="Segoe UI Semibold" panose="020B0702040204020203" pitchFamily="34" charset="0"/>
              </a:rPr>
              <a:t>SECTION 06 • FROM IDEA TO WORKING ROBOT</a:t>
            </a:r>
            <a:endParaRPr lang="fr-FR" sz="1050" b="1">
              <a:solidFill>
                <a:srgbClr val="22588D"/>
              </a:solidFill>
              <a:latin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4259517"/>
      </p:ext>
    </p:extLst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7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5045241" y="-6586096"/>
            <a:ext cx="10704366" cy="10723864"/>
          </a:xfrm>
          <a:custGeom>
            <a:avLst/>
            <a:gdLst/>
            <a:ahLst/>
            <a:cxnLst/>
            <a:rect l="l" t="t" r="r" b="b"/>
            <a:pathLst>
              <a:path w="10704366" h="10723864">
                <a:moveTo>
                  <a:pt x="10704366" y="0"/>
                </a:moveTo>
                <a:lnTo>
                  <a:pt x="0" y="0"/>
                </a:lnTo>
                <a:lnTo>
                  <a:pt x="0" y="10723864"/>
                </a:lnTo>
                <a:lnTo>
                  <a:pt x="10704366" y="10723864"/>
                </a:lnTo>
                <a:lnTo>
                  <a:pt x="1070436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 flipH="1">
            <a:off x="11335596" y="1207585"/>
            <a:ext cx="10704366" cy="10723864"/>
          </a:xfrm>
          <a:custGeom>
            <a:avLst/>
            <a:gdLst/>
            <a:ahLst/>
            <a:cxnLst/>
            <a:rect l="l" t="t" r="r" b="b"/>
            <a:pathLst>
              <a:path w="10704366" h="10723864">
                <a:moveTo>
                  <a:pt x="10704366" y="0"/>
                </a:moveTo>
                <a:lnTo>
                  <a:pt x="0" y="0"/>
                </a:lnTo>
                <a:lnTo>
                  <a:pt x="0" y="10723864"/>
                </a:lnTo>
                <a:lnTo>
                  <a:pt x="10704366" y="10723864"/>
                </a:lnTo>
                <a:lnTo>
                  <a:pt x="1070436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TextBox 4"/>
          <p:cNvSpPr txBox="1"/>
          <p:nvPr/>
        </p:nvSpPr>
        <p:spPr>
          <a:xfrm>
            <a:off x="3072296" y="2091652"/>
            <a:ext cx="12143409" cy="9240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4000" b="1">
                <a:solidFill>
                  <a:srgbClr val="22588D"/>
                </a:solidFill>
                <a:latin typeface="Segoe UI Semibold" panose="020B0702040204020203" pitchFamily="34" charset="0"/>
                <a:ea typeface="Museo Moderno Bold"/>
                <a:cs typeface="Museo Moderno Bold"/>
                <a:sym typeface="Museo Moderno Bold"/>
              </a:rPr>
              <a:t>The Real Engineering Loop: Failure is Step 5!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3614760" y="3872827"/>
            <a:ext cx="4882600" cy="879493"/>
            <a:chOff x="0" y="0"/>
            <a:chExt cx="1285952" cy="23163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5952" cy="231636"/>
            </a:xfrm>
            <a:custGeom>
              <a:avLst/>
              <a:gdLst/>
              <a:ahLst/>
              <a:cxnLst/>
              <a:rect l="l" t="t" r="r" b="b"/>
              <a:pathLst>
                <a:path w="1285952" h="231636">
                  <a:moveTo>
                    <a:pt x="80866" y="0"/>
                  </a:moveTo>
                  <a:lnTo>
                    <a:pt x="1205086" y="0"/>
                  </a:lnTo>
                  <a:cubicBezTo>
                    <a:pt x="1226533" y="0"/>
                    <a:pt x="1247102" y="8520"/>
                    <a:pt x="1262267" y="23685"/>
                  </a:cubicBezTo>
                  <a:cubicBezTo>
                    <a:pt x="1277433" y="38851"/>
                    <a:pt x="1285952" y="59419"/>
                    <a:pt x="1285952" y="80866"/>
                  </a:cubicBezTo>
                  <a:lnTo>
                    <a:pt x="1285952" y="150770"/>
                  </a:lnTo>
                  <a:cubicBezTo>
                    <a:pt x="1285952" y="195431"/>
                    <a:pt x="1249747" y="231636"/>
                    <a:pt x="1205086" y="231636"/>
                  </a:cubicBezTo>
                  <a:lnTo>
                    <a:pt x="80866" y="231636"/>
                  </a:lnTo>
                  <a:cubicBezTo>
                    <a:pt x="36205" y="231636"/>
                    <a:pt x="0" y="195431"/>
                    <a:pt x="0" y="150770"/>
                  </a:cubicBezTo>
                  <a:lnTo>
                    <a:pt x="0" y="80866"/>
                  </a:lnTo>
                  <a:cubicBezTo>
                    <a:pt x="0" y="36205"/>
                    <a:pt x="36205" y="0"/>
                    <a:pt x="80866" y="0"/>
                  </a:cubicBezTo>
                  <a:close/>
                </a:path>
              </a:pathLst>
            </a:custGeom>
            <a:solidFill>
              <a:srgbClr val="22588D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1285952" cy="298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266703" y="4058573"/>
            <a:ext cx="3578715" cy="8377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1">
                <a:solidFill>
                  <a:srgbClr val="22588D"/>
                </a:solidFill>
                <a:latin typeface="Segoe UI Semibold" panose="020B0702040204020203" pitchFamily="34" charset="0"/>
                <a:ea typeface="Poppins"/>
                <a:cs typeface="Poppins"/>
                <a:sym typeface="Poppins"/>
              </a:rPr>
              <a:t>1. DEFINE: Specs, reach, payload, and budget limit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790639" y="3872827"/>
            <a:ext cx="4882600" cy="879493"/>
            <a:chOff x="0" y="0"/>
            <a:chExt cx="1285952" cy="23163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85952" cy="231636"/>
            </a:xfrm>
            <a:custGeom>
              <a:avLst/>
              <a:gdLst/>
              <a:ahLst/>
              <a:cxnLst/>
              <a:rect l="l" t="t" r="r" b="b"/>
              <a:pathLst>
                <a:path w="1285952" h="231636">
                  <a:moveTo>
                    <a:pt x="80866" y="0"/>
                  </a:moveTo>
                  <a:lnTo>
                    <a:pt x="1205086" y="0"/>
                  </a:lnTo>
                  <a:cubicBezTo>
                    <a:pt x="1226533" y="0"/>
                    <a:pt x="1247102" y="8520"/>
                    <a:pt x="1262267" y="23685"/>
                  </a:cubicBezTo>
                  <a:cubicBezTo>
                    <a:pt x="1277433" y="38851"/>
                    <a:pt x="1285952" y="59419"/>
                    <a:pt x="1285952" y="80866"/>
                  </a:cubicBezTo>
                  <a:lnTo>
                    <a:pt x="1285952" y="150770"/>
                  </a:lnTo>
                  <a:cubicBezTo>
                    <a:pt x="1285952" y="195431"/>
                    <a:pt x="1249747" y="231636"/>
                    <a:pt x="1205086" y="231636"/>
                  </a:cubicBezTo>
                  <a:lnTo>
                    <a:pt x="80866" y="231636"/>
                  </a:lnTo>
                  <a:cubicBezTo>
                    <a:pt x="36205" y="231636"/>
                    <a:pt x="0" y="195431"/>
                    <a:pt x="0" y="150770"/>
                  </a:cubicBezTo>
                  <a:lnTo>
                    <a:pt x="0" y="80866"/>
                  </a:lnTo>
                  <a:cubicBezTo>
                    <a:pt x="0" y="36205"/>
                    <a:pt x="36205" y="0"/>
                    <a:pt x="80866" y="0"/>
                  </a:cubicBezTo>
                  <a:close/>
                </a:path>
              </a:pathLst>
            </a:custGeom>
            <a:solidFill>
              <a:srgbClr val="22588D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1285952" cy="298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442582" y="4058573"/>
            <a:ext cx="3578715" cy="8377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1">
                <a:solidFill>
                  <a:srgbClr val="22588D"/>
                </a:solidFill>
                <a:latin typeface="Segoe UI Semibold" panose="020B0702040204020203" pitchFamily="34" charset="0"/>
                <a:ea typeface="Poppins"/>
                <a:cs typeface="Poppins"/>
                <a:sym typeface="Poppins"/>
              </a:rPr>
              <a:t>2. CAD MODEL: 3D assembly, check gear clearance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3614760" y="5560330"/>
            <a:ext cx="4882600" cy="879493"/>
            <a:chOff x="0" y="0"/>
            <a:chExt cx="1285952" cy="23163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85952" cy="231636"/>
            </a:xfrm>
            <a:custGeom>
              <a:avLst/>
              <a:gdLst/>
              <a:ahLst/>
              <a:cxnLst/>
              <a:rect l="l" t="t" r="r" b="b"/>
              <a:pathLst>
                <a:path w="1285952" h="231636">
                  <a:moveTo>
                    <a:pt x="80866" y="0"/>
                  </a:moveTo>
                  <a:lnTo>
                    <a:pt x="1205086" y="0"/>
                  </a:lnTo>
                  <a:cubicBezTo>
                    <a:pt x="1226533" y="0"/>
                    <a:pt x="1247102" y="8520"/>
                    <a:pt x="1262267" y="23685"/>
                  </a:cubicBezTo>
                  <a:cubicBezTo>
                    <a:pt x="1277433" y="38851"/>
                    <a:pt x="1285952" y="59419"/>
                    <a:pt x="1285952" y="80866"/>
                  </a:cubicBezTo>
                  <a:lnTo>
                    <a:pt x="1285952" y="150770"/>
                  </a:lnTo>
                  <a:cubicBezTo>
                    <a:pt x="1285952" y="195431"/>
                    <a:pt x="1249747" y="231636"/>
                    <a:pt x="1205086" y="231636"/>
                  </a:cubicBezTo>
                  <a:lnTo>
                    <a:pt x="80866" y="231636"/>
                  </a:lnTo>
                  <a:cubicBezTo>
                    <a:pt x="36205" y="231636"/>
                    <a:pt x="0" y="195431"/>
                    <a:pt x="0" y="150770"/>
                  </a:cubicBezTo>
                  <a:lnTo>
                    <a:pt x="0" y="80866"/>
                  </a:lnTo>
                  <a:cubicBezTo>
                    <a:pt x="0" y="36205"/>
                    <a:pt x="36205" y="0"/>
                    <a:pt x="80866" y="0"/>
                  </a:cubicBezTo>
                  <a:close/>
                </a:path>
              </a:pathLst>
            </a:custGeom>
            <a:solidFill>
              <a:srgbClr val="22588D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66675"/>
              <a:ext cx="1285952" cy="298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4266703" y="5746077"/>
            <a:ext cx="3578715" cy="8377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1">
                <a:solidFill>
                  <a:srgbClr val="22588D"/>
                </a:solidFill>
                <a:latin typeface="Segoe UI Semibold" panose="020B0702040204020203" pitchFamily="34" charset="0"/>
                <a:ea typeface="Poppins"/>
                <a:cs typeface="Poppins"/>
                <a:sym typeface="Poppins"/>
              </a:rPr>
              <a:t>3. BENCH PROTOTYPE: 3D print brackets &amp; wire drivers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790639" y="5495270"/>
            <a:ext cx="4882600" cy="879493"/>
            <a:chOff x="0" y="0"/>
            <a:chExt cx="1285952" cy="23163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85952" cy="231636"/>
            </a:xfrm>
            <a:custGeom>
              <a:avLst/>
              <a:gdLst/>
              <a:ahLst/>
              <a:cxnLst/>
              <a:rect l="l" t="t" r="r" b="b"/>
              <a:pathLst>
                <a:path w="1285952" h="231636">
                  <a:moveTo>
                    <a:pt x="80866" y="0"/>
                  </a:moveTo>
                  <a:lnTo>
                    <a:pt x="1205086" y="0"/>
                  </a:lnTo>
                  <a:cubicBezTo>
                    <a:pt x="1226533" y="0"/>
                    <a:pt x="1247102" y="8520"/>
                    <a:pt x="1262267" y="23685"/>
                  </a:cubicBezTo>
                  <a:cubicBezTo>
                    <a:pt x="1277433" y="38851"/>
                    <a:pt x="1285952" y="59419"/>
                    <a:pt x="1285952" y="80866"/>
                  </a:cubicBezTo>
                  <a:lnTo>
                    <a:pt x="1285952" y="150770"/>
                  </a:lnTo>
                  <a:cubicBezTo>
                    <a:pt x="1285952" y="195431"/>
                    <a:pt x="1249747" y="231636"/>
                    <a:pt x="1205086" y="231636"/>
                  </a:cubicBezTo>
                  <a:lnTo>
                    <a:pt x="80866" y="231636"/>
                  </a:lnTo>
                  <a:cubicBezTo>
                    <a:pt x="36205" y="231636"/>
                    <a:pt x="0" y="195431"/>
                    <a:pt x="0" y="150770"/>
                  </a:cubicBezTo>
                  <a:lnTo>
                    <a:pt x="0" y="80866"/>
                  </a:lnTo>
                  <a:cubicBezTo>
                    <a:pt x="0" y="36205"/>
                    <a:pt x="36205" y="0"/>
                    <a:pt x="80866" y="0"/>
                  </a:cubicBezTo>
                  <a:close/>
                </a:path>
              </a:pathLst>
            </a:custGeom>
            <a:solidFill>
              <a:srgbClr val="22588D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66675"/>
              <a:ext cx="1285952" cy="298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0442582" y="5681017"/>
            <a:ext cx="3578715" cy="8377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1">
                <a:solidFill>
                  <a:srgbClr val="22588D"/>
                </a:solidFill>
                <a:latin typeface="Segoe UI Semibold" panose="020B0702040204020203" pitchFamily="34" charset="0"/>
                <a:ea typeface="Poppins"/>
                <a:cs typeface="Poppins"/>
                <a:sym typeface="Poppins"/>
              </a:rPr>
              <a:t>4. TEST TO LIMITS: Load with 100% full payload on floor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6702700" y="7192030"/>
            <a:ext cx="4882600" cy="879493"/>
            <a:chOff x="0" y="0"/>
            <a:chExt cx="1285952" cy="23163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85952" cy="231636"/>
            </a:xfrm>
            <a:custGeom>
              <a:avLst/>
              <a:gdLst/>
              <a:ahLst/>
              <a:cxnLst/>
              <a:rect l="l" t="t" r="r" b="b"/>
              <a:pathLst>
                <a:path w="1285952" h="231636">
                  <a:moveTo>
                    <a:pt x="80866" y="0"/>
                  </a:moveTo>
                  <a:lnTo>
                    <a:pt x="1205086" y="0"/>
                  </a:lnTo>
                  <a:cubicBezTo>
                    <a:pt x="1226533" y="0"/>
                    <a:pt x="1247102" y="8520"/>
                    <a:pt x="1262267" y="23685"/>
                  </a:cubicBezTo>
                  <a:cubicBezTo>
                    <a:pt x="1277433" y="38851"/>
                    <a:pt x="1285952" y="59419"/>
                    <a:pt x="1285952" y="80866"/>
                  </a:cubicBezTo>
                  <a:lnTo>
                    <a:pt x="1285952" y="150770"/>
                  </a:lnTo>
                  <a:cubicBezTo>
                    <a:pt x="1285952" y="195431"/>
                    <a:pt x="1249747" y="231636"/>
                    <a:pt x="1205086" y="231636"/>
                  </a:cubicBezTo>
                  <a:lnTo>
                    <a:pt x="80866" y="231636"/>
                  </a:lnTo>
                  <a:cubicBezTo>
                    <a:pt x="36205" y="231636"/>
                    <a:pt x="0" y="195431"/>
                    <a:pt x="0" y="150770"/>
                  </a:cubicBezTo>
                  <a:lnTo>
                    <a:pt x="0" y="80866"/>
                  </a:lnTo>
                  <a:cubicBezTo>
                    <a:pt x="0" y="36205"/>
                    <a:pt x="36205" y="0"/>
                    <a:pt x="80866" y="0"/>
                  </a:cubicBezTo>
                  <a:close/>
                </a:path>
              </a:pathLst>
            </a:custGeom>
            <a:solidFill>
              <a:srgbClr val="22588D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66675"/>
              <a:ext cx="1285952" cy="298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7354642" y="7377776"/>
            <a:ext cx="3578715" cy="8377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1">
                <a:solidFill>
                  <a:srgbClr val="22588D"/>
                </a:solidFill>
                <a:latin typeface="Segoe UI Semibold" panose="020B0702040204020203" pitchFamily="34" charset="0"/>
                <a:ea typeface="Poppins"/>
                <a:cs typeface="Poppins"/>
                <a:sym typeface="Poppins"/>
              </a:rPr>
              <a:t>5. THE BREAK 💥 ➔ 6. REDESIGN V2 IN METAL &amp; WIN!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8699" y="9461499"/>
            <a:ext cx="12700000" cy="374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1300">
                <a:solidFill>
                  <a:srgbClr val="476690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ROBOTICS FUNDAMENTALS • SESSION 01 / 04 • THURSDAY, 10 SEPT 2026</a:t>
            </a:r>
          </a:p>
        </p:txBody>
      </p:sp>
      <p:sp>
        <p:nvSpPr>
          <p:cNvPr id="25" name="IndicationBadge">
            <a:extLst>
              <a:ext uri="{FF2B5EF4-FFF2-40B4-BE49-F238E27FC236}">
                <a16:creationId xmlns:a16="http://schemas.microsoft.com/office/drawing/2014/main" id="{D74A6CFC-9709-9C76-5B27-884439FFF952}"/>
              </a:ext>
            </a:extLst>
          </p:cNvPr>
          <p:cNvSpPr/>
          <p:nvPr/>
        </p:nvSpPr>
        <p:spPr>
          <a:xfrm>
            <a:off x="7137400" y="533400"/>
            <a:ext cx="4013200" cy="355600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2258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25400" rIns="127000" bIns="25400" rtlCol="0" anchor="ctr"/>
          <a:lstStyle/>
          <a:p>
            <a:pPr algn="ctr"/>
            <a:r>
              <a:rPr lang="en-US" sz="1050" b="1">
                <a:solidFill>
                  <a:srgbClr val="22588D"/>
                </a:solidFill>
                <a:latin typeface="Segoe UI Semibold" panose="020B0702040204020203" pitchFamily="34" charset="0"/>
              </a:rPr>
              <a:t>ENGINEERING PROCESS • 🔄 THE 6-STEP CYCLE</a:t>
            </a:r>
            <a:endParaRPr lang="fr-FR" sz="1050" b="1">
              <a:solidFill>
                <a:srgbClr val="22588D"/>
              </a:solidFill>
              <a:latin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404917"/>
      </p:ext>
    </p:extLst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7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7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7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27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47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2" grpId="0"/>
      <p:bldP spid="16" grpId="0"/>
      <p:bldP spid="20" grpId="0"/>
      <p:bldP spid="24" grpId="0"/>
      <p:bldP spid="2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411890" y="-6355586"/>
            <a:ext cx="10704366" cy="10723864"/>
          </a:xfrm>
          <a:custGeom>
            <a:avLst/>
            <a:gdLst/>
            <a:ahLst/>
            <a:cxnLst/>
            <a:rect l="l" t="t" r="r" b="b"/>
            <a:pathLst>
              <a:path w="10704366" h="10723864">
                <a:moveTo>
                  <a:pt x="0" y="0"/>
                </a:moveTo>
                <a:lnTo>
                  <a:pt x="10704366" y="0"/>
                </a:lnTo>
                <a:lnTo>
                  <a:pt x="10704366" y="10723864"/>
                </a:lnTo>
                <a:lnTo>
                  <a:pt x="0" y="107238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2476500" y="1079500"/>
            <a:ext cx="13335000" cy="918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3800" b="1">
                <a:solidFill>
                  <a:srgbClr val="22588D"/>
                </a:solidFill>
                <a:latin typeface="Segoe UI Semibold" panose="020B0702040204020203" pitchFamily="34" charset="0"/>
                <a:ea typeface="Museo Moderno Bold"/>
                <a:cs typeface="Museo Moderno Bold"/>
                <a:sym typeface="Museo Moderno Bold"/>
              </a:rPr>
              <a:t>"It Worked in CAD!" — Reality Has Entered the Room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476500" y="2095500"/>
            <a:ext cx="13335000" cy="8348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17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Left: Pristine CAD rendering (Zero gravity, zero wire clutter) • Right: Physical reality (3D print layer lines, zip ties, hot glue, and real floor friction!) Always leave room for cables and tolerances.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5731041"/>
            <a:ext cx="18288000" cy="4735712"/>
            <a:chOff x="0" y="0"/>
            <a:chExt cx="2833290" cy="73368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33290" cy="733686"/>
            </a:xfrm>
            <a:custGeom>
              <a:avLst/>
              <a:gdLst/>
              <a:ahLst/>
              <a:cxnLst/>
              <a:rect l="l" t="t" r="r" b="b"/>
              <a:pathLst>
                <a:path w="2833290" h="733686">
                  <a:moveTo>
                    <a:pt x="23707" y="0"/>
                  </a:moveTo>
                  <a:lnTo>
                    <a:pt x="2809583" y="0"/>
                  </a:lnTo>
                  <a:cubicBezTo>
                    <a:pt x="2822676" y="0"/>
                    <a:pt x="2833290" y="10614"/>
                    <a:pt x="2833290" y="23707"/>
                  </a:cubicBezTo>
                  <a:lnTo>
                    <a:pt x="2833290" y="709979"/>
                  </a:lnTo>
                  <a:cubicBezTo>
                    <a:pt x="2833290" y="723072"/>
                    <a:pt x="2822676" y="733686"/>
                    <a:pt x="2809583" y="733686"/>
                  </a:cubicBezTo>
                  <a:lnTo>
                    <a:pt x="23707" y="733686"/>
                  </a:lnTo>
                  <a:cubicBezTo>
                    <a:pt x="10614" y="733686"/>
                    <a:pt x="0" y="723072"/>
                    <a:pt x="0" y="709979"/>
                  </a:cubicBezTo>
                  <a:lnTo>
                    <a:pt x="0" y="23707"/>
                  </a:lnTo>
                  <a:cubicBezTo>
                    <a:pt x="0" y="10614"/>
                    <a:pt x="10614" y="0"/>
                    <a:pt x="23707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171450" cap="rnd">
              <a:solidFill>
                <a:srgbClr val="22588D"/>
              </a:soli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7" name="IndicationBadge">
            <a:extLst>
              <a:ext uri="{FF2B5EF4-FFF2-40B4-BE49-F238E27FC236}">
                <a16:creationId xmlns:a16="http://schemas.microsoft.com/office/drawing/2014/main" id="{E2956C4A-DB70-0623-D8C4-D91090C283F6}"/>
              </a:ext>
            </a:extLst>
          </p:cNvPr>
          <p:cNvSpPr/>
          <p:nvPr/>
        </p:nvSpPr>
        <p:spPr>
          <a:xfrm>
            <a:off x="1028700" y="533400"/>
            <a:ext cx="3830320" cy="355600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2258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25400" rIns="127000" bIns="25400" rtlCol="0" anchor="ctr"/>
          <a:lstStyle/>
          <a:p>
            <a:pPr algn="ctr"/>
            <a:r>
              <a:rPr lang="fr-FR" sz="1050" b="1">
                <a:solidFill>
                  <a:srgbClr val="22588D"/>
                </a:solidFill>
                <a:latin typeface="Segoe UI Semibold" panose="020B0702040204020203" pitchFamily="34" charset="0"/>
              </a:rPr>
              <a:t>REALITY CHECK • ⚡ PHYSICAL CONSTRAINTS</a:t>
            </a:r>
          </a:p>
        </p:txBody>
      </p:sp>
    </p:spTree>
    <p:extLst>
      <p:ext uri="{BB962C8B-B14F-4D97-AF65-F5344CB8AC3E}">
        <p14:creationId xmlns:p14="http://schemas.microsoft.com/office/powerpoint/2010/main" val="1627059638"/>
      </p:ext>
    </p:extLst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7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9144000" y="-6504289"/>
            <a:ext cx="10704366" cy="10723864"/>
          </a:xfrm>
          <a:custGeom>
            <a:avLst/>
            <a:gdLst/>
            <a:ahLst/>
            <a:cxnLst/>
            <a:rect l="l" t="t" r="r" b="b"/>
            <a:pathLst>
              <a:path w="10704366" h="10723864">
                <a:moveTo>
                  <a:pt x="10704366" y="10723864"/>
                </a:moveTo>
                <a:lnTo>
                  <a:pt x="0" y="10723864"/>
                </a:lnTo>
                <a:lnTo>
                  <a:pt x="0" y="0"/>
                </a:lnTo>
                <a:lnTo>
                  <a:pt x="10704366" y="0"/>
                </a:lnTo>
                <a:lnTo>
                  <a:pt x="10704366" y="1072386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1735405" y="952499"/>
            <a:ext cx="16256000" cy="918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3800" b="1" u="none" strike="noStrike">
                <a:solidFill>
                  <a:srgbClr val="22588D"/>
                </a:solidFill>
                <a:latin typeface="Segoe UI Semibold" panose="020B0702040204020203" pitchFamily="34" charset="0"/>
                <a:ea typeface="Museo Moderno Bold"/>
                <a:cs typeface="Museo Moderno Bold"/>
                <a:sym typeface="Museo Moderno Bold"/>
              </a:rPr>
              <a:t>Case Study: 3D-Printed V1 Failure ➔ Metal V2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857499"/>
            <a:ext cx="7334260" cy="13201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• 100% printed in ABS plastic
• Under 2 kg load, gear teeth sheared clean off!
• Joint deflected 15° sideways without bearings.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285999"/>
            <a:ext cx="7803545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WHAT FAILED IN V1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5841999"/>
            <a:ext cx="7964281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THE V2 REDESIGN</a:t>
            </a:r>
            <a:endParaRPr lang="en-US" sz="2000" b="1" u="none" strike="noStrike">
              <a:solidFill>
                <a:srgbClr val="22588D"/>
              </a:solidFill>
              <a:latin typeface="Segoe UI Semibold" panose="020B0702040204020203" pitchFamily="34" charset="0"/>
              <a:ea typeface="Poppins Bold"/>
              <a:cs typeface="Poppins Bold"/>
              <a:sym typeface="Poppi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6413499"/>
            <a:ext cx="7334260" cy="1280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• Hardened steel planetary gears (15:1)
• CNC aluminum pivot bracket with dual ball bearings
• Easily holds 2.5 kg with zero deflection!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5040" y="6296025"/>
            <a:ext cx="7165689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ENGINEERING LESSON</a:t>
            </a:r>
            <a:endParaRPr lang="en-US" sz="2000" b="1" u="none" strike="noStrike">
              <a:solidFill>
                <a:srgbClr val="22588D"/>
              </a:solidFill>
              <a:latin typeface="Segoe UI Semibold" panose="020B0702040204020203" pitchFamily="34" charset="0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925040" y="6927850"/>
            <a:ext cx="7334260" cy="8580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V1 failed so V2 could fly. Document your failure, calculate the missing margin, and engineer the fix.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925040" y="3127375"/>
            <a:ext cx="7334260" cy="2623185"/>
            <a:chOff x="0" y="0"/>
            <a:chExt cx="1136269" cy="406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36269" cy="406400"/>
            </a:xfrm>
            <a:custGeom>
              <a:avLst/>
              <a:gdLst/>
              <a:ahLst/>
              <a:cxnLst/>
              <a:rect l="l" t="t" r="r" b="b"/>
              <a:pathLst>
                <a:path w="1136269" h="406400">
                  <a:moveTo>
                    <a:pt x="41168" y="0"/>
                  </a:moveTo>
                  <a:lnTo>
                    <a:pt x="1095101" y="0"/>
                  </a:lnTo>
                  <a:cubicBezTo>
                    <a:pt x="1106019" y="0"/>
                    <a:pt x="1116491" y="4337"/>
                    <a:pt x="1124211" y="12058"/>
                  </a:cubicBezTo>
                  <a:cubicBezTo>
                    <a:pt x="1131931" y="19778"/>
                    <a:pt x="1136269" y="30249"/>
                    <a:pt x="1136269" y="41168"/>
                  </a:cubicBezTo>
                  <a:lnTo>
                    <a:pt x="1136269" y="365232"/>
                  </a:lnTo>
                  <a:cubicBezTo>
                    <a:pt x="1136269" y="376151"/>
                    <a:pt x="1131931" y="386622"/>
                    <a:pt x="1124211" y="394342"/>
                  </a:cubicBezTo>
                  <a:cubicBezTo>
                    <a:pt x="1116491" y="402063"/>
                    <a:pt x="1106019" y="406400"/>
                    <a:pt x="1095101" y="406400"/>
                  </a:cubicBezTo>
                  <a:lnTo>
                    <a:pt x="41168" y="406400"/>
                  </a:lnTo>
                  <a:cubicBezTo>
                    <a:pt x="30249" y="406400"/>
                    <a:pt x="19778" y="402063"/>
                    <a:pt x="12058" y="394342"/>
                  </a:cubicBezTo>
                  <a:cubicBezTo>
                    <a:pt x="4337" y="386622"/>
                    <a:pt x="0" y="376151"/>
                    <a:pt x="0" y="365232"/>
                  </a:cubicBezTo>
                  <a:lnTo>
                    <a:pt x="0" y="41168"/>
                  </a:lnTo>
                  <a:cubicBezTo>
                    <a:pt x="0" y="30249"/>
                    <a:pt x="4337" y="19778"/>
                    <a:pt x="12058" y="12058"/>
                  </a:cubicBezTo>
                  <a:cubicBezTo>
                    <a:pt x="19778" y="4337"/>
                    <a:pt x="30249" y="0"/>
                    <a:pt x="41168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171450" cap="rnd">
              <a:solidFill>
                <a:srgbClr val="22588D"/>
              </a:soli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28699" y="9461499"/>
            <a:ext cx="12700000" cy="374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1300">
                <a:solidFill>
                  <a:srgbClr val="476690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ROBOTICS FUNDAMENTALS • SESSION 01 / 04 • THURSDAY, 10 SEPT 2026</a:t>
            </a:r>
          </a:p>
        </p:txBody>
      </p:sp>
      <p:sp>
        <p:nvSpPr>
          <p:cNvPr id="12" name="IndicationBadge">
            <a:extLst>
              <a:ext uri="{FF2B5EF4-FFF2-40B4-BE49-F238E27FC236}">
                <a16:creationId xmlns:a16="http://schemas.microsoft.com/office/drawing/2014/main" id="{FB5A5BF6-4EAC-AE08-3C73-A4F28D09AA27}"/>
              </a:ext>
            </a:extLst>
          </p:cNvPr>
          <p:cNvSpPr/>
          <p:nvPr/>
        </p:nvSpPr>
        <p:spPr>
          <a:xfrm>
            <a:off x="1028700" y="533400"/>
            <a:ext cx="4013200" cy="355600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2258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25400" rIns="127000" bIns="25400" rtlCol="0" anchor="ctr"/>
          <a:lstStyle/>
          <a:p>
            <a:pPr algn="ctr"/>
            <a:r>
              <a:rPr lang="en-US" sz="1050" b="1">
                <a:solidFill>
                  <a:srgbClr val="22588D"/>
                </a:solidFill>
                <a:latin typeface="Segoe UI Semibold" panose="020B0702040204020203" pitchFamily="34" charset="0"/>
              </a:rPr>
              <a:t>CASE STUDY • 🛠️ V1 FAILURE ➔ V2 REDESIGN</a:t>
            </a:r>
            <a:endParaRPr lang="fr-FR" sz="1050" b="1">
              <a:solidFill>
                <a:srgbClr val="22588D"/>
              </a:solidFill>
              <a:latin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5634870"/>
      </p:ext>
    </p:extLst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7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7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7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27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47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7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206499"/>
            <a:ext cx="8001000" cy="9066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sz="3400" b="1">
                <a:solidFill>
                  <a:srgbClr val="22588D"/>
                </a:solidFill>
                <a:latin typeface="Segoe UI Semibold" panose="020B0702040204020203" pitchFamily="34" charset="0"/>
                <a:ea typeface="Museo Moderno Bold"/>
                <a:cs typeface="Museo Moderno Bold"/>
                <a:sym typeface="Museo Moderno Bold"/>
              </a:rPr>
              <a:t>Capstone Challenge: Campus Robot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682999"/>
            <a:ext cx="8001000" cy="4871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• Mission: Autonomous book delivery on campus corridors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• Target Payload: 5.0 kg package capacity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• Cruising Speed: 1.0 m/s (Brisk walking pace)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• Target Runtime: 1.0 Hour continuous driving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• Environment: Flat indoor linoleum hallways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• Hardware Budget Limit: €300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
👉 ASSEMBLE YOUR SPEC IN THE CHAT: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1. Drive: Differential 2WD + Caster vs 4WD Skid-Steer?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2. Motors: Geared DC vs Steppers vs Brushless?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3. Battery: 12V 5Ah vs 12V 10Ah LiFePO4?</a:t>
            </a:r>
          </a:p>
        </p:txBody>
      </p:sp>
      <p:sp>
        <p:nvSpPr>
          <p:cNvPr id="4" name="Freeform 4"/>
          <p:cNvSpPr/>
          <p:nvPr/>
        </p:nvSpPr>
        <p:spPr>
          <a:xfrm>
            <a:off x="4957277" y="-4113214"/>
            <a:ext cx="6785337" cy="6797697"/>
          </a:xfrm>
          <a:custGeom>
            <a:avLst/>
            <a:gdLst/>
            <a:ahLst/>
            <a:cxnLst/>
            <a:rect l="l" t="t" r="r" b="b"/>
            <a:pathLst>
              <a:path w="6785337" h="6797697">
                <a:moveTo>
                  <a:pt x="0" y="0"/>
                </a:moveTo>
                <a:lnTo>
                  <a:pt x="6785337" y="0"/>
                </a:lnTo>
                <a:lnTo>
                  <a:pt x="6785337" y="6797697"/>
                </a:lnTo>
                <a:lnTo>
                  <a:pt x="0" y="67976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5" name="Group 5"/>
          <p:cNvGrpSpPr/>
          <p:nvPr/>
        </p:nvGrpSpPr>
        <p:grpSpPr>
          <a:xfrm>
            <a:off x="10210393" y="1619047"/>
            <a:ext cx="7048907" cy="704890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171450" cap="sq">
              <a:solidFill>
                <a:srgbClr val="22588D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699" y="9461499"/>
            <a:ext cx="12700000" cy="374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1300">
                <a:solidFill>
                  <a:srgbClr val="476690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ROBOTICS FUNDAMENTALS • SESSION 01 / 04 • THURSDAY, 10 SEPT 2026</a:t>
            </a:r>
          </a:p>
        </p:txBody>
      </p:sp>
      <p:sp>
        <p:nvSpPr>
          <p:cNvPr id="7" name="IndicationBadge">
            <a:extLst>
              <a:ext uri="{FF2B5EF4-FFF2-40B4-BE49-F238E27FC236}">
                <a16:creationId xmlns:a16="http://schemas.microsoft.com/office/drawing/2014/main" id="{4E5E7568-3D2A-30E0-7EB5-9280F62FF5D4}"/>
              </a:ext>
            </a:extLst>
          </p:cNvPr>
          <p:cNvSpPr/>
          <p:nvPr/>
        </p:nvSpPr>
        <p:spPr>
          <a:xfrm>
            <a:off x="1028700" y="533400"/>
            <a:ext cx="4196080" cy="355600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2258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25400" rIns="127000" bIns="25400" rtlCol="0" anchor="ctr"/>
          <a:lstStyle/>
          <a:p>
            <a:pPr algn="ctr"/>
            <a:r>
              <a:rPr lang="en-US" sz="1050" b="1">
                <a:solidFill>
                  <a:srgbClr val="22588D"/>
                </a:solidFill>
                <a:latin typeface="Segoe UI Semibold" panose="020B0702040204020203" pitchFamily="34" charset="0"/>
              </a:rPr>
              <a:t>CAPSTONE MISSION • 🚀 CAMPUS DELIVERY ROBOT</a:t>
            </a:r>
            <a:endParaRPr lang="fr-FR" sz="1050" b="1">
              <a:solidFill>
                <a:srgbClr val="22588D"/>
              </a:solidFill>
              <a:latin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9072661"/>
      </p:ext>
    </p:extLst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7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9144000" y="-6504289"/>
            <a:ext cx="10704366" cy="10723864"/>
          </a:xfrm>
          <a:custGeom>
            <a:avLst/>
            <a:gdLst/>
            <a:ahLst/>
            <a:cxnLst/>
            <a:rect l="l" t="t" r="r" b="b"/>
            <a:pathLst>
              <a:path w="10704366" h="10723864">
                <a:moveTo>
                  <a:pt x="10704366" y="10723864"/>
                </a:moveTo>
                <a:lnTo>
                  <a:pt x="0" y="10723864"/>
                </a:lnTo>
                <a:lnTo>
                  <a:pt x="0" y="0"/>
                </a:lnTo>
                <a:lnTo>
                  <a:pt x="10704366" y="0"/>
                </a:lnTo>
                <a:lnTo>
                  <a:pt x="10704366" y="1072386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1735405" y="952499"/>
            <a:ext cx="16256000" cy="9541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3800" b="1" u="none" strike="noStrike">
                <a:solidFill>
                  <a:srgbClr val="22588D"/>
                </a:solidFill>
                <a:latin typeface="Segoe UI Semibold" panose="020B0702040204020203" pitchFamily="34" charset="0"/>
                <a:ea typeface="Museo Moderno Bold"/>
                <a:cs typeface="Museo Moderno Bold"/>
                <a:sym typeface="Museo Moderno Bold"/>
              </a:rPr>
              <a:t>New Client Requirement: The 15° Ramp Twist! 🚨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857499"/>
            <a:ext cx="7334260" cy="8580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Climbing a 15° slope adds 26% of robot weight as direct backward drag! Flat-ground motors will stall.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285999"/>
            <a:ext cx="7803545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GRAVITY PULLS BACKWARD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5841999"/>
            <a:ext cx="7964281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WHEEL SLIP &amp; TRACTION</a:t>
            </a:r>
            <a:endParaRPr lang="en-US" sz="2000" b="1" u="none" strike="noStrike">
              <a:solidFill>
                <a:srgbClr val="22588D"/>
              </a:solidFill>
              <a:latin typeface="Segoe UI Semibold" panose="020B0702040204020203" pitchFamily="34" charset="0"/>
              <a:ea typeface="Poppins Bold"/>
              <a:cs typeface="Poppins Bold"/>
              <a:sym typeface="Poppi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6413499"/>
            <a:ext cx="7334260" cy="8319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Smooth plastic or omni-wheels will spin out without high-grip rubber treads on the incline!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5040" y="6296025"/>
            <a:ext cx="7165689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BACKWARD FLIP &amp; CURRENT</a:t>
            </a:r>
            <a:endParaRPr lang="en-US" sz="2000" b="1" u="none" strike="noStrike">
              <a:solidFill>
                <a:srgbClr val="22588D"/>
              </a:solidFill>
              <a:latin typeface="Segoe UI Semibold" panose="020B0702040204020203" pitchFamily="34" charset="0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925040" y="6927850"/>
            <a:ext cx="7334260" cy="840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If the battery is mounted high/rearward, the robot flips backward! Climbing draws 3× current (runtime drops to 20m).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925040" y="3127375"/>
            <a:ext cx="7334260" cy="2623185"/>
            <a:chOff x="0" y="0"/>
            <a:chExt cx="1136269" cy="406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36269" cy="406400"/>
            </a:xfrm>
            <a:custGeom>
              <a:avLst/>
              <a:gdLst/>
              <a:ahLst/>
              <a:cxnLst/>
              <a:rect l="l" t="t" r="r" b="b"/>
              <a:pathLst>
                <a:path w="1136269" h="406400">
                  <a:moveTo>
                    <a:pt x="41168" y="0"/>
                  </a:moveTo>
                  <a:lnTo>
                    <a:pt x="1095101" y="0"/>
                  </a:lnTo>
                  <a:cubicBezTo>
                    <a:pt x="1106019" y="0"/>
                    <a:pt x="1116491" y="4337"/>
                    <a:pt x="1124211" y="12058"/>
                  </a:cubicBezTo>
                  <a:cubicBezTo>
                    <a:pt x="1131931" y="19778"/>
                    <a:pt x="1136269" y="30249"/>
                    <a:pt x="1136269" y="41168"/>
                  </a:cubicBezTo>
                  <a:lnTo>
                    <a:pt x="1136269" y="365232"/>
                  </a:lnTo>
                  <a:cubicBezTo>
                    <a:pt x="1136269" y="376151"/>
                    <a:pt x="1131931" y="386622"/>
                    <a:pt x="1124211" y="394342"/>
                  </a:cubicBezTo>
                  <a:cubicBezTo>
                    <a:pt x="1116491" y="402063"/>
                    <a:pt x="1106019" y="406400"/>
                    <a:pt x="1095101" y="406400"/>
                  </a:cubicBezTo>
                  <a:lnTo>
                    <a:pt x="41168" y="406400"/>
                  </a:lnTo>
                  <a:cubicBezTo>
                    <a:pt x="30249" y="406400"/>
                    <a:pt x="19778" y="402063"/>
                    <a:pt x="12058" y="394342"/>
                  </a:cubicBezTo>
                  <a:cubicBezTo>
                    <a:pt x="4337" y="386622"/>
                    <a:pt x="0" y="376151"/>
                    <a:pt x="0" y="365232"/>
                  </a:cubicBezTo>
                  <a:lnTo>
                    <a:pt x="0" y="41168"/>
                  </a:lnTo>
                  <a:cubicBezTo>
                    <a:pt x="0" y="30249"/>
                    <a:pt x="4337" y="19778"/>
                    <a:pt x="12058" y="12058"/>
                  </a:cubicBezTo>
                  <a:cubicBezTo>
                    <a:pt x="19778" y="4337"/>
                    <a:pt x="30249" y="0"/>
                    <a:pt x="41168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171450" cap="rnd">
              <a:solidFill>
                <a:srgbClr val="22588D"/>
              </a:soli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28699" y="9461499"/>
            <a:ext cx="12700000" cy="374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1300">
                <a:solidFill>
                  <a:srgbClr val="476690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ROBOTICS FUNDAMENTALS • SESSION 01 / 04 • THURSDAY, 10 SEPT 2026</a:t>
            </a:r>
          </a:p>
        </p:txBody>
      </p:sp>
      <p:sp>
        <p:nvSpPr>
          <p:cNvPr id="12" name="IndicationBadge">
            <a:extLst>
              <a:ext uri="{FF2B5EF4-FFF2-40B4-BE49-F238E27FC236}">
                <a16:creationId xmlns:a16="http://schemas.microsoft.com/office/drawing/2014/main" id="{4A666593-5545-F0F8-811D-4186824B296E}"/>
              </a:ext>
            </a:extLst>
          </p:cNvPr>
          <p:cNvSpPr/>
          <p:nvPr/>
        </p:nvSpPr>
        <p:spPr>
          <a:xfrm>
            <a:off x="1028700" y="533400"/>
            <a:ext cx="4104640" cy="355600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2258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25400" rIns="127000" bIns="25400" rtlCol="0" anchor="ctr"/>
          <a:lstStyle/>
          <a:p>
            <a:pPr algn="ctr"/>
            <a:r>
              <a:rPr lang="en-US" sz="1050" b="1">
                <a:solidFill>
                  <a:srgbClr val="22588D"/>
                </a:solidFill>
                <a:latin typeface="Segoe UI Semibold" panose="020B0702040204020203" pitchFamily="34" charset="0"/>
              </a:rPr>
              <a:t>THE TWIST • 🏔️ 15° RAMP INCLINE CHALLENGE</a:t>
            </a:r>
            <a:endParaRPr lang="fr-FR" sz="1050" b="1">
              <a:solidFill>
                <a:srgbClr val="22588D"/>
              </a:solidFill>
              <a:latin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8504005"/>
      </p:ext>
    </p:extLst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7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7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7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27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47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7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2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07159" y="-6035048"/>
            <a:ext cx="10704366" cy="10723864"/>
          </a:xfrm>
          <a:custGeom>
            <a:avLst/>
            <a:gdLst/>
            <a:ahLst/>
            <a:cxnLst/>
            <a:rect l="l" t="t" r="r" b="b"/>
            <a:pathLst>
              <a:path w="10704366" h="10723864">
                <a:moveTo>
                  <a:pt x="0" y="0"/>
                </a:moveTo>
                <a:lnTo>
                  <a:pt x="10704366" y="0"/>
                </a:lnTo>
                <a:lnTo>
                  <a:pt x="10704366" y="10723864"/>
                </a:lnTo>
                <a:lnTo>
                  <a:pt x="0" y="107238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2794000" y="1142999"/>
            <a:ext cx="12700000" cy="9066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3400" b="1" u="none" strike="noStrike">
                <a:solidFill>
                  <a:srgbClr val="22588D"/>
                </a:solidFill>
                <a:latin typeface="Segoe UI Semibold" panose="020B0702040204020203" pitchFamily="34" charset="0"/>
                <a:ea typeface="Museo Moderno Bold"/>
                <a:cs typeface="Museo Moderno Bold"/>
                <a:sym typeface="Museo Moderno Bold"/>
              </a:rPr>
              <a:t>Session Summary: The 10 Rules of Robotics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995747"/>
            <a:ext cx="7334260" cy="1324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1. Define task before buying motors
2. Minimize degrees of freedom
3. Always add 2× safety factor on torque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363922"/>
            <a:ext cx="6870825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RULES 1 TO 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6072975"/>
            <a:ext cx="5604938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RULES 7 TO 8</a:t>
            </a:r>
            <a:endParaRPr lang="en-US" sz="2000" b="1" u="none" strike="noStrike">
              <a:solidFill>
                <a:srgbClr val="22588D"/>
              </a:solidFill>
              <a:latin typeface="Segoe UI Semibold" panose="020B0702040204020203" pitchFamily="34" charset="0"/>
              <a:ea typeface="Poppins Bold"/>
              <a:cs typeface="Poppins Bold"/>
              <a:sym typeface="Poppi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6704800"/>
            <a:ext cx="7334260" cy="8319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7. Size batteries for peak acceleration surge
8. Isolate computer power from noisy motors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5040" y="3995747"/>
            <a:ext cx="7334260" cy="13068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4. Resolution on paper ≠ physical accuracy
5. Beware gear backlash—it ruins precision
6. Hollow aluminum tubes beat plastic 3D prints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5040" y="3363922"/>
            <a:ext cx="6870825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RULES 4 TO 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5040" y="6072975"/>
            <a:ext cx="6683482" cy="409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000" b="1">
                <a:solidFill>
                  <a:srgbClr val="22588D"/>
                </a:solidFill>
                <a:latin typeface="Segoe UI Semibold" panose="020B0702040204020203" pitchFamily="34" charset="0"/>
                <a:ea typeface="Poppins Bold"/>
                <a:cs typeface="Poppins Bold"/>
                <a:sym typeface="Poppins Bold"/>
              </a:rPr>
              <a:t>RULES 9 TO 10</a:t>
            </a:r>
            <a:endParaRPr lang="en-US" sz="2000" b="1" u="none" strike="noStrike">
              <a:solidFill>
                <a:srgbClr val="22588D"/>
              </a:solidFill>
              <a:latin typeface="Segoe UI Semibold" panose="020B0702040204020203" pitchFamily="34" charset="0"/>
              <a:ea typeface="Poppins Bold"/>
              <a:cs typeface="Poppins Bold"/>
              <a:sym typeface="Poppi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925040" y="6704800"/>
            <a:ext cx="7334260" cy="8580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1600">
                <a:solidFill>
                  <a:srgbClr val="182B49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9. Test with real physical loads, not just sim
10. Failure is step 5—build, test, break, and iterate!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699" y="9461499"/>
            <a:ext cx="12700000" cy="374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1300">
                <a:solidFill>
                  <a:srgbClr val="476690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ROBOTICS FUNDAMENTALS • SESSION 01 / 04 • THURSDAY, 10 SEPT 2026</a:t>
            </a:r>
          </a:p>
        </p:txBody>
      </p:sp>
      <p:sp>
        <p:nvSpPr>
          <p:cNvPr id="12" name="IndicationBadge">
            <a:extLst>
              <a:ext uri="{FF2B5EF4-FFF2-40B4-BE49-F238E27FC236}">
                <a16:creationId xmlns:a16="http://schemas.microsoft.com/office/drawing/2014/main" id="{F096FB27-3709-F773-AC8C-F27F445378B2}"/>
              </a:ext>
            </a:extLst>
          </p:cNvPr>
          <p:cNvSpPr/>
          <p:nvPr/>
        </p:nvSpPr>
        <p:spPr>
          <a:xfrm>
            <a:off x="7411720" y="533400"/>
            <a:ext cx="3464560" cy="355600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2258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25400" rIns="127000" bIns="25400" rtlCol="0" anchor="ctr"/>
          <a:lstStyle/>
          <a:p>
            <a:pPr algn="ctr"/>
            <a:r>
              <a:rPr lang="en-US" sz="1050" b="1">
                <a:solidFill>
                  <a:srgbClr val="22588D"/>
                </a:solidFill>
                <a:latin typeface="Segoe UI Semibold" panose="020B0702040204020203" pitchFamily="34" charset="0"/>
              </a:rPr>
              <a:t>WORKSHOP RECAP • 📜 10 GOLDEN RULES</a:t>
            </a:r>
            <a:endParaRPr lang="fr-FR" sz="1050" b="1">
              <a:solidFill>
                <a:srgbClr val="22588D"/>
              </a:solidFill>
              <a:latin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1148222"/>
      </p:ext>
    </p:extLst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4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4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14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34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4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74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94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346555" y="-4174347"/>
            <a:ext cx="6446938" cy="6458681"/>
          </a:xfrm>
          <a:custGeom>
            <a:avLst/>
            <a:gdLst/>
            <a:ahLst/>
            <a:cxnLst/>
            <a:rect l="l" t="t" r="r" b="b"/>
            <a:pathLst>
              <a:path w="6446938" h="6458681">
                <a:moveTo>
                  <a:pt x="0" y="0"/>
                </a:moveTo>
                <a:lnTo>
                  <a:pt x="6446937" y="0"/>
                </a:lnTo>
                <a:lnTo>
                  <a:pt x="6446937" y="6458681"/>
                </a:lnTo>
                <a:lnTo>
                  <a:pt x="0" y="64586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2886214" y="5143500"/>
            <a:ext cx="6446938" cy="6458681"/>
          </a:xfrm>
          <a:custGeom>
            <a:avLst/>
            <a:gdLst/>
            <a:ahLst/>
            <a:cxnLst/>
            <a:rect l="l" t="t" r="r" b="b"/>
            <a:pathLst>
              <a:path w="6446938" h="6458681">
                <a:moveTo>
                  <a:pt x="0" y="0"/>
                </a:moveTo>
                <a:lnTo>
                  <a:pt x="6446938" y="0"/>
                </a:lnTo>
                <a:lnTo>
                  <a:pt x="6446938" y="6458681"/>
                </a:lnTo>
                <a:lnTo>
                  <a:pt x="0" y="64586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4" name="Group 4"/>
          <p:cNvGrpSpPr/>
          <p:nvPr/>
        </p:nvGrpSpPr>
        <p:grpSpPr>
          <a:xfrm>
            <a:off x="-2356986" y="2032977"/>
            <a:ext cx="11500986" cy="6221045"/>
            <a:chOff x="0" y="0"/>
            <a:chExt cx="941651" cy="50935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1651" cy="509352"/>
            </a:xfrm>
            <a:custGeom>
              <a:avLst/>
              <a:gdLst/>
              <a:ahLst/>
              <a:cxnLst/>
              <a:rect l="l" t="t" r="r" b="b"/>
              <a:pathLst>
                <a:path w="941651" h="509352">
                  <a:moveTo>
                    <a:pt x="738451" y="0"/>
                  </a:moveTo>
                  <a:cubicBezTo>
                    <a:pt x="850681" y="0"/>
                    <a:pt x="941651" y="114015"/>
                    <a:pt x="941651" y="254676"/>
                  </a:cubicBezTo>
                  <a:cubicBezTo>
                    <a:pt x="941651" y="395337"/>
                    <a:pt x="850681" y="509352"/>
                    <a:pt x="738451" y="509352"/>
                  </a:cubicBezTo>
                  <a:lnTo>
                    <a:pt x="203200" y="509352"/>
                  </a:lnTo>
                  <a:cubicBezTo>
                    <a:pt x="90970" y="509352"/>
                    <a:pt x="0" y="395337"/>
                    <a:pt x="0" y="254676"/>
                  </a:cubicBezTo>
                  <a:cubicBezTo>
                    <a:pt x="0" y="114015"/>
                    <a:pt x="90970" y="0"/>
                    <a:pt x="203200" y="0"/>
                  </a:cubicBezTo>
                  <a:lnTo>
                    <a:pt x="738451" y="0"/>
                  </a:lnTo>
                </a:path>
              </a:pathLst>
            </a:custGeom>
            <a:blipFill>
              <a:blip r:embed="rId4"/>
              <a:stretch>
                <a:fillRect/>
              </a:stretch>
            </a:blipFill>
            <a:ln w="171450" cap="sq">
              <a:solidFill>
                <a:srgbClr val="22588D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130692" y="1904999"/>
            <a:ext cx="7620000" cy="19397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099"/>
              </a:lnSpc>
              <a:spcBef>
                <a:spcPct val="0"/>
              </a:spcBef>
            </a:pPr>
            <a:r>
              <a:rPr lang="en-US" sz="4200" b="1" u="none" strike="noStrike">
                <a:solidFill>
                  <a:srgbClr val="22588D"/>
                </a:solidFill>
                <a:latin typeface="Segoe UI Semibold" panose="020B0702040204020203" pitchFamily="34" charset="0"/>
                <a:ea typeface="Museo Moderno Bold"/>
                <a:cs typeface="Museo Moderno Bold"/>
                <a:sym typeface="Museo Moderno Bold"/>
              </a:rPr>
              <a:t>DEFINE • DESIGN • BUILD
TEST • BREAK • IMPROVE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130691" y="3937000"/>
            <a:ext cx="7620000" cy="29790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759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22588D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THAT'S ROBOTICS.
See you next Thursday for Session 02: Sensors, Perception &amp; State Estimation!
Thank you for attending! Let's open the floor for Q&amp;A.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699" y="9461499"/>
            <a:ext cx="12700000" cy="380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1500">
                <a:solidFill>
                  <a:srgbClr val="476690"/>
                </a:solidFill>
                <a:latin typeface="Segoe UI" panose="020B0502040204020203" pitchFamily="34" charset="0"/>
                <a:ea typeface="Poppins"/>
                <a:cs typeface="Poppins"/>
                <a:sym typeface="Poppins"/>
              </a:rPr>
              <a:t>ROBOTICS FUNDAMENTALS • SESSION 01 / 04 COMPLETE</a:t>
            </a:r>
          </a:p>
        </p:txBody>
      </p:sp>
      <p:sp>
        <p:nvSpPr>
          <p:cNvPr id="11" name="IndicationBadge">
            <a:extLst>
              <a:ext uri="{FF2B5EF4-FFF2-40B4-BE49-F238E27FC236}">
                <a16:creationId xmlns:a16="http://schemas.microsoft.com/office/drawing/2014/main" id="{7A4D0F67-C477-B4A1-CB06-949EF39B65FC}"/>
              </a:ext>
            </a:extLst>
          </p:cNvPr>
          <p:cNvSpPr/>
          <p:nvPr/>
        </p:nvSpPr>
        <p:spPr>
          <a:xfrm>
            <a:off x="1028700" y="533400"/>
            <a:ext cx="3556000" cy="355600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2258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25400" rIns="127000" bIns="25400" rtlCol="0" anchor="ctr"/>
          <a:lstStyle/>
          <a:p>
            <a:pPr algn="ctr"/>
            <a:r>
              <a:rPr lang="fr-FR" sz="1050" b="1">
                <a:solidFill>
                  <a:srgbClr val="22588D"/>
                </a:solidFill>
                <a:latin typeface="Segoe UI Semibold" panose="020B0702040204020203" pitchFamily="34" charset="0"/>
              </a:rPr>
              <a:t>SESSION FINALE • ❓ OPEN Q&amp;A SESSION</a:t>
            </a:r>
          </a:p>
        </p:txBody>
      </p:sp>
      <p:pic>
        <p:nvPicPr>
          <p:cNvPr id="12" name="AcademyCrest">
            <a:extLst>
              <a:ext uri="{FF2B5EF4-FFF2-40B4-BE49-F238E27FC236}">
                <a16:creationId xmlns:a16="http://schemas.microsoft.com/office/drawing/2014/main" id="{D95972A6-F3F7-E967-9768-1834F923FF8A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1400" y="1397000"/>
            <a:ext cx="29210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186530"/>
      </p:ext>
    </p:extLst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7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6563</Words>
  <Application>Microsoft Office PowerPoint</Application>
  <PresentationFormat>Personnalisé</PresentationFormat>
  <Paragraphs>466</Paragraphs>
  <Slides>44</Slides>
  <Notes>44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44</vt:i4>
      </vt:variant>
    </vt:vector>
  </HeadingPairs>
  <TitlesOfParts>
    <vt:vector size="50" baseType="lpstr">
      <vt:lpstr>Segoe UI Semibold</vt:lpstr>
      <vt:lpstr>Aptos</vt:lpstr>
      <vt:lpstr>Segoe UI</vt:lpstr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Modern Robotics Presentation</dc:title>
  <cp:lastModifiedBy>MOUHAMED  BOUGHRARA</cp:lastModifiedBy>
  <cp:revision>5</cp:revision>
  <dcterms:created xsi:type="dcterms:W3CDTF">2006-08-16T00:00:00Z</dcterms:created>
  <dcterms:modified xsi:type="dcterms:W3CDTF">2026-09-07T17:43:00Z</dcterms:modified>
  <dc:identifier>DAHUYIlvpTg</dc:identifier>
</cp:coreProperties>
</file>