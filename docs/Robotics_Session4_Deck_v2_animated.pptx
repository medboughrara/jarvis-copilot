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DF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6EDF7"/>
                </a:solidFill>
                <a:latin typeface="Calibri"/>
              </a:rPr>
              <a:t>Latency vs. distance (illustrative)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Reliable</c:v>
                </c:pt>
              </c:strCache>
            </c:strRef>
          </c:tx>
          <c:spPr>
            <a:solidFill>
              <a:srgbClr val="F5A524"/>
            </a:solidFill>
            <a:ln w="38100" cap="flat">
              <a:solidFill>
                <a:srgbClr val="F5A52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524"/>
              </a:solidFill>
              <a:ln w="9525" cap="flat">
                <a:solidFill>
                  <a:srgbClr val="F5A52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6</c:v>
                </c:pt>
                <c:pt idx="2">
                  <c:v>11</c:v>
                </c:pt>
                <c:pt idx="3">
                  <c:v>22</c:v>
                </c:pt>
                <c:pt idx="4">
                  <c:v>45</c:v>
                </c:pt>
                <c:pt idx="5">
                  <c:v>90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Best Effort</c:v>
                </c:pt>
              </c:strCache>
            </c:strRef>
          </c:tx>
          <c:spPr>
            <a:solidFill>
              <a:srgbClr val="2FD3C4"/>
            </a:solidFill>
            <a:ln w="38100" cap="flat">
              <a:solidFill>
                <a:srgbClr val="2FD3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D3C4"/>
              </a:solidFill>
              <a:ln w="9525" cap="flat">
                <a:solidFill>
                  <a:srgbClr val="2FD3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FB0C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9FB0C8"/>
                    </a:solidFill>
                    <a:latin typeface="Arial"/>
                  </a:rPr>
                  <a:t>Distance (m)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375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FB0C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9FB0C8"/>
                    </a:solidFill>
                    <a:latin typeface="Arial"/>
                  </a:rPr>
                  <a:t>ms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FB0C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DF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6EDF7"/>
                </a:solidFill>
                <a:latin typeface="Calibri"/>
              </a:rPr>
              <a:t>Position drift (illustrative)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Odometry only</c:v>
                </c:pt>
              </c:strCache>
            </c:strRef>
          </c:tx>
          <c:spPr>
            <a:solidFill>
              <a:srgbClr val="FF5C6C"/>
            </a:solidFill>
            <a:ln w="38100" cap="flat">
              <a:solidFill>
                <a:srgbClr val="FF5C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5C6C"/>
              </a:solidFill>
              <a:ln w="9525" cap="flat">
                <a:solidFill>
                  <a:srgbClr val="FF5C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0.15</c:v>
                </c:pt>
                <c:pt idx="2">
                  <c:v>0.4</c:v>
                </c:pt>
                <c:pt idx="3">
                  <c:v>0.8</c:v>
                </c:pt>
                <c:pt idx="4">
                  <c:v>1.3</c:v>
                </c:pt>
                <c:pt idx="5">
                  <c:v>1.9</c:v>
                </c:pt>
                <c:pt idx="6">
                  <c:v>2.6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EKF + UWB</c:v>
                </c:pt>
              </c:strCache>
            </c:strRef>
          </c:tx>
          <c:spPr>
            <a:solidFill>
              <a:srgbClr val="2FD3C4"/>
            </a:solidFill>
            <a:ln w="38100" cap="flat">
              <a:solidFill>
                <a:srgbClr val="2FD3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D3C4"/>
              </a:solidFill>
              <a:ln w="9525" cap="flat">
                <a:solidFill>
                  <a:srgbClr val="2FD3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0.05</c:v>
                </c:pt>
                <c:pt idx="1">
                  <c:v>0.08</c:v>
                </c:pt>
                <c:pt idx="2">
                  <c:v>0.1</c:v>
                </c:pt>
                <c:pt idx="3">
                  <c:v>0.1</c:v>
                </c:pt>
                <c:pt idx="4">
                  <c:v>0.11</c:v>
                </c:pt>
                <c:pt idx="5">
                  <c:v>0.1</c:v>
                </c:pt>
                <c:pt idx="6">
                  <c:v>0.1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FB0C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9FB0C8"/>
                    </a:solidFill>
                    <a:latin typeface="Arial"/>
                  </a:rPr>
                  <a:t>Time (s)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375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FB0C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9FB0C8"/>
                    </a:solidFill>
                    <a:latin typeface="Arial"/>
                  </a:rPr>
                  <a:t>Error (m)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FB0C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DF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6EDF7"/>
                </a:solidFill>
                <a:latin typeface="Calibri"/>
              </a:rPr>
              <a:t>Speed attenuation vs. obstacle range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 scale</c:v>
                </c:pt>
              </c:strCache>
            </c:strRef>
          </c:tx>
          <c:spPr>
            <a:solidFill>
              <a:srgbClr val="2FD3C4"/>
            </a:solidFill>
            <a:ln w="38100" cap="flat">
              <a:solidFill>
                <a:srgbClr val="2FD3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D3C4"/>
              </a:solidFill>
              <a:ln w="9525" cap="flat">
                <a:solidFill>
                  <a:srgbClr val="2FD3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0.2</c:v>
                  </c:pt>
                  <c:pt idx="1">
                    <c:v>0.45</c:v>
                  </c:pt>
                  <c:pt idx="2">
                    <c:v>0.6</c:v>
                  </c:pt>
                  <c:pt idx="3">
                    <c:v>0.8</c:v>
                  </c:pt>
                  <c:pt idx="4">
                    <c:v>1.0</c:v>
                  </c:pt>
                  <c:pt idx="5">
                    <c:v>1.2</c:v>
                  </c:pt>
                  <c:pt idx="6">
                    <c:v>1.5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0.47</c:v>
                </c:pt>
                <c:pt idx="4">
                  <c:v>0.73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FB0C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9FB0C8"/>
                    </a:solidFill>
                    <a:latin typeface="Arial"/>
                  </a:rPr>
                  <a:t>Range (m)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375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FB0C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9FB0C8"/>
                    </a:solidFill>
                    <a:latin typeface="Arial"/>
                  </a:rPr>
                  <a:t>Speed scale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ns0:sld xmlns:ns0="http://schemas.openxmlformats.org/presentationml/2006/main" xmlns:ns1="http://schemas.openxmlformats.org/drawingml/2006/main">
  <ns0:cSld name="Slide 1">
    <ns0:bg>
      <ns0:bgPr>
        <ns1:solidFill>
          <ns1:srgbClr val="0B1220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548640" y="822960"/>
            <ns1:ext cx="667512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200" b="1" spc="300" kern="0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IEEE FSB RAS SBC × IEEE AESS JORDAN · SESSION #4 (FINAL)</ns1:t>
            </ns1:r>
            <ns1:endParaRPr lang="en-US" sz="1200" dirty="0"/>
          </ns1:p>
        </ns0:txBody>
      </ns0:sp>
      <ns0:sp>
        <ns0:nvSpPr>
          <ns0:cNvPr id="3" name="Text 1"/>
          <ns0:cNvSpPr txBox="1"/>
          <ns0:nvPr/>
        </ns0:nvSpPr>
        <ns0:spPr>
          <ns1:xfrm>
            <ns1:off x="548640" y="1280160"/>
            <ns1:ext cx="6583680" cy="21031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44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Robot Communication, Beacons &amp; Spatial Memory</ns1:t>
            </ns1:r>
            <ns1:endParaRPr lang="en-US" sz="4400" dirty="0"/>
          </ns1:p>
        </ns0:txBody>
      </ns0:sp>
      <ns0:sp>
        <ns0:nvSpPr>
          <ns0:cNvPr id="4" name="Text 2"/>
          <ns0:cNvSpPr txBox="1"/>
          <ns0:nvPr/>
        </ns0:nvSpPr>
        <ns0:spPr>
          <ns1:xfrm>
            <ns1:off x="548640" y="3474720"/>
            <ns1:ext cx="6400800" cy="6400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800" dirty="0">
                <ns1:solidFill>
                  <ns1:srgbClr val="9FB0C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Synthesizing Multi-Robot Coordination and Persistent World Models</ns1:t>
            </ns1:r>
            <ns1:endParaRPr lang="en-US" sz="18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548640" y="4206240"/>
            <ns1:ext cx="6400800" cy="868680"/>
          </ns1:xfrm>
          <ns1:prstGeom prst="roundRect">
            <ns1:avLst>
              <ns1:gd name="adj" fmla="val 8421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6" name="Text 4"/>
          <ns0:cNvSpPr txBox="1"/>
          <ns0:nvPr/>
        </ns0:nvSpPr>
        <ns0:spPr>
          <ns1:xfrm>
            <ns1:off x="731520" y="4206240"/>
            <ns1:ext cx="6035040" cy="8686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4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Single-agent navigation becomes a multi-agent system operating under real-world bandwidth, physics and sensor constraints.</ns1:t>
            </ns1:r>
            <ns1:endParaRPr lang="en-US" sz="1400" dirty="0"/>
          </ns1:p>
        </ns0:txBody>
      </ns0:sp>
      <ns0:sp>
        <ns0:nvSpPr>
          <ns0:cNvPr id="7" name="Text 5"/>
          <ns0:cNvSpPr txBox="1"/>
          <ns0:nvPr/>
        </ns0:nvSpPr>
        <ns0:spPr>
          <ns1:xfrm>
            <ns1:off x="548640" y="5440680"/>
            <ns1:ext cx="640080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8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Mouhamed Boughrara</ns1:t>
            </ns1:r>
            <ns1:endParaRPr lang="en-US" sz="1800" dirty="0"/>
          </ns1:p>
        </ns0:txBody>
      </ns0:sp>
      <ns0:sp>
        <ns0:nvSpPr>
          <ns0:cNvPr id="8" name="Text 6"/>
          <ns0:cNvSpPr txBox="1"/>
          <ns0:nvPr/>
        </ns0:nvSpPr>
        <ns0:spPr>
          <ns1:xfrm>
            <ns1:off x="548640" y="5806440"/>
            <ns1:ext cx="640080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400" dirty="0">
                <ns1:solidFill>
                  <ns1:srgbClr val="9FB0C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Tech Lead &amp; Autonomous Systems Engineer</ns1:t>
            </ns1:r>
            <ns1:endParaRPr lang="en-US" sz="1400" dirty="0"/>
          </ns1:p>
        </ns0:txBody>
      </ns0:sp>
      <ns0:sp>
        <ns0:nvSpPr>
          <ns0:cNvPr id="9" name="Shape 7"/>
          <ns0:cNvSpPr/>
          <ns0:nvPr/>
        </ns0:nvSpPr>
        <ns0:spPr>
          <ns1:xfrm flipV="1">
            <ns1:off x="8229600" y="1463040"/>
            <ns1:ext cx="2286000" cy="365760"/>
          </ns1:xfrm>
          <ns1:prstGeom prst="line">
            <ns1:avLst/>
          </ns1:prstGeom>
          <ns1:noFill/>
          <ns1:ln w="19050">
            <ns1:solidFill>
              <ns1:srgbClr val="25375A"/>
            </ns1:solidFill>
            <ns1:prstDash val="solid"/>
          </ns1:ln>
        </ns0:spPr>
      </ns0:sp>
      <ns0:sp>
        <ns0:nvSpPr>
          <ns0:cNvPr id="10" name="Shape 8"/>
          <ns0:cNvSpPr/>
          <ns0:nvPr/>
        </ns0:nvSpPr>
        <ns0:spPr>
          <ns1:xfrm>
            <ns1:off x="8229600" y="1828800"/>
            <ns1:ext cx="1280160" cy="1463040"/>
          </ns1:xfrm>
          <ns1:prstGeom prst="line">
            <ns1:avLst/>
          </ns1:prstGeom>
          <ns1:noFill/>
          <ns1:ln w="19050">
            <ns1:solidFill>
              <ns1:srgbClr val="25375A"/>
            </ns1:solidFill>
            <ns1:prstDash val="solid"/>
          </ns1:ln>
        </ns0:spPr>
      </ns0:sp>
      <ns0:sp>
        <ns0:nvSpPr>
          <ns0:cNvPr id="11" name="Shape 9"/>
          <ns0:cNvSpPr/>
          <ns0:nvPr/>
        </ns0:nvSpPr>
        <ns0:spPr>
          <ns1:xfrm flipH="1">
            <ns1:off x="7863840" y="1828800"/>
            <ns1:ext cx="365760" cy="2377440"/>
          </ns1:xfrm>
          <ns1:prstGeom prst="line">
            <ns1:avLst/>
          </ns1:prstGeom>
          <ns1:noFill/>
          <ns1:ln w="19050">
            <ns1:solidFill>
              <ns1:srgbClr val="25375A"/>
            </ns1:solidFill>
            <ns1:prstDash val="solid"/>
          </ns1:ln>
        </ns0:spPr>
      </ns0:sp>
      <ns0:sp>
        <ns0:nvSpPr>
          <ns0:cNvPr id="12" name="Shape 10"/>
          <ns0:cNvSpPr/>
          <ns0:nvPr/>
        </ns0:nvSpPr>
        <ns0:spPr>
          <ns1:xfrm>
            <ns1:off x="10515600" y="1463040"/>
            <ns1:ext cx="822960" cy="1463040"/>
          </ns1:xfrm>
          <ns1:prstGeom prst="line">
            <ns1:avLst/>
          </ns1:prstGeom>
          <ns1:noFill/>
          <ns1:ln w="19050">
            <ns1:solidFill>
              <ns1:srgbClr val="25375A"/>
            </ns1:solidFill>
            <ns1:prstDash val="solid"/>
          </ns1:ln>
        </ns0:spPr>
      </ns0:sp>
      <ns0:sp>
        <ns0:nvSpPr>
          <ns0:cNvPr id="13" name="Shape 11"/>
          <ns0:cNvSpPr/>
          <ns0:nvPr/>
        </ns0:nvSpPr>
        <ns0:spPr>
          <ns1:xfrm flipH="1">
            <ns1:off x="9509760" y="1463040"/>
            <ns1:ext cx="1005840" cy="1828800"/>
          </ns1:xfrm>
          <ns1:prstGeom prst="line">
            <ns1:avLst/>
          </ns1:prstGeom>
          <ns1:noFill/>
          <ns1:ln w="19050">
            <ns1:solidFill>
              <ns1:srgbClr val="25375A"/>
            </ns1:solidFill>
            <ns1:prstDash val="solid"/>
          </ns1:ln>
        </ns0:spPr>
      </ns0:sp>
      <ns0:sp>
        <ns0:nvSpPr>
          <ns0:cNvPr id="14" name="Shape 12"/>
          <ns0:cNvSpPr/>
          <ns0:nvPr/>
        </ns0:nvSpPr>
        <ns0:spPr>
          <ns1:xfrm flipH="1">
            <ns1:off x="9509760" y="2926080"/>
            <ns1:ext cx="1828800" cy="365760"/>
          </ns1:xfrm>
          <ns1:prstGeom prst="line">
            <ns1:avLst/>
          </ns1:prstGeom>
          <ns1:noFill/>
          <ns1:ln w="19050">
            <ns1:solidFill>
              <ns1:srgbClr val="25375A"/>
            </ns1:solidFill>
            <ns1:prstDash val="solid"/>
          </ns1:ln>
        </ns0:spPr>
      </ns0:sp>
      <ns0:sp>
        <ns0:nvSpPr>
          <ns0:cNvPr id="15" name="Shape 13"/>
          <ns0:cNvSpPr/>
          <ns0:nvPr/>
        </ns0:nvSpPr>
        <ns0:spPr>
          <ns1:xfrm flipH="1">
            <ns1:off x="10241280" y="2926080"/>
            <ns1:ext cx="1097280" cy="1828800"/>
          </ns1:xfrm>
          <ns1:prstGeom prst="line">
            <ns1:avLst/>
          </ns1:prstGeom>
          <ns1:noFill/>
          <ns1:ln w="19050">
            <ns1:solidFill>
              <ns1:srgbClr val="25375A"/>
            </ns1:solidFill>
            <ns1:prstDash val="solid"/>
          </ns1:ln>
        </ns0:spPr>
      </ns0:sp>
      <ns0:sp>
        <ns0:nvSpPr>
          <ns0:cNvPr id="16" name="Shape 14"/>
          <ns0:cNvSpPr/>
          <ns0:nvPr/>
        </ns0:nvSpPr>
        <ns0:spPr>
          <ns1:xfrm flipH="1">
            <ns1:off x="7863840" y="3291840"/>
            <ns1:ext cx="1645920" cy="914400"/>
          </ns1:xfrm>
          <ns1:prstGeom prst="line">
            <ns1:avLst/>
          </ns1:prstGeom>
          <ns1:noFill/>
          <ns1:ln w="19050">
            <ns1:solidFill>
              <ns1:srgbClr val="25375A"/>
            </ns1:solidFill>
            <ns1:prstDash val="solid"/>
          </ns1:ln>
        </ns0:spPr>
      </ns0:sp>
      <ns0:sp>
        <ns0:nvSpPr>
          <ns0:cNvPr id="17" name="Shape 15"/>
          <ns0:cNvSpPr/>
          <ns0:nvPr/>
        </ns0:nvSpPr>
        <ns0:spPr>
          <ns1:xfrm>
            <ns1:off x="9509760" y="3291840"/>
            <ns1:ext cx="731520" cy="1463040"/>
          </ns1:xfrm>
          <ns1:prstGeom prst="line">
            <ns1:avLst/>
          </ns1:prstGeom>
          <ns1:noFill/>
          <ns1:ln w="19050">
            <ns1:solidFill>
              <ns1:srgbClr val="25375A"/>
            </ns1:solidFill>
            <ns1:prstDash val="solid"/>
          </ns1:ln>
        </ns0:spPr>
      </ns0:sp>
      <ns0:sp>
        <ns0:nvSpPr>
          <ns0:cNvPr id="18" name="Shape 16"/>
          <ns0:cNvSpPr/>
          <ns0:nvPr/>
        </ns0:nvSpPr>
        <ns0:spPr>
          <ns1:xfrm>
            <ns1:off x="7863840" y="4206240"/>
            <ns1:ext cx="2377440" cy="548640"/>
          </ns1:xfrm>
          <ns1:prstGeom prst="line">
            <ns1:avLst/>
          </ns1:prstGeom>
          <ns1:noFill/>
          <ns1:ln w="19050">
            <ns1:solidFill>
              <ns1:srgbClr val="25375A"/>
            </ns1:solidFill>
            <ns1:prstDash val="solid"/>
          </ns1:ln>
        </ns0:spPr>
      </ns0:sp>
      <ns0:sp>
        <ns0:nvSpPr>
          <ns0:cNvPr id="19" name="Shape 17"/>
          <ns0:cNvSpPr/>
          <ns0:nvPr/>
        </ns0:nvSpPr>
        <ns0:spPr>
          <ns1:xfrm>
            <ns1:off x="7863840" y="4206240"/>
            <ns1:ext cx="914400" cy="1463040"/>
          </ns1:xfrm>
          <ns1:prstGeom prst="line">
            <ns1:avLst/>
          </ns1:prstGeom>
          <ns1:noFill/>
          <ns1:ln w="19050">
            <ns1:solidFill>
              <ns1:srgbClr val="25375A"/>
            </ns1:solidFill>
            <ns1:prstDash val="solid"/>
          </ns1:ln>
        </ns0:spPr>
      </ns0:sp>
      <ns0:sp>
        <ns0:nvSpPr>
          <ns0:cNvPr id="20" name="Shape 18"/>
          <ns0:cNvSpPr/>
          <ns0:nvPr/>
        </ns0:nvSpPr>
        <ns0:spPr>
          <ns1:xfrm flipH="1">
            <ns1:off x="8778240" y="4754880"/>
            <ns1:ext cx="1463040" cy="914400"/>
          </ns1:xfrm>
          <ns1:prstGeom prst="line">
            <ns1:avLst/>
          </ns1:prstGeom>
          <ns1:noFill/>
          <ns1:ln w="19050">
            <ns1:solidFill>
              <ns1:srgbClr val="25375A"/>
            </ns1:solidFill>
            <ns1:prstDash val="solid"/>
          </ns1:ln>
        </ns0:spPr>
      </ns0:sp>
      <ns0:sp>
        <ns0:nvSpPr>
          <ns0:cNvPr id="21" name="Shape 19"/>
          <ns0:cNvSpPr/>
          <ns0:nvPr/>
        </ns0:nvSpPr>
        <ns0:spPr>
          <ns1:xfrm>
            <ns1:off x="10241280" y="4754880"/>
            <ns1:ext cx="1005840" cy="640080"/>
          </ns1:xfrm>
          <ns1:prstGeom prst="line">
            <ns1:avLst/>
          </ns1:prstGeom>
          <ns1:noFill/>
          <ns1:ln w="19050">
            <ns1:solidFill>
              <ns1:srgbClr val="25375A"/>
            </ns1:solidFill>
            <ns1:prstDash val="solid"/>
          </ns1:ln>
        </ns0:spPr>
      </ns0:sp>
      <ns0:sp>
        <ns0:nvSpPr>
          <ns0:cNvPr id="22" name="Shape 20"/>
          <ns0:cNvSpPr/>
          <ns0:nvPr/>
        </ns0:nvSpPr>
        <ns0:spPr>
          <ns1:xfrm>
            <ns1:off x="8028432" y="1627632"/>
            <ns1:ext cx="402336" cy="402336"/>
          </ns1:xfrm>
          <ns1:prstGeom prst="ellipse">
            <ns1:avLst/>
          </ns1:prstGeom>
          <ns1:solidFill>
            <ns1:srgbClr val="2FD3C4"/>
          </ns1:solidFill>
          <ns1:ln w="19050">
            <ns1:solidFill>
              <ns1:srgbClr val="2FD3C4"/>
            </ns1:solidFill>
            <ns1:prstDash val="solid"/>
          </ns1:ln>
        </ns0:spPr>
      </ns0:sp>
      <ns0:sp>
        <ns0:nvSpPr>
          <ns0:cNvPr id="23" name="Shape 21"/>
          <ns0:cNvSpPr/>
          <ns0:nvPr/>
        </ns0:nvSpPr>
        <ns0:spPr>
          <ns1:xfrm>
            <ns1:off x="10396728" y="1344168"/>
            <ns1:ext cx="237744" cy="237744"/>
          </ns1:xfrm>
          <ns1:prstGeom prst="ellipse">
            <ns1:avLst/>
          </ns1:prstGeom>
          <ns1:solidFill>
            <ns1:srgbClr val="F5A524"/>
          </ns1:solidFill>
          <ns1:ln w="19050">
            <ns1:solidFill>
              <ns1:srgbClr val="F5A524"/>
            </ns1:solidFill>
            <ns1:prstDash val="solid"/>
          </ns1:ln>
        </ns0:spPr>
      </ns0:sp>
      <ns0:sp>
        <ns0:nvSpPr>
          <ns0:cNvPr id="24" name="Shape 22"/>
          <ns0:cNvSpPr/>
          <ns0:nvPr/>
        </ns0:nvSpPr>
        <ns0:spPr>
          <ns1:xfrm>
            <ns1:off x="11137392" y="2724912"/>
            <ns1:ext cx="402336" cy="402336"/>
          </ns1:xfrm>
          <ns1:prstGeom prst="ellipse">
            <ns1:avLst/>
          </ns1:prstGeom>
          <ns1:solidFill>
            <ns1:srgbClr val="2FD3C4"/>
          </ns1:solidFill>
          <ns1:ln w="19050">
            <ns1:solidFill>
              <ns1:srgbClr val="2FD3C4"/>
            </ns1:solidFill>
            <ns1:prstDash val="solid"/>
          </ns1:ln>
        </ns0:spPr>
      </ns0:sp>
      <ns0:sp>
        <ns0:nvSpPr>
          <ns0:cNvPr id="25" name="Shape 23"/>
          <ns0:cNvSpPr/>
          <ns0:nvPr/>
        </ns0:nvSpPr>
        <ns0:spPr>
          <ns1:xfrm>
            <ns1:off x="9390888" y="3172968"/>
            <ns1:ext cx="237744" cy="237744"/>
          </ns1:xfrm>
          <ns1:prstGeom prst="ellipse">
            <ns1:avLst/>
          </ns1:prstGeom>
          <ns1:solidFill>
            <ns1:srgbClr val="F5A524"/>
          </ns1:solidFill>
          <ns1:ln w="19050">
            <ns1:solidFill>
              <ns1:srgbClr val="F5A524"/>
            </ns1:solidFill>
            <ns1:prstDash val="solid"/>
          </ns1:ln>
        </ns0:spPr>
      </ns0:sp>
      <ns0:sp>
        <ns0:nvSpPr>
          <ns0:cNvPr id="26" name="Shape 24"/>
          <ns0:cNvSpPr/>
          <ns0:nvPr/>
        </ns0:nvSpPr>
        <ns0:spPr>
          <ns1:xfrm>
            <ns1:off x="7662672" y="4005072"/>
            <ns1:ext cx="402336" cy="402336"/>
          </ns1:xfrm>
          <ns1:prstGeom prst="ellipse">
            <ns1:avLst/>
          </ns1:prstGeom>
          <ns1:solidFill>
            <ns1:srgbClr val="2FD3C4"/>
          </ns1:solidFill>
          <ns1:ln w="19050">
            <ns1:solidFill>
              <ns1:srgbClr val="2FD3C4"/>
            </ns1:solidFill>
            <ns1:prstDash val="solid"/>
          </ns1:ln>
        </ns0:spPr>
      </ns0:sp>
      <ns0:sp>
        <ns0:nvSpPr>
          <ns0:cNvPr id="27" name="Shape 25"/>
          <ns0:cNvSpPr/>
          <ns0:nvPr/>
        </ns0:nvSpPr>
        <ns0:spPr>
          <ns1:xfrm>
            <ns1:off x="10122408" y="4636008"/>
            <ns1:ext cx="237744" cy="237744"/>
          </ns1:xfrm>
          <ns1:prstGeom prst="ellipse">
            <ns1:avLst/>
          </ns1:prstGeom>
          <ns1:solidFill>
            <ns1:srgbClr val="F5A524"/>
          </ns1:solidFill>
          <ns1:ln w="19050">
            <ns1:solidFill>
              <ns1:srgbClr val="F5A524"/>
            </ns1:solidFill>
            <ns1:prstDash val="solid"/>
          </ns1:ln>
        </ns0:spPr>
      </ns0:sp>
      <ns0:sp>
        <ns0:nvSpPr>
          <ns0:cNvPr id="28" name="Shape 26"/>
          <ns0:cNvSpPr/>
          <ns0:nvPr/>
        </ns0:nvSpPr>
        <ns0:spPr>
          <ns1:xfrm>
            <ns1:off x="8577072" y="5468112"/>
            <ns1:ext cx="402336" cy="402336"/>
          </ns1:xfrm>
          <ns1:prstGeom prst="ellipse">
            <ns1:avLst/>
          </ns1:prstGeom>
          <ns1:solidFill>
            <ns1:srgbClr val="2FD3C4"/>
          </ns1:solidFill>
          <ns1:ln w="19050">
            <ns1:solidFill>
              <ns1:srgbClr val="2FD3C4"/>
            </ns1:solidFill>
            <ns1:prstDash val="solid"/>
          </ns1:ln>
        </ns0:spPr>
      </ns0:sp>
      <ns0:sp>
        <ns0:nvSpPr>
          <ns0:cNvPr id="29" name="Shape 27"/>
          <ns0:cNvSpPr/>
          <ns0:nvPr/>
        </ns0:nvSpPr>
        <ns0:spPr>
          <ns1:xfrm>
            <ns1:off x="11128248" y="5276088"/>
            <ns1:ext cx="237744" cy="237744"/>
          </ns1:xfrm>
          <ns1:prstGeom prst="ellipse">
            <ns1:avLst/>
          </ns1:prstGeom>
          <ns1:solidFill>
            <ns1:srgbClr val="F5A524"/>
          </ns1:solidFill>
          <ns1:ln w="19050">
            <ns1:solidFill>
              <ns1:srgbClr val="F5A524"/>
            </ns1:solidFill>
            <ns1:prstDash val="solid"/>
          </ns1:ln>
        </ns0:spPr>
      </ns0:sp>
    </ns0:spTree>
  </ns0:cSld>
  <ns0:clrMapOvr>
    <ns1:masterClrMapping/>
  </ns0:clrMapOvr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30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" dur="30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3" dur="300"/>
                                        <ns0:tgtEl>
                                          <ns0:spTgt spid="2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300"/>
                                        <ns0:tgtEl>
                                          <ns0:spTgt spid="2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7" fill="hold">
                            <ns0:stCondLst>
                              <ns0:cond delay="250"/>
                            </ns0:stCondLst>
                            <ns0:childTnLst>
                              <ns0:par>
                                <ns0:cTn id="18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0" dur="30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3" dur="30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30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9" dur="30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30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3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5" dur="30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36" fill="hold">
                            <ns0:stCondLst>
                              <ns0:cond delay="500"/>
                            </ns0:stCondLst>
                            <ns0:childTnLst>
                              <ns0:par>
                                <ns0:cTn id="37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9" dur="30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300"/>
                                        <ns0:tgtEl>
                                          <ns0:spTgt spid="2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3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5" dur="300"/>
                                        <ns0:tgtEl>
                                          <ns0:spTgt spid="2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6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8" dur="300"/>
                                        <ns0:tgtEl>
                                          <ns0:spTgt spid="2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49" fill="hold">
                            <ns0:stCondLst>
                              <ns0:cond delay="750"/>
                            </ns0:stCondLst>
                            <ns0:childTnLst>
                              <ns0:par>
                                <ns0:cTn id="50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30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3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5" dur="30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6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30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9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1" dur="30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2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4" dur="30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5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30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30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  <ns0:bldP spid="25" grpId="0" animBg="1"/>
      <ns0:bldP spid="26" grpId="0" animBg="1"/>
      <ns0:bldP spid="27" grpId="0" animBg="1"/>
      <ns0:bldP spid="28" grpId="0" animBg="1"/>
      <ns0:bldP spid="29" grpId="0" animBg="1"/>
    </ns0:bldLst>
  </ns0:timing>
</ns0:sld>
</file>

<file path=ppt/slides/slide2.xml><?xml version="1.0" encoding="utf-8"?>
<ns0:sld xmlns:ns0="http://schemas.openxmlformats.org/presentationml/2006/main" xmlns:ns1="http://schemas.openxmlformats.org/drawingml/2006/main">
  <ns0:cSld name="Slide 2">
    <ns0:bg>
      <ns0:bgPr>
        <ns1:solidFill>
          <ns1:srgbClr val="0B1220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548640" y="320040"/>
            <ns1:ext cx="91440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200" b="1" spc="300" kern="0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01 · ARCHITECTURE</ns1:t>
            </ns1:r>
            <ns1:endParaRPr lang="en-US" sz="1200" dirty="0"/>
          </ns1:p>
        </ns0:txBody>
      </ns0:sp>
      <ns0:sp>
        <ns0:nvSpPr>
          <ns0:cNvPr id="3" name="Text 1"/>
          <ns0:cNvSpPr txBox="1"/>
          <ns0:nvPr/>
        </ns0:nvSpPr>
        <ns0:spPr>
          <ns1:xfrm>
            <ns1:off x="548640" y="594360"/>
            <ns1:ext cx="11064240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32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System Architecture &amp; Bootcamp Synthesis</ns1:t>
            </ns1:r>
            <ns1:endParaRPr lang="en-US" sz="3200" dirty="0"/>
          </ns1:p>
        </ns0:txBody>
      </ns0:sp>
      <ns0:sp>
        <ns0:nvSpPr>
          <ns0:cNvPr id="4" name="Shape 2"/>
          <ns0:cNvSpPr/>
          <ns0:nvPr/>
        </ns0:nvSpPr>
        <ns0:spPr>
          <ns1:xfrm>
            <ns1:off x="548640" y="1554480"/>
            <ns1:ext cx="2514600" cy="1005840"/>
          </ns1:xfrm>
          <ns1:prstGeom prst="roundRect">
            <ns1:avLst>
              <ns1:gd name="adj" fmla="val 7273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5" name="Text 3"/>
          <ns0:cNvSpPr txBox="1"/>
          <ns0:nvPr/>
        </ns0:nvSpPr>
        <ns0:spPr>
          <ns1:xfrm>
            <ns1:off x="731520" y="1691640"/>
            <ns1:ext cx="219456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100" b="1" spc="200" kern="0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SESSION 1</ns1:t>
            </ns1:r>
            <ns1:endParaRPr lang="en-US" sz="1100" dirty="0"/>
          </ns1:p>
        </ns0:txBody>
      </ns0:sp>
      <ns0:sp>
        <ns0:nvSpPr>
          <ns0:cNvPr id="6" name="Text 4"/>
          <ns0:cNvSpPr txBox="1"/>
          <ns0:nvPr/>
        </ns0:nvSpPr>
        <ns0:spPr>
          <ns1:xfrm>
            <ns1:off x="731520" y="2011680"/>
            <ns1:ext cx="2194560" cy="457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8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Wireless Comm</ns1:t>
            </ns1:r>
            <ns1:endParaRPr lang="en-US" sz="1800" dirty="0"/>
          </ns1:p>
        </ns0:txBody>
      </ns0:sp>
      <ns0:sp>
        <ns0:nvSpPr>
          <ns0:cNvPr id="7" name="Shape 5"/>
          <ns0:cNvSpPr/>
          <ns0:nvPr/>
        </ns0:nvSpPr>
        <ns0:spPr>
          <ns1:xfrm>
            <ns1:off x="3090672" y="2057400"/>
            <ns1:ext cx="265176" cy="0"/>
          </ns1:xfrm>
          <ns1:prstGeom prst="line">
            <ns1:avLst/>
          </ns1:prstGeom>
          <ns1:noFill/>
          <ns1:ln w="25400">
            <ns1:solidFill>
              <ns1:srgbClr val="9FB0C8"/>
            </ns1:solidFill>
            <ns1:prstDash val="solid"/>
            <ns1:tailEnd type="triangle"/>
          </ns1:ln>
        </ns0:spPr>
      </ns0:sp>
      <ns0:sp>
        <ns0:nvSpPr>
          <ns0:cNvPr id="8" name="Shape 6"/>
          <ns0:cNvSpPr/>
          <ns0:nvPr/>
        </ns0:nvSpPr>
        <ns0:spPr>
          <ns1:xfrm>
            <ns1:off x="3383280" y="1554480"/>
            <ns1:ext cx="2514600" cy="1005840"/>
          </ns1:xfrm>
          <ns1:prstGeom prst="roundRect">
            <ns1:avLst>
              <ns1:gd name="adj" fmla="val 7273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9" name="Text 7"/>
          <ns0:cNvSpPr txBox="1"/>
          <ns0:nvPr/>
        </ns0:nvSpPr>
        <ns0:spPr>
          <ns1:xfrm>
            <ns1:off x="3566160" y="1691640"/>
            <ns1:ext cx="219456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100" b="1" spc="200" kern="0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SESSION 2</ns1:t>
            </ns1:r>
            <ns1:endParaRPr lang="en-US" sz="1100" dirty="0"/>
          </ns1:p>
        </ns0:txBody>
      </ns0:sp>
      <ns0:sp>
        <ns0:nvSpPr>
          <ns0:cNvPr id="10" name="Text 8"/>
          <ns0:cNvSpPr txBox="1"/>
          <ns0:nvPr/>
        </ns0:nvSpPr>
        <ns0:spPr>
          <ns1:xfrm>
            <ns1:off x="3566160" y="2011680"/>
            <ns1:ext cx="2194560" cy="457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8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Embedded Control</ns1:t>
            </ns1:r>
            <ns1:endParaRPr lang="en-US" sz="180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5925312" y="2057400"/>
            <ns1:ext cx="265176" cy="0"/>
          </ns1:xfrm>
          <ns1:prstGeom prst="line">
            <ns1:avLst/>
          </ns1:prstGeom>
          <ns1:noFill/>
          <ns1:ln w="25400">
            <ns1:solidFill>
              <ns1:srgbClr val="9FB0C8"/>
            </ns1:solidFill>
            <ns1:prstDash val="solid"/>
            <ns1:tailEnd type="triangle"/>
          </ns1:ln>
        </ns0:spPr>
      </ns0:sp>
      <ns0:sp>
        <ns0:nvSpPr>
          <ns0:cNvPr id="12" name="Shape 10"/>
          <ns0:cNvSpPr/>
          <ns0:nvPr/>
        </ns0:nvSpPr>
        <ns0:spPr>
          <ns1:xfrm>
            <ns1:off x="6217920" y="1554480"/>
            <ns1:ext cx="2514600" cy="1005840"/>
          </ns1:xfrm>
          <ns1:prstGeom prst="roundRect">
            <ns1:avLst>
              <ns1:gd name="adj" fmla="val 7273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13" name="Text 11"/>
          <ns0:cNvSpPr txBox="1"/>
          <ns0:nvPr/>
        </ns0:nvSpPr>
        <ns0:spPr>
          <ns1:xfrm>
            <ns1:off x="6400800" y="1691640"/>
            <ns1:ext cx="219456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100" b="1" spc="200" kern="0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SESSION 3</ns1:t>
            </ns1:r>
            <ns1:endParaRPr lang="en-US" sz="1100" dirty="0"/>
          </ns1:p>
        </ns0:txBody>
      </ns0:sp>
      <ns0:sp>
        <ns0:nvSpPr>
          <ns0:cNvPr id="14" name="Text 12"/>
          <ns0:cNvSpPr txBox="1"/>
          <ns0:nvPr/>
        </ns0:nvSpPr>
        <ns0:spPr>
          <ns1:xfrm>
            <ns1:off x="6400800" y="2011680"/>
            <ns1:ext cx="2194560" cy="457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8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SLAM / Nav2</ns1:t>
            </ns1:r>
            <ns1:endParaRPr lang="en-US" sz="1800" dirty="0"/>
          </ns1:p>
        </ns0:txBody>
      </ns0:sp>
      <ns0:sp>
        <ns0:nvSpPr>
          <ns0:cNvPr id="15" name="Shape 13"/>
          <ns0:cNvSpPr/>
          <ns0:nvPr/>
        </ns0:nvSpPr>
        <ns0:spPr>
          <ns1:xfrm>
            <ns1:off x="8759952" y="2057400"/>
            <ns1:ext cx="265176" cy="0"/>
          </ns1:xfrm>
          <ns1:prstGeom prst="line">
            <ns1:avLst/>
          </ns1:prstGeom>
          <ns1:noFill/>
          <ns1:ln w="25400">
            <ns1:solidFill>
              <ns1:srgbClr val="9FB0C8"/>
            </ns1:solidFill>
            <ns1:prstDash val="solid"/>
            <ns1:tailEnd type="triangle"/>
          </ns1:ln>
        </ns0:spPr>
      </ns0:sp>
      <ns0:sp>
        <ns0:nvSpPr>
          <ns0:cNvPr id="16" name="Shape 14"/>
          <ns0:cNvSpPr/>
          <ns0:nvPr/>
        </ns0:nvSpPr>
        <ns0:spPr>
          <ns1:xfrm>
            <ns1:off x="9052560" y="1554480"/>
            <ns1:ext cx="2514600" cy="1005840"/>
          </ns1:xfrm>
          <ns1:prstGeom prst="roundRect">
            <ns1:avLst>
              <ns1:gd name="adj" fmla="val 7273"/>
            </ns1:avLst>
          </ns1:prstGeom>
          <ns1:solidFill>
            <ns1:srgbClr val="2FD3C4"/>
          </ns1:solidFill>
          <ns1:ln w="12700">
            <ns1:solidFill>
              <ns1:srgbClr val="2FD3C4"/>
            </ns1:solidFill>
            <ns1:prstDash val="solid"/>
          </ns1:ln>
        </ns0:spPr>
      </ns0:sp>
      <ns0:sp>
        <ns0:nvSpPr>
          <ns0:cNvPr id="17" name="Text 15"/>
          <ns0:cNvSpPr txBox="1"/>
          <ns0:nvPr/>
        </ns0:nvSpPr>
        <ns0:spPr>
          <ns1:xfrm>
            <ns1:off x="9235440" y="1691640"/>
            <ns1:ext cx="219456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100" b="1" spc="200" kern="0" dirty="0">
                <ns1:solidFill>
                  <ns1:srgbClr val="0B122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SESSION 4 · TODAY</ns1:t>
            </ns1:r>
            <ns1:endParaRPr lang="en-US" sz="1100" dirty="0"/>
          </ns1:p>
        </ns0:txBody>
      </ns0:sp>
      <ns0:sp>
        <ns0:nvSpPr>
          <ns0:cNvPr id="18" name="Text 16"/>
          <ns0:cNvSpPr txBox="1"/>
          <ns0:nvPr/>
        </ns0:nvSpPr>
        <ns0:spPr>
          <ns1:xfrm>
            <ns1:off x="9235440" y="2011680"/>
            <ns1:ext cx="2194560" cy="457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800" b="1" dirty="0">
                <ns1:solidFill>
                  <ns1:srgbClr val="0B122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Multi-Robot Systems</ns1:t>
            </ns1:r>
            <ns1:endParaRPr lang="en-US" sz="1800" dirty="0"/>
          </ns1:p>
        </ns0:txBody>
      </ns0:sp>
      <ns0:sp>
        <ns0:nvSpPr>
          <ns0:cNvPr id="19" name="Shape 17"/>
          <ns0:cNvSpPr/>
          <ns0:nvPr/>
        </ns0:nvSpPr>
        <ns0:spPr>
          <ns1:xfrm>
            <ns1:off x="548640" y="2788920"/>
            <ns1:ext cx="3566160" cy="1600200"/>
          </ns1:xfrm>
          <ns1:prstGeom prst="roundRect">
            <ns1:avLst>
              <ns1:gd name="adj" fmla="val 4571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20" name="Text 18"/>
          <ns0:cNvSpPr txBox="1"/>
          <ns0:nvPr/>
        </ns0:nvSpPr>
        <ns0:spPr>
          <ns1:xfrm>
            <ns1:off x="822960" y="2880360"/>
            <ns1:ext cx="3108960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3800" b="1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20 Hz</ns1:t>
            </ns1:r>
            <ns1:endParaRPr lang="en-US" sz="3800" dirty="0"/>
          </ns1:p>
        </ns0:txBody>
      </ns0:sp>
      <ns0:sp>
        <ns0:nvSpPr>
          <ns0:cNvPr id="21" name="Text 19"/>
          <ns0:cNvSpPr txBox="1"/>
          <ns0:nvPr/>
        </ns0:nvSpPr>
        <ns0:spPr>
          <ns1:xfrm>
            <ns1:off x="822960" y="3611880"/>
            <ns1:ext cx="310896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5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Control execution loop</ns1:t>
            </ns1:r>
            <ns1:endParaRPr lang="en-US" sz="1500" dirty="0"/>
          </ns1:p>
        </ns0:txBody>
      </ns0:sp>
      <ns0:sp>
        <ns0:nvSpPr>
          <ns0:cNvPr id="22" name="Text 20"/>
          <ns0:cNvSpPr txBox="1"/>
          <ns0:nvPr/>
        </ns0:nvSpPr>
        <ns0:spPr>
          <ns1:xfrm>
            <ns1:off x="822960" y="3931920"/>
            <ns1:ext cx="310896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9FB0C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Motor drive commands</ns1:t>
            </ns1:r>
            <ns1:endParaRPr lang="en-US" sz="1200" dirty="0"/>
          </ns1:p>
        </ns0:txBody>
      </ns0:sp>
      <ns0:sp>
        <ns0:nvSpPr>
          <ns0:cNvPr id="23" name="Shape 21"/>
          <ns0:cNvSpPr/>
          <ns0:nvPr/>
        </ns0:nvSpPr>
        <ns0:spPr>
          <ns1:xfrm>
            <ns1:off x="4297680" y="2788920"/>
            <ns1:ext cx="3566160" cy="1600200"/>
          </ns1:xfrm>
          <ns1:prstGeom prst="roundRect">
            <ns1:avLst>
              <ns1:gd name="adj" fmla="val 4571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24" name="Text 22"/>
          <ns0:cNvSpPr txBox="1"/>
          <ns0:nvPr/>
        </ns0:nvSpPr>
        <ns0:spPr>
          <ns1:xfrm>
            <ns1:off x="4572000" y="2880360"/>
            <ns1:ext cx="3108960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3800" b="1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50 Hz</ns1:t>
            </ns1:r>
            <ns1:endParaRPr lang="en-US" sz="3800" dirty="0"/>
          </ns1:p>
        </ns0:txBody>
      </ns0:sp>
      <ns0:sp>
        <ns0:nvSpPr>
          <ns0:cNvPr id="25" name="Text 23"/>
          <ns0:cNvSpPr txBox="1"/>
          <ns0:nvPr/>
        </ns0:nvSpPr>
        <ns0:spPr>
          <ns1:xfrm>
            <ns1:off x="4572000" y="3611880"/>
            <ns1:ext cx="310896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5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Cross-robot telemetry</ns1:t>
            </ns1:r>
            <ns1:endParaRPr lang="en-US" sz="1500" dirty="0"/>
          </ns1:p>
        </ns0:txBody>
      </ns0:sp>
      <ns0:sp>
        <ns0:nvSpPr>
          <ns0:cNvPr id="26" name="Text 24"/>
          <ns0:cNvSpPr txBox="1"/>
          <ns0:nvPr/>
        </ns0:nvSpPr>
        <ns0:spPr>
          <ns1:xfrm>
            <ns1:off x="4572000" y="3931920"/>
            <ns1:ext cx="310896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9FB0C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DDS state broadcast on /robot_state</ns1:t>
            </ns1:r>
            <ns1:endParaRPr lang="en-US" sz="1200" dirty="0"/>
          </ns1:p>
        </ns0:txBody>
      </ns0:sp>
      <ns0:sp>
        <ns0:nvSpPr>
          <ns0:cNvPr id="27" name="Shape 25"/>
          <ns0:cNvSpPr/>
          <ns0:nvPr/>
        </ns0:nvSpPr>
        <ns0:spPr>
          <ns1:xfrm>
            <ns1:off x="8046720" y="2788920"/>
            <ns1:ext cx="3566160" cy="1600200"/>
          </ns1:xfrm>
          <ns1:prstGeom prst="roundRect">
            <ns1:avLst>
              <ns1:gd name="adj" fmla="val 4571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28" name="Text 26"/>
          <ns0:cNvSpPr txBox="1"/>
          <ns0:nvPr/>
        </ns0:nvSpPr>
        <ns0:spPr>
          <ns1:xfrm>
            <ns1:off x="8321040" y="2880360"/>
            <ns1:ext cx="3108960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3800" b="1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&lt; 5 cm</ns1:t>
            </ns1:r>
            <ns1:endParaRPr lang="en-US" sz="3800" dirty="0"/>
          </ns1:p>
        </ns0:txBody>
      </ns0:sp>
      <ns0:sp>
        <ns0:nvSpPr>
          <ns0:cNvPr id="29" name="Text 27"/>
          <ns0:cNvSpPr txBox="1"/>
          <ns0:nvPr/>
        </ns0:nvSpPr>
        <ns0:spPr>
          <ns1:xfrm>
            <ns1:off x="8321040" y="3611880"/>
            <ns1:ext cx="310896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5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Relative localization</ns1:t>
            </ns1:r>
            <ns1:endParaRPr lang="en-US" sz="1500" dirty="0"/>
          </ns1:p>
        </ns0:txBody>
      </ns0:sp>
      <ns0:sp>
        <ns0:nvSpPr>
          <ns0:cNvPr id="30" name="Text 28"/>
          <ns0:cNvSpPr txBox="1"/>
          <ns0:nvPr/>
        </ns0:nvSpPr>
        <ns0:spPr>
          <ns1:xfrm>
            <ns1:off x="8321040" y="3931920"/>
            <ns1:ext cx="310896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9FB0C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Fused UWB and visual anchors</ns1:t>
            </ns1:r>
            <ns1:endParaRPr lang="en-US" sz="1200" dirty="0"/>
          </ns1:p>
        </ns0:txBody>
      </ns0:sp>
      <ns0:sp>
        <ns0:nvSpPr>
          <ns0:cNvPr id="31" name="Shape 29"/>
          <ns0:cNvSpPr/>
          <ns0:nvPr/>
        </ns0:nvSpPr>
        <ns0:spPr>
          <ns1:xfrm>
            <ns1:off x="548640" y="4663440"/>
            <ns1:ext cx="5440680" cy="1645920"/>
          </ns1:xfrm>
          <ns1:prstGeom prst="roundRect">
            <ns1:avLst>
              <ns1:gd name="adj" fmla="val 4444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32" name="Text 30"/>
          <ns0:cNvSpPr txBox="1"/>
          <ns0:nvPr/>
        </ns0:nvSpPr>
        <ns0:spPr>
          <ns1:xfrm>
            <ns1:off x="822960" y="4846320"/>
            <ns1:ext cx="493776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700" b="1" dirty="0">
                <ns1:solidFill>
                  <ns1:srgbClr val="F5A52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SHORT-TERM · Local costmap</ns1:t>
            </ns1:r>
            <ns1:endParaRPr lang="en-US" sz="1700" dirty="0"/>
          </ns1:p>
        </ns0:txBody>
      </ns0:sp>
      <ns0:sp>
        <ns0:nvSpPr>
          <ns0:cNvPr id="33" name="Text 31"/>
          <ns0:cNvSpPr txBox="1"/>
          <ns0:nvPr/>
        </ns0:nvSpPr>
        <ns0:spPr>
          <ns1:xfrm>
            <ns1:off x="822960" y="5349240"/>
            <ns1:ext cx="4937760" cy="8229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4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Rolling window of dynamic obstacles for immediate collision avoidance.</ns1:t>
            </ns1:r>
            <ns1:endParaRPr lang="en-US" sz="1400" dirty="0"/>
          </ns1:p>
        </ns0:txBody>
      </ns0:sp>
      <ns0:sp>
        <ns0:nvSpPr>
          <ns0:cNvPr id="34" name="Shape 32"/>
          <ns0:cNvSpPr/>
          <ns0:nvPr/>
        </ns0:nvSpPr>
        <ns0:spPr>
          <ns1:xfrm>
            <ns1:off x="6172200" y="4663440"/>
            <ns1:ext cx="5440680" cy="1645920"/>
          </ns1:xfrm>
          <ns1:prstGeom prst="roundRect">
            <ns1:avLst>
              <ns1:gd name="adj" fmla="val 4444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35" name="Text 33"/>
          <ns0:cNvSpPr txBox="1"/>
          <ns0:nvPr/>
        </ns0:nvSpPr>
        <ns0:spPr>
          <ns1:xfrm>
            <ns1:off x="6446520" y="4846320"/>
            <ns1:ext cx="493776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700" b="1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LONG-TERM · Topological map graph</ns1:t>
            </ns1:r>
            <ns1:endParaRPr lang="en-US" sz="1700" dirty="0"/>
          </ns1:p>
        </ns0:txBody>
      </ns0:sp>
      <ns0:sp>
        <ns0:nvSpPr>
          <ns0:cNvPr id="36" name="Text 34"/>
          <ns0:cNvSpPr txBox="1"/>
          <ns0:nvPr/>
        </ns0:nvSpPr>
        <ns0:spPr>
          <ns1:xfrm>
            <ns1:off x="6446520" y="5349240"/>
            <ns1:ext cx="4937760" cy="8229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4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Persistent global waypoint memory, reused across sessions and shared by all robots.</ns1:t>
            </ns1:r>
            <ns1:endParaRPr lang="en-US" sz="1400" dirty="0"/>
          </ns1:p>
        </ns0:txBody>
      </ns0:sp>
    </ns0:spTree>
  </ns0:cSld>
  <ns0:clrMapOvr>
    <ns1:masterClrMapping/>
  </ns0:clrMapOvr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30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" dur="30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3" dur="30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4" fill="hold">
                            <ns0:stCondLst>
                              <ns0:cond delay="150"/>
                            </ns0:stCondLst>
                            <ns0:childTnLst>
                              <ns0:par>
                                <ns0:cTn id="15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0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8" fill="hold">
                            <ns0:stCondLst>
                              <ns0:cond delay="300"/>
                            </ns0:stCondLst>
                            <ns0:childTnLst>
                              <ns0:par>
                                <ns0:cTn id="19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30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2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4" dur="30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5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30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28" fill="hold">
                            <ns0:stCondLst>
                              <ns0:cond delay="450"/>
                            </ns0:stCondLst>
                            <ns0:childTnLst>
                              <ns0:par>
                                <ns0:cTn id="29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0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32" fill="hold">
                            <ns0:stCondLst>
                              <ns0:cond delay="600"/>
                            </ns0:stCondLst>
                            <ns0:childTnLst>
                              <ns0:par>
                                <ns0:cTn id="33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5" dur="30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6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8" dur="30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9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30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42" fill="hold">
                            <ns0:stCondLst>
                              <ns0:cond delay="750"/>
                            </ns0:stCondLst>
                            <ns0:childTnLst>
                              <ns0:par>
                                <ns0:cTn id="43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5" dur="20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46" fill="hold">
                            <ns0:stCondLst>
                              <ns0:cond delay="900"/>
                            </ns0:stCondLst>
                            <ns0:childTnLst>
                              <ns0:par>
                                <ns0:cTn id="47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9" dur="30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30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3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5" dur="30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6" fill="hold">
                      <ns0:stCondLst>
                        <ns0:cond delay="indefinite"/>
                      </ns0:stCondLst>
                      <ns0:childTnLst>
                        <ns0:par>
                          <ns0:cTn id="5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0" dur="35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35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6" dur="35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9" dur="35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70" fill="hold">
                            <ns0:stCondLst>
                              <ns0:cond delay="200"/>
                            </ns0:stCondLst>
                            <ns0:childTnLst>
                              <ns0:par>
                                <ns0:cTn id="71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3" dur="35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7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6" dur="35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7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9" dur="350"/>
                                        <ns0:tgtEl>
                                          <ns0:spTgt spid="2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350"/>
                                        <ns0:tgtEl>
                                          <ns0:spTgt spid="2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83" fill="hold">
                            <ns0:stCondLst>
                              <ns0:cond delay="400"/>
                            </ns0:stCondLst>
                            <ns0:childTnLst>
                              <ns0:par>
                                <ns0:cTn id="84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6" dur="350"/>
                                        <ns0:tgtEl>
                                          <ns0:spTgt spid="2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9" dur="350"/>
                                        <ns0:tgtEl>
                                          <ns0:spTgt spid="2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9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350"/>
                                        <ns0:tgtEl>
                                          <ns0:spTgt spid="2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93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5" dur="350"/>
                                        <ns0:tgtEl>
                                          <ns0:spTgt spid="3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6" fill="hold">
                      <ns0:stCondLst>
                        <ns0:cond delay="indefinite"/>
                      </ns0:stCondLst>
                      <ns0:childTnLst>
                        <ns0:par>
                          <ns0:cTn id="9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0" dur="350"/>
                                        <ns0:tgtEl>
                                          <ns0:spTgt spid="3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0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3" dur="350"/>
                                        <ns0:tgtEl>
                                          <ns0:spTgt spid="3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0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6" dur="350"/>
                                        <ns0:tgtEl>
                                          <ns0:spTgt spid="3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07" fill="hold">
                            <ns0:stCondLst>
                              <ns0:cond delay="250"/>
                            </ns0:stCondLst>
                            <ns0:childTnLst>
                              <ns0:par>
                                <ns0:cTn id="108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10" dur="350"/>
                                        <ns0:tgtEl>
                                          <ns0:spTgt spid="3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1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13" dur="350"/>
                                        <ns0:tgtEl>
                                          <ns0:spTgt spid="3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1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16" dur="350"/>
                                        <ns0:tgtEl>
                                          <ns0:spTgt spid="3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  <ns0:bldP spid="25" grpId="0" animBg="1"/>
      <ns0:bldP spid="26" grpId="0" animBg="1"/>
      <ns0:bldP spid="27" grpId="0" animBg="1"/>
      <ns0:bldP spid="28" grpId="0" animBg="1"/>
      <ns0:bldP spid="29" grpId="0" animBg="1"/>
      <ns0:bldP spid="30" grpId="0" animBg="1"/>
      <ns0:bldP spid="31" grpId="0" animBg="1"/>
      <ns0:bldP spid="32" grpId="0" animBg="1"/>
      <ns0:bldP spid="33" grpId="0" animBg="1"/>
      <ns0:bldP spid="34" grpId="0" animBg="1"/>
      <ns0:bldP spid="35" grpId="0" animBg="1"/>
      <ns0:bldP spid="36" grpId="0" animBg="1"/>
    </ns0:bldLst>
  </ns0:timing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powerpoint/2010/main" xmlns:ns3="http://schemas.openxmlformats.org/drawingml/2006/chart" xmlns:ns4="http://schemas.openxmlformats.org/officeDocument/2006/relationships">
  <ns0:cSld name="Slide 3">
    <ns0:bg>
      <ns0:bgPr>
        <ns1:solidFill>
          <ns1:srgbClr val="0B1220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548640" y="320040"/>
            <ns1:ext cx="91440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200" b="1" spc="300" kern="0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02 · COMMUNICATION</ns1:t>
            </ns1:r>
            <ns1:endParaRPr lang="en-US" sz="1200" dirty="0"/>
          </ns1:p>
        </ns0:txBody>
      </ns0:sp>
      <ns0:sp>
        <ns0:nvSpPr>
          <ns0:cNvPr id="3" name="Text 1"/>
          <ns0:cNvSpPr txBox="1"/>
          <ns0:nvPr/>
        </ns0:nvSpPr>
        <ns0:spPr>
          <ns1:xfrm>
            <ns1:off x="548640" y="594360"/>
            <ns1:ext cx="11064240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32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Multi-Robot Infrastructure: ROS 2 &amp; DDS</ns1:t>
            </ns1:r>
            <ns1:endParaRPr lang="en-US" sz="3200" dirty="0"/>
          </ns1:p>
        </ns0:txBody>
      </ns0:sp>
      <ns0:sp>
        <ns0:nvSpPr>
          <ns0:cNvPr id="4" name="Shape 2"/>
          <ns0:cNvSpPr/>
          <ns0:nvPr/>
        </ns0:nvSpPr>
        <ns0:spPr>
          <ns1:xfrm>
            <ns1:off x="548640" y="1554480"/>
            <ns1:ext cx="2194560" cy="1645920"/>
          </ns1:xfrm>
          <ns1:prstGeom prst="roundRect">
            <ns1:avLst>
              <ns1:gd name="adj" fmla="val 4444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5" name="Text 3"/>
          <ns0:cNvSpPr txBox="1"/>
          <ns0:nvPr/>
        </ns0:nvSpPr>
        <ns0:spPr>
          <ns1:xfrm>
            <ns1:off x="548640" y="1645920"/>
            <ns1:ext cx="219456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1500" b="1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Robot A</ns1:t>
            </ns1:r>
            <ns1:endParaRPr lang="en-US" sz="1500" dirty="0"/>
          </ns1:p>
        </ns0:txBody>
      </ns0:sp>
      <ns0:sp>
        <ns0:nvSpPr>
          <ns0:cNvPr id="6" name="Text 4"/>
          <ns0:cNvSpPr txBox="1"/>
          <ns0:nvPr/>
        </ns0:nvSpPr>
        <ns0:spPr>
          <ns1:xfrm>
            <ns1:off x="548640" y="2148840"/>
            <ns1:ext cx="2194560" cy="8229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1200" dirty="0">
                <ns1:solidFill>
                  <ns1:srgbClr val="9FB0C8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/odom  /robot_state</ns1:t>
            </ns1:r>
            <ns1:endParaRPr lang="en-US" sz="1200" dirty="0"/>
          </ns1:p>
          <ns1:p>
            <ns1:pPr algn="ctr" indent="0" marL="0">
              <ns1:buNone/>
            </ns1:pPr>
            <ns1:r>
              <ns1:rPr lang="en-US" sz="1200" dirty="0">
                <ns1:solidFill>
                  <ns1:srgbClr val="9FB0C8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/scan  /cmd_vel</ns1:t>
            </ns1:r>
            <ns1:endParaRPr lang="en-US" sz="1200" dirty="0"/>
          </ns1:p>
        </ns0:txBody>
      </ns0:sp>
      <ns0:sp>
        <ns0:nvSpPr>
          <ns0:cNvPr id="7" name="Shape 5"/>
          <ns0:cNvSpPr/>
          <ns0:nvPr/>
        </ns0:nvSpPr>
        <ns0:spPr>
          <ns1:xfrm>
            <ns1:off x="5029200" y="1554480"/>
            <ns1:ext cx="2194560" cy="1645920"/>
          </ns1:xfrm>
          <ns1:prstGeom prst="roundRect">
            <ns1:avLst>
              <ns1:gd name="adj" fmla="val 4444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5029200" y="1645920"/>
            <ns1:ext cx="219456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1500" b="1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Robot B</ns1:t>
            </ns1:r>
            <ns1:endParaRPr lang="en-US" sz="1500" dirty="0"/>
          </ns1:p>
        </ns0:txBody>
      </ns0:sp>
      <ns0:sp>
        <ns0:nvSpPr>
          <ns0:cNvPr id="9" name="Text 7"/>
          <ns0:cNvSpPr txBox="1"/>
          <ns0:nvPr/>
        </ns0:nvSpPr>
        <ns0:spPr>
          <ns1:xfrm>
            <ns1:off x="5029200" y="2148840"/>
            <ns1:ext cx="2194560" cy="8229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1200" dirty="0">
                <ns1:solidFill>
                  <ns1:srgbClr val="9FB0C8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/odom  /robot_state</ns1:t>
            </ns1:r>
            <ns1:endParaRPr lang="en-US" sz="1200" dirty="0"/>
          </ns1:p>
          <ns1:p>
            <ns1:pPr algn="ctr" indent="0" marL="0">
              <ns1:buNone/>
            </ns1:pPr>
            <ns1:r>
              <ns1:rPr lang="en-US" sz="1200" dirty="0">
                <ns1:solidFill>
                  <ns1:srgbClr val="9FB0C8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/scan  /cmd_vel</ns1:t>
            </ns1:r>
            <ns1:endParaRPr lang="en-US" sz="1200" dirty="0"/>
          </ns1:p>
        </ns0:txBody>
      </ns0:sp>
      <ns0:sp>
        <ns0:nvSpPr>
          <ns0:cNvPr id="10" name="Shape 8"/>
          <ns0:cNvSpPr/>
          <ns0:nvPr/>
        </ns0:nvSpPr>
        <ns0:spPr>
          <ns1:xfrm>
            <ns1:off x="3429000" y="1554480"/>
            <ns1:ext cx="914400" cy="1645920"/>
          </ns1:xfrm>
          <ns1:prstGeom prst="roundRect">
            <ns1:avLst>
              <ns1:gd name="adj" fmla="val 8000"/>
            </ns1:avLst>
          </ns1:prstGeom>
          <ns1:solidFill>
            <ns1:srgbClr val="4C8DFF"/>
          </ns1:solidFill>
          <ns1:ln w="12700">
            <ns1:solidFill>
              <ns1:srgbClr val="4C8DFF"/>
            </ns1:solidFill>
            <ns1:prstDash val="solid"/>
          </ns1:ln>
        </ns0:spPr>
      </ns0:sp>
      <ns0:sp>
        <ns0:nvSpPr>
          <ns0:cNvPr id="11" name="Text 9"/>
          <ns0:cNvSpPr txBox="1"/>
          <ns0:nvPr/>
        </ns0:nvSpPr>
        <ns0:spPr>
          <ns1:xfrm>
            <ns1:off x="3429000" y="1554480"/>
            <ns1:ext cx="914400" cy="16459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300" b="1" dirty="0">
                <ns1:solidFill>
                  <ns1:srgbClr val="0B122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DDS</ns1:t>
            </ns1:r>
            <ns1:endParaRPr lang="en-US" sz="1300" dirty="0"/>
          </ns1:p>
          <ns1:p>
            <ns1:pPr algn="ctr" indent="0" marL="0">
              <ns1:buNone/>
            </ns1:pPr>
            <ns1:r>
              <ns1:rPr lang="en-US" sz="1300" b="1" dirty="0">
                <ns1:solidFill>
                  <ns1:srgbClr val="0B122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Domain ID</ns1:t>
            </ns1:r>
            <ns1:endParaRPr lang="en-US" sz="1300" dirty="0"/>
          </ns1:p>
        </ns0:txBody>
      </ns0:sp>
      <ns0:sp>
        <ns0:nvSpPr>
          <ns0:cNvPr id="12" name="Shape 10"/>
          <ns0:cNvSpPr/>
          <ns0:nvPr/>
        </ns0:nvSpPr>
        <ns0:spPr>
          <ns1:xfrm>
            <ns1:off x="2743200" y="2103120"/>
            <ns1:ext cx="685800" cy="0"/>
          </ns1:xfrm>
          <ns1:prstGeom prst="line">
            <ns1:avLst/>
          </ns1:prstGeom>
          <ns1:noFill/>
          <ns1:ln w="25400">
            <ns1:solidFill>
              <ns1:srgbClr val="2FD3C4"/>
            </ns1:solidFill>
            <ns1:prstDash val="solid"/>
            <ns1:tailEnd type="triangle"/>
          </ns1:ln>
        </ns0:spPr>
      </ns0:sp>
      <ns0:sp>
        <ns0:nvSpPr>
          <ns0:cNvPr id="13" name="Shape 11"/>
          <ns0:cNvSpPr/>
          <ns0:nvPr/>
        </ns0:nvSpPr>
        <ns0:spPr>
          <ns1:xfrm>
            <ns1:off x="4343400" y="2103120"/>
            <ns1:ext cx="685800" cy="0"/>
          </ns1:xfrm>
          <ns1:prstGeom prst="line">
            <ns1:avLst/>
          </ns1:prstGeom>
          <ns1:noFill/>
          <ns1:ln w="25400">
            <ns1:solidFill>
              <ns1:srgbClr val="2FD3C4"/>
            </ns1:solidFill>
            <ns1:prstDash val="solid"/>
            <ns1:tailEnd type="triangle"/>
          </ns1:ln>
        </ns0:spPr>
      </ns0:sp>
      <ns0:sp>
        <ns0:nvSpPr>
          <ns0:cNvPr id="14" name="Shape 12"/>
          <ns0:cNvSpPr/>
          <ns0:nvPr/>
        </ns0:nvSpPr>
        <ns0:spPr>
          <ns1:xfrm flipH="1">
            <ns1:off x="4343400" y="2743200"/>
            <ns1:ext cx="685800" cy="0"/>
          </ns1:xfrm>
          <ns1:prstGeom prst="line">
            <ns1:avLst/>
          </ns1:prstGeom>
          <ns1:noFill/>
          <ns1:ln w="25400">
            <ns1:solidFill>
              <ns1:srgbClr val="F5A524"/>
            </ns1:solidFill>
            <ns1:prstDash val="solid"/>
            <ns1:tailEnd type="triangle"/>
          </ns1:ln>
        </ns0:spPr>
      </ns0:sp>
      <ns0:sp>
        <ns0:nvSpPr>
          <ns0:cNvPr id="15" name="Shape 13"/>
          <ns0:cNvSpPr/>
          <ns0:nvPr/>
        </ns0:nvSpPr>
        <ns0:spPr>
          <ns1:xfrm flipH="1">
            <ns1:off x="2743200" y="2743200"/>
            <ns1:ext cx="685800" cy="0"/>
          </ns1:xfrm>
          <ns1:prstGeom prst="line">
            <ns1:avLst/>
          </ns1:prstGeom>
          <ns1:noFill/>
          <ns1:ln w="25400">
            <ns1:solidFill>
              <ns1:srgbClr val="F5A524"/>
            </ns1:solidFill>
            <ns1:prstDash val="solid"/>
            <ns1:tailEnd type="triangle"/>
          </ns1:ln>
        </ns0:spPr>
      </ns0:sp>
      <ns0:sp>
        <ns0:nvSpPr>
          <ns0:cNvPr id="16" name="Text 14"/>
          <ns0:cNvSpPr txBox="1"/>
          <ns0:nvPr/>
        </ns0:nvSpPr>
        <ns0:spPr>
          <ns1:xfrm>
            <ns1:off x="548640" y="3291840"/>
            <ns1:ext cx="667512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1100" dirty="0">
                <ns1:solidFill>
                  <ns1:srgbClr val="9FB0C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peer-to-peer, no central broker</ns1:t>
            </ns1:r>
            <ns1:endParaRPr lang="en-US" sz="1100" dirty="0"/>
          </ns1:p>
        </ns0:txBody>
      </ns0:sp>
      <ns0:graphicFrame>
        <ns0:nvGraphicFramePr>
          <ns0:cNvPr id="4" name="Table 0"/>
          <ns0:cNvGraphicFramePr>
            <ns1:graphicFrameLocks noGrp="1"/>
          </ns0:cNvGraphicFramePr>
          <ns0:nvPr>
            <ns0:extLst>
              <ns0:ext uri="{D42A27DB-BD31-4B8C-83A1-F6EECF244321}">
                <ns2:modId val="1579011935"/>
              </ns0:ext>
            </ns0:extLst>
          </ns0:nvPr>
        </ns0:nvGraphicFramePr>
        <ns0:xfrm>
          <ns1:off x="548640" y="3657600"/>
          <ns1:ext cx="9144000" cy="914400"/>
        </ns0:xfrm>
        <ns1:graphic>
          <ns1:graphicData uri="http://schemas.openxmlformats.org/drawingml/2006/table">
            <ns1:tbl>
              <ns1:tblPr/>
              <ns1:tblGrid>
                <ns1:gridCol w="1463040"/>
                <ns1:gridCol w="1097280"/>
                <ns1:gridCol w="1280160"/>
                <ns1:gridCol w="2834640"/>
              </ns1:tblGrid>
              <ns1:tr h="36576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b="1" dirty="0">
                          <ns1:solidFill>
                            <ns1:srgbClr val="0B1220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Topics</ns1:t>
                      </ns1:r>
                      <ns1:endParaRPr lang="en-US" sz="12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2FD3C4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b="1" dirty="0">
                          <ns1:solidFill>
                            <ns1:srgbClr val="0B1220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Reliability</ns1:t>
                      </ns1:r>
                      <ns1:endParaRPr lang="en-US" sz="12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2FD3C4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b="1" dirty="0">
                          <ns1:solidFill>
                            <ns1:srgbClr val="0B1220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Durability</ns1:t>
                      </ns1:r>
                      <ns1:endParaRPr lang="en-US" sz="12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2FD3C4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b="1" dirty="0">
                          <ns1:solidFill>
                            <ns1:srgbClr val="0B1220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Why</ns1:t>
                      </ns1:r>
                      <ns1:endParaRPr lang="en-US" sz="12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2FD3C4"/>
                    </ns1:solidFill>
                  </ns1:tcPr>
                </ns1:tc>
              </ns1:tr>
              <ns1:tr h="73152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b="1" dirty="0">
                          <ns1:solidFill>
                            <ns1:srgbClr val="2FD3C4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/odom</ns1:t>
                      </ns1:r>
                      <ns1:endParaRPr lang="en-US" sz="12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  <ns1:p>
                      <ns1:pPr indent="0" marL="0">
                        <ns1:buNone/>
                      </ns1:pPr>
                      <ns1:r>
                        <ns1:rPr lang="en-US" sz="1200" b="1" dirty="0">
                          <ns1:solidFill>
                            <ns1:srgbClr val="2FD3C4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/robot_state</ns1:t>
                      </ns1:r>
                      <ns1:endParaRPr lang="en-US" sz="12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13203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E6EDF7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Reliable</ns1:t>
                      </ns1:r>
                      <ns1:endParaRPr lang="en-US" sz="12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13203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E6EDF7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Transient Local</ns1:t>
                      </ns1:r>
                      <ns1:endParaRPr lang="en-US" sz="12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13203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E6EDF7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Zero dropped state updates during task allocation</ns1:t>
                      </ns1:r>
                      <ns1:endParaRPr lang="en-US" sz="12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132038"/>
                    </ns1:solidFill>
                  </ns1:tcPr>
                </ns1:tc>
              </ns1:tr>
              <ns1:tr h="73152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b="1" dirty="0">
                          <ns1:solidFill>
                            <ns1:srgbClr val="2FD3C4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/scan</ns1:t>
                      </ns1:r>
                      <ns1:endParaRPr lang="en-US" sz="12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  <ns1:p>
                      <ns1:pPr indent="0" marL="0">
                        <ns1:buNone/>
                      </ns1:pPr>
                      <ns1:r>
                        <ns1:rPr lang="en-US" sz="1200" b="1" dirty="0">
                          <ns1:solidFill>
                            <ns1:srgbClr val="2FD3C4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/pointcloud</ns1:t>
                      </ns1:r>
                      <ns1:endParaRPr lang="en-US" sz="12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0E1729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E6EDF7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Best Effort</ns1:t>
                      </ns1:r>
                      <ns1:endParaRPr lang="en-US" sz="12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0E1729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E6EDF7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Volatile</ns1:t>
                      </ns1:r>
                      <ns1:endParaRPr lang="en-US" sz="12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0E1729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E6EDF7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No buffer latency; always use the newest frame</ns1:t>
                      </ns1:r>
                      <ns1:endParaRPr lang="en-US" sz="12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0E1729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18" name="Shape 15"/>
          <ns0:cNvSpPr/>
          <ns0:nvPr/>
        </ns0:nvSpPr>
        <ns0:spPr>
          <ns1:xfrm>
            <ns1:off x="7589520" y="1554480"/>
            <ns1:ext cx="4023360" cy="438912"/>
          </ns1:xfrm>
          <ns1:prstGeom prst="roundRect">
            <ns1:avLst>
              <ns1:gd name="adj" fmla="val 16667"/>
            </ns1:avLst>
          </ns1:prstGeom>
          <ns1:solidFill>
            <ns1:srgbClr val="FF5C6C"/>
          </ns1:solidFill>
          <ns1:ln w="12700">
            <ns1:solidFill>
              <ns1:srgbClr val="FF5C6C"/>
            </ns1:solidFill>
            <ns1:prstDash val="solid"/>
          </ns1:ln>
        </ns0:spPr>
      </ns0:sp>
      <ns0:sp>
        <ns0:nvSpPr>
          <ns0:cNvPr id="19" name="Text 16"/>
          <ns0:cNvSpPr txBox="1"/>
          <ns0:nvPr/>
        </ns0:nvSpPr>
        <ns0:spPr>
          <ns1:xfrm>
            <ns1:off x="7662672" y="1554480"/>
            <ns1:ext cx="3877056" cy="43891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0B122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Distance grows: signal dropout, latency spike</ns1:t>
            </ns1:r>
            <ns1:endParaRPr lang="en-US" sz="1200" dirty="0"/>
          </ns1:p>
        </ns0:txBody>
      </ns0:sp>
      <ns0:sp>
        <ns0:nvSpPr>
          <ns0:cNvPr id="20" name="Shape 17"/>
          <ns0:cNvSpPr/>
          <ns0:nvPr/>
        </ns0:nvSpPr>
        <ns0:spPr>
          <ns1:xfrm>
            <ns1:off x="9601200" y="2011680"/>
            <ns1:ext cx="0" cy="128016"/>
          </ns1:xfrm>
          <ns1:prstGeom prst="line">
            <ns1:avLst/>
          </ns1:prstGeom>
          <ns1:noFill/>
          <ns1:ln w="19050">
            <ns1:solidFill>
              <ns1:srgbClr val="9FB0C8"/>
            </ns1:solidFill>
            <ns1:prstDash val="solid"/>
            <ns1:tailEnd type="triangle"/>
          </ns1:ln>
        </ns0:spPr>
      </ns0:sp>
      <ns0:sp>
        <ns0:nvSpPr>
          <ns0:cNvPr id="21" name="Shape 18"/>
          <ns0:cNvSpPr/>
          <ns0:nvPr/>
        </ns0:nvSpPr>
        <ns0:spPr>
          <ns1:xfrm>
            <ns1:off x="7589520" y="2157984"/>
            <ns1:ext cx="4023360" cy="438912"/>
          </ns1:xfrm>
          <ns1:prstGeom prst="roundRect">
            <ns1:avLst>
              <ns1:gd name="adj" fmla="val 16667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22" name="Text 19"/>
          <ns0:cNvSpPr txBox="1"/>
          <ns0:nvPr/>
        </ns0:nvSpPr>
        <ns0:spPr>
          <ns1:xfrm>
            <ns1:off x="7662672" y="2157984"/>
            <ns1:ext cx="3877056" cy="43891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Receiver detects stale /robot_state</ns1:t>
            </ns1:r>
            <ns1:endParaRPr lang="en-US" sz="1200" dirty="0"/>
          </ns1:p>
        </ns0:txBody>
      </ns0:sp>
      <ns0:sp>
        <ns0:nvSpPr>
          <ns0:cNvPr id="23" name="Shape 20"/>
          <ns0:cNvSpPr/>
          <ns0:nvPr/>
        </ns0:nvSpPr>
        <ns0:spPr>
          <ns1:xfrm>
            <ns1:off x="9601200" y="2615184"/>
            <ns1:ext cx="0" cy="128016"/>
          </ns1:xfrm>
          <ns1:prstGeom prst="line">
            <ns1:avLst/>
          </ns1:prstGeom>
          <ns1:noFill/>
          <ns1:ln w="19050">
            <ns1:solidFill>
              <ns1:srgbClr val="9FB0C8"/>
            </ns1:solidFill>
            <ns1:prstDash val="solid"/>
            <ns1:tailEnd type="triangle"/>
          </ns1:ln>
        </ns0:spPr>
      </ns0:sp>
      <ns0:sp>
        <ns0:nvSpPr>
          <ns0:cNvPr id="24" name="Shape 21"/>
          <ns0:cNvSpPr/>
          <ns0:nvPr/>
        </ns0:nvSpPr>
        <ns0:spPr>
          <ns1:xfrm>
            <ns1:off x="7589520" y="2761488"/>
            <ns1:ext cx="4023360" cy="438912"/>
          </ns1:xfrm>
          <ns1:prstGeom prst="roundRect">
            <ns1:avLst>
              <ns1:gd name="adj" fmla="val 16667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25" name="Text 22"/>
          <ns0:cNvSpPr txBox="1"/>
          <ns0:nvPr/>
        </ns0:nvSpPr>
        <ns0:spPr>
          <ns1:xfrm>
            <ns1:off x="7662672" y="2761488"/>
            <ns1:ext cx="3877056" cy="43891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Fallback: state buffering</ns1:t>
            </ns1:r>
            <ns1:endParaRPr lang="en-US" sz="1200" dirty="0"/>
          </ns1:p>
        </ns0:txBody>
      </ns0:sp>
      <ns0:sp>
        <ns0:nvSpPr>
          <ns0:cNvPr id="26" name="Shape 23"/>
          <ns0:cNvSpPr/>
          <ns0:nvPr/>
        </ns0:nvSpPr>
        <ns0:spPr>
          <ns1:xfrm>
            <ns1:off x="9601200" y="3218688"/>
            <ns1:ext cx="0" cy="128016"/>
          </ns1:xfrm>
          <ns1:prstGeom prst="line">
            <ns1:avLst/>
          </ns1:prstGeom>
          <ns1:noFill/>
          <ns1:ln w="19050">
            <ns1:solidFill>
              <ns1:srgbClr val="9FB0C8"/>
            </ns1:solidFill>
            <ns1:prstDash val="solid"/>
            <ns1:tailEnd type="triangle"/>
          </ns1:ln>
        </ns0:spPr>
      </ns0:sp>
      <ns0:sp>
        <ns0:nvSpPr>
          <ns0:cNvPr id="27" name="Shape 24"/>
          <ns0:cNvSpPr/>
          <ns0:nvPr/>
        </ns0:nvSpPr>
        <ns0:spPr>
          <ns1:xfrm>
            <ns1:off x="7589520" y="3364992"/>
            <ns1:ext cx="4023360" cy="438912"/>
          </ns1:xfrm>
          <ns1:prstGeom prst="roundRect">
            <ns1:avLst>
              <ns1:gd name="adj" fmla="val 16667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28" name="Text 25"/>
          <ns0:cNvSpPr txBox="1"/>
          <ns0:nvPr/>
        </ns0:nvSpPr>
        <ns0:spPr>
          <ns1:xfrm>
            <ns1:off x="7662672" y="3364992"/>
            <ns1:ext cx="3877056" cy="43891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Dead-reckoning interpolation until link returns</ns1:t>
            </ns1:r>
            <ns1:endParaRPr lang="en-US" sz="1200" dirty="0"/>
          </ns1:p>
        </ns0:txBody>
      </ns0:sp>
      <ns0:graphicFrame>
        <ns0:nvGraphicFramePr>
          <ns0:cNvPr id="29" name="Chart 0" descr=""/>
          <ns0:cNvGraphicFramePr/>
          <ns0:nvPr/>
        </ns0:nvGraphicFramePr>
        <ns0:xfrm>
          <ns1:off x="7589520" y="4023360"/>
          <ns1:ext cx="4023360" cy="2423160"/>
        </ns0:xfrm>
        <ns1:graphic>
          <ns1:graphicData uri="http://schemas.openxmlformats.org/drawingml/2006/chart">
            <ns3:chart ns4:id="rId1"/>
          </ns1:graphicData>
        </ns1:graphic>
      </ns0:graphicFrame>
    </ns0:spTree>
  </ns0:cSld>
  <ns0:clrMapOvr>
    <ns1:masterClrMapping/>
  </ns0:clrMapOvr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35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" dur="35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3" dur="35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4" fill="hold">
                            <ns0:stCondLst>
                              <ns0:cond delay="200"/>
                            </ns0:stCondLst>
                            <ns0:childTnLst>
                              <ns0:par>
                                <ns0:cTn id="15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35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0" dur="35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21" fill="hold">
                            <ns0:stCondLst>
                              <ns0:cond delay="350"/>
                            </ns0:stCondLst>
                            <ns0:childTnLst>
                              <ns0:par>
                                <ns0:cTn id="22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4" dur="25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5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5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0" dur="25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3" dur="25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34" fill="hold">
                            <ns0:stCondLst>
                              <ns0:cond delay="500"/>
                            </ns0:stCondLst>
                            <ns0:childTnLst>
                              <ns0:par>
                                <ns0:cTn id="35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35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0" dur="35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3" dur="35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44" fill="hold">
                            <ns0:stCondLst>
                              <ns0:cond delay="700"/>
                            </ns0:stCondLst>
                            <ns0:childTnLst>
                              <ns0:par>
                                <ns0:cTn id="45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5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30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3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5" dur="30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56" fill="hold">
                            <ns0:stCondLst>
                              <ns0:cond delay="150"/>
                            </ns0:stCondLst>
                            <ns0:childTnLst>
                              <ns0:par>
                                <ns0:cTn id="57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9" dur="20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60" fill="hold">
                            <ns0:stCondLst>
                              <ns0:cond delay="300"/>
                            </ns0:stCondLst>
                            <ns0:childTnLst>
                              <ns0:par>
                                <ns0:cTn id="61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30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6" dur="30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67" fill="hold">
                            <ns0:stCondLst>
                              <ns0:cond delay="450"/>
                            </ns0:stCondLst>
                            <ns0:childTnLst>
                              <ns0:par>
                                <ns0:cTn id="68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0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71" fill="hold">
                            <ns0:stCondLst>
                              <ns0:cond delay="600"/>
                            </ns0:stCondLst>
                            <ns0:childTnLst>
                              <ns0:par>
                                <ns0:cTn id="72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4" dur="30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75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300"/>
                                        <ns0:tgtEl>
                                          <ns0:spTgt spid="2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78" fill="hold">
                            <ns0:stCondLst>
                              <ns0:cond delay="750"/>
                            </ns0:stCondLst>
                            <ns0:childTnLst>
                              <ns0:par>
                                <ns0:cTn id="79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1" dur="200"/>
                                        <ns0:tgtEl>
                                          <ns0:spTgt spid="2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82" fill="hold">
                            <ns0:stCondLst>
                              <ns0:cond delay="900"/>
                            </ns0:stCondLst>
                            <ns0:childTnLst>
                              <ns0:par>
                                <ns0:cTn id="83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5" dur="300"/>
                                        <ns0:tgtEl>
                                          <ns0:spTgt spid="2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6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8" dur="300"/>
                                        <ns0:tgtEl>
                                          <ns0:spTgt spid="2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9" fill="hold">
                      <ns0:stCondLst>
                        <ns0:cond delay="indefinite"/>
                      </ns0:stCondLst>
                      <ns0:childTnLst>
                        <ns0:par>
                          <ns0:cTn id="9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3" dur="500"/>
                                        <ns0:tgtEl>
                                          <ns0:spTgt spid="2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  <ns0:bldP spid="25" grpId="0" animBg="1"/>
      <ns0:bldP spid="26" grpId="0" animBg="1"/>
      <ns0:bldP spid="27" grpId="0" animBg="1"/>
      <ns0:bldP spid="28" grpId="0" animBg="1"/>
      <ns0:bldP spid="29" grpId="0" animBg="1"/>
    </ns0:bldLst>
  </ns0:timing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drawingml/2006/chart" xmlns:ns3="http://schemas.openxmlformats.org/officeDocument/2006/relationships">
  <ns0:cSld name="Slide 4">
    <ns0:bg>
      <ns0:bgPr>
        <ns1:solidFill>
          <ns1:srgbClr val="0B1220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548640" y="320040"/>
            <ns1:ext cx="91440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200" b="1" spc="300" kern="0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03 · LOCALIZATION</ns1:t>
            </ns1:r>
            <ns1:endParaRPr lang="en-US" sz="1200" dirty="0"/>
          </ns1:p>
        </ns0:txBody>
      </ns0:sp>
      <ns0:sp>
        <ns0:nvSpPr>
          <ns0:cNvPr id="3" name="Text 1"/>
          <ns0:cNvSpPr txBox="1"/>
          <ns0:nvPr/>
        </ns0:nvSpPr>
        <ns0:spPr>
          <ns1:xfrm>
            <ns1:off x="548640" y="594360"/>
            <ns1:ext cx="11064240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32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Beacon-Based Relative Localization</ns1:t>
            </ns1:r>
            <ns1:endParaRPr lang="en-US" sz="3200" dirty="0"/>
          </ns1:p>
        </ns0:txBody>
      </ns0:sp>
      <ns0:sp>
        <ns0:nvSpPr>
          <ns0:cNvPr id="4" name="Text 2"/>
          <ns0:cNvSpPr txBox="1"/>
          <ns0:nvPr/>
        </ns0:nvSpPr>
        <ns0:spPr>
          <ns1:xfrm>
            <ns1:off x="548640" y="1508760"/>
            <ns1:ext cx="36576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5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EKF sensor fusion</ns1:t>
            </ns1:r>
            <ns1:endParaRPr lang="en-US" sz="15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548640" y="1828800"/>
            <ns1:ext cx="2560320" cy="960120"/>
          </ns1:xfrm>
          <ns1:prstGeom prst="roundRect">
            <ns1:avLst>
              <ns1:gd name="adj" fmla="val 7619"/>
            </ns1:avLst>
          </ns1:prstGeom>
          <ns1:solidFill>
            <ns1:srgbClr val="132038"/>
          </ns1:solidFill>
          <ns1:ln w="12700">
            <ns1:solidFill>
              <ns1:srgbClr val="2FD3C4"/>
            </ns1:solidFill>
            <ns1:prstDash val="solid"/>
          </ns1:ln>
        </ns0:spPr>
      </ns0:sp>
      <ns0:sp>
        <ns0:nvSpPr>
          <ns0:cNvPr id="6" name="Text 4"/>
          <ns0:cNvSpPr txBox="1"/>
          <ns0:nvPr/>
        </ns0:nvSpPr>
        <ns0:spPr>
          <ns1:xfrm>
            <ns1:off x="621792" y="1828800"/>
            <ns1:ext cx="2414016" cy="9601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PREDICTION</ns1:t>
            </ns1:r>
            <ns1:endParaRPr lang="en-US" sz="1200" dirty="0"/>
          </ns1:p>
          <ns1:p>
            <ns1:pPr algn="ctr" indent="0" marL="0">
              <ns1:buNone/>
            </ns1:pPr>
            <ns1:r>
              <ns1:rPr lang="en-US" sz="12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Wheel odometry dead-reckoning, continuous, high frequency</ns1:t>
            </ns1:r>
            <ns1:endParaRPr lang="en-US" sz="1200" dirty="0"/>
          </ns1:p>
        </ns0:txBody>
      </ns0:sp>
      <ns0:sp>
        <ns0:nvSpPr>
          <ns0:cNvPr id="7" name="Shape 5"/>
          <ns0:cNvSpPr/>
          <ns0:nvPr/>
        </ns0:nvSpPr>
        <ns0:spPr>
          <ns1:xfrm>
            <ns1:off x="548640" y="2971800"/>
            <ns1:ext cx="2560320" cy="960120"/>
          </ns1:xfrm>
          <ns1:prstGeom prst="roundRect">
            <ns1:avLst>
              <ns1:gd name="adj" fmla="val 7619"/>
            </ns1:avLst>
          </ns1:prstGeom>
          <ns1:solidFill>
            <ns1:srgbClr val="132038"/>
          </ns1:solidFill>
          <ns1:ln w="12700">
            <ns1:solidFill>
              <ns1:srgbClr val="4C8DFF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621792" y="2971800"/>
            <ns1:ext cx="2414016" cy="9601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CORRECTION</ns1:t>
            </ns1:r>
            <ns1:endParaRPr lang="en-US" sz="1200" dirty="0"/>
          </ns1:p>
          <ns1:p>
            <ns1:pPr algn="ctr" indent="0" marL="0">
              <ns1:buNone/>
            </ns1:pPr>
            <ns1:r>
              <ns1:rPr lang="en-US" sz="12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Asynchronous UWB ranges from fixed anchors; range intersections</ns1:t>
            </ns1:r>
            <ns1:endParaRPr lang="en-US" sz="120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3749040" y="2194560"/>
            <ns1:ext cx="1554480" cy="1371600"/>
          </ns1:xfrm>
          <ns1:prstGeom prst="roundRect">
            <ns1:avLst>
              <ns1:gd name="adj" fmla="val 5333"/>
            </ns1:avLst>
          </ns1:prstGeom>
          <ns1:solidFill>
            <ns1:srgbClr val="F5A524"/>
          </ns1:solidFill>
          <ns1:ln w="12700">
            <ns1:solidFill>
              <ns1:srgbClr val="F5A524"/>
            </ns1:solidFill>
            <ns1:prstDash val="solid"/>
          </ns1:ln>
        </ns0:spPr>
      </ns0:sp>
      <ns0:sp>
        <ns0:nvSpPr>
          <ns0:cNvPr id="10" name="Text 8"/>
          <ns0:cNvSpPr txBox="1"/>
          <ns0:nvPr/>
        </ns0:nvSpPr>
        <ns0:spPr>
          <ns1:xfrm>
            <ns1:off x="3822192" y="2194560"/>
            <ns1:ext cx="1408176" cy="1371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400" b="1" dirty="0">
                <ns1:solidFill>
                  <ns1:srgbClr val="0B122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EKF</ns1:t>
            </ns1:r>
            <ns1:endParaRPr lang="en-US" sz="1400" dirty="0"/>
          </ns1:p>
          <ns1:p>
            <ns1:pPr algn="ctr" indent="0" marL="0">
              <ns1:buNone/>
            </ns1:pPr>
            <ns1:r>
              <ns1:rPr lang="en-US" sz="1400" b="1" dirty="0">
                <ns1:solidFill>
                  <ns1:srgbClr val="0B122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state estimate</ns1:t>
            </ns1:r>
            <ns1:endParaRPr lang="en-US" sz="140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5852160" y="2194560"/>
            <ns1:ext cx="1371600" cy="1371600"/>
          </ns1:xfrm>
          <ns1:prstGeom prst="roundRect">
            <ns1:avLst>
              <ns1:gd name="adj" fmla="val 5333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12" name="Text 10"/>
          <ns0:cNvSpPr txBox="1"/>
          <ns0:nvPr/>
        </ns0:nvSpPr>
        <ns0:spPr>
          <ns1:xfrm>
            <ns1:off x="5925312" y="2194560"/>
            <ns1:ext cx="1225296" cy="1371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Drift-free pose</ns1:t>
            </ns1:r>
            <ns1:endParaRPr lang="en-US" sz="1200" dirty="0"/>
          </ns1:p>
          <ns1:p>
            <ns1:pPr algn="ctr" indent="0" marL="0">
              <ns1:buNone/>
            </ns1:pPr>
            <ns1:r>
              <ns1:rPr lang="en-US" sz="12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/robot_state</ns1:t>
            </ns1:r>
            <ns1:endParaRPr lang="en-US" sz="1200" dirty="0"/>
          </ns1:p>
        </ns0:txBody>
      </ns0:sp>
      <ns0:sp>
        <ns0:nvSpPr>
          <ns0:cNvPr id="13" name="Shape 11"/>
          <ns0:cNvSpPr/>
          <ns0:nvPr/>
        </ns0:nvSpPr>
        <ns0:spPr>
          <ns1:xfrm>
            <ns1:off x="3108960" y="2286000"/>
            <ns1:ext cx="640080" cy="320040"/>
          </ns1:xfrm>
          <ns1:prstGeom prst="line">
            <ns1:avLst/>
          </ns1:prstGeom>
          <ns1:noFill/>
          <ns1:ln w="25400">
            <ns1:solidFill>
              <ns1:srgbClr val="2FD3C4"/>
            </ns1:solidFill>
            <ns1:prstDash val="solid"/>
            <ns1:tailEnd type="triangle"/>
          </ns1:ln>
        </ns0:spPr>
      </ns0:sp>
      <ns0:sp>
        <ns0:nvSpPr>
          <ns0:cNvPr id="14" name="Shape 12"/>
          <ns0:cNvSpPr/>
          <ns0:nvPr/>
        </ns0:nvSpPr>
        <ns0:spPr>
          <ns1:xfrm flipV="1">
            <ns1:off x="3108960" y="3154680"/>
            <ns1:ext cx="640080" cy="320040"/>
          </ns1:xfrm>
          <ns1:prstGeom prst="line">
            <ns1:avLst/>
          </ns1:prstGeom>
          <ns1:noFill/>
          <ns1:ln w="25400">
            <ns1:solidFill>
              <ns1:srgbClr val="4C8DFF"/>
            </ns1:solidFill>
            <ns1:prstDash val="solid"/>
            <ns1:tailEnd type="triangle"/>
          </ns1:ln>
        </ns0:spPr>
      </ns0:sp>
      <ns0:sp>
        <ns0:nvSpPr>
          <ns0:cNvPr id="15" name="Shape 13"/>
          <ns0:cNvSpPr/>
          <ns0:nvPr/>
        </ns0:nvSpPr>
        <ns0:spPr>
          <ns1:xfrm>
            <ns1:off x="5303520" y="2880360"/>
            <ns1:ext cx="548640" cy="0"/>
          </ns1:xfrm>
          <ns1:prstGeom prst="line">
            <ns1:avLst/>
          </ns1:prstGeom>
          <ns1:noFill/>
          <ns1:ln w="25400">
            <ns1:solidFill>
              <ns1:srgbClr val="9FB0C8"/>
            </ns1:solidFill>
            <ns1:prstDash val="solid"/>
            <ns1:tailEnd type="triangle"/>
          </ns1:ln>
        </ns0:spPr>
      </ns0:sp>
      <ns0:sp>
        <ns0:nvSpPr>
          <ns0:cNvPr id="16" name="Text 14"/>
          <ns0:cNvSpPr txBox="1"/>
          <ns0:nvPr/>
        </ns0:nvSpPr>
        <ns0:spPr>
          <ns1:xfrm>
            <ns1:off x="548640" y="4206240"/>
            <ns1:ext cx="54864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5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Visual fiducial ranging (ArUco)</ns1:t>
            </ns1:r>
            <ns1:endParaRPr lang="en-US" sz="1500" dirty="0"/>
          </ns1:p>
        </ns0:txBody>
      </ns0:sp>
      <ns0:sp>
        <ns0:nvSpPr>
          <ns0:cNvPr id="17" name="Shape 15"/>
          <ns0:cNvSpPr/>
          <ns0:nvPr/>
        </ns0:nvSpPr>
        <ns0:spPr>
          <ns1:xfrm>
            <ns1:off x="548640" y="4572000"/>
            <ns1:ext cx="1554480" cy="1097280"/>
          </ns1:xfrm>
          <ns1:prstGeom prst="roundRect">
            <ns1:avLst>
              <ns1:gd name="adj" fmla="val 6667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18" name="Text 16"/>
          <ns0:cNvSpPr txBox="1"/>
          <ns0:nvPr/>
        </ns0:nvSpPr>
        <ns0:spPr>
          <ns1:xfrm>
            <ns1:off x="621792" y="4572000"/>
            <ns1:ext cx="1408176" cy="10972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Detect tag corners in the image</ns1:t>
            </ns1:r>
            <ns1:endParaRPr lang="en-US" sz="1100" dirty="0"/>
          </ns1:p>
        </ns0:txBody>
      </ns0:sp>
      <ns0:sp>
        <ns0:nvSpPr>
          <ns0:cNvPr id="19" name="Shape 17"/>
          <ns0:cNvSpPr/>
          <ns0:nvPr/>
        </ns0:nvSpPr>
        <ns0:spPr>
          <ns1:xfrm>
            <ns1:off x="2121408" y="5120640"/>
            <ns1:ext cx="146304" cy="0"/>
          </ns1:xfrm>
          <ns1:prstGeom prst="line">
            <ns1:avLst/>
          </ns1:prstGeom>
          <ns1:noFill/>
          <ns1:ln w="25400">
            <ns1:solidFill>
              <ns1:srgbClr val="9FB0C8"/>
            </ns1:solidFill>
            <ns1:prstDash val="solid"/>
            <ns1:tailEnd type="triangle"/>
          </ns1:ln>
        </ns0:spPr>
      </ns0:sp>
      <ns0:sp>
        <ns0:nvSpPr>
          <ns0:cNvPr id="20" name="Shape 18"/>
          <ns0:cNvSpPr/>
          <ns0:nvPr/>
        </ns0:nvSpPr>
        <ns0:spPr>
          <ns1:xfrm>
            <ns1:off x="2286000" y="4572000"/>
            <ns1:ext cx="1554480" cy="1097280"/>
          </ns1:xfrm>
          <ns1:prstGeom prst="roundRect">
            <ns1:avLst>
              <ns1:gd name="adj" fmla="val 6667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21" name="Text 19"/>
          <ns0:cNvSpPr txBox="1"/>
          <ns0:nvPr/>
        </ns0:nvSpPr>
        <ns0:spPr>
          <ns1:xfrm>
            <ns1:off x="2359152" y="4572000"/>
            <ns1:ext cx="1408176" cy="10972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Known 3D tag size + camera intrinsics</ns1:t>
            </ns1:r>
            <ns1:endParaRPr lang="en-US" sz="1100" dirty="0"/>
          </ns1:p>
        </ns0:txBody>
      </ns0:sp>
      <ns0:sp>
        <ns0:nvSpPr>
          <ns0:cNvPr id="22" name="Shape 20"/>
          <ns0:cNvSpPr/>
          <ns0:nvPr/>
        </ns0:nvSpPr>
        <ns0:spPr>
          <ns1:xfrm>
            <ns1:off x="3858768" y="5120640"/>
            <ns1:ext cx="146304" cy="0"/>
          </ns1:xfrm>
          <ns1:prstGeom prst="line">
            <ns1:avLst/>
          </ns1:prstGeom>
          <ns1:noFill/>
          <ns1:ln w="25400">
            <ns1:solidFill>
              <ns1:srgbClr val="9FB0C8"/>
            </ns1:solidFill>
            <ns1:prstDash val="solid"/>
            <ns1:tailEnd type="triangle"/>
          </ns1:ln>
        </ns0:spPr>
      </ns0:sp>
      <ns0:sp>
        <ns0:nvSpPr>
          <ns0:cNvPr id="23" name="Shape 21"/>
          <ns0:cNvSpPr/>
          <ns0:nvPr/>
        </ns0:nvSpPr>
        <ns0:spPr>
          <ns1:xfrm>
            <ns1:off x="4023360" y="4572000"/>
            <ns1:ext cx="1554480" cy="1097280"/>
          </ns1:xfrm>
          <ns1:prstGeom prst="roundRect">
            <ns1:avLst>
              <ns1:gd name="adj" fmla="val 6667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24" name="Text 22"/>
          <ns0:cNvSpPr txBox="1"/>
          <ns0:nvPr/>
        </ns0:nvSpPr>
        <ns0:spPr>
          <ns1:xfrm>
            <ns1:off x="4096512" y="4572000"/>
            <ns1:ext cx="1408176" cy="10972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Map 3D tag points to 2D pixel coordinates</ns1:t>
            </ns1:r>
            <ns1:endParaRPr lang="en-US" sz="1100" dirty="0"/>
          </ns1:p>
        </ns0:txBody>
      </ns0:sp>
      <ns0:sp>
        <ns0:nvSpPr>
          <ns0:cNvPr id="25" name="Shape 23"/>
          <ns0:cNvSpPr/>
          <ns0:nvPr/>
        </ns0:nvSpPr>
        <ns0:spPr>
          <ns1:xfrm>
            <ns1:off x="5596128" y="5120640"/>
            <ns1:ext cx="146304" cy="0"/>
          </ns1:xfrm>
          <ns1:prstGeom prst="line">
            <ns1:avLst/>
          </ns1:prstGeom>
          <ns1:noFill/>
          <ns1:ln w="25400">
            <ns1:solidFill>
              <ns1:srgbClr val="9FB0C8"/>
            </ns1:solidFill>
            <ns1:prstDash val="solid"/>
            <ns1:tailEnd type="triangle"/>
          </ns1:ln>
        </ns0:spPr>
      </ns0:sp>
      <ns0:sp>
        <ns0:nvSpPr>
          <ns0:cNvPr id="26" name="Shape 24"/>
          <ns0:cNvSpPr/>
          <ns0:nvPr/>
        </ns0:nvSpPr>
        <ns0:spPr>
          <ns1:xfrm>
            <ns1:off x="5760720" y="4572000"/>
            <ns1:ext cx="1554480" cy="1097280"/>
          </ns1:xfrm>
          <ns1:prstGeom prst="roundRect">
            <ns1:avLst>
              <ns1:gd name="adj" fmla="val 6667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27" name="Text 25"/>
          <ns0:cNvSpPr txBox="1"/>
          <ns0:nvPr/>
        </ns0:nvSpPr>
        <ns0:spPr>
          <ns1:xfrm>
            <ns1:off x="5833872" y="4572000"/>
            <ns1:ext cx="1408176" cy="10972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6-DOF relative transformation matrix</ns1:t>
            </ns1:r>
            <ns1:endParaRPr lang="en-US" sz="1100" dirty="0"/>
          </ns1:p>
        </ns0:txBody>
      </ns0:sp>
      <ns0:sp>
        <ns0:nvSpPr>
          <ns0:cNvPr id="28" name="Text 26"/>
          <ns0:cNvSpPr txBox="1"/>
          <ns0:nvPr/>
        </ns0:nvSpPr>
        <ns0:spPr>
          <ns1:xfrm>
            <ns1:off x="548640" y="5852160"/>
            <ns1:ext cx="6675120" cy="457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9FB0C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Lens distortion is removed with the intrinsic calibration before pose estimation.</ns1:t>
            </ns1:r>
            <ns1:endParaRPr lang="en-US" sz="1200" dirty="0"/>
          </ns1:p>
        </ns0:txBody>
      </ns0:sp>
      <ns0:graphicFrame>
        <ns0:nvGraphicFramePr>
          <ns0:cNvPr id="29" name="Chart 0" descr=""/>
          <ns0:cNvGraphicFramePr/>
          <ns0:nvPr/>
        </ns0:nvGraphicFramePr>
        <ns0:xfrm>
          <ns1:off x="7589520" y="1554480"/>
          <ns1:ext cx="4023360" cy="3017520"/>
        </ns0:xfrm>
        <ns1:graphic>
          <ns1:graphicData uri="http://schemas.openxmlformats.org/drawingml/2006/chart">
            <ns2:chart ns3:id="rId1"/>
          </ns1:graphicData>
        </ns1:graphic>
      </ns0:graphicFrame>
      <ns0:sp>
        <ns0:nvSpPr>
          <ns0:cNvPr id="30" name="Shape 27"/>
          <ns0:cNvSpPr/>
          <ns0:nvPr/>
        </ns0:nvSpPr>
        <ns0:spPr>
          <ns1:xfrm>
            <ns1:off x="7589520" y="4800600"/>
            <ns1:ext cx="4023360" cy="1508760"/>
          </ns1:xfrm>
          <ns1:prstGeom prst="roundRect">
            <ns1:avLst>
              <ns1:gd name="adj" fmla="val 4848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31" name="Text 28"/>
          <ns0:cNvSpPr txBox="1"/>
          <ns0:nvPr/>
        </ns0:nvSpPr>
        <ns0:spPr>
          <ns1:xfrm>
            <ns1:off x="7818120" y="4892040"/>
            <ns1:ext cx="1828800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3600" b="1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&lt; 5 cm</ns1:t>
            </ns1:r>
            <ns1:endParaRPr lang="en-US" sz="3600" dirty="0"/>
          </ns1:p>
        </ns0:txBody>
      </ns0:sp>
      <ns0:sp>
        <ns0:nvSpPr>
          <ns0:cNvPr id="32" name="Text 29"/>
          <ns0:cNvSpPr txBox="1"/>
          <ns0:nvPr/>
        </ns0:nvSpPr>
        <ns0:spPr>
          <ns1:xfrm>
            <ns1:off x="7818120" y="5577840"/>
            <ns1:ext cx="3566160" cy="6400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9FB0C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Target relative localization accuracy with fused UWB and visual anchors</ns1:t>
            </ns1:r>
            <ns1:endParaRPr lang="en-US" sz="1200" dirty="0"/>
          </ns1:p>
        </ns0:txBody>
      </ns0:sp>
    </ns0:spTree>
  </ns0:cSld>
  <ns0:clrMapOvr>
    <ns1:masterClrMapping/>
  </ns0:clrMapOvr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35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" dur="35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1" fill="hold">
                            <ns0:stCondLst>
                              <ns0:cond delay="150"/>
                            </ns0:stCondLst>
                            <ns0:childTnLst>
                              <ns0:par>
                                <ns0:cTn id="12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35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5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35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8" fill="hold">
                            <ns0:stCondLst>
                              <ns0:cond delay="300"/>
                            </ns0:stCondLst>
                            <ns0:childTnLst>
                              <ns0:par>
                                <ns0:cTn id="19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5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2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4" dur="25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25" fill="hold">
                            <ns0:stCondLst>
                              <ns0:cond delay="450"/>
                            </ns0:stCondLst>
                            <ns0:childTnLst>
                              <ns0:par>
                                <ns0:cTn id="26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8" dur="35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9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35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32" fill="hold">
                            <ns0:stCondLst>
                              <ns0:cond delay="650"/>
                            </ns0:stCondLst>
                            <ns0:childTnLst>
                              <ns0:par>
                                <ns0:cTn id="33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5" dur="25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36" fill="hold">
                            <ns0:stCondLst>
                              <ns0:cond delay="800"/>
                            </ns0:stCondLst>
                            <ns0:childTnLst>
                              <ns0:par>
                                <ns0:cTn id="37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9" dur="35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35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30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0" dur="30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51" fill="hold">
                            <ns0:stCondLst>
                              <ns0:cond delay="150"/>
                            </ns0:stCondLst>
                            <ns0:childTnLst>
                              <ns0:par>
                                <ns0:cTn id="52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4" dur="20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55" fill="hold">
                            <ns0:stCondLst>
                              <ns0:cond delay="300"/>
                            </ns0:stCondLst>
                            <ns0:childTnLst>
                              <ns0:par>
                                <ns0:cTn id="56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30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9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1" dur="30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62" fill="hold">
                            <ns0:stCondLst>
                              <ns0:cond delay="450"/>
                            </ns0:stCondLst>
                            <ns0:childTnLst>
                              <ns0:par>
                                <ns0:cTn id="63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0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66" fill="hold">
                            <ns0:stCondLst>
                              <ns0:cond delay="600"/>
                            </ns0:stCondLst>
                            <ns0:childTnLst>
                              <ns0:par>
                                <ns0:cTn id="67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9" dur="30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7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30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73" fill="hold">
                            <ns0:stCondLst>
                              <ns0:cond delay="750"/>
                            </ns0:stCondLst>
                            <ns0:childTnLst>
                              <ns0:par>
                                <ns0:cTn id="74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6" dur="200"/>
                                        <ns0:tgtEl>
                                          <ns0:spTgt spid="2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77" fill="hold">
                            <ns0:stCondLst>
                              <ns0:cond delay="900"/>
                            </ns0:stCondLst>
                            <ns0:childTnLst>
                              <ns0:par>
                                <ns0:cTn id="78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0" dur="300"/>
                                        <ns0:tgtEl>
                                          <ns0:spTgt spid="2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3" dur="300"/>
                                        <ns0:tgtEl>
                                          <ns0:spTgt spid="2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84" fill="hold">
                            <ns0:stCondLst>
                              <ns0:cond delay="1100"/>
                            </ns0:stCondLst>
                            <ns0:childTnLst>
                              <ns0:par>
                                <ns0:cTn id="85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50"/>
                                        <ns0:tgtEl>
                                          <ns0:spTgt spid="2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500"/>
                                        <ns0:tgtEl>
                                          <ns0:spTgt spid="2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93" fill="hold">
                            <ns0:stCondLst>
                              <ns0:cond delay="300"/>
                            </ns0:stCondLst>
                            <ns0:childTnLst>
                              <ns0:par>
                                <ns0:cTn id="94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6" dur="400"/>
                                        <ns0:tgtEl>
                                          <ns0:spTgt spid="3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9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9" dur="400"/>
                                        <ns0:tgtEl>
                                          <ns0:spTgt spid="3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0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400"/>
                                        <ns0:tgtEl>
                                          <ns0:spTgt spid="3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  <ns0:bldP spid="25" grpId="0" animBg="1"/>
      <ns0:bldP spid="26" grpId="0" animBg="1"/>
      <ns0:bldP spid="27" grpId="0" animBg="1"/>
      <ns0:bldP spid="28" grpId="0" animBg="1"/>
      <ns0:bldP spid="29" grpId="0" animBg="1"/>
      <ns0:bldP spid="30" grpId="0" animBg="1"/>
      <ns0:bldP spid="31" grpId="0" animBg="1"/>
      <ns0:bldP spid="32" grpId="0" animBg="1"/>
    </ns0:bldLst>
  </ns0:timing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powerpoint/2010/main">
  <ns0:cSld name="Slide 5">
    <ns0:bg>
      <ns0:bgPr>
        <ns1:solidFill>
          <ns1:srgbClr val="0B1220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548640" y="320040"/>
            <ns1:ext cx="91440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200" b="1" spc="300" kern="0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04 · MEMORY</ns1:t>
            </ns1:r>
            <ns1:endParaRPr lang="en-US" sz="1200" dirty="0"/>
          </ns1:p>
        </ns0:txBody>
      </ns0:sp>
      <ns0:sp>
        <ns0:nvSpPr>
          <ns0:cNvPr id="3" name="Text 1"/>
          <ns0:cNvSpPr txBox="1"/>
          <ns0:nvPr/>
        </ns0:nvSpPr>
        <ns0:spPr>
          <ns1:xfrm>
            <ns1:off x="548640" y="594360"/>
            <ns1:ext cx="11064240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32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Spatial Memory &amp; Persistent World Models</ns1:t>
            </ns1:r>
            <ns1:endParaRPr lang="en-US" sz="3200" dirty="0"/>
          </ns1:p>
        </ns0:txBody>
      </ns0:sp>
      <ns0:sp>
        <ns0:nvSpPr>
          <ns0:cNvPr id="4" name="Shape 2"/>
          <ns0:cNvSpPr/>
          <ns0:nvPr/>
        </ns0:nvSpPr>
        <ns0:spPr>
          <ns1:xfrm>
            <ns1:off x="548640" y="1554480"/>
            <ns1:ext cx="2103120" cy="868680"/>
          </ns1:xfrm>
          <ns1:prstGeom prst="roundRect">
            <ns1:avLst>
              <ns1:gd name="adj" fmla="val 8421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5" name="Text 3"/>
          <ns0:cNvSpPr txBox="1"/>
          <ns0:nvPr/>
        </ns0:nvSpPr>
        <ns0:spPr>
          <ns1:xfrm>
            <ns1:off x="621792" y="1554480"/>
            <ns1:ext cx="1956816" cy="8686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3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Robot A sub-map</ns1:t>
            </ns1:r>
            <ns1:endParaRPr lang="en-US" sz="1300" dirty="0"/>
          </ns1:p>
        </ns0:txBody>
      </ns0:sp>
      <ns0:sp>
        <ns0:nvSpPr>
          <ns0:cNvPr id="6" name="Shape 4"/>
          <ns0:cNvSpPr/>
          <ns0:nvPr/>
        </ns0:nvSpPr>
        <ns0:spPr>
          <ns1:xfrm>
            <ns1:off x="548640" y="2697480"/>
            <ns1:ext cx="2103120" cy="868680"/>
          </ns1:xfrm>
          <ns1:prstGeom prst="roundRect">
            <ns1:avLst>
              <ns1:gd name="adj" fmla="val 8421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7" name="Text 5"/>
          <ns0:cNvSpPr txBox="1"/>
          <ns0:nvPr/>
        </ns0:nvSpPr>
        <ns0:spPr>
          <ns1:xfrm>
            <ns1:off x="621792" y="2697480"/>
            <ns1:ext cx="1956816" cy="8686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3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Robot B sub-map</ns1:t>
            </ns1:r>
            <ns1:endParaRPr lang="en-US" sz="1300" dirty="0"/>
          </ns1:p>
        </ns0:txBody>
      </ns0:sp>
      <ns0:sp>
        <ns0:nvSpPr>
          <ns0:cNvPr id="8" name="Shape 6"/>
          <ns0:cNvSpPr/>
          <ns0:nvPr/>
        </ns0:nvSpPr>
        <ns0:spPr>
          <ns1:xfrm>
            <ns1:off x="3200400" y="1554480"/>
            <ns1:ext cx="2377440" cy="2011680"/>
          </ns1:xfrm>
          <ns1:prstGeom prst="roundRect">
            <ns1:avLst>
              <ns1:gd name="adj" fmla="val 3636"/>
            </ns1:avLst>
          </ns1:prstGeom>
          <ns1:solidFill>
            <ns1:srgbClr val="132038"/>
          </ns1:solidFill>
          <ns1:ln w="12700">
            <ns1:solidFill>
              <ns1:srgbClr val="2FD3C4"/>
            </ns1:solidFill>
            <ns1:prstDash val="solid"/>
          </ns1:ln>
        </ns0:spPr>
      </ns0:sp>
      <ns0:sp>
        <ns0:nvSpPr>
          <ns0:cNvPr id="9" name="Text 7"/>
          <ns0:cNvSpPr txBox="1"/>
          <ns0:nvPr/>
        </ns0:nvSpPr>
        <ns0:spPr>
          <ns1:xfrm>
            <ns1:off x="3273552" y="1554480"/>
            <ns1:ext cx="2231136" cy="20116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3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ICP registration</ns1:t>
            </ns1:r>
            <ns1:endParaRPr lang="en-US" sz="1300" dirty="0"/>
          </ns1:p>
          <ns1:p>
            <ns1:pPr algn="ctr" indent="0" marL="0">
              <ns1:buNone/>
            </ns1:pPr>
            <ns1:r>
              <ns1:rPr lang="en-US" sz="13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Align scans in the overlapping boundary regions</ns1:t>
            </ns1:r>
            <ns1:endParaRPr lang="en-US" sz="1300" dirty="0"/>
          </ns1:p>
        </ns0:txBody>
      </ns0:sp>
      <ns0:sp>
        <ns0:nvSpPr>
          <ns0:cNvPr id="10" name="Shape 8"/>
          <ns0:cNvSpPr/>
          <ns0:nvPr/>
        </ns0:nvSpPr>
        <ns0:spPr>
          <ns1:xfrm>
            <ns1:off x="6126480" y="1554480"/>
            <ns1:ext cx="2377440" cy="2011680"/>
          </ns1:xfrm>
          <ns1:prstGeom prst="roundRect">
            <ns1:avLst>
              <ns1:gd name="adj" fmla="val 3636"/>
            </ns1:avLst>
          </ns1:prstGeom>
          <ns1:solidFill>
            <ns1:srgbClr val="132038"/>
          </ns1:solidFill>
          <ns1:ln w="12700">
            <ns1:solidFill>
              <ns1:srgbClr val="4C8DFF"/>
            </ns1:solidFill>
            <ns1:prstDash val="solid"/>
          </ns1:ln>
        </ns0:spPr>
      </ns0:sp>
      <ns0:sp>
        <ns0:nvSpPr>
          <ns0:cNvPr id="11" name="Text 9"/>
          <ns0:cNvSpPr txBox="1"/>
          <ns0:nvPr/>
        </ns0:nvSpPr>
        <ns0:spPr>
          <ns1:xfrm>
            <ns1:off x="6199632" y="1554480"/>
            <ns1:ext cx="2231136" cy="20116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3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Pose-graph optimization</ns1:t>
            </ns1:r>
            <ns1:endParaRPr lang="en-US" sz="1300" dirty="0"/>
          </ns1:p>
          <ns1:p>
            <ns1:pPr algn="ctr" indent="0" marL="0">
              <ns1:buNone/>
            </ns1:pPr>
            <ns1:r>
              <ns1:rPr lang="en-US" sz="13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Spread residual error across all robot poses</ns1:t>
            </ns1:r>
            <ns1:endParaRPr lang="en-US" sz="1300" dirty="0"/>
          </ns1:p>
        </ns0:txBody>
      </ns0:sp>
      <ns0:sp>
        <ns0:nvSpPr>
          <ns0:cNvPr id="12" name="Shape 10"/>
          <ns0:cNvSpPr/>
          <ns0:nvPr/>
        </ns0:nvSpPr>
        <ns0:spPr>
          <ns1:xfrm>
            <ns1:off x="2651760" y="1965960"/>
            <ns1:ext cx="548640" cy="411480"/>
          </ns1:xfrm>
          <ns1:prstGeom prst="line">
            <ns1:avLst/>
          </ns1:prstGeom>
          <ns1:noFill/>
          <ns1:ln w="25400">
            <ns1:solidFill>
              <ns1:srgbClr val="9FB0C8"/>
            </ns1:solidFill>
            <ns1:prstDash val="solid"/>
            <ns1:tailEnd type="triangle"/>
          </ns1:ln>
        </ns0:spPr>
      </ns0:sp>
      <ns0:sp>
        <ns0:nvSpPr>
          <ns0:cNvPr id="13" name="Shape 11"/>
          <ns0:cNvSpPr/>
          <ns0:nvPr/>
        </ns0:nvSpPr>
        <ns0:spPr>
          <ns1:xfrm flipV="1">
            <ns1:off x="2651760" y="2743200"/>
            <ns1:ext cx="548640" cy="365760"/>
          </ns1:xfrm>
          <ns1:prstGeom prst="line">
            <ns1:avLst/>
          </ns1:prstGeom>
          <ns1:noFill/>
          <ns1:ln w="25400">
            <ns1:solidFill>
              <ns1:srgbClr val="9FB0C8"/>
            </ns1:solidFill>
            <ns1:prstDash val="solid"/>
            <ns1:tailEnd type="triangle"/>
          </ns1:ln>
        </ns0:spPr>
      </ns0:sp>
      <ns0:sp>
        <ns0:nvSpPr>
          <ns0:cNvPr id="14" name="Shape 12"/>
          <ns0:cNvSpPr/>
          <ns0:nvPr/>
        </ns0:nvSpPr>
        <ns0:spPr>
          <ns1:xfrm>
            <ns1:off x="5577840" y="2560320"/>
            <ns1:ext cx="548640" cy="0"/>
          </ns1:xfrm>
          <ns1:prstGeom prst="line">
            <ns1:avLst/>
          </ns1:prstGeom>
          <ns1:noFill/>
          <ns1:ln w="25400">
            <ns1:solidFill>
              <ns1:srgbClr val="9FB0C8"/>
            </ns1:solidFill>
            <ns1:prstDash val="solid"/>
            <ns1:tailEnd type="triangle"/>
          </ns1:ln>
        </ns0:spPr>
      </ns0:sp>
      <ns0:sp>
        <ns0:nvSpPr>
          <ns0:cNvPr id="15" name="Shape 13"/>
          <ns0:cNvSpPr/>
          <ns0:nvPr/>
        </ns0:nvSpPr>
        <ns0:spPr>
          <ns1:xfrm>
            <ns1:off x="8503920" y="2560320"/>
            <ns1:ext cx="411480" cy="0"/>
          </ns1:xfrm>
          <ns1:prstGeom prst="line">
            <ns1:avLst/>
          </ns1:prstGeom>
          <ns1:noFill/>
          <ns1:ln w="25400">
            <ns1:solidFill>
              <ns1:srgbClr val="9FB0C8"/>
            </ns1:solidFill>
            <ns1:prstDash val="solid"/>
            <ns1:tailEnd type="triangle"/>
          </ns1:ln>
        </ns0:spPr>
      </ns0:sp>
      <ns0:sp>
        <ns0:nvSpPr>
          <ns0:cNvPr id="16" name="Shape 14"/>
          <ns0:cNvSpPr/>
          <ns0:nvPr/>
        </ns0:nvSpPr>
        <ns0:spPr>
          <ns1:xfrm>
            <ns1:off x="8961120" y="1554480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17" name="Shape 15"/>
          <ns0:cNvSpPr/>
          <ns0:nvPr/>
        </ns0:nvSpPr>
        <ns0:spPr>
          <ns1:xfrm>
            <ns1:off x="9208008" y="1554480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18" name="Shape 16"/>
          <ns0:cNvSpPr/>
          <ns0:nvPr/>
        </ns0:nvSpPr>
        <ns0:spPr>
          <ns1:xfrm>
            <ns1:off x="9454896" y="1554480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19" name="Shape 17"/>
          <ns0:cNvSpPr/>
          <ns0:nvPr/>
        </ns0:nvSpPr>
        <ns0:spPr>
          <ns1:xfrm>
            <ns1:off x="9701784" y="1554480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20" name="Shape 18"/>
          <ns0:cNvSpPr/>
          <ns0:nvPr/>
        </ns0:nvSpPr>
        <ns0:spPr>
          <ns1:xfrm>
            <ns1:off x="9948672" y="1554480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21" name="Shape 19"/>
          <ns0:cNvSpPr/>
          <ns0:nvPr/>
        </ns0:nvSpPr>
        <ns0:spPr>
          <ns1:xfrm>
            <ns1:off x="10195560" y="1554480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22" name="Shape 20"/>
          <ns0:cNvSpPr/>
          <ns0:nvPr/>
        </ns0:nvSpPr>
        <ns0:spPr>
          <ns1:xfrm>
            <ns1:off x="10442448" y="1554480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23" name="Shape 21"/>
          <ns0:cNvSpPr/>
          <ns0:nvPr/>
        </ns0:nvSpPr>
        <ns0:spPr>
          <ns1:xfrm>
            <ns1:off x="10689336" y="1554480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24" name="Shape 22"/>
          <ns0:cNvSpPr/>
          <ns0:nvPr/>
        </ns0:nvSpPr>
        <ns0:spPr>
          <ns1:xfrm>
            <ns1:off x="10936224" y="1554480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25" name="Shape 23"/>
          <ns0:cNvSpPr/>
          <ns0:nvPr/>
        </ns0:nvSpPr>
        <ns0:spPr>
          <ns1:xfrm>
            <ns1:off x="11183112" y="1554480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26" name="Shape 24"/>
          <ns0:cNvSpPr/>
          <ns0:nvPr/>
        </ns0:nvSpPr>
        <ns0:spPr>
          <ns1:xfrm>
            <ns1:off x="11430000" y="1554480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27" name="Shape 25"/>
          <ns0:cNvSpPr/>
          <ns0:nvPr/>
        </ns0:nvSpPr>
        <ns0:spPr>
          <ns1:xfrm>
            <ns1:off x="8961120" y="1801368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28" name="Shape 26"/>
          <ns0:cNvSpPr/>
          <ns0:nvPr/>
        </ns0:nvSpPr>
        <ns0:spPr>
          <ns1:xfrm>
            <ns1:off x="9208008" y="1801368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29" name="Shape 27"/>
          <ns0:cNvSpPr/>
          <ns0:nvPr/>
        </ns0:nvSpPr>
        <ns0:spPr>
          <ns1:xfrm>
            <ns1:off x="9454896" y="1801368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30" name="Shape 28"/>
          <ns0:cNvSpPr/>
          <ns0:nvPr/>
        </ns0:nvSpPr>
        <ns0:spPr>
          <ns1:xfrm>
            <ns1:off x="9701784" y="1801368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31" name="Shape 29"/>
          <ns0:cNvSpPr/>
          <ns0:nvPr/>
        </ns0:nvSpPr>
        <ns0:spPr>
          <ns1:xfrm>
            <ns1:off x="9948672" y="1801368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32" name="Shape 30"/>
          <ns0:cNvSpPr/>
          <ns0:nvPr/>
        </ns0:nvSpPr>
        <ns0:spPr>
          <ns1:xfrm>
            <ns1:off x="10195560" y="1801368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33" name="Shape 31"/>
          <ns0:cNvSpPr/>
          <ns0:nvPr/>
        </ns0:nvSpPr>
        <ns0:spPr>
          <ns1:xfrm>
            <ns1:off x="10442448" y="1801368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34" name="Shape 32"/>
          <ns0:cNvSpPr/>
          <ns0:nvPr/>
        </ns0:nvSpPr>
        <ns0:spPr>
          <ns1:xfrm>
            <ns1:off x="10689336" y="1801368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35" name="Shape 33"/>
          <ns0:cNvSpPr/>
          <ns0:nvPr/>
        </ns0:nvSpPr>
        <ns0:spPr>
          <ns1:xfrm>
            <ns1:off x="10936224" y="1801368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36" name="Shape 34"/>
          <ns0:cNvSpPr/>
          <ns0:nvPr/>
        </ns0:nvSpPr>
        <ns0:spPr>
          <ns1:xfrm>
            <ns1:off x="11183112" y="1801368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37" name="Shape 35"/>
          <ns0:cNvSpPr/>
          <ns0:nvPr/>
        </ns0:nvSpPr>
        <ns0:spPr>
          <ns1:xfrm>
            <ns1:off x="11430000" y="1801368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38" name="Shape 36"/>
          <ns0:cNvSpPr/>
          <ns0:nvPr/>
        </ns0:nvSpPr>
        <ns0:spPr>
          <ns1:xfrm>
            <ns1:off x="8961120" y="2048256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39" name="Shape 37"/>
          <ns0:cNvSpPr/>
          <ns0:nvPr/>
        </ns0:nvSpPr>
        <ns0:spPr>
          <ns1:xfrm>
            <ns1:off x="9208008" y="2048256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40" name="Shape 38"/>
          <ns0:cNvSpPr/>
          <ns0:nvPr/>
        </ns0:nvSpPr>
        <ns0:spPr>
          <ns1:xfrm>
            <ns1:off x="9454896" y="2048256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41" name="Shape 39"/>
          <ns0:cNvSpPr/>
          <ns0:nvPr/>
        </ns0:nvSpPr>
        <ns0:spPr>
          <ns1:xfrm>
            <ns1:off x="9701784" y="2048256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42" name="Shape 40"/>
          <ns0:cNvSpPr/>
          <ns0:nvPr/>
        </ns0:nvSpPr>
        <ns0:spPr>
          <ns1:xfrm>
            <ns1:off x="9948672" y="2048256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43" name="Shape 41"/>
          <ns0:cNvSpPr/>
          <ns0:nvPr/>
        </ns0:nvSpPr>
        <ns0:spPr>
          <ns1:xfrm>
            <ns1:off x="10195560" y="2048256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44" name="Shape 42"/>
          <ns0:cNvSpPr/>
          <ns0:nvPr/>
        </ns0:nvSpPr>
        <ns0:spPr>
          <ns1:xfrm>
            <ns1:off x="10442448" y="2048256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45" name="Shape 43"/>
          <ns0:cNvSpPr/>
          <ns0:nvPr/>
        </ns0:nvSpPr>
        <ns0:spPr>
          <ns1:xfrm>
            <ns1:off x="10689336" y="2048256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46" name="Shape 44"/>
          <ns0:cNvSpPr/>
          <ns0:nvPr/>
        </ns0:nvSpPr>
        <ns0:spPr>
          <ns1:xfrm>
            <ns1:off x="10936224" y="2048256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47" name="Shape 45"/>
          <ns0:cNvSpPr/>
          <ns0:nvPr/>
        </ns0:nvSpPr>
        <ns0:spPr>
          <ns1:xfrm>
            <ns1:off x="11183112" y="2048256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48" name="Shape 46"/>
          <ns0:cNvSpPr/>
          <ns0:nvPr/>
        </ns0:nvSpPr>
        <ns0:spPr>
          <ns1:xfrm>
            <ns1:off x="11430000" y="2048256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49" name="Shape 47"/>
          <ns0:cNvSpPr/>
          <ns0:nvPr/>
        </ns0:nvSpPr>
        <ns0:spPr>
          <ns1:xfrm>
            <ns1:off x="8961120" y="2295144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50" name="Shape 48"/>
          <ns0:cNvSpPr/>
          <ns0:nvPr/>
        </ns0:nvSpPr>
        <ns0:spPr>
          <ns1:xfrm>
            <ns1:off x="9208008" y="2295144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51" name="Shape 49"/>
          <ns0:cNvSpPr/>
          <ns0:nvPr/>
        </ns0:nvSpPr>
        <ns0:spPr>
          <ns1:xfrm>
            <ns1:off x="9454896" y="2295144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52" name="Shape 50"/>
          <ns0:cNvSpPr/>
          <ns0:nvPr/>
        </ns0:nvSpPr>
        <ns0:spPr>
          <ns1:xfrm>
            <ns1:off x="9701784" y="2295144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53" name="Shape 51"/>
          <ns0:cNvSpPr/>
          <ns0:nvPr/>
        </ns0:nvSpPr>
        <ns0:spPr>
          <ns1:xfrm>
            <ns1:off x="9948672" y="2295144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54" name="Shape 52"/>
          <ns0:cNvSpPr/>
          <ns0:nvPr/>
        </ns0:nvSpPr>
        <ns0:spPr>
          <ns1:xfrm>
            <ns1:off x="10195560" y="2295144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55" name="Shape 53"/>
          <ns0:cNvSpPr/>
          <ns0:nvPr/>
        </ns0:nvSpPr>
        <ns0:spPr>
          <ns1:xfrm>
            <ns1:off x="10442448" y="2295144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56" name="Shape 54"/>
          <ns0:cNvSpPr/>
          <ns0:nvPr/>
        </ns0:nvSpPr>
        <ns0:spPr>
          <ns1:xfrm>
            <ns1:off x="10689336" y="2295144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57" name="Shape 55"/>
          <ns0:cNvSpPr/>
          <ns0:nvPr/>
        </ns0:nvSpPr>
        <ns0:spPr>
          <ns1:xfrm>
            <ns1:off x="10936224" y="2295144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58" name="Shape 56"/>
          <ns0:cNvSpPr/>
          <ns0:nvPr/>
        </ns0:nvSpPr>
        <ns0:spPr>
          <ns1:xfrm>
            <ns1:off x="11183112" y="2295144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59" name="Shape 57"/>
          <ns0:cNvSpPr/>
          <ns0:nvPr/>
        </ns0:nvSpPr>
        <ns0:spPr>
          <ns1:xfrm>
            <ns1:off x="11430000" y="2295144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60" name="Shape 58"/>
          <ns0:cNvSpPr/>
          <ns0:nvPr/>
        </ns0:nvSpPr>
        <ns0:spPr>
          <ns1:xfrm>
            <ns1:off x="8961120" y="2542032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61" name="Shape 59"/>
          <ns0:cNvSpPr/>
          <ns0:nvPr/>
        </ns0:nvSpPr>
        <ns0:spPr>
          <ns1:xfrm>
            <ns1:off x="9208008" y="2542032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62" name="Shape 60"/>
          <ns0:cNvSpPr/>
          <ns0:nvPr/>
        </ns0:nvSpPr>
        <ns0:spPr>
          <ns1:xfrm>
            <ns1:off x="9454896" y="2542032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63" name="Shape 61"/>
          <ns0:cNvSpPr/>
          <ns0:nvPr/>
        </ns0:nvSpPr>
        <ns0:spPr>
          <ns1:xfrm>
            <ns1:off x="9701784" y="2542032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64" name="Shape 62"/>
          <ns0:cNvSpPr/>
          <ns0:nvPr/>
        </ns0:nvSpPr>
        <ns0:spPr>
          <ns1:xfrm>
            <ns1:off x="9948672" y="2542032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65" name="Shape 63"/>
          <ns0:cNvSpPr/>
          <ns0:nvPr/>
        </ns0:nvSpPr>
        <ns0:spPr>
          <ns1:xfrm>
            <ns1:off x="10195560" y="2542032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66" name="Shape 64"/>
          <ns0:cNvSpPr/>
          <ns0:nvPr/>
        </ns0:nvSpPr>
        <ns0:spPr>
          <ns1:xfrm>
            <ns1:off x="10442448" y="2542032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67" name="Shape 65"/>
          <ns0:cNvSpPr/>
          <ns0:nvPr/>
        </ns0:nvSpPr>
        <ns0:spPr>
          <ns1:xfrm>
            <ns1:off x="10689336" y="2542032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68" name="Shape 66"/>
          <ns0:cNvSpPr/>
          <ns0:nvPr/>
        </ns0:nvSpPr>
        <ns0:spPr>
          <ns1:xfrm>
            <ns1:off x="10936224" y="2542032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69" name="Shape 67"/>
          <ns0:cNvSpPr/>
          <ns0:nvPr/>
        </ns0:nvSpPr>
        <ns0:spPr>
          <ns1:xfrm>
            <ns1:off x="11183112" y="2542032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70" name="Shape 68"/>
          <ns0:cNvSpPr/>
          <ns0:nvPr/>
        </ns0:nvSpPr>
        <ns0:spPr>
          <ns1:xfrm>
            <ns1:off x="11430000" y="2542032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71" name="Shape 69"/>
          <ns0:cNvSpPr/>
          <ns0:nvPr/>
        </ns0:nvSpPr>
        <ns0:spPr>
          <ns1:xfrm>
            <ns1:off x="8961120" y="2788920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72" name="Shape 70"/>
          <ns0:cNvSpPr/>
          <ns0:nvPr/>
        </ns0:nvSpPr>
        <ns0:spPr>
          <ns1:xfrm>
            <ns1:off x="9208008" y="2788920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73" name="Shape 71"/>
          <ns0:cNvSpPr/>
          <ns0:nvPr/>
        </ns0:nvSpPr>
        <ns0:spPr>
          <ns1:xfrm>
            <ns1:off x="9454896" y="2788920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74" name="Shape 72"/>
          <ns0:cNvSpPr/>
          <ns0:nvPr/>
        </ns0:nvSpPr>
        <ns0:spPr>
          <ns1:xfrm>
            <ns1:off x="9701784" y="2788920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75" name="Shape 73"/>
          <ns0:cNvSpPr/>
          <ns0:nvPr/>
        </ns0:nvSpPr>
        <ns0:spPr>
          <ns1:xfrm>
            <ns1:off x="9948672" y="2788920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76" name="Shape 74"/>
          <ns0:cNvSpPr/>
          <ns0:nvPr/>
        </ns0:nvSpPr>
        <ns0:spPr>
          <ns1:xfrm>
            <ns1:off x="10195560" y="2788920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77" name="Shape 75"/>
          <ns0:cNvSpPr/>
          <ns0:nvPr/>
        </ns0:nvSpPr>
        <ns0:spPr>
          <ns1:xfrm>
            <ns1:off x="10442448" y="2788920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78" name="Shape 76"/>
          <ns0:cNvSpPr/>
          <ns0:nvPr/>
        </ns0:nvSpPr>
        <ns0:spPr>
          <ns1:xfrm>
            <ns1:off x="10689336" y="2788920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79" name="Shape 77"/>
          <ns0:cNvSpPr/>
          <ns0:nvPr/>
        </ns0:nvSpPr>
        <ns0:spPr>
          <ns1:xfrm>
            <ns1:off x="10936224" y="2788920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80" name="Shape 78"/>
          <ns0:cNvSpPr/>
          <ns0:nvPr/>
        </ns0:nvSpPr>
        <ns0:spPr>
          <ns1:xfrm>
            <ns1:off x="11183112" y="2788920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81" name="Shape 79"/>
          <ns0:cNvSpPr/>
          <ns0:nvPr/>
        </ns0:nvSpPr>
        <ns0:spPr>
          <ns1:xfrm>
            <ns1:off x="11430000" y="2788920"/>
            <ns1:ext cx="246888" cy="246888"/>
          </ns1:xfrm>
          <ns1:prstGeom prst="rect">
            <ns1:avLst/>
          </ns1:prstGeom>
          <ns1:solidFill>
            <ns1:srgbClr val="3A4356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82" name="Shape 80"/>
          <ns0:cNvSpPr/>
          <ns0:nvPr/>
        </ns0:nvSpPr>
        <ns0:spPr>
          <ns1:xfrm>
            <ns1:off x="8961120" y="3035808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83" name="Shape 81"/>
          <ns0:cNvSpPr/>
          <ns0:nvPr/>
        </ns0:nvSpPr>
        <ns0:spPr>
          <ns1:xfrm>
            <ns1:off x="9208008" y="3035808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84" name="Shape 82"/>
          <ns0:cNvSpPr/>
          <ns0:nvPr/>
        </ns0:nvSpPr>
        <ns0:spPr>
          <ns1:xfrm>
            <ns1:off x="9454896" y="3035808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85" name="Shape 83"/>
          <ns0:cNvSpPr/>
          <ns0:nvPr/>
        </ns0:nvSpPr>
        <ns0:spPr>
          <ns1:xfrm>
            <ns1:off x="9701784" y="3035808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86" name="Shape 84"/>
          <ns0:cNvSpPr/>
          <ns0:nvPr/>
        </ns0:nvSpPr>
        <ns0:spPr>
          <ns1:xfrm>
            <ns1:off x="9948672" y="3035808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87" name="Shape 85"/>
          <ns0:cNvSpPr/>
          <ns0:nvPr/>
        </ns0:nvSpPr>
        <ns0:spPr>
          <ns1:xfrm>
            <ns1:off x="10195560" y="3035808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88" name="Shape 86"/>
          <ns0:cNvSpPr/>
          <ns0:nvPr/>
        </ns0:nvSpPr>
        <ns0:spPr>
          <ns1:xfrm>
            <ns1:off x="10442448" y="3035808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89" name="Shape 87"/>
          <ns0:cNvSpPr/>
          <ns0:nvPr/>
        </ns0:nvSpPr>
        <ns0:spPr>
          <ns1:xfrm>
            <ns1:off x="10689336" y="3035808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90" name="Shape 88"/>
          <ns0:cNvSpPr/>
          <ns0:nvPr/>
        </ns0:nvSpPr>
        <ns0:spPr>
          <ns1:xfrm>
            <ns1:off x="10936224" y="3035808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91" name="Shape 89"/>
          <ns0:cNvSpPr/>
          <ns0:nvPr/>
        </ns0:nvSpPr>
        <ns0:spPr>
          <ns1:xfrm>
            <ns1:off x="11183112" y="3035808"/>
            <ns1:ext cx="246888" cy="246888"/>
          </ns1:xfrm>
          <ns1:prstGeom prst="rect">
            <ns1:avLst/>
          </ns1:prstGeom>
          <ns1:solidFill>
            <ns1:srgbClr val="16233D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92" name="Shape 90"/>
          <ns0:cNvSpPr/>
          <ns0:nvPr/>
        </ns0:nvSpPr>
        <ns0:spPr>
          <ns1:xfrm>
            <ns1:off x="11430000" y="3035808"/>
            <ns1:ext cx="246888" cy="246888"/>
          </ns1:xfrm>
          <ns1:prstGeom prst="rect">
            <ns1:avLst/>
          </ns1:prstGeom>
          <ns1:solidFill>
            <ns1:srgbClr val="3A4356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93" name="Shape 91"/>
          <ns0:cNvSpPr/>
          <ns0:nvPr/>
        </ns0:nvSpPr>
        <ns0:spPr>
          <ns1:xfrm>
            <ns1:off x="8961120" y="3282696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94" name="Shape 92"/>
          <ns0:cNvSpPr/>
          <ns0:nvPr/>
        </ns0:nvSpPr>
        <ns0:spPr>
          <ns1:xfrm>
            <ns1:off x="9208008" y="3282696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95" name="Shape 93"/>
          <ns0:cNvSpPr/>
          <ns0:nvPr/>
        </ns0:nvSpPr>
        <ns0:spPr>
          <ns1:xfrm>
            <ns1:off x="9454896" y="3282696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96" name="Shape 94"/>
          <ns0:cNvSpPr/>
          <ns0:nvPr/>
        </ns0:nvSpPr>
        <ns0:spPr>
          <ns1:xfrm>
            <ns1:off x="9701784" y="3282696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97" name="Shape 95"/>
          <ns0:cNvSpPr/>
          <ns0:nvPr/>
        </ns0:nvSpPr>
        <ns0:spPr>
          <ns1:xfrm>
            <ns1:off x="9948672" y="3282696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98" name="Shape 96"/>
          <ns0:cNvSpPr/>
          <ns0:nvPr/>
        </ns0:nvSpPr>
        <ns0:spPr>
          <ns1:xfrm>
            <ns1:off x="10195560" y="3282696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99" name="Shape 97"/>
          <ns0:cNvSpPr/>
          <ns0:nvPr/>
        </ns0:nvSpPr>
        <ns0:spPr>
          <ns1:xfrm>
            <ns1:off x="10442448" y="3282696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100" name="Shape 98"/>
          <ns0:cNvSpPr/>
          <ns0:nvPr/>
        </ns0:nvSpPr>
        <ns0:spPr>
          <ns1:xfrm>
            <ns1:off x="10689336" y="3282696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101" name="Shape 99"/>
          <ns0:cNvSpPr/>
          <ns0:nvPr/>
        </ns0:nvSpPr>
        <ns0:spPr>
          <ns1:xfrm>
            <ns1:off x="10936224" y="3282696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102" name="Shape 100"/>
          <ns0:cNvSpPr/>
          <ns0:nvPr/>
        </ns0:nvSpPr>
        <ns0:spPr>
          <ns1:xfrm>
            <ns1:off x="11183112" y="3282696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103" name="Shape 101"/>
          <ns0:cNvSpPr/>
          <ns0:nvPr/>
        </ns0:nvSpPr>
        <ns0:spPr>
          <ns1:xfrm>
            <ns1:off x="11430000" y="3282696"/>
            <ns1:ext cx="246888" cy="246888"/>
          </ns1:xfrm>
          <ns1:prstGeom prst="rect">
            <ns1:avLst/>
          </ns1:prstGeom>
          <ns1:solidFill>
            <ns1:srgbClr val="9FB0C8"/>
          </ns1:solidFill>
          <ns1:ln w="6350">
            <ns1:solidFill>
              <ns1:srgbClr val="0B1220"/>
            </ns1:solidFill>
            <ns1:prstDash val="solid"/>
          </ns1:ln>
        </ns0:spPr>
      </ns0:sp>
      <ns0:sp>
        <ns0:nvSpPr>
          <ns0:cNvPr id="104" name="Text 102"/>
          <ns0:cNvSpPr txBox="1"/>
          <ns0:nvPr/>
        </ns0:nvSpPr>
        <ns0:spPr>
          <ns1:xfrm>
            <ns1:off x="8961120" y="3611880"/>
            <ns1:ext cx="27432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200" b="1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Single global frame</ns1:t>
            </ns1:r>
            <ns1:endParaRPr lang="en-US" sz="1200" dirty="0"/>
          </ns1:p>
        </ns0:txBody>
      </ns0:sp>
      <ns0:sp>
        <ns0:nvSpPr>
          <ns0:cNvPr id="105" name="Text 103"/>
          <ns0:cNvSpPr txBox="1"/>
          <ns0:nvPr/>
        </ns0:nvSpPr>
        <ns0:spPr>
          <ns1:xfrm>
            <ns1:off x="548640" y="3931920"/>
            <ns1:ext cx="54864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5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Topological waypoint node schema</ns1:t>
            </ns1:r>
            <ns1:endParaRPr lang="en-US" sz="1500" dirty="0"/>
          </ns1:p>
        </ns0:txBody>
      </ns0:sp>
      <ns0:graphicFrame>
        <ns0:nvGraphicFramePr>
          <ns0:cNvPr id="6" name="Table 0"/>
          <ns0:cNvGraphicFramePr>
            <ns1:graphicFrameLocks noGrp="1"/>
          </ns0:cNvGraphicFramePr>
          <ns0:nvPr>
            <ns0:extLst>
              <ns0:ext uri="{D42A27DB-BD31-4B8C-83A1-F6EECF244321}">
                <ns2:modId val="1579011935"/>
              </ns0:ext>
            </ns0:extLst>
          </ns0:nvPr>
        </ns0:nvGraphicFramePr>
        <ns0:xfrm>
          <ns1:off x="548640" y="4251960"/>
          <ns1:ext cx="9144000" cy="914400"/>
        </ns0:xfrm>
        <ns1:graphic>
          <ns1:graphicData uri="http://schemas.openxmlformats.org/drawingml/2006/table">
            <ns1:tbl>
              <ns1:tblPr/>
              <ns1:tblGrid>
                <ns1:gridCol w="2926080"/>
                <ns1:gridCol w="8138160"/>
              </ns1:tblGrid>
              <ns1:tr h="310896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b="1" dirty="0">
                          <ns1:solidFill>
                            <ns1:srgbClr val="0B1220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Field</ns1:t>
                      </ns1:r>
                      <ns1:endParaRPr lang="en-US" sz="12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2FD3C4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b="1" dirty="0">
                          <ns1:solidFill>
                            <ns1:srgbClr val="0B1220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Content</ns1:t>
                      </ns1:r>
                      <ns1:endParaRPr lang="en-US" sz="12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2FD3C4"/>
                    </ns1:solidFill>
                  </ns1:tcPr>
                </ns1:tc>
              </ns1:tr>
              <ns1:tr h="310896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b="1" dirty="0">
                          <ns1:solidFill>
                            <ns1:srgbClr val="2FD3C4"/>
                          </ns1:solidFill>
                          <ns1:latin typeface="Courier New" pitchFamily="34" charset="0"/>
                          <ns1:ea typeface="Courier New" pitchFamily="34" charset="-122"/>
                          <ns1:cs typeface="Courier New" pitchFamily="34" charset="-120"/>
                        </ns1:rPr>
                        <ns1:t>node_id</ns1:t>
                      </ns1:r>
                      <ns1:endParaRPr lang="en-US" sz="1200" dirty="0">
                        <ns1:latin typeface="Courier New" charset="0"/>
                        <ns1:ea typeface="Courier New" charset="0"/>
                        <ns1:cs typeface="Courier New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13203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E6EDF7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Unique waypoint key</ns1:t>
                      </ns1:r>
                      <ns1:endParaRPr lang="en-US" sz="12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132038"/>
                    </ns1:solidFill>
                  </ns1:tcPr>
                </ns1:tc>
              </ns1:tr>
              <ns1:tr h="310896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b="1" dirty="0">
                          <ns1:solidFill>
                            <ns1:srgbClr val="2FD3C4"/>
                          </ns1:solidFill>
                          <ns1:latin typeface="Courier New" pitchFamily="34" charset="0"/>
                          <ns1:ea typeface="Courier New" pitchFamily="34" charset="-122"/>
                          <ns1:cs typeface="Courier New" pitchFamily="34" charset="-120"/>
                        </ns1:rPr>
                        <ns1:t>pose (x, y, yaw)</ns1:t>
                      </ns1:r>
                      <ns1:endParaRPr lang="en-US" sz="1200" dirty="0">
                        <ns1:latin typeface="Courier New" charset="0"/>
                        <ns1:ea typeface="Courier New" charset="0"/>
                        <ns1:cs typeface="Courier New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0E1729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E6EDF7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Absolute coordinates in the global frame</ns1:t>
                      </ns1:r>
                      <ns1:endParaRPr lang="en-US" sz="12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0E1729"/>
                    </ns1:solidFill>
                  </ns1:tcPr>
                </ns1:tc>
              </ns1:tr>
              <ns1:tr h="310896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b="1" dirty="0">
                          <ns1:solidFill>
                            <ns1:srgbClr val="2FD3C4"/>
                          </ns1:solidFill>
                          <ns1:latin typeface="Courier New" pitchFamily="34" charset="0"/>
                          <ns1:ea typeface="Courier New" pitchFamily="34" charset="-122"/>
                          <ns1:cs typeface="Courier New" pitchFamily="34" charset="-120"/>
                        </ns1:rPr>
                        <ns1:t>yaw_uncertainty</ns1:t>
                      </ns1:r>
                      <ns1:endParaRPr lang="en-US" sz="1200" dirty="0">
                        <ns1:latin typeface="Courier New" charset="0"/>
                        <ns1:ea typeface="Courier New" charset="0"/>
                        <ns1:cs typeface="Courier New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13203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E6EDF7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Orientation uncertainty bound</ns1:t>
                      </ns1:r>
                      <ns1:endParaRPr lang="en-US" sz="12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132038"/>
                    </ns1:solidFill>
                  </ns1:tcPr>
                </ns1:tc>
              </ns1:tr>
              <ns1:tr h="310896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b="1" dirty="0">
                          <ns1:solidFill>
                            <ns1:srgbClr val="2FD3C4"/>
                          </ns1:solidFill>
                          <ns1:latin typeface="Courier New" pitchFamily="34" charset="0"/>
                          <ns1:ea typeface="Courier New" pitchFamily="34" charset="-122"/>
                          <ns1:cs typeface="Courier New" pitchFamily="34" charset="-120"/>
                        </ns1:rPr>
                        <ns1:t>uwb_anchor_ids</ns1:t>
                      </ns1:r>
                      <ns1:endParaRPr lang="en-US" sz="1200" dirty="0">
                        <ns1:latin typeface="Courier New" charset="0"/>
                        <ns1:ea typeface="Courier New" charset="0"/>
                        <ns1:cs typeface="Courier New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0E1729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E6EDF7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UWB anchors in range at capture time</ns1:t>
                      </ns1:r>
                      <ns1:endParaRPr lang="en-US" sz="12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0E1729"/>
                    </ns1:solidFill>
                  </ns1:tcPr>
                </ns1:tc>
              </ns1:tr>
              <ns1:tr h="310896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b="1" dirty="0">
                          <ns1:solidFill>
                            <ns1:srgbClr val="2FD3C4"/>
                          </ns1:solidFill>
                          <ns1:latin typeface="Courier New" pitchFamily="34" charset="0"/>
                          <ns1:ea typeface="Courier New" pitchFamily="34" charset="-122"/>
                          <ns1:cs typeface="Courier New" pitchFamily="34" charset="-120"/>
                        </ns1:rPr>
                        <ns1:t>tag_signature</ns1:t>
                      </ns1:r>
                      <ns1:endParaRPr lang="en-US" sz="1200" dirty="0">
                        <ns1:latin typeface="Courier New" charset="0"/>
                        <ns1:ea typeface="Courier New" charset="0"/>
                        <ns1:cs typeface="Courier New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13203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E6EDF7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ArUco tag IDs and visual signature</ns1:t>
                      </ns1:r>
                      <ns1:endParaRPr lang="en-US" sz="12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132038"/>
                    </ns1:solidFill>
                  </ns1:tcPr>
                </ns1:tc>
              </ns1:tr>
              <ns1:tr h="310896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b="1" dirty="0">
                          <ns1:solidFill>
                            <ns1:srgbClr val="2FD3C4"/>
                          </ns1:solidFill>
                          <ns1:latin typeface="Courier New" pitchFamily="34" charset="0"/>
                          <ns1:ea typeface="Courier New" pitchFamily="34" charset="-122"/>
                          <ns1:cs typeface="Courier New" pitchFamily="34" charset="-120"/>
                        </ns1:rPr>
                        <ns1:t>edges[]</ns1:t>
                      </ns1:r>
                      <ns1:endParaRPr lang="en-US" sz="1200" dirty="0">
                        <ns1:latin typeface="Courier New" charset="0"/>
                        <ns1:ea typeface="Courier New" charset="0"/>
                        <ns1:cs typeface="Courier New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0E1729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E6EDF7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Neighbor node ID + traversability cost</ns1:t>
                      </ns1:r>
                      <ns1:endParaRPr lang="en-US" sz="12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 anchor="ctr">
                    <ns1:lnL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 cap="flat" cmpd="sng" algn="ctr">
                      <ns1:solidFill>
                        <ns1:srgbClr val="25375A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0E1729"/>
                    </ns1:solidFill>
                  </ns1:tcPr>
                </ns1:tc>
              </ns1:tr>
            </ns1:tbl>
          </ns1:graphicData>
        </ns1:graphic>
      </ns0:graphicFrame>
    </ns0:spTree>
  </ns0:cSld>
  <ns0:clrMapOvr>
    <ns1:masterClrMapping/>
  </ns0:clrMapOvr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35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" dur="35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1" fill="hold">
                            <ns0:stCondLst>
                              <ns0:cond delay="150"/>
                            </ns0:stCondLst>
                            <ns0:childTnLst>
                              <ns0:par>
                                <ns0:cTn id="12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35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5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35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8" fill="hold">
                            <ns0:stCondLst>
                              <ns0:cond delay="300"/>
                            </ns0:stCondLst>
                            <ns0:childTnLst>
                              <ns0:par>
                                <ns0:cTn id="19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5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2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4" dur="25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25" fill="hold">
                            <ns0:stCondLst>
                              <ns0:cond delay="450"/>
                            </ns0:stCondLst>
                            <ns0:childTnLst>
                              <ns0:par>
                                <ns0:cTn id="26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8" dur="35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9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35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32" fill="hold">
                            <ns0:stCondLst>
                              <ns0:cond delay="650"/>
                            </ns0:stCondLst>
                            <ns0:childTnLst>
                              <ns0:par>
                                <ns0:cTn id="33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5" dur="25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36" fill="hold">
                            <ns0:stCondLst>
                              <ns0:cond delay="800"/>
                            </ns0:stCondLst>
                            <ns0:childTnLst>
                              <ns0:par>
                                <ns0:cTn id="37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9" dur="35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35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43" fill="hold">
                            <ns0:stCondLst>
                              <ns0:cond delay="1000"/>
                            </ns0:stCondLst>
                            <ns0:childTnLst>
                              <ns0:par>
                                <ns0:cTn id="44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5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0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2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4" dur="20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5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0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0" dur="20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0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6" dur="20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9" dur="20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7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0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73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5" dur="20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76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8" dur="200"/>
                                        <ns0:tgtEl>
                                          <ns0:spTgt spid="2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79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1" dur="200"/>
                                        <ns0:tgtEl>
                                          <ns0:spTgt spid="2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82" fill="hold">
                            <ns0:stCondLst>
                              <ns0:cond delay="100"/>
                            </ns0:stCondLst>
                            <ns0:childTnLst>
                              <ns0:par>
                                <ns0:cTn id="83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5" dur="200"/>
                                        <ns0:tgtEl>
                                          <ns0:spTgt spid="2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6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8" dur="200"/>
                                        <ns0:tgtEl>
                                          <ns0:spTgt spid="2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9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1" dur="200"/>
                                        <ns0:tgtEl>
                                          <ns0:spTgt spid="2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92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4" dur="200"/>
                                        <ns0:tgtEl>
                                          <ns0:spTgt spid="3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95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00"/>
                                        <ns0:tgtEl>
                                          <ns0:spTgt spid="3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9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0" dur="200"/>
                                        <ns0:tgtEl>
                                          <ns0:spTgt spid="3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0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3" dur="200"/>
                                        <ns0:tgtEl>
                                          <ns0:spTgt spid="3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0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6" dur="200"/>
                                        <ns0:tgtEl>
                                          <ns0:spTgt spid="3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0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9" dur="200"/>
                                        <ns0:tgtEl>
                                          <ns0:spTgt spid="3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1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12" dur="200"/>
                                        <ns0:tgtEl>
                                          <ns0:spTgt spid="3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13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15" dur="200"/>
                                        <ns0:tgtEl>
                                          <ns0:spTgt spid="3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16" fill="hold">
                            <ns0:stCondLst>
                              <ns0:cond delay="200"/>
                            </ns0:stCondLst>
                            <ns0:childTnLst>
                              <ns0:par>
                                <ns0:cTn id="117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19" dur="200"/>
                                        <ns0:tgtEl>
                                          <ns0:spTgt spid="3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2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2" dur="200"/>
                                        <ns0:tgtEl>
                                          <ns0:spTgt spid="3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23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2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5" dur="200"/>
                                        <ns0:tgtEl>
                                          <ns0:spTgt spid="4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26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2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8" dur="200"/>
                                        <ns0:tgtEl>
                                          <ns0:spTgt spid="4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29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31" dur="200"/>
                                        <ns0:tgtEl>
                                          <ns0:spTgt spid="4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32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34" dur="200"/>
                                        <ns0:tgtEl>
                                          <ns0:spTgt spid="4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35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37" dur="200"/>
                                        <ns0:tgtEl>
                                          <ns0:spTgt spid="4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3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0" dur="200"/>
                                        <ns0:tgtEl>
                                          <ns0:spTgt spid="4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4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4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3" dur="200"/>
                                        <ns0:tgtEl>
                                          <ns0:spTgt spid="4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4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6" dur="200"/>
                                        <ns0:tgtEl>
                                          <ns0:spTgt spid="4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4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4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9" dur="200"/>
                                        <ns0:tgtEl>
                                          <ns0:spTgt spid="4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50" fill="hold">
                            <ns0:stCondLst>
                              <ns0:cond delay="300"/>
                            </ns0:stCondLst>
                            <ns0:childTnLst>
                              <ns0:par>
                                <ns0:cTn id="151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5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53" dur="200"/>
                                        <ns0:tgtEl>
                                          <ns0:spTgt spid="4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5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56" dur="200"/>
                                        <ns0:tgtEl>
                                          <ns0:spTgt spid="5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5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5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59" dur="200"/>
                                        <ns0:tgtEl>
                                          <ns0:spTgt spid="5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6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2" dur="200"/>
                                        <ns0:tgtEl>
                                          <ns0:spTgt spid="5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63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5" dur="200"/>
                                        <ns0:tgtEl>
                                          <ns0:spTgt spid="5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66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8" dur="200"/>
                                        <ns0:tgtEl>
                                          <ns0:spTgt spid="5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69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7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1" dur="200"/>
                                        <ns0:tgtEl>
                                          <ns0:spTgt spid="5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72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7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4" dur="200"/>
                                        <ns0:tgtEl>
                                          <ns0:spTgt spid="5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75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7" dur="200"/>
                                        <ns0:tgtEl>
                                          <ns0:spTgt spid="5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7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7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80" dur="200"/>
                                        <ns0:tgtEl>
                                          <ns0:spTgt spid="5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8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8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83" dur="200"/>
                                        <ns0:tgtEl>
                                          <ns0:spTgt spid="5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84" fill="hold">
                            <ns0:stCondLst>
                              <ns0:cond delay="400"/>
                            </ns0:stCondLst>
                            <ns0:childTnLst>
                              <ns0:par>
                                <ns0:cTn id="185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87" dur="200"/>
                                        <ns0:tgtEl>
                                          <ns0:spTgt spid="6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8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8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90" dur="200"/>
                                        <ns0:tgtEl>
                                          <ns0:spTgt spid="6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9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9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93" dur="200"/>
                                        <ns0:tgtEl>
                                          <ns0:spTgt spid="6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9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9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96" dur="200"/>
                                        <ns0:tgtEl>
                                          <ns0:spTgt spid="6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9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9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99" dur="200"/>
                                        <ns0:tgtEl>
                                          <ns0:spTgt spid="6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0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02" dur="200"/>
                                        <ns0:tgtEl>
                                          <ns0:spTgt spid="6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03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05" dur="200"/>
                                        <ns0:tgtEl>
                                          <ns0:spTgt spid="6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06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08" dur="200"/>
                                        <ns0:tgtEl>
                                          <ns0:spTgt spid="6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09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1" dur="200"/>
                                        <ns0:tgtEl>
                                          <ns0:spTgt spid="6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12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4" dur="200"/>
                                        <ns0:tgtEl>
                                          <ns0:spTgt spid="6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15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7" dur="200"/>
                                        <ns0:tgtEl>
                                          <ns0:spTgt spid="7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218" fill="hold">
                            <ns0:stCondLst>
                              <ns0:cond delay="500"/>
                            </ns0:stCondLst>
                            <ns0:childTnLst>
                              <ns0:par>
                                <ns0:cTn id="219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1" dur="200"/>
                                        <ns0:tgtEl>
                                          <ns0:spTgt spid="7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22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2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4" dur="200"/>
                                        <ns0:tgtEl>
                                          <ns0:spTgt spid="7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25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7" dur="200"/>
                                        <ns0:tgtEl>
                                          <ns0:spTgt spid="7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2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2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30" dur="200"/>
                                        <ns0:tgtEl>
                                          <ns0:spTgt spid="7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3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3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33" dur="200"/>
                                        <ns0:tgtEl>
                                          <ns0:spTgt spid="7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3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36" dur="200"/>
                                        <ns0:tgtEl>
                                          <ns0:spTgt spid="7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3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3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39" dur="200"/>
                                        <ns0:tgtEl>
                                          <ns0:spTgt spid="7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4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42" dur="200"/>
                                        <ns0:tgtEl>
                                          <ns0:spTgt spid="7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43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4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45" dur="200"/>
                                        <ns0:tgtEl>
                                          <ns0:spTgt spid="7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46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4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48" dur="200"/>
                                        <ns0:tgtEl>
                                          <ns0:spTgt spid="8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49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51" dur="200"/>
                                        <ns0:tgtEl>
                                          <ns0:spTgt spid="8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252" fill="hold">
                            <ns0:stCondLst>
                              <ns0:cond delay="600"/>
                            </ns0:stCondLst>
                            <ns0:childTnLst>
                              <ns0:par>
                                <ns0:cTn id="253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55" dur="200"/>
                                        <ns0:tgtEl>
                                          <ns0:spTgt spid="8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56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58" dur="200"/>
                                        <ns0:tgtEl>
                                          <ns0:spTgt spid="8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59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1" dur="200"/>
                                        <ns0:tgtEl>
                                          <ns0:spTgt spid="8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62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4" dur="200"/>
                                        <ns0:tgtEl>
                                          <ns0:spTgt spid="8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65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7" dur="200"/>
                                        <ns0:tgtEl>
                                          <ns0:spTgt spid="8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6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0" dur="200"/>
                                        <ns0:tgtEl>
                                          <ns0:spTgt spid="8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7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7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3" dur="200"/>
                                        <ns0:tgtEl>
                                          <ns0:spTgt spid="8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7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7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6" dur="200"/>
                                        <ns0:tgtEl>
                                          <ns0:spTgt spid="8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7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7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9" dur="200"/>
                                        <ns0:tgtEl>
                                          <ns0:spTgt spid="9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8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82" dur="200"/>
                                        <ns0:tgtEl>
                                          <ns0:spTgt spid="9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83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8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85" dur="200"/>
                                        <ns0:tgtEl>
                                          <ns0:spTgt spid="9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286" fill="hold">
                            <ns0:stCondLst>
                              <ns0:cond delay="700"/>
                            </ns0:stCondLst>
                            <ns0:childTnLst>
                              <ns0:par>
                                <ns0:cTn id="287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8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89" dur="200"/>
                                        <ns0:tgtEl>
                                          <ns0:spTgt spid="9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9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92" dur="200"/>
                                        <ns0:tgtEl>
                                          <ns0:spTgt spid="9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93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9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95" dur="200"/>
                                        <ns0:tgtEl>
                                          <ns0:spTgt spid="9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96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9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98" dur="200"/>
                                        <ns0:tgtEl>
                                          <ns0:spTgt spid="9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99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01" dur="200"/>
                                        <ns0:tgtEl>
                                          <ns0:spTgt spid="9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02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04" dur="200"/>
                                        <ns0:tgtEl>
                                          <ns0:spTgt spid="9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05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07" dur="200"/>
                                        <ns0:tgtEl>
                                          <ns0:spTgt spid="9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0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0" dur="200"/>
                                        <ns0:tgtEl>
                                          <ns0:spTgt spid="10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1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3" dur="200"/>
                                        <ns0:tgtEl>
                                          <ns0:spTgt spid="10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1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6" dur="200"/>
                                        <ns0:tgtEl>
                                          <ns0:spTgt spid="10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1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9" dur="200"/>
                                        <ns0:tgtEl>
                                          <ns0:spTgt spid="10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320" fill="hold">
                            <ns0:stCondLst>
                              <ns0:cond delay="900"/>
                            </ns0:stCondLst>
                            <ns0:childTnLst>
                              <ns0:par>
                                <ns0:cTn id="321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2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3" dur="350"/>
                                        <ns0:tgtEl>
                                          <ns0:spTgt spid="10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  <ns0:bldP spid="25" grpId="0" animBg="1"/>
      <ns0:bldP spid="26" grpId="0" animBg="1"/>
      <ns0:bldP spid="27" grpId="0" animBg="1"/>
      <ns0:bldP spid="28" grpId="0" animBg="1"/>
      <ns0:bldP spid="29" grpId="0" animBg="1"/>
      <ns0:bldP spid="30" grpId="0" animBg="1"/>
      <ns0:bldP spid="31" grpId="0" animBg="1"/>
      <ns0:bldP spid="32" grpId="0" animBg="1"/>
      <ns0:bldP spid="33" grpId="0" animBg="1"/>
      <ns0:bldP spid="34" grpId="0" animBg="1"/>
      <ns0:bldP spid="35" grpId="0" animBg="1"/>
      <ns0:bldP spid="36" grpId="0" animBg="1"/>
      <ns0:bldP spid="37" grpId="0" animBg="1"/>
      <ns0:bldP spid="38" grpId="0" animBg="1"/>
      <ns0:bldP spid="39" grpId="0" animBg="1"/>
      <ns0:bldP spid="40" grpId="0" animBg="1"/>
      <ns0:bldP spid="41" grpId="0" animBg="1"/>
      <ns0:bldP spid="42" grpId="0" animBg="1"/>
      <ns0:bldP spid="43" grpId="0" animBg="1"/>
      <ns0:bldP spid="44" grpId="0" animBg="1"/>
      <ns0:bldP spid="45" grpId="0" animBg="1"/>
      <ns0:bldP spid="46" grpId="0" animBg="1"/>
      <ns0:bldP spid="47" grpId="0" animBg="1"/>
      <ns0:bldP spid="48" grpId="0" animBg="1"/>
      <ns0:bldP spid="49" grpId="0" animBg="1"/>
      <ns0:bldP spid="50" grpId="0" animBg="1"/>
      <ns0:bldP spid="51" grpId="0" animBg="1"/>
      <ns0:bldP spid="52" grpId="0" animBg="1"/>
      <ns0:bldP spid="53" grpId="0" animBg="1"/>
      <ns0:bldP spid="54" grpId="0" animBg="1"/>
      <ns0:bldP spid="55" grpId="0" animBg="1"/>
      <ns0:bldP spid="56" grpId="0" animBg="1"/>
      <ns0:bldP spid="57" grpId="0" animBg="1"/>
      <ns0:bldP spid="58" grpId="0" animBg="1"/>
      <ns0:bldP spid="59" grpId="0" animBg="1"/>
      <ns0:bldP spid="60" grpId="0" animBg="1"/>
      <ns0:bldP spid="61" grpId="0" animBg="1"/>
      <ns0:bldP spid="62" grpId="0" animBg="1"/>
      <ns0:bldP spid="63" grpId="0" animBg="1"/>
      <ns0:bldP spid="64" grpId="0" animBg="1"/>
      <ns0:bldP spid="65" grpId="0" animBg="1"/>
      <ns0:bldP spid="66" grpId="0" animBg="1"/>
      <ns0:bldP spid="67" grpId="0" animBg="1"/>
      <ns0:bldP spid="68" grpId="0" animBg="1"/>
      <ns0:bldP spid="69" grpId="0" animBg="1"/>
      <ns0:bldP spid="70" grpId="0" animBg="1"/>
      <ns0:bldP spid="71" grpId="0" animBg="1"/>
      <ns0:bldP spid="72" grpId="0" animBg="1"/>
      <ns0:bldP spid="73" grpId="0" animBg="1"/>
      <ns0:bldP spid="74" grpId="0" animBg="1"/>
      <ns0:bldP spid="75" grpId="0" animBg="1"/>
      <ns0:bldP spid="76" grpId="0" animBg="1"/>
      <ns0:bldP spid="77" grpId="0" animBg="1"/>
      <ns0:bldP spid="78" grpId="0" animBg="1"/>
      <ns0:bldP spid="79" grpId="0" animBg="1"/>
      <ns0:bldP spid="80" grpId="0" animBg="1"/>
      <ns0:bldP spid="81" grpId="0" animBg="1"/>
      <ns0:bldP spid="82" grpId="0" animBg="1"/>
      <ns0:bldP spid="83" grpId="0" animBg="1"/>
      <ns0:bldP spid="84" grpId="0" animBg="1"/>
      <ns0:bldP spid="85" grpId="0" animBg="1"/>
      <ns0:bldP spid="86" grpId="0" animBg="1"/>
      <ns0:bldP spid="87" grpId="0" animBg="1"/>
      <ns0:bldP spid="88" grpId="0" animBg="1"/>
      <ns0:bldP spid="89" grpId="0" animBg="1"/>
      <ns0:bldP spid="90" grpId="0" animBg="1"/>
      <ns0:bldP spid="91" grpId="0" animBg="1"/>
      <ns0:bldP spid="92" grpId="0" animBg="1"/>
      <ns0:bldP spid="93" grpId="0" animBg="1"/>
      <ns0:bldP spid="94" grpId="0" animBg="1"/>
      <ns0:bldP spid="95" grpId="0" animBg="1"/>
      <ns0:bldP spid="96" grpId="0" animBg="1"/>
      <ns0:bldP spid="97" grpId="0" animBg="1"/>
      <ns0:bldP spid="98" grpId="0" animBg="1"/>
      <ns0:bldP spid="99" grpId="0" animBg="1"/>
      <ns0:bldP spid="100" grpId="0" animBg="1"/>
      <ns0:bldP spid="101" grpId="0" animBg="1"/>
      <ns0:bldP spid="102" grpId="0" animBg="1"/>
      <ns0:bldP spid="103" grpId="0" animBg="1"/>
      <ns0:bldP spid="104" grpId="0" animBg="1"/>
    </ns0:bldLst>
  </ns0:timing>
</ns0:sld>
</file>

<file path=ppt/slides/slide6.xml><?xml version="1.0" encoding="utf-8"?>
<ns0:sld xmlns:ns0="http://schemas.openxmlformats.org/presentationml/2006/main" xmlns:ns1="http://schemas.openxmlformats.org/drawingml/2006/main" xmlns:ns2="http://schemas.openxmlformats.org/drawingml/2006/chart" xmlns:ns3="http://schemas.openxmlformats.org/officeDocument/2006/relationships">
  <ns0:cSld name="Slide 6">
    <ns0:bg>
      <ns0:bgPr>
        <ns1:solidFill>
          <ns1:srgbClr val="0B1220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548640" y="320040"/>
            <ns1:ext cx="91440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200" b="1" spc="300" kern="0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05 · CONTROL</ns1:t>
            </ns1:r>
            <ns1:endParaRPr lang="en-US" sz="1200" dirty="0"/>
          </ns1:p>
        </ns0:txBody>
      </ns0:sp>
      <ns0:sp>
        <ns0:nvSpPr>
          <ns0:cNvPr id="3" name="Text 1"/>
          <ns0:cNvSpPr txBox="1"/>
          <ns0:nvPr/>
        </ns0:nvSpPr>
        <ns0:spPr>
          <ns1:xfrm>
            <ns1:off x="548640" y="594360"/>
            <ns1:ext cx="11064240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32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Pure Pursuit Kinematics &amp; Safety Envelopes</ns1:t>
            </ns1:r>
            <ns1:endParaRPr lang="en-US" sz="3200" dirty="0"/>
          </ns1:p>
        </ns0:txBody>
      </ns0:sp>
      <ns0:sp>
        <ns0:nvSpPr>
          <ns0:cNvPr id="4" name="Shape 2"/>
          <ns0:cNvSpPr/>
          <ns0:nvPr/>
        </ns0:nvSpPr>
        <ns0:spPr>
          <ns1:xfrm>
            <ns1:off x="548640" y="1554480"/>
            <ns1:ext cx="6126480" cy="4800600"/>
          </ns1:xfrm>
          <ns1:prstGeom prst="roundRect">
            <ns1:avLst>
              <ns1:gd name="adj" fmla="val 1524"/>
            </ns1:avLst>
          </ns1:prstGeom>
          <ns1:solidFill>
            <ns1:srgbClr val="0E1729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5" name="Shape 3"/>
          <ns0:cNvSpPr/>
          <ns0:nvPr/>
        </ns0:nvSpPr>
        <ns0:spPr>
          <ns1:xfrm>
            <ns1:off x="1097280" y="3931920"/>
            <ns1:ext cx="2194560" cy="2194560"/>
          </ns1:xfrm>
          <ns1:prstGeom prst="ellipse">
            <ns1:avLst/>
          </ns1:prstGeom>
          <ns1:solidFill>
            <ns1:srgbClr val="0B1220">
              <ns1:alpha val="0"/>
            </ns1:srgbClr>
          </ns1:solidFill>
          <ns1:ln w="19050">
            <ns1:solidFill>
              <ns1:srgbClr val="F5A524"/>
            </ns1:solidFill>
            <ns1:prstDash val="dash"/>
          </ns1:ln>
        </ns0:spPr>
      </ns0:sp>
      <ns0:sp>
        <ns0:nvSpPr>
          <ns0:cNvPr id="6" name="Shape 4"/>
          <ns0:cNvSpPr/>
          <ns0:nvPr/>
        </ns0:nvSpPr>
        <ns0:spPr>
          <ns1:xfrm>
            <ns1:off x="1783080" y="4617720"/>
            <ns1:ext cx="822960" cy="822960"/>
          </ns1:xfrm>
          <ns1:prstGeom prst="ellipse">
            <ns1:avLst/>
          </ns1:prstGeom>
          <ns1:solidFill>
            <ns1:srgbClr val="FF5C6C"/>
          </ns1:solidFill>
          <ns1:ln w="19050">
            <ns1:solidFill>
              <ns1:srgbClr val="FF5C6C"/>
            </ns1:solidFill>
            <ns1:prstDash val="solid"/>
          </ns1:ln>
        </ns0:spPr>
      </ns0:sp>
      <ns0:sp>
        <ns0:nvSpPr>
          <ns0:cNvPr id="7" name="Shape 5"/>
          <ns0:cNvSpPr/>
          <ns0:nvPr/>
        </ns0:nvSpPr>
        <ns0:spPr>
          <ns1:xfrm flipV="1">
            <ns1:off x="2194560" y="4718705"/>
            <ns1:ext cx="19321" cy="310495"/>
          </ns1:xfrm>
          <ns1:prstGeom prst="line">
            <ns1:avLst/>
          </ns1:prstGeom>
          <ns1:noFill/>
          <ns1:ln w="38100">
            <ns1:solidFill>
              <ns1:srgbClr val="2FD3C4"/>
            </ns1:solidFill>
            <ns1:prstDash val="solid"/>
          </ns1:ln>
        </ns0:spPr>
      </ns0:sp>
      <ns0:sp>
        <ns0:nvSpPr>
          <ns0:cNvPr id="8" name="Shape 6"/>
          <ns0:cNvSpPr/>
          <ns0:nvPr/>
        </ns0:nvSpPr>
        <ns0:spPr>
          <ns1:xfrm flipV="1">
            <ns1:off x="2213881" y="4413001"/>
            <ns1:ext cx="57665" cy="305704"/>
          </ns1:xfrm>
          <ns1:prstGeom prst="line">
            <ns1:avLst/>
          </ns1:prstGeom>
          <ns1:noFill/>
          <ns1:ln w="38100">
            <ns1:solidFill>
              <ns1:srgbClr val="2FD3C4"/>
            </ns1:solidFill>
            <ns1:prstDash val="solid"/>
          </ns1:ln>
        </ns0:spPr>
      </ns0:sp>
      <ns0:sp>
        <ns0:nvSpPr>
          <ns0:cNvPr id="9" name="Shape 7"/>
          <ns0:cNvSpPr/>
          <ns0:nvPr/>
        </ns0:nvSpPr>
        <ns0:spPr>
          <ns1:xfrm flipV="1">
            <ns1:off x="2271546" y="4116805"/>
            <ns1:ext cx="95119" cy="296197"/>
          </ns1:xfrm>
          <ns1:prstGeom prst="line">
            <ns1:avLst/>
          </ns1:prstGeom>
          <ns1:noFill/>
          <ns1:ln w="38100">
            <ns1:solidFill>
              <ns1:srgbClr val="2FD3C4"/>
            </ns1:solidFill>
            <ns1:prstDash val="solid"/>
          </ns1:ln>
        </ns0:spPr>
      </ns0:sp>
      <ns0:sp>
        <ns0:nvSpPr>
          <ns0:cNvPr id="10" name="Shape 8"/>
          <ns0:cNvSpPr/>
          <ns0:nvPr/>
        </ns0:nvSpPr>
        <ns0:spPr>
          <ns1:xfrm flipV="1">
            <ns1:off x="2366664" y="3834685"/>
            <ns1:ext cx="131105" cy="282120"/>
          </ns1:xfrm>
          <ns1:prstGeom prst="line">
            <ns1:avLst/>
          </ns1:prstGeom>
          <ns1:noFill/>
          <ns1:ln w="38100">
            <ns1:solidFill>
              <ns1:srgbClr val="2FD3C4"/>
            </ns1:solidFill>
            <ns1:prstDash val="solid"/>
          </ns1:ln>
        </ns0:spPr>
      </ns0:sp>
      <ns0:sp>
        <ns0:nvSpPr>
          <ns0:cNvPr id="11" name="Shape 9"/>
          <ns0:cNvSpPr/>
          <ns0:nvPr/>
        </ns0:nvSpPr>
        <ns0:spPr>
          <ns1:xfrm flipV="1">
            <ns1:off x="2497770" y="3570995"/>
            <ns1:ext cx="165069" cy="263690"/>
          </ns1:xfrm>
          <ns1:prstGeom prst="line">
            <ns1:avLst/>
          </ns1:prstGeom>
          <ns1:noFill/>
          <ns1:ln w="38100">
            <ns1:solidFill>
              <ns1:srgbClr val="2FD3C4"/>
            </ns1:solidFill>
            <ns1:prstDash val="solid"/>
          </ns1:ln>
        </ns0:spPr>
      </ns0:sp>
      <ns0:sp>
        <ns0:nvSpPr>
          <ns0:cNvPr id="12" name="Shape 10"/>
          <ns0:cNvSpPr/>
          <ns0:nvPr/>
        </ns0:nvSpPr>
        <ns0:spPr>
          <ns1:xfrm flipV="1">
            <ns1:off x="2662839" y="3329803"/>
            <ns1:ext cx="196486" cy="241192"/>
          </ns1:xfrm>
          <ns1:prstGeom prst="line">
            <ns1:avLst/>
          </ns1:prstGeom>
          <ns1:noFill/>
          <ns1:ln w="38100">
            <ns1:solidFill>
              <ns1:srgbClr val="2FD3C4"/>
            </ns1:solidFill>
            <ns1:prstDash val="solid"/>
          </ns1:ln>
        </ns0:spPr>
      </ns0:sp>
      <ns0:sp>
        <ns0:nvSpPr>
          <ns0:cNvPr id="13" name="Shape 11"/>
          <ns0:cNvSpPr/>
          <ns0:nvPr/>
        </ns0:nvSpPr>
        <ns0:spPr>
          <ns1:xfrm flipV="1">
            <ns1:off x="2859325" y="3114831"/>
            <ns1:ext cx="224871" cy="214972"/>
          </ns1:xfrm>
          <ns1:prstGeom prst="line">
            <ns1:avLst/>
          </ns1:prstGeom>
          <ns1:noFill/>
          <ns1:ln w="38100">
            <ns1:solidFill>
              <ns1:srgbClr val="2FD3C4"/>
            </ns1:solidFill>
            <ns1:prstDash val="solid"/>
          </ns1:ln>
        </ns0:spPr>
      </ns0:sp>
      <ns0:sp>
        <ns0:nvSpPr>
          <ns0:cNvPr id="14" name="Shape 12"/>
          <ns0:cNvSpPr/>
          <ns0:nvPr/>
        </ns0:nvSpPr>
        <ns0:spPr>
          <ns1:xfrm flipV="1">
            <ns1:off x="3084196" y="2929395"/>
            <ns1:ext cx="249787" cy="185436"/>
          </ns1:xfrm>
          <ns1:prstGeom prst="line">
            <ns1:avLst/>
          </ns1:prstGeom>
          <ns1:noFill/>
          <ns1:ln w="38100">
            <ns1:solidFill>
              <ns1:srgbClr val="2FD3C4"/>
            </ns1:solidFill>
            <ns1:prstDash val="solid"/>
          </ns1:ln>
        </ns0:spPr>
      </ns0:sp>
      <ns0:sp>
        <ns0:nvSpPr>
          <ns0:cNvPr id="15" name="Shape 13"/>
          <ns0:cNvSpPr/>
          <ns0:nvPr/>
        </ns0:nvSpPr>
        <ns0:spPr>
          <ns1:xfrm flipV="1">
            <ns1:off x="3333983" y="2776357"/>
            <ns1:ext cx="270849" cy="153039"/>
          </ns1:xfrm>
          <ns1:prstGeom prst="line">
            <ns1:avLst/>
          </ns1:prstGeom>
          <ns1:noFill/>
          <ns1:ln w="38100">
            <ns1:solidFill>
              <ns1:srgbClr val="2FD3C4"/>
            </ns1:solidFill>
            <ns1:prstDash val="solid"/>
          </ns1:ln>
        </ns0:spPr>
      </ns0:sp>
      <ns0:sp>
        <ns0:nvSpPr>
          <ns0:cNvPr id="16" name="Shape 14"/>
          <ns0:cNvSpPr/>
          <ns0:nvPr/>
        </ns0:nvSpPr>
        <ns0:spPr>
          <ns1:xfrm flipV="1">
            <ns1:off x="3604832" y="2658076"/>
            <ns1:ext cx="287732" cy="118280"/>
          </ns1:xfrm>
          <ns1:prstGeom prst="line">
            <ns1:avLst/>
          </ns1:prstGeom>
          <ns1:noFill/>
          <ns1:ln w="38100">
            <ns1:solidFill>
              <ns1:srgbClr val="2FD3C4"/>
            </ns1:solidFill>
            <ns1:prstDash val="solid"/>
          </ns1:ln>
        </ns0:spPr>
      </ns0:sp>
      <ns0:sp>
        <ns0:nvSpPr>
          <ns0:cNvPr id="17" name="Shape 15"/>
          <ns0:cNvSpPr/>
          <ns0:nvPr/>
        </ns0:nvSpPr>
        <ns0:spPr>
          <ns1:xfrm flipV="1">
            <ns1:off x="3892565" y="2576380"/>
            <ns1:ext cx="300176" cy="81697"/>
          </ns1:xfrm>
          <ns1:prstGeom prst="line">
            <ns1:avLst/>
          </ns1:prstGeom>
          <ns1:noFill/>
          <ns1:ln w="38100">
            <ns1:solidFill>
              <ns1:srgbClr val="2FD3C4"/>
            </ns1:solidFill>
            <ns1:prstDash val="solid"/>
          </ns1:ln>
        </ns0:spPr>
      </ns0:sp>
      <ns0:sp>
        <ns0:nvSpPr>
          <ns0:cNvPr id="18" name="Shape 16"/>
          <ns0:cNvSpPr/>
          <ns0:nvPr/>
        </ns0:nvSpPr>
        <ns0:spPr>
          <ns1:xfrm flipV="1">
            <ns1:off x="4192741" y="2532527"/>
            <ns1:ext cx="307989" cy="43853"/>
          </ns1:xfrm>
          <ns1:prstGeom prst="line">
            <ns1:avLst/>
          </ns1:prstGeom>
          <ns1:noFill/>
          <ns1:ln w="38100">
            <ns1:solidFill>
              <ns1:srgbClr val="2FD3C4"/>
            </ns1:solidFill>
            <ns1:prstDash val="solid"/>
          </ns1:ln>
        </ns0:spPr>
      </ns0:sp>
      <ns0:sp>
        <ns0:nvSpPr>
          <ns0:cNvPr id="19" name="Shape 17"/>
          <ns0:cNvSpPr/>
          <ns0:nvPr/>
        </ns0:nvSpPr>
        <ns0:spPr>
          <ns1:xfrm flipV="1">
            <ns1:off x="4500730" y="2527194"/>
            <ns1:ext cx="311049" cy="5332"/>
          </ns1:xfrm>
          <ns1:prstGeom prst="line">
            <ns1:avLst/>
          </ns1:prstGeom>
          <ns1:noFill/>
          <ns1:ln w="38100">
            <ns1:solidFill>
              <ns1:srgbClr val="2FD3C4"/>
            </ns1:solidFill>
            <ns1:prstDash val="solid"/>
          </ns1:ln>
        </ns0:spPr>
      </ns0:sp>
      <ns0:sp>
        <ns0:nvSpPr>
          <ns0:cNvPr id="20" name="Shape 18"/>
          <ns0:cNvSpPr/>
          <ns0:nvPr/>
        </ns0:nvSpPr>
        <ns0:spPr>
          <ns1:xfrm>
            <ns1:off x="4811779" y="2527194"/>
            <ns1:ext cx="309311" cy="33270"/>
          </ns1:xfrm>
          <ns1:prstGeom prst="line">
            <ns1:avLst/>
          </ns1:prstGeom>
          <ns1:noFill/>
          <ns1:ln w="38100">
            <ns1:solidFill>
              <ns1:srgbClr val="2FD3C4"/>
            </ns1:solidFill>
            <ns1:prstDash val="solid"/>
          </ns1:ln>
        </ns0:spPr>
      </ns0:sp>
      <ns0:sp>
        <ns0:nvSpPr>
          <ns0:cNvPr id="21" name="Shape 19"/>
          <ns0:cNvSpPr/>
          <ns0:nvPr/>
        </ns0:nvSpPr>
        <ns0:spPr>
          <ns1:xfrm flipV="1">
            <ns1:off x="2194560" y="2560320"/>
            <ns1:ext cx="2926080" cy="2468880"/>
          </ns1:xfrm>
          <ns1:prstGeom prst="line">
            <ns1:avLst/>
          </ns1:prstGeom>
          <ns1:noFill/>
          <ns1:ln w="19050">
            <ns1:solidFill>
              <ns1:srgbClr val="9FB0C8"/>
            </ns1:solidFill>
            <ns1:prstDash val="dash"/>
          </ns1:ln>
        </ns0:spPr>
      </ns0:sp>
      <ns0:sp>
        <ns0:nvSpPr>
          <ns0:cNvPr id="22" name="Shape 20"/>
          <ns0:cNvSpPr/>
          <ns0:nvPr/>
        </ns0:nvSpPr>
        <ns0:spPr>
          <ns1:xfrm flipV="1">
            <ns1:off x="2194560" y="3566160"/>
            <ns1:ext cx="0" cy="1463040"/>
          </ns1:xfrm>
          <ns1:prstGeom prst="line">
            <ns1:avLst/>
          </ns1:prstGeom>
          <ns1:noFill/>
          <ns1:ln w="19050">
            <ns1:solidFill>
              <ns1:srgbClr val="9FB0C8"/>
            </ns1:solidFill>
            <ns1:prstDash val="solid"/>
            <ns1:tailEnd type="triangle"/>
          </ns1:ln>
        </ns0:spPr>
      </ns0:sp>
      <ns0:sp>
        <ns0:nvSpPr>
          <ns0:cNvPr id="23" name="Shape 21"/>
          <ns0:cNvSpPr/>
          <ns0:nvPr/>
        </ns0:nvSpPr>
        <ns0:spPr>
          <ns1:xfrm>
            <ns1:off x="2029968" y="4800600"/>
            <ns1:ext cx="329184" cy="457200"/>
          </ns1:xfrm>
          <ns1:prstGeom prst="rect">
            <ns1:avLst/>
          </ns1:prstGeom>
          <ns1:solidFill>
            <ns1:srgbClr val="E6EDF7"/>
          </ns1:solidFill>
          <ns1:ln w="12700">
            <ns1:solidFill>
              <ns1:srgbClr val="0B1220"/>
            </ns1:solidFill>
            <ns1:prstDash val="solid"/>
          </ns1:ln>
        </ns0:spPr>
      </ns0:sp>
      <ns0:sp>
        <ns0:nvSpPr>
          <ns0:cNvPr id="24" name="Shape 22"/>
          <ns0:cNvSpPr/>
          <ns0:nvPr/>
        </ns0:nvSpPr>
        <ns0:spPr>
          <ns1:xfrm>
            <ns1:off x="4992624" y="2432304"/>
            <ns1:ext cx="256032" cy="256032"/>
          </ns1:xfrm>
          <ns1:prstGeom prst="ellipse">
            <ns1:avLst/>
          </ns1:prstGeom>
          <ns1:solidFill>
            <ns1:srgbClr val="4C8DFF"/>
          </ns1:solidFill>
          <ns1:ln w="19050">
            <ns1:solidFill>
              <ns1:srgbClr val="4C8DFF"/>
            </ns1:solidFill>
            <ns1:prstDash val="solid"/>
          </ns1:ln>
        </ns0:spPr>
      </ns0:sp>
      <ns0:sp>
        <ns0:nvSpPr>
          <ns0:cNvPr id="25" name="Text 23"/>
          <ns0:cNvSpPr txBox="1"/>
          <ns0:nvPr/>
        </ns0:nvSpPr>
        <ns0:spPr>
          <ns1:xfrm>
            <ns1:off x="5303520" y="2423160"/>
            <ns1:ext cx="109728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100" b="1" dirty="0">
                <ns1:solidFill>
                  <ns1:srgbClr val="4C8D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waypoint</ns1:t>
            </ns1:r>
            <ns1:endParaRPr lang="en-US" sz="1100" dirty="0"/>
          </ns1:p>
        </ns0:txBody>
      </ns0:sp>
      <ns0:sp>
        <ns0:nvSpPr>
          <ns0:cNvPr id="26" name="Text 24"/>
          <ns0:cNvSpPr txBox="1"/>
          <ns0:nvPr/>
        </ns0:nvSpPr>
        <ns0:spPr>
          <ns1:xfrm>
            <ns1:off x="3703320" y="3474720"/>
            <ns1:ext cx="4572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9FB0C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L</ns1:t>
            </ns1:r>
            <ns1:endParaRPr lang="en-US" sz="1600" dirty="0"/>
          </ns1:p>
        </ns0:txBody>
      </ns0:sp>
      <ns0:sp>
        <ns0:nvSpPr>
          <ns0:cNvPr id="27" name="Text 25"/>
          <ns0:cNvSpPr txBox="1"/>
          <ns0:nvPr/>
        </ns0:nvSpPr>
        <ns0:spPr>
          <ns1:xfrm>
            <ns1:off x="2377440" y="3840480"/>
            <ns1:ext cx="36576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9FB0C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α</ns1:t>
            </ns1:r>
            <ns1:endParaRPr lang="en-US" sz="1600" dirty="0"/>
          </ns1:p>
        </ns0:txBody>
      </ns0:sp>
      <ns0:sp>
        <ns0:nvSpPr>
          <ns0:cNvPr id="28" name="Text 26"/>
          <ns0:cNvSpPr txBox="1"/>
          <ns0:nvPr/>
        </ns0:nvSpPr>
        <ns0:spPr>
          <ns1:xfrm>
            <ns1:off x="4206240" y="5669280"/>
            <ns1:ext cx="2377440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100" dirty="0">
                <ns1:solidFill>
                  <ns1:srgbClr val="9FB0C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L = lookahead vector</ns1:t>
            </ns1:r>
            <ns1:endParaRPr lang="en-US" sz="1100" dirty="0"/>
          </ns1:p>
          <ns1:p>
            <ns1:pPr indent="0" marL="0">
              <ns1:buNone/>
            </ns1:pPr>
            <ns1:r>
              <ns1:rPr lang="en-US" sz="1100" dirty="0">
                <ns1:solidFill>
                  <ns1:srgbClr val="9FB0C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α = steering angle</ns1:t>
            </ns1:r>
            <ns1:endParaRPr lang="en-US" sz="1100" dirty="0"/>
          </ns1:p>
        </ns0:txBody>
      </ns0:sp>
      <ns0:sp>
        <ns0:nvSpPr>
          <ns0:cNvPr id="29" name="Text 27"/>
          <ns0:cNvSpPr txBox="1"/>
          <ns0:nvPr/>
        </ns0:nvSpPr>
        <ns0:spPr>
          <ns1:xfrm>
            <ns1:off x="1691640" y="5486400"/>
            <ns1:ext cx="146304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000" b="1" dirty="0">
                <ns1:solidFill>
                  <ns1:srgbClr val="FF5C6C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E-stop &lt; 0.45 m</ns1:t>
            </ns1:r>
            <ns1:endParaRPr lang="en-US" sz="1000" dirty="0"/>
          </ns1:p>
        </ns0:txBody>
      </ns0:sp>
      <ns0:sp>
        <ns0:nvSpPr>
          <ns0:cNvPr id="30" name="Text 28"/>
          <ns0:cNvSpPr txBox="1"/>
          <ns0:nvPr/>
        </ns0:nvSpPr>
        <ns0:spPr>
          <ns1:xfrm>
            <ns1:off x="1691640" y="5897880"/>
            <ns1:ext cx="182880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000" b="1" dirty="0">
                <ns1:solidFill>
                  <ns1:srgbClr val="F5A52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Proximity 0.45–1.20 m</ns1:t>
            </ns1:r>
            <ns1:endParaRPr lang="en-US" sz="1000" dirty="0"/>
          </ns1:p>
        </ns0:txBody>
      </ns0:sp>
      <ns0:sp>
        <ns0:nvSpPr>
          <ns0:cNvPr id="31" name="Shape 29"/>
          <ns0:cNvSpPr/>
          <ns0:nvPr/>
        </ns0:nvSpPr>
        <ns0:spPr>
          <ns1:xfrm>
            <ns1:off x="6949440" y="1554480"/>
            <ns1:ext cx="4663440" cy="1234440"/>
          </ns1:xfrm>
          <ns1:prstGeom prst="roundRect">
            <ns1:avLst>
              <ns1:gd name="adj" fmla="val 5926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32" name="Text 30"/>
          <ns0:cNvSpPr txBox="1"/>
          <ns0:nvPr/>
        </ns0:nvSpPr>
        <ns0:spPr>
          <ns1:xfrm>
            <ns1:off x="7178040" y="1600200"/>
            <ns1:ext cx="1645920" cy="11430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4000" b="1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1.35</ns1:t>
            </ns1:r>
            <ns1:endParaRPr lang="en-US" sz="4000" dirty="0"/>
          </ns1:p>
        </ns0:txBody>
      </ns0:sp>
      <ns0:sp>
        <ns0:nvSpPr>
          <ns0:cNvPr id="33" name="Text 31"/>
          <ns0:cNvSpPr txBox="1"/>
          <ns0:nvPr/>
        </ns0:nvSpPr>
        <ns0:spPr>
          <ns1:xfrm>
            <ns1:off x="8778240" y="1600200"/>
            <ns1:ext cx="2743200" cy="11430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ICR scaling factor. Compensates wheel scrub and tire drag when the 4-wheel skid-steer rotates; balances left/right velocity commands.</ns1:t>
            </ns1:r>
            <ns1:endParaRPr lang="en-US" sz="1100" dirty="0"/>
          </ns1:p>
        </ns0:txBody>
      </ns0:sp>
      <ns0:graphicFrame>
        <ns0:nvGraphicFramePr>
          <ns0:cNvPr id="34" name="Chart 0" descr=""/>
          <ns0:cNvGraphicFramePr/>
          <ns0:nvPr/>
        </ns0:nvGraphicFramePr>
        <ns0:xfrm>
          <ns1:off x="6949440" y="2926080"/>
          <ns1:ext cx="4663440" cy="2148840"/>
        </ns0:xfrm>
        <ns1:graphic>
          <ns1:graphicData uri="http://schemas.openxmlformats.org/drawingml/2006/chart">
            <ns2:chart ns3:id="rId1"/>
          </ns1:graphicData>
        </ns1:graphic>
      </ns0:graphicFrame>
      <ns0:sp>
        <ns0:nvSpPr>
          <ns0:cNvPr id="35" name="Text 32"/>
          <ns0:cNvSpPr txBox="1"/>
          <ns0:nvPr/>
        </ns0:nvSpPr>
        <ns0:spPr>
          <ns1:xfrm>
            <ns1:off x="6949440" y="5212080"/>
            <ns1:ext cx="4663440" cy="11887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203200" indent="-203200">
              <ns1:spcAft>
                <ns1:spcPts val="700"/>
              </ns1:spcAft>
              <ns1:buSzPct val="100000"/>
              <ns1:buChar char="•"/>
            </ns1:pPr>
            <ns1:r>
              <ns1:rPr lang="en-US" sz="1200" b="1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E-stop &lt; 0.45 m: </ns1:t>
            </ns1:r>
            <ns1:pPr indent="0" marL="0">
              <ns1:buNone/>
            </ns1:pPr>
            <ns1:r>
              <ns1:rPr lang="en-US" sz="12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zero-velocity override + safety flag broadcast</ns1:t>
            </ns1:r>
            <ns1:endParaRPr lang="en-US" sz="1200" dirty="0"/>
          </ns1:p>
          <ns1:p>
            <ns1:pPr marL="203200" indent="-203200">
              <ns1:spcAft>
                <ns1:spcPts val="700"/>
              </ns1:spcAft>
              <ns1:buSzPct val="100000"/>
              <ns1:buChar char="•"/>
            </ns1:pPr>
            <ns1:r>
              <ns1:rPr lang="en-US" sz="1200" b="1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Proximity 0.45–1.20 m: </ns1:t>
            </ns1:r>
            <ns1:pPr indent="0" marL="0">
              <ns1:buNone/>
            </ns1:pPr>
            <ns1:r>
              <ns1:rPr lang="en-US" sz="12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speed attenuation + lateral repulsion vector from obstacle point density</ns1:t>
            </ns1:r>
            <ns1:endParaRPr lang="en-US" sz="1200" dirty="0"/>
          </ns1:p>
        </ns0:txBody>
      </ns0:sp>
    </ns0:spTree>
  </ns0:cSld>
  <ns0:clrMapOvr>
    <ns1:masterClrMapping/>
  </ns0:clrMapOvr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35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8" fill="hold">
                            <ns0:stCondLst>
                              <ns0:cond delay="150"/>
                            </ns0:stCondLst>
                            <ns0:childTnLst>
                              <ns0:par>
                                <ns0:cTn id="9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1" dur="35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2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350"/>
                                        <ns0:tgtEl>
                                          <ns0:spTgt spid="2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5" fill="hold">
                            <ns0:stCondLst>
                              <ns0:cond delay="300"/>
                            </ns0:stCondLst>
                            <ns0:childTnLst>
                              <ns0:par>
                                <ns0:cTn id="16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8" dur="35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9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350"/>
                                        <ns0:tgtEl>
                                          <ns0:spTgt spid="3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35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9" dur="350"/>
                                        <ns0:tgtEl>
                                          <ns0:spTgt spid="2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30" fill="hold">
                            <ns0:stCondLst>
                              <ns0:cond delay="200"/>
                            </ns0:stCondLst>
                            <ns0:childTnLst>
                              <ns0:par>
                                <ns0:cTn id="31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3" dur="30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300"/>
                                        <ns0:tgtEl>
                                          <ns0:spTgt spid="2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37" fill="hold">
                            <ns0:stCondLst>
                              <ns0:cond delay="350"/>
                            </ns0:stCondLst>
                            <ns0:childTnLst>
                              <ns0:par>
                                <ns0:cTn id="38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0" dur="30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3" dur="300"/>
                                        <ns0:tgtEl>
                                          <ns0:spTgt spid="2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44" fill="hold">
                            <ns0:stCondLst>
                              <ns0:cond delay="500"/>
                            </ns0:stCondLst>
                            <ns0:childTnLst>
                              <ns0:par>
                                <ns0:cTn id="45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0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0" dur="20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3" dur="20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0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57" fill="hold">
                            <ns0:stCondLst>
                              <ns0:cond delay="650"/>
                            </ns0:stCondLst>
                            <ns0:childTnLst>
                              <ns0:par>
                                <ns0:cTn id="58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0" dur="20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0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6" dur="20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9" dur="20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70" fill="hold">
                            <ns0:stCondLst>
                              <ns0:cond delay="800"/>
                            </ns0:stCondLst>
                            <ns0:childTnLst>
                              <ns0:par>
                                <ns0:cTn id="71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3" dur="20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7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6" dur="20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7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9" dur="20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0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3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5" dur="20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6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8" dur="20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89" fill="hold">
                            <ns0:stCondLst>
                              <ns0:cond delay="1000"/>
                            </ns0:stCondLst>
                            <ns0:childTnLst>
                              <ns0:par>
                                <ns0:cTn id="90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300"/>
                                        <ns0:tgtEl>
                                          <ns0:spTgt spid="2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350"/>
                                        <ns0:tgtEl>
                                          <ns0:spTgt spid="3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9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0" dur="350"/>
                                        <ns0:tgtEl>
                                          <ns0:spTgt spid="3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0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3" dur="350"/>
                                        <ns0:tgtEl>
                                          <ns0:spTgt spid="3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04" fill="hold">
                            <ns0:stCondLst>
                              <ns0:cond delay="200"/>
                            </ns0:stCondLst>
                            <ns0:childTnLst>
                              <ns0:par>
                                <ns0:cTn id="105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500"/>
                                        <ns0:tgtEl>
                                          <ns0:spTgt spid="3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08" fill="hold">
                            <ns0:stCondLst>
                              <ns0:cond delay="450"/>
                            </ns0:stCondLst>
                            <ns0:childTnLst>
                              <ns0:par>
                                <ns0:cTn id="109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11" dur="350"/>
                                        <ns0:tgtEl>
                                          <ns0:spTgt spid="3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  <ns0:bldP spid="25" grpId="0" animBg="1"/>
      <ns0:bldP spid="26" grpId="0" animBg="1"/>
      <ns0:bldP spid="27" grpId="0" animBg="1"/>
      <ns0:bldP spid="28" grpId="0" animBg="1"/>
      <ns0:bldP spid="29" grpId="0" animBg="1"/>
      <ns0:bldP spid="30" grpId="0" animBg="1"/>
      <ns0:bldP spid="31" grpId="0" animBg="1"/>
      <ns0:bldP spid="32" grpId="0" animBg="1"/>
      <ns0:bldP spid="33" grpId="0" animBg="1"/>
      <ns0:bldP spid="34" grpId="0" animBg="1"/>
      <ns0:bldP spid="35" grpId="0" animBg="1"/>
    </ns0:bldLst>
  </ns0:timing>
</ns0:sld>
</file>

<file path=ppt/slides/slide7.xml><?xml version="1.0" encoding="utf-8"?>
<ns0:sld xmlns:ns0="http://schemas.openxmlformats.org/presentationml/2006/main" xmlns:ns1="http://schemas.openxmlformats.org/drawingml/2006/main">
  <ns0:cSld name="Slide 7">
    <ns0:bg>
      <ns0:bgPr>
        <ns1:solidFill>
          <ns1:srgbClr val="0B1220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548640" y="320040"/>
            <ns1:ext cx="91440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200" b="1" spc="300" kern="0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06 · SIMULATION</ns1:t>
            </ns1:r>
            <ns1:endParaRPr lang="en-US" sz="1200" dirty="0"/>
          </ns1:p>
        </ns0:txBody>
      </ns0:sp>
      <ns0:sp>
        <ns0:nvSpPr>
          <ns0:cNvPr id="3" name="Text 1"/>
          <ns0:cNvSpPr txBox="1"/>
          <ns0:nvPr/>
        </ns0:nvSpPr>
        <ns0:spPr>
          <ns1:xfrm>
            <ns1:off x="548640" y="594360"/>
            <ns1:ext cx="11064240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32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Simulation Architecture in NVIDIA Isaac Sim 5.0</ns1:t>
            </ns1:r>
            <ns1:endParaRPr lang="en-US" sz="3200" dirty="0"/>
          </ns1:p>
        </ns0:txBody>
      </ns0:sp>
      <ns0:sp>
        <ns0:nvSpPr>
          <ns0:cNvPr id="4" name="Shape 2"/>
          <ns0:cNvSpPr/>
          <ns0:nvPr/>
        </ns0:nvSpPr>
        <ns0:spPr>
          <ns1:xfrm>
            <ns1:off x="548640" y="1508760"/>
            <ns1:ext cx="3566160" cy="640080"/>
          </ns1:xfrm>
          <ns1:prstGeom prst="roundRect">
            <ns1:avLst>
              <ns1:gd name="adj" fmla="val 11429"/>
            </ns1:avLst>
          </ns1:prstGeom>
          <ns1:solidFill>
            <ns1:srgbClr val="0E1729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5" name="Text 3"/>
          <ns0:cNvSpPr txBox="1"/>
          <ns0:nvPr/>
        </ns0:nvSpPr>
        <ns0:spPr>
          <ns1:xfrm>
            <ns1:off x="621792" y="1508760"/>
            <ns1:ext cx="3419856" cy="6400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4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Zone A · Communication</ns1:t>
            </ns1:r>
            <ns1:endParaRPr lang="en-US" sz="1400" dirty="0"/>
          </ns1:p>
        </ns0:txBody>
      </ns0:sp>
      <ns0:sp>
        <ns0:nvSpPr>
          <ns0:cNvPr id="6" name="Shape 4"/>
          <ns0:cNvSpPr/>
          <ns0:nvPr/>
        </ns0:nvSpPr>
        <ns0:spPr>
          <ns1:xfrm>
            <ns1:off x="4297680" y="1508760"/>
            <ns1:ext cx="3566160" cy="640080"/>
          </ns1:xfrm>
          <ns1:prstGeom prst="roundRect">
            <ns1:avLst>
              <ns1:gd name="adj" fmla="val 11429"/>
            </ns1:avLst>
          </ns1:prstGeom>
          <ns1:solidFill>
            <ns1:srgbClr val="0E1729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7" name="Text 5"/>
          <ns0:cNvSpPr txBox="1"/>
          <ns0:nvPr/>
        </ns0:nvSpPr>
        <ns0:spPr>
          <ns1:xfrm>
            <ns1:off x="4370832" y="1508760"/>
            <ns1:ext cx="3419856" cy="6400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4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Zone B · Beacon Navigation</ns1:t>
            </ns1:r>
            <ns1:endParaRPr lang="en-US" sz="1400" dirty="0"/>
          </ns1:p>
        </ns0:txBody>
      </ns0:sp>
      <ns0:sp>
        <ns0:nvSpPr>
          <ns0:cNvPr id="8" name="Shape 6"/>
          <ns0:cNvSpPr/>
          <ns0:nvPr/>
        </ns0:nvSpPr>
        <ns0:spPr>
          <ns1:xfrm>
            <ns1:off x="8046720" y="1508760"/>
            <ns1:ext cx="3566160" cy="640080"/>
          </ns1:xfrm>
          <ns1:prstGeom prst="roundRect">
            <ns1:avLst>
              <ns1:gd name="adj" fmla="val 11429"/>
            </ns1:avLst>
          </ns1:prstGeom>
          <ns1:solidFill>
            <ns1:srgbClr val="0E1729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9" name="Text 7"/>
          <ns0:cNvSpPr txBox="1"/>
          <ns0:nvPr/>
        </ns0:nvSpPr>
        <ns0:spPr>
          <ns1:xfrm>
            <ns1:off x="8119872" y="1508760"/>
            <ns1:ext cx="3419856" cy="6400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4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Zone C · Spatial Mapping</ns1:t>
            </ns1:r>
            <ns1:endParaRPr lang="en-US" sz="1400" dirty="0"/>
          </ns1:p>
        </ns0:txBody>
      </ns0:sp>
      <ns0:sp>
        <ns0:nvSpPr>
          <ns0:cNvPr id="10" name="Shape 8"/>
          <ns0:cNvSpPr/>
          <ns0:nvPr/>
        </ns0:nvSpPr>
        <ns0:spPr>
          <ns1:xfrm>
            <ns1:off x="548640" y="2377440"/>
            <ns1:ext cx="2651760" cy="1188720"/>
          </ns1:xfrm>
          <ns1:prstGeom prst="roundRect">
            <ns1:avLst>
              <ns1:gd name="adj" fmla="val 6154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11" name="Text 9"/>
          <ns0:cNvSpPr txBox="1"/>
          <ns0:nvPr/>
        </ns0:nvSpPr>
        <ns0:spPr>
          <ns1:xfrm>
            <ns1:off x="731520" y="2423160"/>
            <ns1:ext cx="2286000" cy="6400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3000" b="1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0.8</ns1:t>
            </ns1:r>
            <ns1:endParaRPr lang="en-US" sz="3000" dirty="0"/>
          </ns1:p>
        </ns0:txBody>
      </ns0:sp>
      <ns0:sp>
        <ns0:nvSpPr>
          <ns0:cNvPr id="12" name="Text 10"/>
          <ns0:cNvSpPr txBox="1"/>
          <ns0:nvPr/>
        </ns0:nvSpPr>
        <ns0:spPr>
          <ns1:xfrm>
            <ns1:off x="731520" y="3108960"/>
            <ns1:ext cx="228600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9FB0C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Static friction</ns1:t>
            </ns1:r>
            <ns1:endParaRPr lang="en-US" sz="1200" dirty="0"/>
          </ns1:p>
        </ns0:txBody>
      </ns0:sp>
      <ns0:sp>
        <ns0:nvSpPr>
          <ns0:cNvPr id="13" name="Shape 11"/>
          <ns0:cNvSpPr/>
          <ns0:nvPr/>
        </ns0:nvSpPr>
        <ns0:spPr>
          <ns1:xfrm>
            <ns1:off x="3346704" y="2377440"/>
            <ns1:ext cx="2651760" cy="1188720"/>
          </ns1:xfrm>
          <ns1:prstGeom prst="roundRect">
            <ns1:avLst>
              <ns1:gd name="adj" fmla="val 6154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14" name="Text 12"/>
          <ns0:cNvSpPr txBox="1"/>
          <ns0:nvPr/>
        </ns0:nvSpPr>
        <ns0:spPr>
          <ns1:xfrm>
            <ns1:off x="3529584" y="2423160"/>
            <ns1:ext cx="2286000" cy="6400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3000" b="1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0.6</ns1:t>
            </ns1:r>
            <ns1:endParaRPr lang="en-US" sz="3000" dirty="0"/>
          </ns1:p>
        </ns0:txBody>
      </ns0:sp>
      <ns0:sp>
        <ns0:nvSpPr>
          <ns0:cNvPr id="15" name="Text 13"/>
          <ns0:cNvSpPr txBox="1"/>
          <ns0:nvPr/>
        </ns0:nvSpPr>
        <ns0:spPr>
          <ns1:xfrm>
            <ns1:off x="3529584" y="3108960"/>
            <ns1:ext cx="228600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9FB0C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Dynamic friction</ns1:t>
            </ns1:r>
            <ns1:endParaRPr lang="en-US" sz="1200" dirty="0"/>
          </ns1:p>
        </ns0:txBody>
      </ns0:sp>
      <ns0:sp>
        <ns0:nvSpPr>
          <ns0:cNvPr id="16" name="Shape 14"/>
          <ns0:cNvSpPr/>
          <ns0:nvPr/>
        </ns0:nvSpPr>
        <ns0:spPr>
          <ns1:xfrm>
            <ns1:off x="6144768" y="2377440"/>
            <ns1:ext cx="2651760" cy="1188720"/>
          </ns1:xfrm>
          <ns1:prstGeom prst="roundRect">
            <ns1:avLst>
              <ns1:gd name="adj" fmla="val 6154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17" name="Text 15"/>
          <ns0:cNvSpPr txBox="1"/>
          <ns0:nvPr/>
        </ns0:nvSpPr>
        <ns0:spPr>
          <ns1:xfrm>
            <ns1:off x="6327648" y="2423160"/>
            <ns1:ext cx="2286000" cy="6400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3000" b="1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0</ns1:t>
            </ns1:r>
            <ns1:endParaRPr lang="en-US" sz="3000" dirty="0"/>
          </ns1:p>
        </ns0:txBody>
      </ns0:sp>
      <ns0:sp>
        <ns0:nvSpPr>
          <ns0:cNvPr id="18" name="Text 16"/>
          <ns0:cNvSpPr txBox="1"/>
          <ns0:nvPr/>
        </ns0:nvSpPr>
        <ns0:spPr>
          <ns1:xfrm>
            <ns1:off x="6327648" y="3108960"/>
            <ns1:ext cx="228600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9FB0C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Restitution</ns1:t>
            </ns1:r>
            <ns1:endParaRPr lang="en-US" sz="1200" dirty="0"/>
          </ns1:p>
        </ns0:txBody>
      </ns0:sp>
      <ns0:sp>
        <ns0:nvSpPr>
          <ns0:cNvPr id="19" name="Shape 17"/>
          <ns0:cNvSpPr/>
          <ns0:nvPr/>
        </ns0:nvSpPr>
        <ns0:spPr>
          <ns1:xfrm>
            <ns1:off x="8942832" y="2377440"/>
            <ns1:ext cx="2651760" cy="1188720"/>
          </ns1:xfrm>
          <ns1:prstGeom prst="roundRect">
            <ns1:avLst>
              <ns1:gd name="adj" fmla="val 6154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20" name="Text 18"/>
          <ns0:cNvSpPr txBox="1"/>
          <ns0:nvPr/>
        </ns0:nvSpPr>
        <ns0:spPr>
          <ns1:xfrm>
            <ns1:off x="9125712" y="2423160"/>
            <ns1:ext cx="2286000" cy="6400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3000" b="1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CCD ON</ns1:t>
            </ns1:r>
            <ns1:endParaRPr lang="en-US" sz="3000" dirty="0"/>
          </ns1:p>
        </ns0:txBody>
      </ns0:sp>
      <ns0:sp>
        <ns0:nvSpPr>
          <ns0:cNvPr id="21" name="Text 19"/>
          <ns0:cNvSpPr txBox="1"/>
          <ns0:nvPr/>
        </ns0:nvSpPr>
        <ns0:spPr>
          <ns1:xfrm>
            <ns1:off x="9125712" y="3108960"/>
            <ns1:ext cx="228600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9FB0C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Stops high-speed wheel clipping</ns1:t>
            </ns1:r>
            <ns1:endParaRPr lang="en-US" sz="1200" dirty="0"/>
          </ns1:p>
        </ns0:txBody>
      </ns0:sp>
      <ns0:sp>
        <ns0:nvSpPr>
          <ns0:cNvPr id="22" name="Text 20"/>
          <ns0:cNvSpPr txBox="1"/>
          <ns0:nvPr/>
        </ns0:nvSpPr>
        <ns0:spPr>
          <ns1:xfrm>
            <ns1:off x="548640" y="3794760"/>
            <ns1:ext cx="73152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5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OmniGraph ROS 2 bridge (action nodes)</ns1:t>
            </ns1:r>
            <ns1:endParaRPr lang="en-US" sz="1500" dirty="0"/>
          </ns1:p>
        </ns0:txBody>
      </ns0:sp>
      <ns0:sp>
        <ns0:nvSpPr>
          <ns0:cNvPr id="23" name="Text 21"/>
          <ns0:cNvSpPr txBox="1"/>
          <ns0:nvPr/>
        </ns0:nvSpPr>
        <ns0:spPr>
          <ns1:xfrm>
            <ns1:off x="548640" y="4206240"/>
            <ns1:ext cx="1188720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300" b="1" dirty="0">
                <ns1:solidFill>
                  <ns1:srgbClr val="F5A52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Command</ns1:t>
            </ns1:r>
            <ns1:endParaRPr lang="en-US" sz="1300" dirty="0"/>
          </ns1:p>
        </ns0:txBody>
      </ns0:sp>
      <ns0:sp>
        <ns0:nvSpPr>
          <ns0:cNvPr id="24" name="Shape 22"/>
          <ns0:cNvSpPr/>
          <ns0:nvPr/>
        </ns0:nvSpPr>
        <ns0:spPr>
          <ns1:xfrm>
            <ns1:off x="1828800" y="4206240"/>
            <ns1:ext cx="2194560" cy="566928"/>
          </ns1:xfrm>
          <ns1:prstGeom prst="roundRect">
            <ns1:avLst>
              <ns1:gd name="adj" fmla="val 12903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25" name="Text 23"/>
          <ns0:cNvSpPr txBox="1"/>
          <ns0:nvPr/>
        </ns0:nvSpPr>
        <ns0:spPr>
          <ns1:xfrm>
            <ns1:off x="1901952" y="4206240"/>
            <ns1:ext cx="2048256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On Playback Tick</ns1:t>
            </ns1:r>
            <ns1:endParaRPr lang="en-US" sz="1100" dirty="0"/>
          </ns1:p>
        </ns0:txBody>
      </ns0:sp>
      <ns0:sp>
        <ns0:nvSpPr>
          <ns0:cNvPr id="26" name="Shape 24"/>
          <ns0:cNvSpPr/>
          <ns0:nvPr/>
        </ns0:nvSpPr>
        <ns0:spPr>
          <ns1:xfrm>
            <ns1:off x="4041648" y="4489704"/>
            <ns1:ext cx="237744" cy="0"/>
          </ns1:xfrm>
          <ns1:prstGeom prst="line">
            <ns1:avLst/>
          </ns1:prstGeom>
          <ns1:noFill/>
          <ns1:ln w="25400">
            <ns1:solidFill>
              <ns1:srgbClr val="9FB0C8"/>
            </ns1:solidFill>
            <ns1:prstDash val="solid"/>
            <ns1:tailEnd type="triangle"/>
          </ns1:ln>
        </ns0:spPr>
      </ns0:sp>
      <ns0:sp>
        <ns0:nvSpPr>
          <ns0:cNvPr id="27" name="Shape 25"/>
          <ns0:cNvSpPr/>
          <ns0:nvPr/>
        </ns0:nvSpPr>
        <ns0:spPr>
          <ns1:xfrm>
            <ns1:off x="4297680" y="4206240"/>
            <ns1:ext cx="2194560" cy="566928"/>
          </ns1:xfrm>
          <ns1:prstGeom prst="roundRect">
            <ns1:avLst>
              <ns1:gd name="adj" fmla="val 12903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28" name="Text 26"/>
          <ns0:cNvSpPr txBox="1"/>
          <ns0:nvPr/>
        </ns0:nvSpPr>
        <ns0:spPr>
          <ns1:xfrm>
            <ns1:off x="4370832" y="4206240"/>
            <ns1:ext cx="2048256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ROS2 Subscribe Twist</ns1:t>
            </ns1:r>
            <ns1:endParaRPr lang="en-US" sz="1100" dirty="0"/>
          </ns1:p>
          <ns1:p>
            <ns1:pPr algn="ctr" indent="0" marL="0">
              <ns1:buNone/>
            </ns1:pPr>
            <ns1:r>
              <ns1:rPr lang="en-US" sz="11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/cmd_vel</ns1:t>
            </ns1:r>
            <ns1:endParaRPr lang="en-US" sz="1100" dirty="0"/>
          </ns1:p>
        </ns0:txBody>
      </ns0:sp>
      <ns0:sp>
        <ns0:nvSpPr>
          <ns0:cNvPr id="29" name="Shape 27"/>
          <ns0:cNvSpPr/>
          <ns0:nvPr/>
        </ns0:nvSpPr>
        <ns0:spPr>
          <ns1:xfrm>
            <ns1:off x="6510528" y="4489704"/>
            <ns1:ext cx="237744" cy="0"/>
          </ns1:xfrm>
          <ns1:prstGeom prst="line">
            <ns1:avLst/>
          </ns1:prstGeom>
          <ns1:noFill/>
          <ns1:ln w="25400">
            <ns1:solidFill>
              <ns1:srgbClr val="9FB0C8"/>
            </ns1:solidFill>
            <ns1:prstDash val="solid"/>
            <ns1:tailEnd type="triangle"/>
          </ns1:ln>
        </ns0:spPr>
      </ns0:sp>
      <ns0:sp>
        <ns0:nvSpPr>
          <ns0:cNvPr id="30" name="Shape 28"/>
          <ns0:cNvSpPr/>
          <ns0:nvPr/>
        </ns0:nvSpPr>
        <ns0:spPr>
          <ns1:xfrm>
            <ns1:off x="6766560" y="4206240"/>
            <ns1:ext cx="2194560" cy="566928"/>
          </ns1:xfrm>
          <ns1:prstGeom prst="roundRect">
            <ns1:avLst>
              <ns1:gd name="adj" fmla="val 12903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31" name="Text 29"/>
          <ns0:cNvSpPr txBox="1"/>
          <ns0:nvPr/>
        </ns0:nvSpPr>
        <ns0:spPr>
          <ns1:xfrm>
            <ns1:off x="6839712" y="4206240"/>
            <ns1:ext cx="2048256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Differential Controller</ns1:t>
            </ns1:r>
            <ns1:endParaRPr lang="en-US" sz="1100" dirty="0"/>
          </ns1:p>
        </ns0:txBody>
      </ns0:sp>
      <ns0:sp>
        <ns0:nvSpPr>
          <ns0:cNvPr id="32" name="Shape 30"/>
          <ns0:cNvSpPr/>
          <ns0:nvPr/>
        </ns0:nvSpPr>
        <ns0:spPr>
          <ns1:xfrm>
            <ns1:off x="8979408" y="4489704"/>
            <ns1:ext cx="237744" cy="0"/>
          </ns1:xfrm>
          <ns1:prstGeom prst="line">
            <ns1:avLst/>
          </ns1:prstGeom>
          <ns1:noFill/>
          <ns1:ln w="25400">
            <ns1:solidFill>
              <ns1:srgbClr val="9FB0C8"/>
            </ns1:solidFill>
            <ns1:prstDash val="solid"/>
            <ns1:tailEnd type="triangle"/>
          </ns1:ln>
        </ns0:spPr>
      </ns0:sp>
      <ns0:sp>
        <ns0:nvSpPr>
          <ns0:cNvPr id="33" name="Shape 31"/>
          <ns0:cNvSpPr/>
          <ns0:nvPr/>
        </ns0:nvSpPr>
        <ns0:spPr>
          <ns1:xfrm>
            <ns1:off x="9235440" y="4206240"/>
            <ns1:ext cx="2194560" cy="566928"/>
          </ns1:xfrm>
          <ns1:prstGeom prst="roundRect">
            <ns1:avLst>
              <ns1:gd name="adj" fmla="val 12903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34" name="Text 32"/>
          <ns0:cNvSpPr txBox="1"/>
          <ns0:nvPr/>
        </ns0:nvSpPr>
        <ns0:spPr>
          <ns1:xfrm>
            <ns1:off x="9308592" y="4206240"/>
            <ns1:ext cx="2048256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Articulation Controller</ns1:t>
            </ns1:r>
            <ns1:endParaRPr lang="en-US" sz="1100" dirty="0"/>
          </ns1:p>
        </ns0:txBody>
      </ns0:sp>
      <ns0:sp>
        <ns0:nvSpPr>
          <ns0:cNvPr id="35" name="Text 33"/>
          <ns0:cNvSpPr txBox="1"/>
          <ns0:nvPr/>
        </ns0:nvSpPr>
        <ns0:spPr>
          <ns1:xfrm>
            <ns1:off x="548640" y="4937760"/>
            <ns1:ext cx="1188720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300" b="1" dirty="0">
                <ns1:solidFill>
                  <ns1:srgbClr val="F5A52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Odometry</ns1:t>
            </ns1:r>
            <ns1:endParaRPr lang="en-US" sz="1300" dirty="0"/>
          </ns1:p>
        </ns0:txBody>
      </ns0:sp>
      <ns0:sp>
        <ns0:nvSpPr>
          <ns0:cNvPr id="36" name="Shape 34"/>
          <ns0:cNvSpPr/>
          <ns0:nvPr/>
        </ns0:nvSpPr>
        <ns0:spPr>
          <ns1:xfrm>
            <ns1:off x="1828800" y="4937760"/>
            <ns1:ext cx="2194560" cy="566928"/>
          </ns1:xfrm>
          <ns1:prstGeom prst="roundRect">
            <ns1:avLst>
              <ns1:gd name="adj" fmla="val 12903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37" name="Text 35"/>
          <ns0:cNvSpPr txBox="1"/>
          <ns0:nvPr/>
        </ns0:nvSpPr>
        <ns0:spPr>
          <ns1:xfrm>
            <ns1:off x="1901952" y="4937760"/>
            <ns1:ext cx="2048256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Isaac Compute Odometry</ns1:t>
            </ns1:r>
            <ns1:endParaRPr lang="en-US" sz="1100" dirty="0"/>
          </ns1:p>
        </ns0:txBody>
      </ns0:sp>
      <ns0:sp>
        <ns0:nvSpPr>
          <ns0:cNvPr id="38" name="Shape 36"/>
          <ns0:cNvSpPr/>
          <ns0:nvPr/>
        </ns0:nvSpPr>
        <ns0:spPr>
          <ns1:xfrm>
            <ns1:off x="4041648" y="5221224"/>
            <ns1:ext cx="237744" cy="0"/>
          </ns1:xfrm>
          <ns1:prstGeom prst="line">
            <ns1:avLst/>
          </ns1:prstGeom>
          <ns1:noFill/>
          <ns1:ln w="25400">
            <ns1:solidFill>
              <ns1:srgbClr val="9FB0C8"/>
            </ns1:solidFill>
            <ns1:prstDash val="solid"/>
            <ns1:tailEnd type="triangle"/>
          </ns1:ln>
        </ns0:spPr>
      </ns0:sp>
      <ns0:sp>
        <ns0:nvSpPr>
          <ns0:cNvPr id="39" name="Shape 37"/>
          <ns0:cNvSpPr/>
          <ns0:nvPr/>
        </ns0:nvSpPr>
        <ns0:spPr>
          <ns1:xfrm>
            <ns1:off x="4297680" y="4937760"/>
            <ns1:ext cx="2194560" cy="566928"/>
          </ns1:xfrm>
          <ns1:prstGeom prst="roundRect">
            <ns1:avLst>
              <ns1:gd name="adj" fmla="val 12903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40" name="Text 38"/>
          <ns0:cNvSpPr txBox="1"/>
          <ns0:nvPr/>
        </ns0:nvSpPr>
        <ns0:spPr>
          <ns1:xfrm>
            <ns1:off x="4370832" y="4937760"/>
            <ns1:ext cx="2048256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ROS2 Publish Odometry</ns1:t>
            </ns1:r>
            <ns1:endParaRPr lang="en-US" sz="1100" dirty="0"/>
          </ns1:p>
          <ns1:p>
            <ns1:pPr algn="ctr" indent="0" marL="0">
              <ns1:buNone/>
            </ns1:pPr>
            <ns1:r>
              <ns1:rPr lang="en-US" sz="11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/odom</ns1:t>
            </ns1:r>
            <ns1:endParaRPr lang="en-US" sz="1100" dirty="0"/>
          </ns1:p>
        </ns0:txBody>
      </ns0:sp>
      <ns0:sp>
        <ns0:nvSpPr>
          <ns0:cNvPr id="41" name="Text 39"/>
          <ns0:cNvSpPr txBox="1"/>
          <ns0:nvPr/>
        </ns0:nvSpPr>
        <ns0:spPr>
          <ns1:xfrm>
            <ns1:off x="548640" y="5669280"/>
            <ns1:ext cx="1188720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300" b="1" dirty="0">
                <ns1:solidFill>
                  <ns1:srgbClr val="F5A52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LiDAR</ns1:t>
            </ns1:r>
            <ns1:endParaRPr lang="en-US" sz="1300" dirty="0"/>
          </ns1:p>
        </ns0:txBody>
      </ns0:sp>
      <ns0:sp>
        <ns0:nvSpPr>
          <ns0:cNvPr id="42" name="Shape 40"/>
          <ns0:cNvSpPr/>
          <ns0:nvPr/>
        </ns0:nvSpPr>
        <ns0:spPr>
          <ns1:xfrm>
            <ns1:off x="1828800" y="5669280"/>
            <ns1:ext cx="2194560" cy="566928"/>
          </ns1:xfrm>
          <ns1:prstGeom prst="roundRect">
            <ns1:avLst>
              <ns1:gd name="adj" fmla="val 12903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43" name="Text 41"/>
          <ns0:cNvSpPr txBox="1"/>
          <ns0:nvPr/>
        </ns0:nvSpPr>
        <ns0:spPr>
          <ns1:xfrm>
            <ns1:off x="1901952" y="5669280"/>
            <ns1:ext cx="2048256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Isaac Create Render Product</ns1:t>
            </ns1:r>
            <ns1:endParaRPr lang="en-US" sz="1100" dirty="0"/>
          </ns1:p>
        </ns0:txBody>
      </ns0:sp>
      <ns0:sp>
        <ns0:nvSpPr>
          <ns0:cNvPr id="44" name="Shape 42"/>
          <ns0:cNvSpPr/>
          <ns0:nvPr/>
        </ns0:nvSpPr>
        <ns0:spPr>
          <ns1:xfrm>
            <ns1:off x="4041648" y="5952744"/>
            <ns1:ext cx="237744" cy="0"/>
          </ns1:xfrm>
          <ns1:prstGeom prst="line">
            <ns1:avLst/>
          </ns1:prstGeom>
          <ns1:noFill/>
          <ns1:ln w="25400">
            <ns1:solidFill>
              <ns1:srgbClr val="9FB0C8"/>
            </ns1:solidFill>
            <ns1:prstDash val="solid"/>
            <ns1:tailEnd type="triangle"/>
          </ns1:ln>
        </ns0:spPr>
      </ns0:sp>
      <ns0:sp>
        <ns0:nvSpPr>
          <ns0:cNvPr id="45" name="Shape 43"/>
          <ns0:cNvSpPr/>
          <ns0:nvPr/>
        </ns0:nvSpPr>
        <ns0:spPr>
          <ns1:xfrm>
            <ns1:off x="4297680" y="5669280"/>
            <ns1:ext cx="2194560" cy="566928"/>
          </ns1:xfrm>
          <ns1:prstGeom prst="roundRect">
            <ns1:avLst>
              <ns1:gd name="adj" fmla="val 12903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46" name="Text 44"/>
          <ns0:cNvSpPr txBox="1"/>
          <ns0:nvPr/>
        </ns0:nvSpPr>
        <ns0:spPr>
          <ns1:xfrm>
            <ns1:off x="4370832" y="5669280"/>
            <ns1:ext cx="2048256" cy="5669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ROS2 RTX Lidar Helper</ns1:t>
            </ns1:r>
            <ns1:endParaRPr lang="en-US" sz="1100" dirty="0"/>
          </ns1:p>
          <ns1:p>
            <ns1:pPr algn="ctr" indent="0" marL="0">
              <ns1:buNone/>
            </ns1:pPr>
            <ns1:r>
              <ns1:rPr lang="en-US" sz="11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/scan</ns1:t>
            </ns1:r>
            <ns1:endParaRPr lang="en-US" sz="1100" dirty="0"/>
          </ns1:p>
        </ns0:txBody>
      </ns0:sp>
    </ns0:spTree>
  </ns0:cSld>
  <ns0:clrMapOvr>
    <ns1:masterClrMapping/>
  </ns0:clrMapOvr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35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" dur="35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3" dur="35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35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9" dur="35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35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23" fill="hold">
                            <ns0:stCondLst>
                              <ns0:cond delay="200"/>
                            </ns0:stCondLst>
                            <ns0:childTnLst>
                              <ns0:par>
                                <ns0:cTn id="24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30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9" dur="30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30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33" fill="hold">
                            <ns0:stCondLst>
                              <ns0:cond delay="350"/>
                            </ns0:stCondLst>
                            <ns0:childTnLst>
                              <ns0:par>
                                <ns0:cTn id="34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30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9" dur="30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30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43" fill="hold">
                            <ns0:stCondLst>
                              <ns0:cond delay="500"/>
                            </ns0:stCondLst>
                            <ns0:childTnLst>
                              <ns0:par>
                                <ns0:cTn id="44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30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9" dur="30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30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53" fill="hold">
                            <ns0:stCondLst>
                              <ns0:cond delay="650"/>
                            </ns0:stCondLst>
                            <ns0:childTnLst>
                              <ns0:par>
                                <ns0:cTn id="54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30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9" dur="30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30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30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30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7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3" dur="300"/>
                                        <ns0:tgtEl>
                                          <ns0:spTgt spid="2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74" fill="hold">
                            <ns0:stCondLst>
                              <ns0:cond delay="150"/>
                            </ns0:stCondLst>
                            <ns0:childTnLst>
                              <ns0:par>
                                <ns0:cTn id="75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00"/>
                                        <ns0:tgtEl>
                                          <ns0:spTgt spid="2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78" fill="hold">
                            <ns0:stCondLst>
                              <ns0:cond delay="300"/>
                            </ns0:stCondLst>
                            <ns0:childTnLst>
                              <ns0:par>
                                <ns0:cTn id="79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1" dur="300"/>
                                        <ns0:tgtEl>
                                          <ns0:spTgt spid="2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2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4" dur="300"/>
                                        <ns0:tgtEl>
                                          <ns0:spTgt spid="2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85" fill="hold">
                            <ns0:stCondLst>
                              <ns0:cond delay="450"/>
                            </ns0:stCondLst>
                            <ns0:childTnLst>
                              <ns0:par>
                                <ns0:cTn id="86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8" dur="200"/>
                                        <ns0:tgtEl>
                                          <ns0:spTgt spid="2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89" fill="hold">
                            <ns0:stCondLst>
                              <ns0:cond delay="600"/>
                            </ns0:stCondLst>
                            <ns0:childTnLst>
                              <ns0:par>
                                <ns0:cTn id="90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300"/>
                                        <ns0:tgtEl>
                                          <ns0:spTgt spid="3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93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5" dur="300"/>
                                        <ns0:tgtEl>
                                          <ns0:spTgt spid="3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96" fill="hold">
                            <ns0:stCondLst>
                              <ns0:cond delay="750"/>
                            </ns0:stCondLst>
                            <ns0:childTnLst>
                              <ns0:par>
                                <ns0:cTn id="97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9" dur="200"/>
                                        <ns0:tgtEl>
                                          <ns0:spTgt spid="3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00" fill="hold">
                            <ns0:stCondLst>
                              <ns0:cond delay="900"/>
                            </ns0:stCondLst>
                            <ns0:childTnLst>
                              <ns0:par>
                                <ns0:cTn id="101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3" dur="300"/>
                                        <ns0:tgtEl>
                                          <ns0:spTgt spid="3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0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6" dur="300"/>
                                        <ns0:tgtEl>
                                          <ns0:spTgt spid="3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07" fill="hold">
                            <ns0:stCondLst>
                              <ns0:cond delay="1100"/>
                            </ns0:stCondLst>
                            <ns0:childTnLst>
                              <ns0:par>
                                <ns0:cTn id="108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10" dur="300"/>
                                        <ns0:tgtEl>
                                          <ns0:spTgt spid="3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1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13" dur="300"/>
                                        <ns0:tgtEl>
                                          <ns0:spTgt spid="3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1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16" dur="300"/>
                                        <ns0:tgtEl>
                                          <ns0:spTgt spid="3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17" fill="hold">
                            <ns0:stCondLst>
                              <ns0:cond delay="1250"/>
                            </ns0:stCondLst>
                            <ns0:childTnLst>
                              <ns0:par>
                                <ns0:cTn id="118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0" dur="200"/>
                                        <ns0:tgtEl>
                                          <ns0:spTgt spid="3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21" fill="hold">
                            <ns0:stCondLst>
                              <ns0:cond delay="1400"/>
                            </ns0:stCondLst>
                            <ns0:childTnLst>
                              <ns0:par>
                                <ns0:cTn id="122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2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4" dur="300"/>
                                        <ns0:tgtEl>
                                          <ns0:spTgt spid="3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25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7" dur="300"/>
                                        <ns0:tgtEl>
                                          <ns0:spTgt spid="4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28" fill="hold">
                            <ns0:stCondLst>
                              <ns0:cond delay="1600"/>
                            </ns0:stCondLst>
                            <ns0:childTnLst>
                              <ns0:par>
                                <ns0:cTn id="129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31" dur="300"/>
                                        <ns0:tgtEl>
                                          <ns0:spTgt spid="4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32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34" dur="300"/>
                                        <ns0:tgtEl>
                                          <ns0:spTgt spid="4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35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37" dur="300"/>
                                        <ns0:tgtEl>
                                          <ns0:spTgt spid="4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38" fill="hold">
                            <ns0:stCondLst>
                              <ns0:cond delay="1750"/>
                            </ns0:stCondLst>
                            <ns0:childTnLst>
                              <ns0:par>
                                <ns0:cTn id="139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1" dur="200"/>
                                        <ns0:tgtEl>
                                          <ns0:spTgt spid="4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42" fill="hold">
                            <ns0:stCondLst>
                              <ns0:cond delay="1900"/>
                            </ns0:stCondLst>
                            <ns0:childTnLst>
                              <ns0:par>
                                <ns0:cTn id="143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4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5" dur="300"/>
                                        <ns0:tgtEl>
                                          <ns0:spTgt spid="4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46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4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8" dur="300"/>
                                        <ns0:tgtEl>
                                          <ns0:spTgt spid="4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3" grpId="0" animBg="1"/>
      <ns0:bldP spid="24" grpId="0" animBg="1"/>
      <ns0:bldP spid="25" grpId="0" animBg="1"/>
      <ns0:bldP spid="26" grpId="0" animBg="1"/>
      <ns0:bldP spid="27" grpId="0" animBg="1"/>
      <ns0:bldP spid="28" grpId="0" animBg="1"/>
      <ns0:bldP spid="29" grpId="0" animBg="1"/>
      <ns0:bldP spid="30" grpId="0" animBg="1"/>
      <ns0:bldP spid="31" grpId="0" animBg="1"/>
      <ns0:bldP spid="32" grpId="0" animBg="1"/>
      <ns0:bldP spid="33" grpId="0" animBg="1"/>
      <ns0:bldP spid="34" grpId="0" animBg="1"/>
      <ns0:bldP spid="35" grpId="0" animBg="1"/>
      <ns0:bldP spid="36" grpId="0" animBg="1"/>
      <ns0:bldP spid="37" grpId="0" animBg="1"/>
      <ns0:bldP spid="38" grpId="0" animBg="1"/>
      <ns0:bldP spid="39" grpId="0" animBg="1"/>
      <ns0:bldP spid="40" grpId="0" animBg="1"/>
      <ns0:bldP spid="41" grpId="0" animBg="1"/>
      <ns0:bldP spid="42" grpId="0" animBg="1"/>
      <ns0:bldP spid="43" grpId="0" animBg="1"/>
      <ns0:bldP spid="44" grpId="0" animBg="1"/>
      <ns0:bldP spid="45" grpId="0" animBg="1"/>
      <ns0:bldP spid="46" grpId="0" animBg="1"/>
    </ns0:bldLst>
  </ns0:timing>
</ns0:sld>
</file>

<file path=ppt/slides/slide8.xml><?xml version="1.0" encoding="utf-8"?>
<ns0:sld xmlns:ns0="http://schemas.openxmlformats.org/presentationml/2006/main" xmlns:ns1="http://schemas.openxmlformats.org/drawingml/2006/main">
  <ns0:cSld name="Slide 8">
    <ns0:bg>
      <ns0:bgPr>
        <ns1:solidFill>
          <ns1:srgbClr val="0B1220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548640" y="320040"/>
            <ns1:ext cx="91440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200" b="1" spc="300" kern="0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07 · VISUALIZATION</ns1:t>
            </ns1:r>
            <ns1:endParaRPr lang="en-US" sz="1200" dirty="0"/>
          </ns1:p>
        </ns0:txBody>
      </ns0:sp>
      <ns0:sp>
        <ns0:nvSpPr>
          <ns0:cNvPr id="3" name="Text 1"/>
          <ns0:cNvSpPr txBox="1"/>
          <ns0:nvPr/>
        </ns0:nvSpPr>
        <ns0:spPr>
          <ns1:xfrm>
            <ns1:off x="548640" y="594360"/>
            <ns1:ext cx="11064240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32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Real-Time Network &amp; Map Overlay</ns1:t>
            </ns1:r>
            <ns1:endParaRPr lang="en-US" sz="3200" dirty="0"/>
          </ns1:p>
        </ns0:txBody>
      </ns0:sp>
      <ns0:sp>
        <ns0:nvSpPr>
          <ns0:cNvPr id="4" name="Shape 2"/>
          <ns0:cNvSpPr/>
          <ns0:nvPr/>
        </ns0:nvSpPr>
        <ns0:spPr>
          <ns1:xfrm>
            <ns1:off x="548640" y="1554480"/>
            <ns1:ext cx="6766560" cy="3291840"/>
          </ns1:xfrm>
          <ns1:prstGeom prst="roundRect">
            <ns1:avLst>
              <ns1:gd name="adj" fmla="val 2222"/>
            </ns1:avLst>
          </ns1:prstGeom>
          <ns1:solidFill>
            <ns1:srgbClr val="0E1729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5" name="Shape 3"/>
          <ns0:cNvSpPr/>
          <ns0:nvPr/>
        </ns0:nvSpPr>
        <ns0:spPr>
          <ns1:xfrm>
            <ns1:off x="1463040" y="1554480"/>
            <ns1:ext cx="0" cy="3291840"/>
          </ns1:xfrm>
          <ns1:prstGeom prst="line">
            <ns1:avLst/>
          </ns1:prstGeom>
          <ns1:noFill/>
          <ns1:ln w="9525">
            <ns1:solidFill>
              <ns1:srgbClr val="1B2B47"/>
            </ns1:solidFill>
            <ns1:prstDash val="solid"/>
          </ns1:ln>
        </ns0:spPr>
      </ns0:sp>
      <ns0:sp>
        <ns0:nvSpPr>
          <ns0:cNvPr id="6" name="Shape 4"/>
          <ns0:cNvSpPr/>
          <ns0:nvPr/>
        </ns0:nvSpPr>
        <ns0:spPr>
          <ns1:xfrm>
            <ns1:off x="2377440" y="1554480"/>
            <ns1:ext cx="0" cy="3291840"/>
          </ns1:xfrm>
          <ns1:prstGeom prst="line">
            <ns1:avLst/>
          </ns1:prstGeom>
          <ns1:noFill/>
          <ns1:ln w="9525">
            <ns1:solidFill>
              <ns1:srgbClr val="1B2B47"/>
            </ns1:solidFill>
            <ns1:prstDash val="solid"/>
          </ns1:ln>
        </ns0:spPr>
      </ns0:sp>
      <ns0:sp>
        <ns0:nvSpPr>
          <ns0:cNvPr id="7" name="Shape 5"/>
          <ns0:cNvSpPr/>
          <ns0:nvPr/>
        </ns0:nvSpPr>
        <ns0:spPr>
          <ns1:xfrm>
            <ns1:off x="3291840" y="1554480"/>
            <ns1:ext cx="0" cy="3291840"/>
          </ns1:xfrm>
          <ns1:prstGeom prst="line">
            <ns1:avLst/>
          </ns1:prstGeom>
          <ns1:noFill/>
          <ns1:ln w="9525">
            <ns1:solidFill>
              <ns1:srgbClr val="1B2B47"/>
            </ns1:solidFill>
            <ns1:prstDash val="solid"/>
          </ns1:ln>
        </ns0:spPr>
      </ns0:sp>
      <ns0:sp>
        <ns0:nvSpPr>
          <ns0:cNvPr id="8" name="Shape 6"/>
          <ns0:cNvSpPr/>
          <ns0:nvPr/>
        </ns0:nvSpPr>
        <ns0:spPr>
          <ns1:xfrm>
            <ns1:off x="4206240" y="1554480"/>
            <ns1:ext cx="0" cy="3291840"/>
          </ns1:xfrm>
          <ns1:prstGeom prst="line">
            <ns1:avLst/>
          </ns1:prstGeom>
          <ns1:noFill/>
          <ns1:ln w="9525">
            <ns1:solidFill>
              <ns1:srgbClr val="1B2B47"/>
            </ns1:solidFill>
            <ns1:prstDash val="solid"/>
          </ns1:ln>
        </ns0:spPr>
      </ns0:sp>
      <ns0:sp>
        <ns0:nvSpPr>
          <ns0:cNvPr id="9" name="Shape 7"/>
          <ns0:cNvSpPr/>
          <ns0:nvPr/>
        </ns0:nvSpPr>
        <ns0:spPr>
          <ns1:xfrm>
            <ns1:off x="5120640" y="1554480"/>
            <ns1:ext cx="0" cy="3291840"/>
          </ns1:xfrm>
          <ns1:prstGeom prst="line">
            <ns1:avLst/>
          </ns1:prstGeom>
          <ns1:noFill/>
          <ns1:ln w="9525">
            <ns1:solidFill>
              <ns1:srgbClr val="1B2B47"/>
            </ns1:solidFill>
            <ns1:prstDash val="solid"/>
          </ns1:ln>
        </ns0:spPr>
      </ns0:sp>
      <ns0:sp>
        <ns0:nvSpPr>
          <ns0:cNvPr id="10" name="Shape 8"/>
          <ns0:cNvSpPr/>
          <ns0:nvPr/>
        </ns0:nvSpPr>
        <ns0:spPr>
          <ns1:xfrm>
            <ns1:off x="6035040" y="1554480"/>
            <ns1:ext cx="0" cy="3291840"/>
          </ns1:xfrm>
          <ns1:prstGeom prst="line">
            <ns1:avLst/>
          </ns1:prstGeom>
          <ns1:noFill/>
          <ns1:ln w="9525">
            <ns1:solidFill>
              <ns1:srgbClr val="1B2B47"/>
            </ns1:solidFill>
            <ns1:prstDash val="solid"/>
          </ns1:ln>
        </ns0:spPr>
      </ns0:sp>
      <ns0:sp>
        <ns0:nvSpPr>
          <ns0:cNvPr id="11" name="Shape 9"/>
          <ns0:cNvSpPr/>
          <ns0:nvPr/>
        </ns0:nvSpPr>
        <ns0:spPr>
          <ns1:xfrm>
            <ns1:off x="548640" y="2468880"/>
            <ns1:ext cx="6766560" cy="0"/>
          </ns1:xfrm>
          <ns1:prstGeom prst="line">
            <ns1:avLst/>
          </ns1:prstGeom>
          <ns1:noFill/>
          <ns1:ln w="9525">
            <ns1:solidFill>
              <ns1:srgbClr val="1B2B47"/>
            </ns1:solidFill>
            <ns1:prstDash val="solid"/>
          </ns1:ln>
        </ns0:spPr>
      </ns0:sp>
      <ns0:sp>
        <ns0:nvSpPr>
          <ns0:cNvPr id="12" name="Shape 10"/>
          <ns0:cNvSpPr/>
          <ns0:nvPr/>
        </ns0:nvSpPr>
        <ns0:spPr>
          <ns1:xfrm>
            <ns1:off x="548640" y="3383280"/>
            <ns1:ext cx="6766560" cy="0"/>
          </ns1:xfrm>
          <ns1:prstGeom prst="line">
            <ns1:avLst/>
          </ns1:prstGeom>
          <ns1:noFill/>
          <ns1:ln w="9525">
            <ns1:solidFill>
              <ns1:srgbClr val="1B2B47"/>
            </ns1:solidFill>
            <ns1:prstDash val="solid"/>
          </ns1:ln>
        </ns0:spPr>
      </ns0:sp>
      <ns0:sp>
        <ns0:nvSpPr>
          <ns0:cNvPr id="13" name="Shape 11"/>
          <ns0:cNvSpPr/>
          <ns0:nvPr/>
        </ns0:nvSpPr>
        <ns0:spPr>
          <ns1:xfrm>
            <ns1:off x="548640" y="4297680"/>
            <ns1:ext cx="6766560" cy="0"/>
          </ns1:xfrm>
          <ns1:prstGeom prst="line">
            <ns1:avLst/>
          </ns1:prstGeom>
          <ns1:noFill/>
          <ns1:ln w="9525">
            <ns1:solidFill>
              <ns1:srgbClr val="1B2B47"/>
            </ns1:solidFill>
            <ns1:prstDash val="solid"/>
          </ns1:ln>
        </ns0:spPr>
      </ns0:sp>
      <ns0:sp>
        <ns0:nvSpPr>
          <ns0:cNvPr id="14" name="Shape 12"/>
          <ns0:cNvSpPr/>
          <ns0:nvPr/>
        </ns0:nvSpPr>
        <ns0:spPr>
          <ns1:xfrm>
            <ns1:off x="1463040" y="3383280"/>
            <ns1:ext cx="2377440" cy="82296"/>
          </ns1:xfrm>
          <ns1:prstGeom prst="rect">
            <ns1:avLst/>
          </ns1:prstGeom>
          <ns1:solidFill>
            <ns1:srgbClr val="9FB0C8"/>
          </ns1:solidFill>
          <ns1:ln w="12700">
            <ns1:solidFill>
              <ns1:srgbClr val="9FB0C8"/>
            </ns1:solidFill>
            <ns1:prstDash val="solid"/>
          </ns1:ln>
        </ns0:spPr>
      </ns0:sp>
      <ns0:sp>
        <ns0:nvSpPr>
          <ns0:cNvPr id="15" name="Shape 13"/>
          <ns0:cNvSpPr/>
          <ns0:nvPr/>
        </ns0:nvSpPr>
        <ns0:spPr>
          <ns1:xfrm>
            <ns1:off x="4754880" y="1554480"/>
            <ns1:ext cx="82296" cy="1280160"/>
          </ns1:xfrm>
          <ns1:prstGeom prst="rect">
            <ns1:avLst/>
          </ns1:prstGeom>
          <ns1:solidFill>
            <ns1:srgbClr val="9FB0C8"/>
          </ns1:solidFill>
          <ns1:ln w="12700">
            <ns1:solidFill>
              <ns1:srgbClr val="9FB0C8"/>
            </ns1:solidFill>
            <ns1:prstDash val="solid"/>
          </ns1:ln>
        </ns0:spPr>
      </ns0:sp>
      <ns0:sp>
        <ns0:nvSpPr>
          <ns0:cNvPr id="16" name="Shape 14"/>
          <ns0:cNvSpPr/>
          <ns0:nvPr/>
        </ns0:nvSpPr>
        <ns0:spPr>
          <ns1:xfrm>
            <ns1:off x="749808" y="1755648"/>
            <ns1:ext cx="237744" cy="237744"/>
          </ns1:xfrm>
          <ns1:prstGeom prst="rect">
            <ns1:avLst/>
          </ns1:prstGeom>
          <ns1:solidFill>
            <ns1:srgbClr val="FF5C6C"/>
          </ns1:solidFill>
          <ns1:ln w="12700">
            <ns1:solidFill>
              <ns1:srgbClr val="FF5C6C"/>
            </ns1:solidFill>
            <ns1:prstDash val="solid"/>
          </ns1:ln>
        </ns0:spPr>
      </ns0:sp>
      <ns0:sp>
        <ns0:nvSpPr>
          <ns0:cNvPr id="17" name="Text 15"/>
          <ns0:cNvSpPr txBox="1"/>
          <ns0:nvPr/>
        </ns0:nvSpPr>
        <ns0:spPr>
          <ns1:xfrm>
            <ns1:off x="1033272" y="1764792"/>
            <ns1:ext cx="36576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000" b="1" dirty="0">
                <ns1:solidFill>
                  <ns1:srgbClr val="FF5C6C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B1</ns1:t>
            </ns1:r>
            <ns1:endParaRPr lang="en-US" sz="1000" dirty="0"/>
          </ns1:p>
        </ns0:txBody>
      </ns0:sp>
      <ns0:sp>
        <ns0:nvSpPr>
          <ns0:cNvPr id="18" name="Shape 16"/>
          <ns0:cNvSpPr/>
          <ns0:nvPr/>
        </ns0:nvSpPr>
        <ns0:spPr>
          <ns1:xfrm>
            <ns1:off x="6876288" y="1755648"/>
            <ns1:ext cx="237744" cy="237744"/>
          </ns1:xfrm>
          <ns1:prstGeom prst="rect">
            <ns1:avLst/>
          </ns1:prstGeom>
          <ns1:solidFill>
            <ns1:srgbClr val="FF5C6C"/>
          </ns1:solidFill>
          <ns1:ln w="12700">
            <ns1:solidFill>
              <ns1:srgbClr val="FF5C6C"/>
            </ns1:solidFill>
            <ns1:prstDash val="solid"/>
          </ns1:ln>
        </ns0:spPr>
      </ns0:sp>
      <ns0:sp>
        <ns0:nvSpPr>
          <ns0:cNvPr id="19" name="Text 17"/>
          <ns0:cNvSpPr txBox="1"/>
          <ns0:nvPr/>
        </ns0:nvSpPr>
        <ns0:spPr>
          <ns1:xfrm>
            <ns1:off x="7159752" y="1764792"/>
            <ns1:ext cx="36576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000" b="1" dirty="0">
                <ns1:solidFill>
                  <ns1:srgbClr val="FF5C6C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B2</ns1:t>
            </ns1:r>
            <ns1:endParaRPr lang="en-US" sz="1000" dirty="0"/>
          </ns1:p>
        </ns0:txBody>
      </ns0:sp>
      <ns0:sp>
        <ns0:nvSpPr>
          <ns0:cNvPr id="20" name="Shape 18"/>
          <ns0:cNvSpPr/>
          <ns0:nvPr/>
        </ns0:nvSpPr>
        <ns0:spPr>
          <ns1:xfrm>
            <ns1:off x="6876288" y="4407408"/>
            <ns1:ext cx="237744" cy="237744"/>
          </ns1:xfrm>
          <ns1:prstGeom prst="rect">
            <ns1:avLst/>
          </ns1:prstGeom>
          <ns1:solidFill>
            <ns1:srgbClr val="FF5C6C"/>
          </ns1:solidFill>
          <ns1:ln w="12700">
            <ns1:solidFill>
              <ns1:srgbClr val="FF5C6C"/>
            </ns1:solidFill>
            <ns1:prstDash val="solid"/>
          </ns1:ln>
        </ns0:spPr>
      </ns0:sp>
      <ns0:sp>
        <ns0:nvSpPr>
          <ns0:cNvPr id="21" name="Text 19"/>
          <ns0:cNvSpPr txBox="1"/>
          <ns0:nvPr/>
        </ns0:nvSpPr>
        <ns0:spPr>
          <ns1:xfrm>
            <ns1:off x="7159752" y="4416552"/>
            <ns1:ext cx="36576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000" b="1" dirty="0">
                <ns1:solidFill>
                  <ns1:srgbClr val="FF5C6C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B3</ns1:t>
            </ns1:r>
            <ns1:endParaRPr lang="en-US" sz="1000" dirty="0"/>
          </ns1:p>
        </ns0:txBody>
      </ns0:sp>
      <ns0:sp>
        <ns0:nvSpPr>
          <ns0:cNvPr id="22" name="Shape 20"/>
          <ns0:cNvSpPr/>
          <ns0:nvPr/>
        </ns0:nvSpPr>
        <ns0:spPr>
          <ns1:xfrm>
            <ns1:off x="749808" y="4407408"/>
            <ns1:ext cx="237744" cy="237744"/>
          </ns1:xfrm>
          <ns1:prstGeom prst="rect">
            <ns1:avLst/>
          </ns1:prstGeom>
          <ns1:solidFill>
            <ns1:srgbClr val="FF5C6C"/>
          </ns1:solidFill>
          <ns1:ln w="12700">
            <ns1:solidFill>
              <ns1:srgbClr val="FF5C6C"/>
            </ns1:solidFill>
            <ns1:prstDash val="solid"/>
          </ns1:ln>
        </ns0:spPr>
      </ns0:sp>
      <ns0:sp>
        <ns0:nvSpPr>
          <ns0:cNvPr id="23" name="Text 21"/>
          <ns0:cNvSpPr txBox="1"/>
          <ns0:nvPr/>
        </ns0:nvSpPr>
        <ns0:spPr>
          <ns1:xfrm>
            <ns1:off x="1033272" y="4416552"/>
            <ns1:ext cx="36576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000" b="1" dirty="0">
                <ns1:solidFill>
                  <ns1:srgbClr val="FF5C6C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B4</ns1:t>
            </ns1:r>
            <ns1:endParaRPr lang="en-US" sz="1000" dirty="0"/>
          </ns1:p>
        </ns0:txBody>
      </ns0:sp>
      <ns0:sp>
        <ns0:nvSpPr>
          <ns0:cNvPr id="24" name="Shape 22"/>
          <ns0:cNvSpPr/>
          <ns0:nvPr/>
        </ns0:nvSpPr>
        <ns0:spPr>
          <ns1:xfrm flipH="1" flipV="1">
            <ns1:off x="868680" y="1874520"/>
            <ns1:ext cx="1325880" cy="868680"/>
          </ns1:xfrm>
          <ns1:prstGeom prst="line">
            <ns1:avLst/>
          </ns1:prstGeom>
          <ns1:noFill/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25" name="Shape 23"/>
          <ns0:cNvSpPr/>
          <ns0:nvPr/>
        </ns0:nvSpPr>
        <ns0:spPr>
          <ns1:xfrm flipV="1">
            <ns1:off x="2194560" y="1874520"/>
            <ns1:ext cx="4800600" cy="868680"/>
          </ns1:xfrm>
          <ns1:prstGeom prst="line">
            <ns1:avLst/>
          </ns1:prstGeom>
          <ns1:noFill/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26" name="Shape 24"/>
          <ns0:cNvSpPr/>
          <ns0:nvPr/>
        </ns0:nvSpPr>
        <ns0:spPr>
          <ns1:xfrm flipH="1">
            <ns1:off x="868680" y="2743200"/>
            <ns1:ext cx="1325880" cy="1783080"/>
          </ns1:xfrm>
          <ns1:prstGeom prst="line">
            <ns1:avLst/>
          </ns1:prstGeom>
          <ns1:noFill/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27" name="Shape 25"/>
          <ns0:cNvSpPr/>
          <ns0:nvPr/>
        </ns0:nvSpPr>
        <ns0:spPr>
          <ns1:xfrm>
            <ns1:off x="2331720" y="2880360"/>
            <ns1:ext cx="1737360" cy="914400"/>
          </ns1:xfrm>
          <ns1:prstGeom prst="line">
            <ns1:avLst/>
          </ns1:prstGeom>
          <ns1:noFill/>
          <ns1:ln w="31750">
            <ns1:solidFill>
              <ns1:srgbClr val="2FD3C4"/>
            </ns1:solidFill>
            <ns1:prstDash val="solid"/>
            <ns1:tailEnd type="triangle"/>
          </ns1:ln>
        </ns0:spPr>
      </ns0:sp>
      <ns0:sp>
        <ns0:nvSpPr>
          <ns0:cNvPr id="28" name="Shape 26"/>
          <ns0:cNvSpPr/>
          <ns0:nvPr/>
        </ns0:nvSpPr>
        <ns0:spPr>
          <ns1:xfrm flipV="1">
            <ns1:off x="4343400" y="2788920"/>
            <ns1:ext cx="1371600" cy="1005840"/>
          </ns1:xfrm>
          <ns1:prstGeom prst="line">
            <ns1:avLst/>
          </ns1:prstGeom>
          <ns1:noFill/>
          <ns1:ln w="31750">
            <ns1:solidFill>
              <ns1:srgbClr val="4C8DFF"/>
            </ns1:solidFill>
            <ns1:prstDash val="solid"/>
            <ns1:tailEnd type="triangle"/>
          </ns1:ln>
        </ns0:spPr>
      </ns0:sp>
      <ns0:sp>
        <ns0:nvSpPr>
          <ns0:cNvPr id="29" name="Text 27"/>
          <ns0:cNvSpPr txBox="1"/>
          <ns0:nvPr/>
        </ns0:nvSpPr>
        <ns0:spPr>
          <ns1:xfrm>
            <ns1:off x="2743200" y="3429000"/>
            <ns1:ext cx="118872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000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/robot_state</ns1:t>
            </ns1:r>
            <ns1:endParaRPr lang="en-US" sz="1000" dirty="0"/>
          </ns1:p>
        </ns0:txBody>
      </ns0:sp>
      <ns0:sp>
        <ns0:nvSpPr>
          <ns0:cNvPr id="30" name="Shape 28"/>
          <ns0:cNvSpPr/>
          <ns0:nvPr/>
        </ns0:nvSpPr>
        <ns0:spPr>
          <ns1:xfrm>
            <ns1:off x="2011680" y="2560320"/>
            <ns1:ext cx="365760" cy="365760"/>
          </ns1:xfrm>
          <ns1:prstGeom prst="ellipse">
            <ns1:avLst/>
          </ns1:prstGeom>
          <ns1:solidFill>
            <ns1:srgbClr val="2FD3C4"/>
          </ns1:solidFill>
          <ns1:ln w="19050">
            <ns1:solidFill>
              <ns1:srgbClr val="0B1220"/>
            </ns1:solidFill>
            <ns1:prstDash val="solid"/>
          </ns1:ln>
        </ns0:spPr>
      </ns0:sp>
      <ns0:sp>
        <ns0:nvSpPr>
          <ns0:cNvPr id="31" name="Text 29"/>
          <ns0:cNvSpPr txBox="1"/>
          <ns0:nvPr/>
        </ns0:nvSpPr>
        <ns0:spPr>
          <ns1:xfrm>
            <ns1:off x="2011680" y="2560320"/>
            <ns1:ext cx="36576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0B122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</ns1:t>
            </ns1:r>
            <ns1:endParaRPr lang="en-US" sz="1200" dirty="0"/>
          </ns1:p>
        </ns0:txBody>
      </ns0:sp>
      <ns0:sp>
        <ns0:nvSpPr>
          <ns0:cNvPr id="32" name="Shape 30"/>
          <ns0:cNvSpPr/>
          <ns0:nvPr/>
        </ns0:nvSpPr>
        <ns0:spPr>
          <ns1:xfrm>
            <ns1:off x="4023360" y="3749040"/>
            <ns1:ext cx="365760" cy="365760"/>
          </ns1:xfrm>
          <ns1:prstGeom prst="ellipse">
            <ns1:avLst/>
          </ns1:prstGeom>
          <ns1:solidFill>
            <ns1:srgbClr val="4C8DFF"/>
          </ns1:solidFill>
          <ns1:ln w="19050">
            <ns1:solidFill>
              <ns1:srgbClr val="0B1220"/>
            </ns1:solidFill>
            <ns1:prstDash val="solid"/>
          </ns1:ln>
        </ns0:spPr>
      </ns0:sp>
      <ns0:sp>
        <ns0:nvSpPr>
          <ns0:cNvPr id="33" name="Text 31"/>
          <ns0:cNvSpPr txBox="1"/>
          <ns0:nvPr/>
        </ns0:nvSpPr>
        <ns0:spPr>
          <ns1:xfrm>
            <ns1:off x="4023360" y="3749040"/>
            <ns1:ext cx="36576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0B122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</ns1:t>
            </ns1:r>
            <ns1:endParaRPr lang="en-US" sz="1200" dirty="0"/>
          </ns1:p>
        </ns0:txBody>
      </ns0:sp>
      <ns0:sp>
        <ns0:nvSpPr>
          <ns0:cNvPr id="34" name="Shape 32"/>
          <ns0:cNvSpPr/>
          <ns0:nvPr/>
        </ns0:nvSpPr>
        <ns0:spPr>
          <ns1:xfrm>
            <ns1:off x="5669280" y="2468880"/>
            <ns1:ext cx="365760" cy="365760"/>
          </ns1:xfrm>
          <ns1:prstGeom prst="ellipse">
            <ns1:avLst/>
          </ns1:prstGeom>
          <ns1:solidFill>
            <ns1:srgbClr val="F5A524"/>
          </ns1:solidFill>
          <ns1:ln w="19050">
            <ns1:solidFill>
              <ns1:srgbClr val="0B1220"/>
            </ns1:solidFill>
            <ns1:prstDash val="solid"/>
          </ns1:ln>
        </ns0:spPr>
      </ns0:sp>
      <ns0:sp>
        <ns0:nvSpPr>
          <ns0:cNvPr id="35" name="Text 33"/>
          <ns0:cNvSpPr txBox="1"/>
          <ns0:nvPr/>
        </ns0:nvSpPr>
        <ns0:spPr>
          <ns1:xfrm>
            <ns1:off x="5669280" y="2468880"/>
            <ns1:ext cx="36576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0B122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</ns1:t>
            </ns1:r>
            <ns1:endParaRPr lang="en-US" sz="1200" dirty="0"/>
          </ns1:p>
        </ns0:txBody>
      </ns0:sp>
      <ns0:sp>
        <ns0:nvSpPr>
          <ns0:cNvPr id="36" name="Text 34"/>
          <ns0:cNvSpPr txBox="1"/>
          <ns0:nvPr/>
        </ns0:nvSpPr>
        <ns0:spPr>
          <ns1:xfrm>
            <ns1:off x="822960" y="4572000"/>
            <ns1:ext cx="457200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000" dirty="0">
                <ns1:solidFill>
                  <ns1:srgbClr val="9FB0C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●  robot     ■  UWB beacon     →  active message</ns1:t>
            </ns1:r>
            <ns1:endParaRPr lang="en-US" sz="1000" dirty="0"/>
          </ns1:p>
        </ns0:txBody>
      </ns0:sp>
      <ns0:sp>
        <ns0:nvSpPr>
          <ns0:cNvPr id="37" name="Shape 35"/>
          <ns0:cNvSpPr/>
          <ns0:nvPr/>
        </ns0:nvSpPr>
        <ns0:spPr>
          <ns1:xfrm>
            <ns1:off x="7589520" y="1554480"/>
            <ns1:ext cx="4023360" cy="3291840"/>
          </ns1:xfrm>
          <ns1:prstGeom prst="roundRect">
            <ns1:avLst>
              <ns1:gd name="adj" fmla="val 2222"/>
            </ns1:avLst>
          </ns1:prstGeom>
          <ns1:solidFill>
            <ns1:srgbClr val="060A13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38" name="Text 36"/>
          <ns0:cNvSpPr txBox="1"/>
          <ns0:nvPr/>
        </ns0:nvSpPr>
        <ns0:spPr>
          <ns1:xfrm>
            <ns1:off x="7772400" y="1691640"/>
            <ns1:ext cx="36576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100" b="1" spc="200" kern="0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LIVE CONSOLE (sample values)</ns1:t>
            </ns1:r>
            <ns1:endParaRPr lang="en-US" sz="1100" dirty="0"/>
          </ns1:p>
        </ns0:txBody>
      </ns0:sp>
      <ns0:sp>
        <ns0:nvSpPr>
          <ns0:cNvPr id="39" name="Text 37"/>
          <ns0:cNvSpPr txBox="1"/>
          <ns0:nvPr/>
        </ns0:nvSpPr>
        <ns0:spPr>
          <ns1:xfrm>
            <ns1:off x="7772400" y="2057400"/>
            <ns1:ext cx="3657600" cy="2651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spcAft>
                <ns1:spcPts val="600"/>
              </ns1:spcAft>
              <ns1:buNone/>
            </ns1:pPr>
            <ns1:r>
              <ns1:rPr lang="en-US" sz="1100" dirty="0">
                <ns1:solidFill>
                  <ns1:srgbClr val="E6EDF7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[INFO] telemetry_viz online</ns1:t>
            </ns1:r>
            <ns1:endParaRPr lang="en-US" sz="1100" dirty="0"/>
          </ns1:p>
          <ns1:p>
            <ns1:pPr indent="0" marL="0">
              <ns1:spcAft>
                <ns1:spcPts val="600"/>
              </ns1:spcAft>
              <ns1:buNone/>
            </ns1:pPr>
            <ns1:r>
              <ns1:rPr lang="en-US" sz="1100" dirty="0">
                <ns1:solidFill>
                  <ns1:srgbClr val="E6EDF7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A-&gt;B  /robot_state  50 Hz</ns1:t>
            </ns1:r>
            <ns1:endParaRPr lang="en-US" sz="1100" dirty="0"/>
          </ns1:p>
          <ns1:p>
            <ns1:pPr indent="0" marL="0">
              <ns1:spcAft>
                <ns1:spcPts val="600"/>
              </ns1:spcAft>
              <ns1:buNone/>
            </ns1:pPr>
            <ns1:r>
              <ns1:rPr lang="en-US" sz="1100" dirty="0">
                <ns1:solidFill>
                  <ns1:srgbClr val="E6EDF7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B-&gt;C  /robot_state  50 Hz</ns1:t>
            </ns1:r>
            <ns1:endParaRPr lang="en-US" sz="1100" dirty="0"/>
          </ns1:p>
          <ns1:p>
            <ns1:pPr indent="0" marL="0">
              <ns1:spcAft>
                <ns1:spcPts val="600"/>
              </ns1:spcAft>
              <ns1:buNone/>
            </ns1:pPr>
            <ns1:r>
              <ns1:rPr lang="en-US" sz="1100" dirty="0">
                <ns1:solidFill>
                  <ns1:srgbClr val="E6EDF7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bandwidth A-&gt;B   38.4 kB/s</ns1:t>
            </ns1:r>
            <ns1:endParaRPr lang="en-US" sz="1100" dirty="0"/>
          </ns1:p>
          <ns1:p>
            <ns1:pPr indent="0" marL="0">
              <ns1:spcAft>
                <ns1:spcPts val="600"/>
              </ns1:spcAft>
              <ns1:buNone/>
            </ns1:pPr>
            <ns1:r>
              <ns1:rPr lang="en-US" sz="1100" dirty="0">
                <ns1:solidFill>
                  <ns1:srgbClr val="E6EDF7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bandwidth B-&gt;C   36.9 kB/s</ns1:t>
            </ns1:r>
            <ns1:endParaRPr lang="en-US" sz="1100" dirty="0"/>
          </ns1:p>
          <ns1:p>
            <ns1:pPr indent="0" marL="0">
              <ns1:spcAft>
                <ns1:spcPts val="600"/>
              </ns1:spcAft>
              <ns1:buNone/>
            </ns1:pPr>
            <ns1:r>
              <ns1:rPr lang="en-US" sz="1100" dirty="0">
                <ns1:solidFill>
                  <ns1:srgbClr val="E6EDF7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DDS RTT   A&lt;-&gt;B   12 ms</ns1:t>
            </ns1:r>
            <ns1:endParaRPr lang="en-US" sz="1100" dirty="0"/>
          </ns1:p>
          <ns1:p>
            <ns1:pPr indent="0" marL="0">
              <ns1:spcAft>
                <ns1:spcPts val="600"/>
              </ns1:spcAft>
              <ns1:buNone/>
            </ns1:pPr>
            <ns1:r>
              <ns1:rPr lang="en-US" sz="1100" dirty="0">
                <ns1:solidFill>
                  <ns1:srgbClr val="E6EDF7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DDS RTT   B&lt;-&gt;C   18 ms</ns1:t>
            </ns1:r>
            <ns1:endParaRPr lang="en-US" sz="1100" dirty="0"/>
          </ns1:p>
        </ns0:txBody>
      </ns0:sp>
      <ns0:sp>
        <ns0:nvSpPr>
          <ns0:cNvPr id="40" name="Text 38"/>
          <ns0:cNvSpPr txBox="1"/>
          <ns0:nvPr/>
        </ns0:nvSpPr>
        <ns0:spPr>
          <ns1:xfrm>
            <ns1:off x="548640" y="5074920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5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Threading model (keeps GPU render framerate untouched)</ns1:t>
            </ns1:r>
            <ns1:endParaRPr lang="en-US" sz="1500" dirty="0"/>
          </ns1:p>
        </ns0:txBody>
      </ns0:sp>
      <ns0:sp>
        <ns0:nvSpPr>
          <ns0:cNvPr id="41" name="Shape 39"/>
          <ns0:cNvSpPr/>
          <ns0:nvPr/>
        </ns0:nvSpPr>
        <ns0:spPr>
          <ns1:xfrm>
            <ns1:off x="548640" y="5440680"/>
            <ns1:ext cx="2011680" cy="822960"/>
          </ns1:xfrm>
          <ns1:prstGeom prst="roundRect">
            <ns1:avLst>
              <ns1:gd name="adj" fmla="val 8889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42" name="Text 40"/>
          <ns0:cNvSpPr txBox="1"/>
          <ns0:nvPr/>
        </ns0:nvSpPr>
        <ns0:spPr>
          <ns1:xfrm>
            <ns1:off x="621792" y="5440680"/>
            <ns1:ext cx="1865376" cy="8229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Isaac Sim</ns1:t>
            </ns1:r>
            <ns1:endParaRPr lang="en-US" sz="1200" dirty="0"/>
          </ns1:p>
          <ns1:p>
            <ns1:pPr algn="ctr" indent="0" marL="0">
              <ns1:buNone/>
            </ns1:pPr>
            <ns1:r>
              <ns1:rPr lang="en-US" sz="12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(GPU render)</ns1:t>
            </ns1:r>
            <ns1:endParaRPr lang="en-US" sz="1200" dirty="0"/>
          </ns1:p>
        </ns0:txBody>
      </ns0:sp>
      <ns0:sp>
        <ns0:nvSpPr>
          <ns0:cNvPr id="43" name="Shape 41"/>
          <ns0:cNvSpPr/>
          <ns0:nvPr/>
        </ns0:nvSpPr>
        <ns0:spPr>
          <ns1:xfrm>
            <ns1:off x="2578608" y="5852160"/>
            <ns1:ext cx="214884" cy="0"/>
          </ns1:xfrm>
          <ns1:prstGeom prst="line">
            <ns1:avLst/>
          </ns1:prstGeom>
          <ns1:noFill/>
          <ns1:ln w="25400">
            <ns1:solidFill>
              <ns1:srgbClr val="9FB0C8"/>
            </ns1:solidFill>
            <ns1:prstDash val="solid"/>
            <ns1:tailEnd type="triangle"/>
          </ns1:ln>
        </ns0:spPr>
      </ns0:sp>
      <ns0:sp>
        <ns0:nvSpPr>
          <ns0:cNvPr id="44" name="Shape 42"/>
          <ns0:cNvSpPr/>
          <ns0:nvPr/>
        </ns0:nvSpPr>
        <ns0:spPr>
          <ns1:xfrm>
            <ns1:off x="2811780" y="5440680"/>
            <ns1:ext cx="2011680" cy="822960"/>
          </ns1:xfrm>
          <ns1:prstGeom prst="roundRect">
            <ns1:avLst>
              <ns1:gd name="adj" fmla="val 8889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45" name="Text 43"/>
          <ns0:cNvSpPr txBox="1"/>
          <ns0:nvPr/>
        </ns0:nvSpPr>
        <ns0:spPr>
          <ns1:xfrm>
            <ns1:off x="2884932" y="5440680"/>
            <ns1:ext cx="1865376" cy="8229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ROS 2 topics</ns1:t>
            </ns1:r>
            <ns1:endParaRPr lang="en-US" sz="1200" dirty="0"/>
          </ns1:p>
        </ns0:txBody>
      </ns0:sp>
      <ns0:sp>
        <ns0:nvSpPr>
          <ns0:cNvPr id="46" name="Shape 44"/>
          <ns0:cNvSpPr/>
          <ns0:nvPr/>
        </ns0:nvSpPr>
        <ns0:spPr>
          <ns1:xfrm>
            <ns1:off x="4841748" y="5852160"/>
            <ns1:ext cx="214884" cy="0"/>
          </ns1:xfrm>
          <ns1:prstGeom prst="line">
            <ns1:avLst/>
          </ns1:prstGeom>
          <ns1:noFill/>
          <ns1:ln w="25400">
            <ns1:solidFill>
              <ns1:srgbClr val="9FB0C8"/>
            </ns1:solidFill>
            <ns1:prstDash val="solid"/>
            <ns1:tailEnd type="triangle"/>
          </ns1:ln>
        </ns0:spPr>
      </ns0:sp>
      <ns0:sp>
        <ns0:nvSpPr>
          <ns0:cNvPr id="47" name="Shape 45"/>
          <ns0:cNvSpPr/>
          <ns0:nvPr/>
        </ns0:nvSpPr>
        <ns0:spPr>
          <ns1:xfrm>
            <ns1:off x="5074920" y="5440680"/>
            <ns1:ext cx="2011680" cy="822960"/>
          </ns1:xfrm>
          <ns1:prstGeom prst="roundRect">
            <ns1:avLst>
              <ns1:gd name="adj" fmla="val 8889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48" name="Text 46"/>
          <ns0:cNvSpPr txBox="1"/>
          <ns0:nvPr/>
        </ns0:nvSpPr>
        <ns0:spPr>
          <ns1:xfrm>
            <ns1:off x="5148072" y="5440680"/>
            <ns1:ext cx="1865376" cy="8229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rclpy multi-threaded executor</ns1:t>
            </ns1:r>
            <ns1:endParaRPr lang="en-US" sz="1200" dirty="0"/>
          </ns1:p>
        </ns0:txBody>
      </ns0:sp>
      <ns0:sp>
        <ns0:nvSpPr>
          <ns0:cNvPr id="49" name="Shape 47"/>
          <ns0:cNvSpPr/>
          <ns0:nvPr/>
        </ns0:nvSpPr>
        <ns0:spPr>
          <ns1:xfrm>
            <ns1:off x="7104888" y="5852160"/>
            <ns1:ext cx="214884" cy="0"/>
          </ns1:xfrm>
          <ns1:prstGeom prst="line">
            <ns1:avLst/>
          </ns1:prstGeom>
          <ns1:noFill/>
          <ns1:ln w="25400">
            <ns1:solidFill>
              <ns1:srgbClr val="9FB0C8"/>
            </ns1:solidFill>
            <ns1:prstDash val="solid"/>
            <ns1:tailEnd type="triangle"/>
          </ns1:ln>
        </ns0:spPr>
      </ns0:sp>
      <ns0:sp>
        <ns0:nvSpPr>
          <ns0:cNvPr id="50" name="Shape 48"/>
          <ns0:cNvSpPr/>
          <ns0:nvPr/>
        </ns0:nvSpPr>
        <ns0:spPr>
          <ns1:xfrm>
            <ns1:off x="7338060" y="5440680"/>
            <ns1:ext cx="2011680" cy="822960"/>
          </ns1:xfrm>
          <ns1:prstGeom prst="roundRect">
            <ns1:avLst>
              <ns1:gd name="adj" fmla="val 8889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51" name="Text 49"/>
          <ns0:cNvSpPr txBox="1"/>
          <ns0:nvPr/>
        </ns0:nvSpPr>
        <ns0:spPr>
          <ns1:xfrm>
            <ns1:off x="7411212" y="5440680"/>
            <ns1:ext cx="1865376" cy="8229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Thread-safe state buffer</ns1:t>
            </ns1:r>
            <ns1:endParaRPr lang="en-US" sz="1200" dirty="0"/>
          </ns1:p>
        </ns0:txBody>
      </ns0:sp>
      <ns0:sp>
        <ns0:nvSpPr>
          <ns0:cNvPr id="52" name="Shape 50"/>
          <ns0:cNvSpPr/>
          <ns0:nvPr/>
        </ns0:nvSpPr>
        <ns0:spPr>
          <ns1:xfrm>
            <ns1:off x="9368028" y="5852160"/>
            <ns1:ext cx="214884" cy="0"/>
          </ns1:xfrm>
          <ns1:prstGeom prst="line">
            <ns1:avLst/>
          </ns1:prstGeom>
          <ns1:noFill/>
          <ns1:ln w="25400">
            <ns1:solidFill>
              <ns1:srgbClr val="9FB0C8"/>
            </ns1:solidFill>
            <ns1:prstDash val="solid"/>
            <ns1:tailEnd type="triangle"/>
          </ns1:ln>
        </ns0:spPr>
      </ns0:sp>
      <ns0:sp>
        <ns0:nvSpPr>
          <ns0:cNvPr id="53" name="Shape 51"/>
          <ns0:cNvSpPr/>
          <ns0:nvPr/>
        </ns0:nvSpPr>
        <ns0:spPr>
          <ns1:xfrm>
            <ns1:off x="9601200" y="5440680"/>
            <ns1:ext cx="2011680" cy="822960"/>
          </ns1:xfrm>
          <ns1:prstGeom prst="roundRect">
            <ns1:avLst>
              <ns1:gd name="adj" fmla="val 8889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54" name="Text 52"/>
          <ns0:cNvSpPr txBox="1"/>
          <ns0:nvPr/>
        </ns0:nvSpPr>
        <ns0:spPr>
          <ns1:xfrm>
            <ns1:off x="9674352" y="5440680"/>
            <ns1:ext cx="1865376" cy="8229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GUI render thread</ns1:t>
            </ns1:r>
            <ns1:endParaRPr lang="en-US" sz="1200" dirty="0"/>
          </ns1:p>
        </ns0:txBody>
      </ns0:sp>
    </ns0:spTree>
  </ns0:cSld>
  <ns0:clrMapOvr>
    <ns1:masterClrMapping/>
  </ns0:clrMapOvr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35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" dur="35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3" dur="35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35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9" dur="35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35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3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5" dur="35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6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8" dur="35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9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35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2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4" dur="35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5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35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0" dur="35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41" fill="hold">
                            <ns0:stCondLst>
                              <ns0:cond delay="200"/>
                            </ns0:stCondLst>
                            <ns0:childTnLst>
                              <ns0:par>
                                <ns0:cTn id="42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4" dur="35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5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35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0" dur="35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3" dur="35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35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9" dur="35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35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3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35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66" fill="hold">
                            <ns0:stCondLst>
                              <ns0:cond delay="400"/>
                            </ns0:stCondLst>
                            <ns0:childTnLst>
                              <ns0:par>
                                <ns0:cTn id="67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9" dur="35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7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350"/>
                                        <ns0:tgtEl>
                                          <ns0:spTgt spid="2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73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5" dur="350"/>
                                        <ns0:tgtEl>
                                          <ns0:spTgt spid="2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6" fill="hold">
                      <ns0:stCondLst>
                        <ns0:cond delay="indefinite"/>
                      </ns0:stCondLst>
                      <ns0:childTnLst>
                        <ns0:par>
                          <ns0:cTn id="7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0" dur="300"/>
                                        <ns0:tgtEl>
                                          <ns0:spTgt spid="3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3" dur="300"/>
                                        <ns0:tgtEl>
                                          <ns0:spTgt spid="3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84" fill="hold">
                            <ns0:stCondLst>
                              <ns0:cond delay="150"/>
                            </ns0:stCondLst>
                            <ns0:childTnLst>
                              <ns0:par>
                                <ns0:cTn id="85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300"/>
                                        <ns0:tgtEl>
                                          <ns0:spTgt spid="3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0" dur="300"/>
                                        <ns0:tgtEl>
                                          <ns0:spTgt spid="3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91" fill="hold">
                            <ns0:stCondLst>
                              <ns0:cond delay="300"/>
                            </ns0:stCondLst>
                            <ns0:childTnLst>
                              <ns0:par>
                                <ns0:cTn id="92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4" dur="300"/>
                                        <ns0:tgtEl>
                                          <ns0:spTgt spid="3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95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300"/>
                                        <ns0:tgtEl>
                                          <ns0:spTgt spid="3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98" fill="hold">
                            <ns0:stCondLst>
                              <ns0:cond delay="450"/>
                            </ns0:stCondLst>
                            <ns0:childTnLst>
                              <ns0:par>
                                <ns0:cTn id="99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1" dur="350"/>
                                        <ns0:tgtEl>
                                          <ns0:spTgt spid="2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02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4" dur="350"/>
                                        <ns0:tgtEl>
                                          <ns0:spTgt spid="2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05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350"/>
                                        <ns0:tgtEl>
                                          <ns0:spTgt spid="2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08" fill="hold">
                            <ns0:stCondLst>
                              <ns0:cond delay="650"/>
                            </ns0:stCondLst>
                            <ns0:childTnLst>
                              <ns0:par>
                                <ns0:cTn id="109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11" dur="300"/>
                                        <ns0:tgtEl>
                                          <ns0:spTgt spid="3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12" fill="hold">
                      <ns0:stCondLst>
                        <ns0:cond delay="indefinite"/>
                      </ns0:stCondLst>
                      <ns0:childTnLst>
                        <ns0:par>
                          <ns0:cTn id="11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1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16" dur="400"/>
                                        <ns0:tgtEl>
                                          <ns0:spTgt spid="3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1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19" dur="400"/>
                                        <ns0:tgtEl>
                                          <ns0:spTgt spid="3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2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2" dur="400"/>
                                        <ns0:tgtEl>
                                          <ns0:spTgt spid="3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23" fill="hold">
                      <ns0:stCondLst>
                        <ns0:cond delay="indefinite"/>
                      </ns0:stCondLst>
                      <ns0:childTnLst>
                        <ns0:par>
                          <ns0:cTn id="1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7" dur="250"/>
                                        <ns0:tgtEl>
                                          <ns0:spTgt spid="4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28" fill="hold">
                            <ns0:stCondLst>
                              <ns0:cond delay="150"/>
                            </ns0:stCondLst>
                            <ns0:childTnLst>
                              <ns0:par>
                                <ns0:cTn id="129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31" dur="300"/>
                                        <ns0:tgtEl>
                                          <ns0:spTgt spid="4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32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34" dur="300"/>
                                        <ns0:tgtEl>
                                          <ns0:spTgt spid="4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35" fill="hold">
                            <ns0:stCondLst>
                              <ns0:cond delay="300"/>
                            </ns0:stCondLst>
                            <ns0:childTnLst>
                              <ns0:par>
                                <ns0:cTn id="136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38" dur="200"/>
                                        <ns0:tgtEl>
                                          <ns0:spTgt spid="4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39" fill="hold">
                            <ns0:stCondLst>
                              <ns0:cond delay="450"/>
                            </ns0:stCondLst>
                            <ns0:childTnLst>
                              <ns0:par>
                                <ns0:cTn id="140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2" dur="300"/>
                                        <ns0:tgtEl>
                                          <ns0:spTgt spid="4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43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4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5" dur="300"/>
                                        <ns0:tgtEl>
                                          <ns0:spTgt spid="4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46" fill="hold">
                            <ns0:stCondLst>
                              <ns0:cond delay="600"/>
                            </ns0:stCondLst>
                            <ns0:childTnLst>
                              <ns0:par>
                                <ns0:cTn id="147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4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9" dur="200"/>
                                        <ns0:tgtEl>
                                          <ns0:spTgt spid="4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50" fill="hold">
                            <ns0:stCondLst>
                              <ns0:cond delay="750"/>
                            </ns0:stCondLst>
                            <ns0:childTnLst>
                              <ns0:par>
                                <ns0:cTn id="151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5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53" dur="300"/>
                                        <ns0:tgtEl>
                                          <ns0:spTgt spid="4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5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56" dur="300"/>
                                        <ns0:tgtEl>
                                          <ns0:spTgt spid="4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57" fill="hold">
                            <ns0:stCondLst>
                              <ns0:cond delay="900"/>
                            </ns0:stCondLst>
                            <ns0:childTnLst>
                              <ns0:par>
                                <ns0:cTn id="158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5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0" dur="200"/>
                                        <ns0:tgtEl>
                                          <ns0:spTgt spid="4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61" fill="hold">
                            <ns0:stCondLst>
                              <ns0:cond delay="1050"/>
                            </ns0:stCondLst>
                            <ns0:childTnLst>
                              <ns0:par>
                                <ns0:cTn id="162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4" dur="300"/>
                                        <ns0:tgtEl>
                                          <ns0:spTgt spid="5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65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7" dur="300"/>
                                        <ns0:tgtEl>
                                          <ns0:spTgt spid="5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68" fill="hold">
                            <ns0:stCondLst>
                              <ns0:cond delay="1200"/>
                            </ns0:stCondLst>
                            <ns0:childTnLst>
                              <ns0:par>
                                <ns0:cTn id="169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7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1" dur="200"/>
                                        <ns0:tgtEl>
                                          <ns0:spTgt spid="5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72" fill="hold">
                            <ns0:stCondLst>
                              <ns0:cond delay="1350"/>
                            </ns0:stCondLst>
                            <ns0:childTnLst>
                              <ns0:par>
                                <ns0:cTn id="173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7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5" dur="300"/>
                                        <ns0:tgtEl>
                                          <ns0:spTgt spid="5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76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7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8" dur="300"/>
                                        <ns0:tgtEl>
                                          <ns0:spTgt spid="5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  <ns0:bldP spid="25" grpId="0" animBg="1"/>
      <ns0:bldP spid="26" grpId="0" animBg="1"/>
      <ns0:bldP spid="27" grpId="0" animBg="1"/>
      <ns0:bldP spid="28" grpId="0" animBg="1"/>
      <ns0:bldP spid="29" grpId="0" animBg="1"/>
      <ns0:bldP spid="30" grpId="0" animBg="1"/>
      <ns0:bldP spid="31" grpId="0" animBg="1"/>
      <ns0:bldP spid="32" grpId="0" animBg="1"/>
      <ns0:bldP spid="33" grpId="0" animBg="1"/>
      <ns0:bldP spid="34" grpId="0" animBg="1"/>
      <ns0:bldP spid="35" grpId="0" animBg="1"/>
      <ns0:bldP spid="36" grpId="0" animBg="1"/>
      <ns0:bldP spid="37" grpId="0" animBg="1"/>
      <ns0:bldP spid="38" grpId="0" animBg="1"/>
      <ns0:bldP spid="39" grpId="0" animBg="1"/>
      <ns0:bldP spid="40" grpId="0" animBg="1"/>
      <ns0:bldP spid="41" grpId="0" animBg="1"/>
      <ns0:bldP spid="42" grpId="0" animBg="1"/>
      <ns0:bldP spid="43" grpId="0" animBg="1"/>
      <ns0:bldP spid="44" grpId="0" animBg="1"/>
      <ns0:bldP spid="45" grpId="0" animBg="1"/>
      <ns0:bldP spid="46" grpId="0" animBg="1"/>
      <ns0:bldP spid="47" grpId="0" animBg="1"/>
      <ns0:bldP spid="48" grpId="0" animBg="1"/>
      <ns0:bldP spid="49" grpId="0" animBg="1"/>
      <ns0:bldP spid="50" grpId="0" animBg="1"/>
      <ns0:bldP spid="51" grpId="0" animBg="1"/>
      <ns0:bldP spid="52" grpId="0" animBg="1"/>
      <ns0:bldP spid="53" grpId="0" animBg="1"/>
      <ns0:bldP spid="54" grpId="0" animBg="1"/>
    </ns0:bldLst>
  </ns0:timing>
</ns0:sld>
</file>

<file path=ppt/slides/slide9.xml><?xml version="1.0" encoding="utf-8"?>
<ns0:sld xmlns:ns0="http://schemas.openxmlformats.org/presentationml/2006/main" xmlns:ns1="http://schemas.openxmlformats.org/drawingml/2006/main">
  <ns0:cSld name="Slide 9">
    <ns0:bg>
      <ns0:bgPr>
        <ns1:solidFill>
          <ns1:srgbClr val="0B1220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548640" y="320040"/>
            <ns1:ext cx="91440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200" b="1" spc="300" kern="0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08 · DEPLOYMENT</ns1:t>
            </ns1:r>
            <ns1:endParaRPr lang="en-US" sz="1200" dirty="0"/>
          </ns1:p>
        </ns0:txBody>
      </ns0:sp>
      <ns0:sp>
        <ns0:nvSpPr>
          <ns0:cNvPr id="3" name="Text 1"/>
          <ns0:cNvSpPr txBox="1"/>
          <ns0:nvPr/>
        </ns0:nvSpPr>
        <ns0:spPr>
          <ns1:xfrm>
            <ns1:off x="548640" y="594360"/>
            <ns1:ext cx="11064240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32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Real-World Deployment &amp; Hardware Considerations</ns1:t>
            </ns1:r>
            <ns1:endParaRPr lang="en-US" sz="3200" dirty="0"/>
          </ns1:p>
        </ns0:txBody>
      </ns0:sp>
      <ns0:sp>
        <ns0:nvSpPr>
          <ns0:cNvPr id="4" name="Shape 2"/>
          <ns0:cNvSpPr/>
          <ns0:nvPr/>
        </ns0:nvSpPr>
        <ns0:spPr>
          <ns1:xfrm>
            <ns1:off x="548640" y="1554480"/>
            <ns1:ext cx="3840480" cy="1737360"/>
          </ns1:xfrm>
          <ns1:prstGeom prst="roundRect">
            <ns1:avLst>
              <ns1:gd name="adj" fmla="val 4211"/>
            </ns1:avLst>
          </ns1:prstGeom>
          <ns1:solidFill>
            <ns1:srgbClr val="132038"/>
          </ns1:solidFill>
          <ns1:ln w="12700">
            <ns1:solidFill>
              <ns1:srgbClr val="2FD3C4"/>
            </ns1:solidFill>
            <ns1:prstDash val="solid"/>
          </ns1:ln>
        </ns0:spPr>
      </ns0:sp>
      <ns0:sp>
        <ns0:nvSpPr>
          <ns0:cNvPr id="5" name="Text 3"/>
          <ns0:cNvSpPr txBox="1"/>
          <ns0:nvPr/>
        </ns0:nvSpPr>
        <ns0:spPr>
          <ns1:xfrm>
            <ns1:off x="621792" y="1554480"/>
            <ns1:ext cx="3694176" cy="17373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4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ONBOARD SBC</ns1:t>
            </ns1:r>
            <ns1:endParaRPr lang="en-US" sz="1400" dirty="0"/>
          </ns1:p>
          <ns1:p>
            <ns1:pPr algn="ctr" indent="0" marL="0">
              <ns1:buNone/>
            </ns1:pPr>
            <ns1:r>
              <ns1:rPr lang="en-US" sz="14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NVIDIA Jetson / Raspberry Pi</ns1:t>
            </ns1:r>
            <ns1:endParaRPr lang="en-US" sz="1400" dirty="0"/>
          </ns1:p>
          <ns1:p>
            <ns1:pPr algn="ctr" indent="0" marL="0">
              <ns1:buNone/>
            </ns1:pPr>
            <ns1:r>
              <ns1:rPr lang="en-US" sz="14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Navigation + spatial memory</ns1:t>
            </ns1:r>
            <ns1:endParaRPr lang="en-US" sz="1400" dirty="0"/>
          </ns1:p>
        </ns0:txBody>
      </ns0:sp>
      <ns0:sp>
        <ns0:nvSpPr>
          <ns0:cNvPr id="6" name="Shape 4"/>
          <ns0:cNvSpPr/>
          <ns0:nvPr/>
        </ns0:nvSpPr>
        <ns0:spPr>
          <ns1:xfrm>
            <ns1:off x="5760720" y="1554480"/>
            <ns1:ext cx="3017520" cy="1737360"/>
          </ns1:xfrm>
          <ns1:prstGeom prst="roundRect">
            <ns1:avLst>
              <ns1:gd name="adj" fmla="val 4211"/>
            </ns1:avLst>
          </ns1:prstGeom>
          <ns1:solidFill>
            <ns1:srgbClr val="132038"/>
          </ns1:solidFill>
          <ns1:ln w="12700">
            <ns1:solidFill>
              <ns1:srgbClr val="F5A524"/>
            </ns1:solidFill>
            <ns1:prstDash val="solid"/>
          </ns1:ln>
        </ns0:spPr>
      </ns0:sp>
      <ns0:sp>
        <ns0:nvSpPr>
          <ns0:cNvPr id="7" name="Text 5"/>
          <ns0:cNvSpPr txBox="1"/>
          <ns0:nvPr/>
        </ns0:nvSpPr>
        <ns0:spPr>
          <ns1:xfrm>
            <ns1:off x="5833872" y="1554480"/>
            <ns1:ext cx="2871216" cy="17373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4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ESP32 MCU</ns1:t>
            </ns1:r>
            <ns1:endParaRPr lang="en-US" sz="1400" dirty="0"/>
          </ns1:p>
          <ns1:p>
            <ns1:pPr algn="ctr" indent="0" marL="0">
              <ns1:buNone/>
            </ns1:pPr>
            <ns1:r>
              <ns1:rPr lang="en-US" sz="14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Motor drivers +</ns1:t>
            </ns1:r>
            <ns1:endParaRPr lang="en-US" sz="1400" dirty="0"/>
          </ns1:p>
          <ns1:p>
            <ns1:pPr algn="ctr" indent="0" marL="0">
              <ns1:buNone/>
            </ns1:pPr>
            <ns1:r>
              <ns1:rPr lang="en-US" sz="14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encoder feedback loops</ns1:t>
            </ns1:r>
            <ns1:endParaRPr lang="en-US" sz="1400" dirty="0"/>
          </ns1:p>
        </ns0:txBody>
      </ns0:sp>
      <ns0:sp>
        <ns0:nvSpPr>
          <ns0:cNvPr id="8" name="Shape 6"/>
          <ns0:cNvSpPr/>
          <ns0:nvPr/>
        </ns0:nvSpPr>
        <ns0:spPr>
          <ns1:xfrm>
            <ns1:off x="9601200" y="1554480"/>
            <ns1:ext cx="2011680" cy="1737360"/>
          </ns1:xfrm>
          <ns1:prstGeom prst="roundRect">
            <ns1:avLst>
              <ns1:gd name="adj" fmla="val 4211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9" name="Text 7"/>
          <ns0:cNvSpPr txBox="1"/>
          <ns0:nvPr/>
        </ns0:nvSpPr>
        <ns0:spPr>
          <ns1:xfrm>
            <ns1:off x="9674352" y="1554480"/>
            <ns1:ext cx="1865376" cy="17373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4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4-wheel</ns1:t>
            </ns1:r>
            <ns1:endParaRPr lang="en-US" sz="1400" dirty="0"/>
          </ns1:p>
          <ns1:p>
            <ns1:pPr algn="ctr" indent="0" marL="0">
              <ns1:buNone/>
            </ns1:pPr>
            <ns1:r>
              <ns1:rPr lang="en-US" sz="14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skid-steer</ns1:t>
            </ns1:r>
            <ns1:endParaRPr lang="en-US" sz="1400" dirty="0"/>
          </ns1:p>
          <ns1:p>
            <ns1:pPr algn="ctr" indent="0" marL="0">
              <ns1:buNone/>
            </ns1:pPr>
            <ns1:r>
              <ns1:rPr lang="en-US" sz="14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platform</ns1:t>
            </ns1:r>
            <ns1:endParaRPr lang="en-US" sz="1400" dirty="0"/>
          </ns1:p>
        </ns0:txBody>
      </ns0:sp>
      <ns0:sp>
        <ns0:nvSpPr>
          <ns0:cNvPr id="10" name="Shape 8"/>
          <ns0:cNvSpPr/>
          <ns0:nvPr/>
        </ns0:nvSpPr>
        <ns0:spPr>
          <ns1:xfrm>
            <ns1:off x="4389120" y="2148840"/>
            <ns1:ext cx="1371600" cy="0"/>
          </ns1:xfrm>
          <ns1:prstGeom prst="line">
            <ns1:avLst/>
          </ns1:prstGeom>
          <ns1:noFill/>
          <ns1:ln w="31750">
            <ns1:solidFill>
              <ns1:srgbClr val="2FD3C4"/>
            </ns1:solidFill>
            <ns1:prstDash val="solid"/>
            <ns1:tailEnd type="triangle"/>
          </ns1:ln>
        </ns0:spPr>
      </ns0:sp>
      <ns0:sp>
        <ns0:nvSpPr>
          <ns0:cNvPr id="11" name="Shape 9"/>
          <ns0:cNvSpPr/>
          <ns0:nvPr/>
        </ns0:nvSpPr>
        <ns0:spPr>
          <ns1:xfrm flipH="1">
            <ns1:off x="4389120" y="2697480"/>
            <ns1:ext cx="1371600" cy="0"/>
          </ns1:xfrm>
          <ns1:prstGeom prst="line">
            <ns1:avLst/>
          </ns1:prstGeom>
          <ns1:noFill/>
          <ns1:ln w="31750">
            <ns1:solidFill>
              <ns1:srgbClr val="2FD3C4"/>
            </ns1:solidFill>
            <ns1:prstDash val="solid"/>
            <ns1:tailEnd type="triangle"/>
          </ns1:ln>
        </ns0:spPr>
      </ns0:sp>
      <ns0:sp>
        <ns0:nvSpPr>
          <ns0:cNvPr id="12" name="Shape 10"/>
          <ns0:cNvSpPr/>
          <ns0:nvPr/>
        </ns0:nvSpPr>
        <ns0:spPr>
          <ns1:xfrm>
            <ns1:off x="8778240" y="2423160"/>
            <ns1:ext cx="822960" cy="0"/>
          </ns1:xfrm>
          <ns1:prstGeom prst="line">
            <ns1:avLst/>
          </ns1:prstGeom>
          <ns1:noFill/>
          <ns1:ln w="31750">
            <ns1:solidFill>
              <ns1:srgbClr val="F5A524"/>
            </ns1:solidFill>
            <ns1:prstDash val="solid"/>
            <ns1:tailEnd type="triangle"/>
          </ns1:ln>
        </ns0:spPr>
      </ns0:sp>
      <ns0:sp>
        <ns0:nvSpPr>
          <ns0:cNvPr id="13" name="Text 11"/>
          <ns0:cNvSpPr txBox="1"/>
          <ns0:nvPr/>
        </ns0:nvSpPr>
        <ns0:spPr>
          <ns1:xfrm>
            <ns1:off x="4389120" y="2788920"/>
            <ns1:ext cx="1371600" cy="457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Micro-ROS</ns1:t>
            </ns1:r>
            <ns1:endParaRPr lang="en-US" sz="1000" dirty="0"/>
          </ns1:p>
          <ns1:p>
            <ns1:pPr algn="ctr" indent="0" marL="0">
              <ns1:buNone/>
            </ns1:pPr>
            <ns1:r>
              <ns1:rPr lang="en-US" sz="1000" b="1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/cmd_vel  /odom</ns1:t>
            </ns1:r>
            <ns1:endParaRPr lang="en-US" sz="1000" dirty="0"/>
          </ns1:p>
        </ns0:txBody>
      </ns0:sp>
      <ns0:sp>
        <ns0:nvSpPr>
          <ns0:cNvPr id="14" name="Text 12"/>
          <ns0:cNvSpPr txBox="1"/>
          <ns0:nvPr/>
        </ns0:nvSpPr>
        <ns0:spPr>
          <ns1:xfrm>
            <ns1:off x="8778240" y="2057400"/>
            <ns1:ext cx="82296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F5A52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motor PWM</ns1:t>
            </ns1:r>
            <ns1:endParaRPr lang="en-US" sz="1000" dirty="0"/>
          </ns1:p>
        </ns0:txBody>
      </ns0:sp>
      <ns0:sp>
        <ns0:nvSpPr>
          <ns0:cNvPr id="15" name="Text 13"/>
          <ns0:cNvSpPr txBox="1"/>
          <ns0:nvPr/>
        </ns0:nvSpPr>
        <ns0:spPr>
          <ns1:xfrm>
            <ns1:off x="548640" y="3657600"/>
            <ns1:ext cx="54864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5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Environmental challenges</ns1:t>
            </ns1:r>
            <ns1:endParaRPr lang="en-US" sz="1500" dirty="0"/>
          </ns1:p>
        </ns0:txBody>
      </ns0:sp>
      <ns0:sp>
        <ns0:nvSpPr>
          <ns0:cNvPr id="16" name="Shape 14"/>
          <ns0:cNvSpPr/>
          <ns0:nvPr/>
        </ns0:nvSpPr>
        <ns0:spPr>
          <ns1:xfrm>
            <ns1:off x="548640" y="4023360"/>
            <ns1:ext cx="3566160" cy="2194560"/>
          </ns1:xfrm>
          <ns1:prstGeom prst="roundRect">
            <ns1:avLst>
              <ns1:gd name="adj" fmla="val 3333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17" name="Text 15"/>
          <ns0:cNvSpPr txBox="1"/>
          <ns0:nvPr/>
        </ns0:nvSpPr>
        <ns0:spPr>
          <ns1:xfrm>
            <ns1:off x="777240" y="4206240"/>
            <ns1:ext cx="310896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800" b="1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Wheel slip</ns1:t>
            </ns1:r>
            <ns1:endParaRPr lang="en-US" sz="1800" dirty="0"/>
          </ns1:p>
        </ns0:txBody>
      </ns0:sp>
      <ns0:sp>
        <ns0:nvSpPr>
          <ns0:cNvPr id="18" name="Text 16"/>
          <ns0:cNvSpPr txBox="1"/>
          <ns0:nvPr/>
        </ns0:nvSpPr>
        <ns0:spPr>
          <ns1:xfrm>
            <ns1:off x="777240" y="4754880"/>
            <ns1:ext cx="3108960" cy="12801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4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Smooth ground breaks odometry. Apply ICR scaling and UWB-corrected EKF.</ns1:t>
            </ns1:r>
            <ns1:endParaRPr lang="en-US" sz="1400" dirty="0"/>
          </ns1:p>
        </ns0:txBody>
      </ns0:sp>
      <ns0:sp>
        <ns0:nvSpPr>
          <ns0:cNvPr id="19" name="Shape 17"/>
          <ns0:cNvSpPr/>
          <ns0:nvPr/>
        </ns0:nvSpPr>
        <ns0:spPr>
          <ns1:xfrm>
            <ns1:off x="4297680" y="4023360"/>
            <ns1:ext cx="3566160" cy="2194560"/>
          </ns1:xfrm>
          <ns1:prstGeom prst="roundRect">
            <ns1:avLst>
              <ns1:gd name="adj" fmla="val 3333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20" name="Text 18"/>
          <ns0:cNvSpPr txBox="1"/>
          <ns0:nvPr/>
        </ns0:nvSpPr>
        <ns0:spPr>
          <ns1:xfrm>
            <ns1:off x="4526280" y="4206240"/>
            <ns1:ext cx="310896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800" b="1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Lens distortion</ns1:t>
            </ns1:r>
            <ns1:endParaRPr lang="en-US" sz="1800" dirty="0"/>
          </ns1:p>
        </ns0:txBody>
      </ns0:sp>
      <ns0:sp>
        <ns0:nvSpPr>
          <ns0:cNvPr id="21" name="Text 19"/>
          <ns0:cNvSpPr txBox="1"/>
          <ns0:nvPr/>
        </ns0:nvSpPr>
        <ns0:spPr>
          <ns1:xfrm>
            <ns1:off x="4526280" y="4754880"/>
            <ns1:ext cx="3108960" cy="12801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4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Calibrate camera intrinsics and undistort frames before ArUco pose estimation.</ns1:t>
            </ns1:r>
            <ns1:endParaRPr lang="en-US" sz="1400" dirty="0"/>
          </ns1:p>
        </ns0:txBody>
      </ns0:sp>
      <ns0:sp>
        <ns0:nvSpPr>
          <ns0:cNvPr id="22" name="Shape 20"/>
          <ns0:cNvSpPr/>
          <ns0:nvPr/>
        </ns0:nvSpPr>
        <ns0:spPr>
          <ns1:xfrm>
            <ns1:off x="8046720" y="4023360"/>
            <ns1:ext cx="3566160" cy="2194560"/>
          </ns1:xfrm>
          <ns1:prstGeom prst="roundRect">
            <ns1:avLst>
              <ns1:gd name="adj" fmla="val 3333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23" name="Text 21"/>
          <ns0:cNvSpPr txBox="1"/>
          <ns0:nvPr/>
        </ns0:nvSpPr>
        <ns0:spPr>
          <ns1:xfrm>
            <ns1:off x="8275320" y="4206240"/>
            <ns1:ext cx="310896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800" b="1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Packet dropouts</ns1:t>
            </ns1:r>
            <ns1:endParaRPr lang="en-US" sz="1800" dirty="0"/>
          </ns1:p>
        </ns0:txBody>
      </ns0:sp>
      <ns0:sp>
        <ns0:nvSpPr>
          <ns0:cNvPr id="24" name="Text 22"/>
          <ns0:cNvSpPr txBox="1"/>
          <ns0:nvPr/>
        </ns0:nvSpPr>
        <ns0:spPr>
          <ns1:xfrm>
            <ns1:off x="8275320" y="4754880"/>
            <ns1:ext cx="3108960" cy="12801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4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Industrial wireless drops state. Use Transient Local QoS, buffering and dead-reckoning.</ns1:t>
            </ns1:r>
            <ns1:endParaRPr lang="en-US" sz="1400" dirty="0"/>
          </ns1:p>
        </ns0:txBody>
      </ns0:sp>
    </ns0:spTree>
  </ns0:cSld>
  <ns0:clrMapOvr>
    <ns1:masterClrMapping/>
  </ns0:clrMapOvr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35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" dur="35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1" fill="hold">
                            <ns0:stCondLst>
                              <ns0:cond delay="200"/>
                            </ns0:stCondLst>
                            <ns0:childTnLst>
                              <ns0:par>
                                <ns0:cTn id="12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30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5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30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0" dur="30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21" fill="hold">
                            <ns0:stCondLst>
                              <ns0:cond delay="400"/>
                            </ns0:stCondLst>
                            <ns0:childTnLst>
                              <ns0:par>
                                <ns0:cTn id="22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4" dur="35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5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35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28" fill="hold">
                            <ns0:stCondLst>
                              <ns0:cond delay="600"/>
                            </ns0:stCondLst>
                            <ns0:childTnLst>
                              <ns0:par>
                                <ns0:cTn id="29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30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2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4" dur="30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35" fill="hold">
                            <ns0:stCondLst>
                              <ns0:cond delay="800"/>
                            </ns0:stCondLst>
                            <ns0:childTnLst>
                              <ns0:par>
                                <ns0:cTn id="36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8" dur="35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9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35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5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47" fill="hold">
                            <ns0:stCondLst>
                              <ns0:cond delay="150"/>
                            </ns0:stCondLst>
                            <ns0:childTnLst>
                              <ns0:par>
                                <ns0:cTn id="48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0" dur="35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3" dur="35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35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57" fill="hold">
                            <ns0:stCondLst>
                              <ns0:cond delay="350"/>
                            </ns0:stCondLst>
                            <ns0:childTnLst>
                              <ns0:par>
                                <ns0:cTn id="58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0" dur="35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35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6" dur="35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67" fill="hold">
                            <ns0:stCondLst>
                              <ns0:cond delay="550"/>
                            </ns0:stCondLst>
                            <ns0:childTnLst>
                              <ns0:par>
                                <ns0:cTn id="68" presetID="10" presetClass="entr" presetSubtype="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35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7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3" dur="35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7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6" dur="35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0.xml><?xml version="1.0" encoding="utf-8"?>
<ns0:sld xmlns:ns0="http://schemas.openxmlformats.org/presentationml/2006/main" xmlns:ns1="http://schemas.openxmlformats.org/drawingml/2006/main">
  <ns0:cSld name="Slide 10">
    <ns0:bg>
      <ns0:bgPr>
        <ns1:solidFill>
          <ns1:srgbClr val="0B1220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548640" y="320040"/>
            <ns1:ext cx="91440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200" b="1" spc="300" kern="0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09 · WRAP-UP</ns1:t>
            </ns1:r>
            <ns1:endParaRPr lang="en-US" sz="1200" dirty="0"/>
          </ns1:p>
        </ns0:txBody>
      </ns0:sp>
      <ns0:sp>
        <ns0:nvSpPr>
          <ns0:cNvPr id="3" name="Text 1"/>
          <ns0:cNvSpPr txBox="1"/>
          <ns0:nvPr/>
        </ns0:nvSpPr>
        <ns0:spPr>
          <ns1:xfrm>
            <ns1:off x="548640" y="594360"/>
            <ns1:ext cx="11064240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32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Conclusion &amp; Resources</ns1:t>
            </ns1:r>
            <ns1:endParaRPr lang="en-US" sz="3200" dirty="0"/>
          </ns1:p>
        </ns0:txBody>
      </ns0:sp>
      <ns0:sp>
        <ns0:nvSpPr>
          <ns0:cNvPr id="4" name="Shape 2"/>
          <ns0:cNvSpPr/>
          <ns0:nvPr/>
        </ns0:nvSpPr>
        <ns0:spPr>
          <ns1:xfrm>
            <ns1:off x="548640" y="1645920"/>
            <ns1:ext cx="6675120" cy="1280160"/>
          </ns1:xfrm>
          <ns1:prstGeom prst="roundRect">
            <ns1:avLst>
              <ns1:gd name="adj" fmla="val 5714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5" name="Text 3"/>
          <ns0:cNvSpPr txBox="1"/>
          <ns0:nvPr/>
        </ns0:nvSpPr>
        <ns0:spPr>
          <ns1:xfrm>
            <ns1:off x="777240" y="1645920"/>
            <ns1:ext cx="548640" cy="12801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3600" b="1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</ns1:t>
            </ns1:r>
            <ns1:endParaRPr lang="en-US" sz="3600" dirty="0"/>
          </ns1:p>
        </ns0:txBody>
      </ns0:sp>
      <ns0:sp>
        <ns0:nvSpPr>
          <ns0:cNvPr id="6" name="Text 4"/>
          <ns0:cNvSpPr txBox="1"/>
          <ns0:nvPr/>
        </ns0:nvSpPr>
        <ns0:spPr>
          <ns1:xfrm>
            <ns1:off x="1463040" y="1645920"/>
            <ns1:ext cx="5577840" cy="12801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7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DDS peer-to-peer networking coordinates the swarm without a central broker.</ns1:t>
            </ns1:r>
            <ns1:endParaRPr lang="en-US" sz="1700" dirty="0"/>
          </ns1:p>
        </ns0:txBody>
      </ns0:sp>
      <ns0:sp>
        <ns0:nvSpPr>
          <ns0:cNvPr id="7" name="Shape 5"/>
          <ns0:cNvSpPr/>
          <ns0:nvPr/>
        </ns0:nvSpPr>
        <ns0:spPr>
          <ns1:xfrm>
            <ns1:off x="548640" y="3154680"/>
            <ns1:ext cx="6675120" cy="1280160"/>
          </ns1:xfrm>
          <ns1:prstGeom prst="roundRect">
            <ns1:avLst>
              <ns1:gd name="adj" fmla="val 5714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8" name="Text 6"/>
          <ns0:cNvSpPr txBox="1"/>
          <ns0:nvPr/>
        </ns0:nvSpPr>
        <ns0:spPr>
          <ns1:xfrm>
            <ns1:off x="777240" y="3154680"/>
            <ns1:ext cx="548640" cy="12801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3600" b="1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</ns1:t>
            </ns1:r>
            <ns1:endParaRPr lang="en-US" sz="3600" dirty="0"/>
          </ns1:p>
        </ns0:txBody>
      </ns0:sp>
      <ns0:sp>
        <ns0:nvSpPr>
          <ns0:cNvPr id="9" name="Text 7"/>
          <ns0:cNvSpPr txBox="1"/>
          <ns0:nvPr/>
        </ns0:nvSpPr>
        <ns0:spPr>
          <ns1:xfrm>
            <ns1:off x="1463040" y="3154680"/>
            <ns1:ext cx="5577840" cy="12801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7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Fused beacon and spatial-memory architecture resolves long-term drift.</ns1:t>
            </ns1:r>
            <ns1:endParaRPr lang="en-US" sz="1700" dirty="0"/>
          </ns1:p>
        </ns0:txBody>
      </ns0:sp>
      <ns0:sp>
        <ns0:nvSpPr>
          <ns0:cNvPr id="10" name="Shape 8"/>
          <ns0:cNvSpPr/>
          <ns0:nvPr/>
        </ns0:nvSpPr>
        <ns0:spPr>
          <ns1:xfrm>
            <ns1:off x="548640" y="4663440"/>
            <ns1:ext cx="6675120" cy="1280160"/>
          </ns1:xfrm>
          <ns1:prstGeom prst="roundRect">
            <ns1:avLst>
              <ns1:gd name="adj" fmla="val 5714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11" name="Text 9"/>
          <ns0:cNvSpPr txBox="1"/>
          <ns0:nvPr/>
        </ns0:nvSpPr>
        <ns0:spPr>
          <ns1:xfrm>
            <ns1:off x="777240" y="4663440"/>
            <ns1:ext cx="548640" cy="12801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3600" b="1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3</ns1:t>
            </ns1:r>
            <ns1:endParaRPr lang="en-US" sz="3600" dirty="0"/>
          </ns1:p>
        </ns0:txBody>
      </ns0:sp>
      <ns0:sp>
        <ns0:nvSpPr>
          <ns0:cNvPr id="12" name="Text 10"/>
          <ns0:cNvSpPr txBox="1"/>
          <ns0:nvPr/>
        </ns0:nvSpPr>
        <ns0:spPr>
          <ns1:xfrm>
            <ns1:off x="1463040" y="4663440"/>
            <ns1:ext cx="5577840" cy="12801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7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Isaac Sim physics validation comes before hardware testing.</ns1:t>
            </ns1:r>
            <ns1:endParaRPr lang="en-US" sz="1700" dirty="0"/>
          </ns1:p>
        </ns0:txBody>
      </ns0:sp>
      <ns0:sp>
        <ns0:nvSpPr>
          <ns0:cNvPr id="13" name="Shape 11"/>
          <ns0:cNvSpPr/>
          <ns0:nvPr/>
        </ns0:nvSpPr>
        <ns0:spPr>
          <ns1:xfrm>
            <ns1:off x="7589520" y="1645920"/>
            <ns1:ext cx="4023360" cy="4343400"/>
          </ns1:xfrm>
          <ns1:prstGeom prst="roundRect">
            <ns1:avLst>
              <ns1:gd name="adj" fmla="val 1818"/>
            </ns1:avLst>
          </ns1:prstGeom>
          <ns1:solidFill>
            <ns1:srgbClr val="132038"/>
          </ns1:solidFill>
          <ns1:ln w="12700">
            <ns1:solidFill>
              <ns1:srgbClr val="25375A"/>
            </ns1:solidFill>
            <ns1:prstDash val="solid"/>
          </ns1:ln>
        </ns0:spPr>
      </ns0:sp>
      <ns0:sp>
        <ns0:nvSpPr>
          <ns0:cNvPr id="14" name="Text 12"/>
          <ns0:cNvSpPr txBox="1"/>
          <ns0:nvPr/>
        </ns0:nvSpPr>
        <ns0:spPr>
          <ns1:xfrm>
            <ns1:off x="7863840" y="1828800"/>
            <ns1:ext cx="3474720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4000" b="1" dirty="0">
                <ns1:solidFill>
                  <ns1:srgbClr val="2FD3C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Q&amp;A</ns1:t>
            </ns1:r>
            <ns1:endParaRPr lang="en-US" sz="4000" dirty="0"/>
          </ns1:p>
        </ns0:txBody>
      </ns0:sp>
      <ns0:sp>
        <ns0:nvSpPr>
          <ns0:cNvPr id="15" name="Text 13"/>
          <ns0:cNvSpPr txBox="1"/>
          <ns0:nvPr/>
        </ns0:nvSpPr>
        <ns0:spPr>
          <ns1:xfrm>
            <ns1:off x="7863840" y="2606040"/>
            <ns1:ext cx="3474720" cy="5486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400" dirty="0">
                <ns1:solidFill>
                  <ns1:srgbClr val="9FB0C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IEEE FSB RAS SBC &amp; IEEE AESS Jordan</ns1:t>
            </ns1:r>
            <ns1:endParaRPr lang="en-US" sz="1400" dirty="0"/>
          </ns1:p>
        </ns0:txBody>
      </ns0:sp>
      <ns0:sp>
        <ns0:nvSpPr>
          <ns0:cNvPr id="16" name="Shape 14"/>
          <ns0:cNvSpPr/>
          <ns0:nvPr/>
        </ns0:nvSpPr>
        <ns0:spPr>
          <ns1:xfrm>
            <ns1:off x="7863840" y="3291840"/>
            <ns1:ext cx="1737360" cy="1737360"/>
          </ns1:xfrm>
          <ns1:prstGeom prst="rect">
            <ns1:avLst/>
          </ns1:prstGeom>
          <ns1:solidFill>
            <ns1:srgbClr val="E6EDF7"/>
          </ns1:solidFill>
          <ns1:ln w="12700">
            <ns1:solidFill>
              <ns1:srgbClr val="E6EDF7"/>
            </ns1:solidFill>
            <ns1:prstDash val="solid"/>
          </ns1:ln>
        </ns0:spPr>
      </ns0:sp>
      <ns0:sp>
        <ns0:nvSpPr>
          <ns0:cNvPr id="17" name="Text 15"/>
          <ns0:cNvSpPr txBox="1"/>
          <ns0:nvPr/>
        </ns0:nvSpPr>
        <ns0:spPr>
          <ns1:xfrm>
            <ns1:off x="7863840" y="3291840"/>
            <ns1:ext cx="1737360" cy="17373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300" b="1" dirty="0">
                <ns1:solidFill>
                  <ns1:srgbClr val="0B122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GitHub QR</ns1:t>
            </ns1:r>
            <ns1:endParaRPr lang="en-US" sz="1300" dirty="0"/>
          </ns1:p>
          <ns1:p>
            <ns1:pPr algn="ctr" indent="0" marL="0">
              <ns1:buNone/>
            </ns1:pPr>
            <ns1:r>
              <ns1:rPr lang="en-US" sz="1300" b="1" dirty="0">
                <ns1:solidFill>
                  <ns1:srgbClr val="0B122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(add link)</ns1:t>
            </ns1:r>
            <ns1:endParaRPr lang="en-US" sz="1300" dirty="0"/>
          </ns1:p>
        </ns0:txBody>
      </ns0:sp>
      <ns0:sp>
        <ns0:nvSpPr>
          <ns0:cNvPr id="18" name="Text 16"/>
          <ns0:cNvSpPr txBox="1"/>
          <ns0:nvPr/>
        </ns0:nvSpPr>
        <ns0:spPr>
          <ns1:xfrm>
            <ns1:off x="9784080" y="3383280"/>
            <ns1:ext cx="1645920" cy="1463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Open-source repository and resources</ns1:t>
            </ns1:r>
            <ns1:endParaRPr lang="en-US" sz="1200" dirty="0"/>
          </ns1:p>
        </ns0:txBody>
      </ns0:sp>
      <ns0:sp>
        <ns0:nvSpPr>
          <ns0:cNvPr id="19" name="Text 17"/>
          <ns0:cNvSpPr txBox="1"/>
          <ns0:nvPr/>
        </ns0:nvSpPr>
        <ns0:spPr>
          <ns1:xfrm>
            <ns1:off x="7863840" y="5257800"/>
            <ns1:ext cx="347472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500" b="1" dirty="0">
                <ns1:solidFill>
                  <ns1:srgbClr val="E6EDF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Mouhamed Boughrara</ns1:t>
            </ns1:r>
            <ns1:endParaRPr lang="en-US" sz="1500" dirty="0"/>
          </ns1:p>
        </ns0:txBody>
      </ns0:sp>
      <ns0:sp>
        <ns0:nvSpPr>
          <ns0:cNvPr id="20" name="Text 18"/>
          <ns0:cNvSpPr txBox="1"/>
          <ns0:nvPr/>
        </ns0:nvSpPr>
        <ns0:spPr>
          <ns1:xfrm>
            <ns1:off x="7863840" y="5577840"/>
            <ns1:ext cx="347472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9FB0C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Tech Lead &amp; Autonomous Systems Engineer</ns1:t>
            </ns1:r>
            <ns1:endParaRPr lang="en-US" sz="1200" dirty="0"/>
          </ns1:p>
        </ns0:txBody>
      </ns0:sp>
    </ns0:spTree>
  </ns0:cSld>
  <ns0:clrMapOvr>
    <ns1:masterClrMapping/>
  </ns0:clrMapOvr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35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" dur="35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3" dur="35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4" fill="hold">
                      <ns0:stCondLst>
                        <ns0:cond delay="indefinite"/>
                      </ns0:stCondLst>
                      <ns0:childTnLst>
                        <ns0:par>
                          <ns0:cTn id="15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6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8" dur="35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9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35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2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4" dur="35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5" fill="hold">
                      <ns0:stCondLst>
                        <ns0:cond delay="indefinite"/>
                      </ns0:stCondLst>
                      <ns0:childTnLst>
                        <ns0:par>
                          <ns0:cTn id="26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7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9" dur="35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35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3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5" dur="35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6" fill="hold">
                      <ns0:stCondLst>
                        <ns0:cond delay="indefinite"/>
                      </ns0:stCondLst>
                      <ns0:childTnLst>
                        <ns0:par>
                          <ns0:cTn id="3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0" dur="40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1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3" dur="40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4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40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7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9" dur="40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0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40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3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5" dur="40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6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40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9" presetID="10" presetClass="entr" presetSubtype="0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1" dur="40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</ns0:bldLst>
  </ns0:timing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Communication, Beacons &amp; Spatial Memory</dc:title>
  <dc:subject>PptxGenJS Presentation</dc:subject>
  <dc:creator>PptxGenJS</dc:creator>
  <cp:lastModifiedBy>PptxGenJS</cp:lastModifiedBy>
  <cp:revision>1</cp:revision>
  <dcterms:created xsi:type="dcterms:W3CDTF">2026-09-28T11:56:24Z</dcterms:created>
  <dcterms:modified xsi:type="dcterms:W3CDTF">2026-09-28T11:56:24Z</dcterms:modified>
</cp:coreProperties>
</file>