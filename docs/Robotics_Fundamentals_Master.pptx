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A1287-D65B-B51D-6BBD-5B6E40B3D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022248B-8273-2E33-91C1-A8AE1153F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D78E6B-2282-1ABE-A523-C4BB7BBD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973B4C-F3C3-577D-CEEB-368E7947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EA544D-8AD6-0703-4CF0-BAA4642B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06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934CD-5734-D842-C346-B63BB3870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030031-C5C0-C2B9-2640-8F9FD3B7C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D4A9BB-91C4-4240-3099-B24C100F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993BE0-B45B-1E60-2149-7C0E3B8C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54E8BB-EFCE-027E-4927-5211DAB2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11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EFAA7B-5138-F7E7-9691-73480757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D5C774-3601-0467-B307-AC071FD38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4F8822-104B-539D-34D2-57573AFD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15AFF5-013F-AE50-7534-B8FF8877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1CA796-1E40-0921-CA69-9B7437C2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866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6BE04-F781-A547-F828-37698157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F656D4-C57B-107B-72FA-9AC6D2C25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1ECAC3-8C4B-2EE7-1325-1B1C42814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3030EC-C4AE-F864-FBF5-BABC1E7F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B6D87A-A722-2354-E3DB-165F718A4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079985-B4C1-45F1-3EA2-C1CB780F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32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351C9A-8CDB-8EA5-0922-04363DC2A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4C0B24-D8CD-F741-5636-9B2A30DB0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A0320-8C60-C560-AD0B-BD39F91A4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018DF7-6804-7135-F20F-C097FAEE5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7C7DA87-0B24-6AAB-11C6-2C7568B9D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59FE5A9-46DF-1B0A-0AC2-4D17B3A6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5482EA-ED42-5C51-247E-2EEE8617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0A44931-F7D1-B52E-4463-0515EBEE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34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778A75-284C-ECAD-A3D3-CF03E73D0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FC93376-5801-4ECD-A3BD-7CCFEC58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625568-82E9-92BA-8A53-B3930F42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19A5A2-BE56-CCE7-B723-3C817691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4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FCCBE81-9D3D-5C3A-ECFE-5660B394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E7B93A3-2083-14F1-894E-D507CFA8A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3A53C1-1B60-081F-2992-44FC21D5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661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E6241-3749-4B8D-0E44-DECB6B22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DCD4AE-58A6-6B9E-5964-EE606A996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354976-C38C-2D45-B185-87407E6DD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7F9308-ABD4-6075-5CA7-4C0883D1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6F6B44-68E6-24AB-DD88-9BFE956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6FE13C-6030-BFCE-FD80-6E8E104F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56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AB80CF-38CE-9F6B-269F-284EF7A7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5B92060-7CDD-28FF-25DF-D649B1DDC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D55EB9-60CA-1C17-6D1D-9A6230BA3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71A47C-E1F7-CA3E-06F5-73D7A71A4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BAD71E-200E-FA57-2C96-D2A213FE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16A916-2B8F-B248-7D58-E6B5CBB4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407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A033F6-9D1E-FB6F-443F-2F888555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EF156EC-6E02-6EA8-E47A-BFC639CF2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B732C1-0EC2-539D-D2FA-FD19684CA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54DF94-53B0-4458-9F48-EC878852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531797-7700-C293-8BFB-13A145C5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5267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32E3BF7-645A-0744-6BBF-F13991A5B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C13E21-754D-F582-9011-49EA26F6C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77089C-87A2-4CFA-551C-AC396F9F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36BB2C-A2F0-ACE1-8C79-AB0BFE3B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05ABC0-7902-C12D-CF90-8590699F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860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23A30F8-E390-2E55-266F-53F12ED2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42F53D-CD14-88EC-0ED1-442A2069D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18094D-AA9A-69B2-C988-A959003C5D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187687-1FAA-4DF8-BA73-DCB6F2E0C5DB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D40C68-965D-0C37-94FD-5274640E9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A20336-1076-030A-65E1-B32BBD5C7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F6450-4378-46A3-BE0E-D75B9FC63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070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8C0E26-4116-C10A-843F-1506200025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A063BB-FF1A-8A44-2123-25C29243FA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508000"/>
            <a:ext cx="5842000" cy="5842000"/>
          </a:xfrm>
          <a:prstGeom prst="rect">
            <a:avLst/>
          </a:prstGeom>
          <a:ln w="19050">
            <a:solidFill>
              <a:srgbClr val="38BDF8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D73DAE2-DA72-55FB-6287-B7712E060706}"/>
              </a:ext>
            </a:extLst>
          </p:cNvPr>
          <p:cNvSpPr txBox="1"/>
          <p:nvPr/>
        </p:nvSpPr>
        <p:spPr>
          <a:xfrm>
            <a:off x="635000" y="1397000"/>
            <a:ext cx="49530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Segoe UI" panose="020B0502040204020203" pitchFamily="34" charset="0"/>
              </a:rPr>
              <a:t>ENGINEERING DEEP DIVE • 2026 EDITION</a:t>
            </a:r>
          </a:p>
          <a:p>
            <a:r>
              <a:rPr lang="fr-FR" sz="3400" b="1">
                <a:solidFill>
                  <a:srgbClr val="F8FAFC"/>
                </a:solidFill>
                <a:latin typeface="Segoe UI" panose="020B0502040204020203" pitchFamily="34" charset="0"/>
              </a:rPr>
              <a:t>FUNDAMENTALS
OF ROBOTICS</a:t>
            </a:r>
          </a:p>
          <a:p>
            <a:endParaRPr lang="en-US" sz="14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Architecture, Kinematics, Actuation &amp; Autonomous Control Systems</a:t>
            </a:r>
          </a:p>
          <a:p>
            <a:endParaRPr lang="en-US" sz="1200">
              <a:solidFill>
                <a:srgbClr val="CBD5E1"/>
              </a:solidFill>
              <a:latin typeface="Segoe UI" panose="020B0502040204020203" pitchFamily="34" charset="0"/>
            </a:endParaRPr>
          </a:p>
          <a:p>
            <a:r>
              <a:rPr lang="en-US" sz="1200">
                <a:solidFill>
                  <a:srgbClr val="CBD5E1"/>
                </a:solidFill>
                <a:latin typeface="Segoe UI" panose="020B0502040204020203" pitchFamily="34" charset="0"/>
              </a:rPr>
              <a:t>• Perception &amp; Sensor Fusion (Sense)
• Kinematic Chains &amp; Jacobians (Think)
• High-Torque Actuators &amp; Drivers (Act)
• ROS 2 Autonomous Middleware</a:t>
            </a:r>
            <a:endParaRPr lang="fr-FR" sz="12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94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0DC997-39CB-A7AA-8DF8-208BC2A424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6755F7-6984-378A-C30C-97979E34DD17}"/>
              </a:ext>
            </a:extLst>
          </p:cNvPr>
          <p:cNvSpPr/>
          <p:nvPr/>
        </p:nvSpPr>
        <p:spPr>
          <a:xfrm>
            <a:off x="508000" y="304800"/>
            <a:ext cx="3048000" cy="228600"/>
          </a:xfrm>
          <a:prstGeom prst="rect">
            <a:avLst/>
          </a:prstGeom>
          <a:solidFill>
            <a:srgbClr val="1E2945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>
                <a:solidFill>
                  <a:srgbClr val="38BDF8"/>
                </a:solidFill>
                <a:latin typeface="Segoe UI" panose="020B0502040204020203" pitchFamily="34" charset="0"/>
              </a:rPr>
              <a:t>  ROBOTICS ENGINEERING FOUNDATIONS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6D9BBAF-8810-E10B-A348-652CA4EA8AF5}"/>
              </a:ext>
            </a:extLst>
          </p:cNvPr>
          <p:cNvSpPr txBox="1"/>
          <p:nvPr/>
        </p:nvSpPr>
        <p:spPr>
          <a:xfrm>
            <a:off x="508000" y="558800"/>
            <a:ext cx="952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F8FAFC"/>
                </a:solidFill>
                <a:latin typeface="Segoe UI" panose="020B0502040204020203" pitchFamily="34" charset="0"/>
              </a:rPr>
              <a:t>The Robotic Core: The Sense-Think-Act Paradigm</a:t>
            </a:r>
            <a:endParaRPr lang="fr-FR" sz="22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694121-65D3-0F52-1D73-1A07A50BB9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06500"/>
            <a:ext cx="6604000" cy="3708400"/>
          </a:xfrm>
          <a:prstGeom prst="rect">
            <a:avLst/>
          </a:prstGeom>
          <a:ln w="15240">
            <a:solidFill>
              <a:srgbClr val="38BDF8"/>
            </a:solidFill>
          </a:ln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F510FEC-0204-B879-D47E-ABBD068919E2}"/>
              </a:ext>
            </a:extLst>
          </p:cNvPr>
          <p:cNvSpPr/>
          <p:nvPr/>
        </p:nvSpPr>
        <p:spPr>
          <a:xfrm>
            <a:off x="7366000" y="1206500"/>
            <a:ext cx="4318000" cy="5143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982F3DD-92B1-169E-4FC4-01093F72954B}"/>
              </a:ext>
            </a:extLst>
          </p:cNvPr>
          <p:cNvSpPr txBox="1"/>
          <p:nvPr/>
        </p:nvSpPr>
        <p:spPr>
          <a:xfrm>
            <a:off x="7556500" y="1333500"/>
            <a:ext cx="3937000" cy="2693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 b="1">
                <a:solidFill>
                  <a:srgbClr val="F59E0B"/>
                </a:solidFill>
                <a:latin typeface="Segoe UI" panose="020B0502040204020203" pitchFamily="34" charset="0"/>
              </a:rPr>
              <a:t>System Dynamics Breakdown</a:t>
            </a:r>
          </a:p>
          <a:p>
            <a:endParaRPr lang="fr-FR" sz="1200" b="1">
              <a:solidFill>
                <a:srgbClr val="38BDF8"/>
              </a:solidFill>
              <a:latin typeface="Segoe UI" panose="020B0502040204020203" pitchFamily="34" charset="0"/>
            </a:endParaRPr>
          </a:p>
          <a:p>
            <a:r>
              <a:rPr lang="fr-FR" sz="1200" b="1">
                <a:solidFill>
                  <a:srgbClr val="38BDF8"/>
                </a:solidFill>
                <a:latin typeface="Segoe UI" panose="020B0502040204020203" pitchFamily="34" charset="0"/>
              </a:rPr>
              <a:t>1. SENSE (Perception Layer)
</a:t>
            </a:r>
            <a:r>
              <a:rPr lang="fr-FR" sz="1000">
                <a:solidFill>
                  <a:srgbClr val="F8FAFC"/>
                </a:solidFill>
                <a:latin typeface="Segoe UI" panose="020B0502040204020203" pitchFamily="34" charset="0"/>
              </a:rPr>
              <a:t>Transducing physical reality via LiDAR, stereo cameras, optical encoders, and IMU units into calibrated digital point clouds.
</a:t>
            </a:r>
            <a:endParaRPr lang="en-US" sz="1200" b="1">
              <a:solidFill>
                <a:srgbClr val="F59E0B"/>
              </a:solidFill>
              <a:latin typeface="Segoe UI" panose="020B0502040204020203" pitchFamily="34" charset="0"/>
            </a:endParaRPr>
          </a:p>
          <a:p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2. THINK (Planning &amp; State Estimation)
</a:t>
            </a:r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Extended Kalman Filters (EKF) fuse noisy measurements. Global planners (A*/Dijkstra) and local planners (TEB/DWA) generate collision-free trajectories.
</a:t>
            </a:r>
            <a:endParaRPr lang="en-US" sz="1200" b="1">
              <a:solidFill>
                <a:srgbClr val="10B981"/>
              </a:solidFill>
              <a:latin typeface="Segoe UI" panose="020B0502040204020203" pitchFamily="34" charset="0"/>
            </a:endParaRPr>
          </a:p>
          <a:p>
            <a:r>
              <a:rPr lang="en-US" sz="1200" b="1">
                <a:solidFill>
                  <a:srgbClr val="10B981"/>
                </a:solidFill>
                <a:latin typeface="Segoe UI" panose="020B0502040204020203" pitchFamily="34" charset="0"/>
              </a:rPr>
              <a:t>3. ACT (Physical Execution)
</a:t>
            </a:r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Field-Oriented Control (FOC) commutates BLDC motors. PWM duty cycles drive H-bridge MOSFETs to apply exact Newton-meter joint torques.</a:t>
            </a:r>
            <a:endParaRPr lang="fr-FR" sz="10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645CA92-A194-88EA-788B-1AFF0962A1C1}"/>
              </a:ext>
            </a:extLst>
          </p:cNvPr>
          <p:cNvSpPr/>
          <p:nvPr/>
        </p:nvSpPr>
        <p:spPr>
          <a:xfrm>
            <a:off x="508000" y="5080000"/>
            <a:ext cx="6604000" cy="1270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C1C82F0-7D65-AB21-76F6-253B6D69A6E6}"/>
              </a:ext>
            </a:extLst>
          </p:cNvPr>
          <p:cNvSpPr txBox="1"/>
          <p:nvPr/>
        </p:nvSpPr>
        <p:spPr>
          <a:xfrm>
            <a:off x="698500" y="5181600"/>
            <a:ext cx="6223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Deterministic Real-Time Requirement: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The closed loop frequency determines stability. Low-level motor FOC loops run at 20 kHz, joint position loops at 1 kHz, and high-level trajectory/vision planning at 30-50 Hz.</a:t>
            </a:r>
            <a:endParaRPr lang="fr-FR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94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A18049-4D5B-129C-470C-B63828F093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32A309-869D-7868-6ED4-D47069E33903}"/>
              </a:ext>
            </a:extLst>
          </p:cNvPr>
          <p:cNvSpPr/>
          <p:nvPr/>
        </p:nvSpPr>
        <p:spPr>
          <a:xfrm>
            <a:off x="508000" y="304800"/>
            <a:ext cx="3048000" cy="228600"/>
          </a:xfrm>
          <a:prstGeom prst="rect">
            <a:avLst/>
          </a:prstGeom>
          <a:solidFill>
            <a:srgbClr val="1E2945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>
                <a:solidFill>
                  <a:srgbClr val="38BDF8"/>
                </a:solidFill>
                <a:latin typeface="Segoe UI" panose="020B0502040204020203" pitchFamily="34" charset="0"/>
              </a:rPr>
              <a:t>  ROBOTICS ENGINEERING FOUNDATIONS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3AB99D-4343-F92E-7A6A-8F26178E96AA}"/>
              </a:ext>
            </a:extLst>
          </p:cNvPr>
          <p:cNvSpPr txBox="1"/>
          <p:nvPr/>
        </p:nvSpPr>
        <p:spPr>
          <a:xfrm>
            <a:off x="508000" y="558800"/>
            <a:ext cx="952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F8FAFC"/>
                </a:solidFill>
                <a:latin typeface="Segoe UI" panose="020B0502040204020203" pitchFamily="34" charset="0"/>
              </a:rPr>
              <a:t>Kinematics: Forward, Inverse &amp; Coordinate Frames</a:t>
            </a:r>
            <a:endParaRPr lang="fr-FR" sz="22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6822FBC-1C86-D6B4-97F6-F318B8B97DC4}"/>
              </a:ext>
            </a:extLst>
          </p:cNvPr>
          <p:cNvSpPr/>
          <p:nvPr/>
        </p:nvSpPr>
        <p:spPr>
          <a:xfrm>
            <a:off x="508000" y="1206500"/>
            <a:ext cx="5334000" cy="2349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E170043-2DF1-B68D-14AC-79FBAE1646DE}"/>
              </a:ext>
            </a:extLst>
          </p:cNvPr>
          <p:cNvSpPr txBox="1"/>
          <p:nvPr/>
        </p:nvSpPr>
        <p:spPr>
          <a:xfrm>
            <a:off x="698500" y="1333500"/>
            <a:ext cx="4953000" cy="123110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38BDF8"/>
                </a:solidFill>
                <a:latin typeface="Segoe UI" panose="020B0502040204020203" pitchFamily="34" charset="0"/>
              </a:rPr>
              <a:t>Forward vs. Inverse Kinematics</a:t>
            </a:r>
          </a:p>
          <a:p>
            <a:endParaRPr lang="fr-FR" sz="1000" b="1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• Forward Kinematics (FK): Solves end-effector pose [X, Y, Z, Roll, Pitch, Yaw] given joint angles </a:t>
            </a:r>
            <a:r>
              <a:rPr lang="el-GR" sz="1000" b="1">
                <a:solidFill>
                  <a:srgbClr val="F8FAFC"/>
                </a:solidFill>
                <a:latin typeface="Segoe UI" panose="020B0502040204020203" pitchFamily="34" charset="0"/>
              </a:rPr>
              <a:t>θ₁..θ₆ </a:t>
            </a:r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using Denavit-Hartenberg (D-H) transformation matrices. Always has a unique solution.</a:t>
            </a:r>
          </a:p>
          <a:p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• Inverse Kinematics (IK): Solves required joint angles given target tool pose. Often has multiple mathematical solutions or singular deadlocks.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F46C0C7-DCDD-E55C-D009-2CABE3C3A42A}"/>
              </a:ext>
            </a:extLst>
          </p:cNvPr>
          <p:cNvSpPr/>
          <p:nvPr/>
        </p:nvSpPr>
        <p:spPr>
          <a:xfrm>
            <a:off x="508000" y="3746500"/>
            <a:ext cx="5334000" cy="2603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1546931-61FA-5486-7F57-C72B6390D71C}"/>
              </a:ext>
            </a:extLst>
          </p:cNvPr>
          <p:cNvSpPr txBox="1"/>
          <p:nvPr/>
        </p:nvSpPr>
        <p:spPr>
          <a:xfrm>
            <a:off x="698500" y="3873500"/>
            <a:ext cx="4953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F59E0B"/>
                </a:solidFill>
                <a:latin typeface="Segoe UI" panose="020B0502040204020203" pitchFamily="34" charset="0"/>
              </a:rPr>
              <a:t>The Jacobian Matrix &amp; Singularities</a:t>
            </a:r>
          </a:p>
          <a:p>
            <a:endParaRPr lang="fr-FR" sz="1000" b="1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• The Jacobian (J) maps joint velocities (</a:t>
            </a:r>
            <a:r>
              <a:rPr lang="el-GR" sz="1000" b="1">
                <a:solidFill>
                  <a:srgbClr val="F8FAFC"/>
                </a:solidFill>
                <a:latin typeface="Segoe UI" panose="020B0502040204020203" pitchFamily="34" charset="0"/>
              </a:rPr>
              <a:t>θ̇) </a:t>
            </a:r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to Cartesian tool velocity (v):
      v = J(</a:t>
            </a:r>
            <a:r>
              <a:rPr lang="el-GR" sz="1000" b="1">
                <a:solidFill>
                  <a:srgbClr val="F8FAFC"/>
                </a:solidFill>
                <a:latin typeface="Segoe UI" panose="020B0502040204020203" pitchFamily="34" charset="0"/>
              </a:rPr>
              <a:t>θ) · θ̇</a:t>
            </a:r>
          </a:p>
          <a:p>
            <a:r>
              <a:rPr lang="el-GR" sz="1000" b="1">
                <a:solidFill>
                  <a:srgbClr val="F8FAFC"/>
                </a:solidFill>
                <a:latin typeface="Segoe UI" panose="020B0502040204020203" pitchFamily="34" charset="0"/>
              </a:rPr>
              <a:t>• </a:t>
            </a:r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Kinematic Singularity: Occurs when det(J) = 0. The arm loses one or more degrees of freedom, requiring infinite joint velocity for Cartesian motion.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2A66373-C261-0079-A2D3-A2A77702CD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6500"/>
            <a:ext cx="5588000" cy="5143500"/>
          </a:xfrm>
          <a:prstGeom prst="rect">
            <a:avLst/>
          </a:prstGeom>
          <a:ln w="15240">
            <a:solidFill>
              <a:srgbClr val="2563EB"/>
            </a:solidFill>
          </a:ln>
        </p:spPr>
      </p:pic>
    </p:spTree>
    <p:extLst>
      <p:ext uri="{BB962C8B-B14F-4D97-AF65-F5344CB8AC3E}">
        <p14:creationId xmlns:p14="http://schemas.microsoft.com/office/powerpoint/2010/main" val="338743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6011C1-AF8C-7C0D-62C0-D04D0E97EB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6D83D-A40D-38D5-1156-CEB497C51EBE}"/>
              </a:ext>
            </a:extLst>
          </p:cNvPr>
          <p:cNvSpPr/>
          <p:nvPr/>
        </p:nvSpPr>
        <p:spPr>
          <a:xfrm>
            <a:off x="508000" y="304800"/>
            <a:ext cx="3048000" cy="228600"/>
          </a:xfrm>
          <a:prstGeom prst="rect">
            <a:avLst/>
          </a:prstGeom>
          <a:solidFill>
            <a:srgbClr val="1E2945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>
                <a:solidFill>
                  <a:srgbClr val="38BDF8"/>
                </a:solidFill>
                <a:latin typeface="Segoe UI" panose="020B0502040204020203" pitchFamily="34" charset="0"/>
              </a:rPr>
              <a:t>  ROBOTICS ENGINEERING FOUNDATIONS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50850EB-804F-DF8D-24FB-BCBACD057ACD}"/>
              </a:ext>
            </a:extLst>
          </p:cNvPr>
          <p:cNvSpPr txBox="1"/>
          <p:nvPr/>
        </p:nvSpPr>
        <p:spPr>
          <a:xfrm>
            <a:off x="508000" y="558800"/>
            <a:ext cx="952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F8FAFC"/>
                </a:solidFill>
                <a:latin typeface="Segoe UI" panose="020B0502040204020203" pitchFamily="34" charset="0"/>
              </a:rPr>
              <a:t>Actuators: BLDC Motors, Strain Wave Gears &amp; Drive Electronics</a:t>
            </a:r>
            <a:endParaRPr lang="fr-FR" sz="22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7CF84F4-8448-7400-916A-7110DF40A4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06500"/>
            <a:ext cx="6223000" cy="5143500"/>
          </a:xfrm>
          <a:prstGeom prst="rect">
            <a:avLst/>
          </a:prstGeom>
          <a:ln w="15240">
            <a:solidFill>
              <a:srgbClr val="38BDF8"/>
            </a:solidFill>
          </a:ln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BA2E36A-1A70-4DEF-F208-52C666D65356}"/>
              </a:ext>
            </a:extLst>
          </p:cNvPr>
          <p:cNvSpPr/>
          <p:nvPr/>
        </p:nvSpPr>
        <p:spPr>
          <a:xfrm>
            <a:off x="6985000" y="1206500"/>
            <a:ext cx="4699000" cy="2413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8665A6-CF1D-3B3D-DF38-AAEC72D4B5A4}"/>
              </a:ext>
            </a:extLst>
          </p:cNvPr>
          <p:cNvSpPr txBox="1"/>
          <p:nvPr/>
        </p:nvSpPr>
        <p:spPr>
          <a:xfrm>
            <a:off x="7175500" y="1333500"/>
            <a:ext cx="4318000" cy="123110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F59E0B"/>
                </a:solidFill>
                <a:latin typeface="Segoe UI" panose="020B0502040204020203" pitchFamily="34" charset="0"/>
              </a:rPr>
              <a:t>Strain Wave (Harmonic) Gearing</a:t>
            </a:r>
          </a:p>
          <a:p>
            <a:endParaRPr lang="fr-FR" sz="1000" b="1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• Zero Backlash: Crucial for sub-millimeter robotic repeatability.</a:t>
            </a:r>
          </a:p>
          <a:p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• High Reduction Ratio: 50:1 up to 160:1 in a single compact inline stage.</a:t>
            </a:r>
          </a:p>
          <a:p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• 3 Components: Elliptical Wave Generator, flexible external-tooth Flexspline, rigid internal-tooth Circular Spline.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EE88EBA-F70C-507C-D5F2-D3B20F33D0C7}"/>
              </a:ext>
            </a:extLst>
          </p:cNvPr>
          <p:cNvSpPr/>
          <p:nvPr/>
        </p:nvSpPr>
        <p:spPr>
          <a:xfrm>
            <a:off x="6985000" y="3810000"/>
            <a:ext cx="4699000" cy="2540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C3758F9-B4C0-7D55-A50F-CD14B947192A}"/>
              </a:ext>
            </a:extLst>
          </p:cNvPr>
          <p:cNvSpPr txBox="1"/>
          <p:nvPr/>
        </p:nvSpPr>
        <p:spPr>
          <a:xfrm>
            <a:off x="7175500" y="3937000"/>
            <a:ext cx="43180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38BDF8"/>
                </a:solidFill>
                <a:latin typeface="Segoe UI" panose="020B0502040204020203" pitchFamily="34" charset="0"/>
              </a:rPr>
              <a:t>Integrated Smart Actuator Stack</a:t>
            </a:r>
          </a:p>
          <a:p>
            <a:endParaRPr lang="fr-FR" sz="1000" b="1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• Brushless DC (BLDC) Motor: Frameless outrunner design maximizing torque density (Nm/kg).</a:t>
            </a:r>
          </a:p>
          <a:p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• Dual Encoders: Motor-side for commutation; output-side for deflection compensation.</a:t>
            </a:r>
          </a:p>
          <a:p>
            <a:r>
              <a:rPr lang="fr-FR" sz="1000" b="1">
                <a:solidFill>
                  <a:srgbClr val="F8FAFC"/>
                </a:solidFill>
                <a:latin typeface="Segoe UI" panose="020B0502040204020203" pitchFamily="34" charset="0"/>
              </a:rPr>
              <a:t>• Field-Oriented Control (FOC): Clarke &amp; Park transforms regulate Id/Iq current vectors with zero torque ripple.</a:t>
            </a:r>
          </a:p>
        </p:txBody>
      </p:sp>
    </p:spTree>
    <p:extLst>
      <p:ext uri="{BB962C8B-B14F-4D97-AF65-F5344CB8AC3E}">
        <p14:creationId xmlns:p14="http://schemas.microsoft.com/office/powerpoint/2010/main" val="405850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B2FE03-F14F-A244-5957-F23655159E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62F19C-B823-3E16-A6E2-D7F7E84CB474}"/>
              </a:ext>
            </a:extLst>
          </p:cNvPr>
          <p:cNvSpPr/>
          <p:nvPr/>
        </p:nvSpPr>
        <p:spPr>
          <a:xfrm>
            <a:off x="508000" y="304800"/>
            <a:ext cx="3048000" cy="228600"/>
          </a:xfrm>
          <a:prstGeom prst="rect">
            <a:avLst/>
          </a:prstGeom>
          <a:solidFill>
            <a:srgbClr val="1E2945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>
                <a:solidFill>
                  <a:srgbClr val="38BDF8"/>
                </a:solidFill>
                <a:latin typeface="Segoe UI" panose="020B0502040204020203" pitchFamily="34" charset="0"/>
              </a:rPr>
              <a:t>  ROBOTICS ENGINEERING FOUNDATIONS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8887CC-0282-DDDC-6187-CBA3EE8DA4EF}"/>
              </a:ext>
            </a:extLst>
          </p:cNvPr>
          <p:cNvSpPr txBox="1"/>
          <p:nvPr/>
        </p:nvSpPr>
        <p:spPr>
          <a:xfrm>
            <a:off x="508000" y="558800"/>
            <a:ext cx="952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F8FAFC"/>
                </a:solidFill>
                <a:latin typeface="Segoe UI" panose="020B0502040204020203" pitchFamily="34" charset="0"/>
              </a:rPr>
              <a:t>Software Architecture: ROS 2, DDS &amp; Real-Time Frameworks</a:t>
            </a:r>
            <a:endParaRPr lang="fr-FR" sz="22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1C18CEB-3D27-965B-3F90-F734B181AE5A}"/>
              </a:ext>
            </a:extLst>
          </p:cNvPr>
          <p:cNvSpPr/>
          <p:nvPr/>
        </p:nvSpPr>
        <p:spPr>
          <a:xfrm>
            <a:off x="508000" y="1270000"/>
            <a:ext cx="3429000" cy="3937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41EC92-63F1-51AD-93E4-2DD014A98388}"/>
              </a:ext>
            </a:extLst>
          </p:cNvPr>
          <p:cNvSpPr txBox="1"/>
          <p:nvPr/>
        </p:nvSpPr>
        <p:spPr>
          <a:xfrm>
            <a:off x="698500" y="1460500"/>
            <a:ext cx="30480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38BDF8"/>
                </a:solidFill>
                <a:latin typeface="Segoe UI" panose="020B0502040204020203" pitchFamily="34" charset="0"/>
              </a:rPr>
              <a:t>ROS 2 &amp; DDS Middleware</a:t>
            </a:r>
          </a:p>
          <a:p>
            <a:r>
              <a:rPr lang="fr-FR" sz="1100" b="1">
                <a:solidFill>
                  <a:srgbClr val="F8FAFC"/>
                </a:solidFill>
                <a:latin typeface="Segoe UI" panose="020B0502040204020203" pitchFamily="34" charset="0"/>
              </a:rPr>
              <a:t>
• Decentralized Architecture
</a:t>
            </a:r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  No single point of failure; discovery via OMG DDS protocol.
</a:t>
            </a:r>
            <a:r>
              <a:rPr lang="en-US" sz="1100" b="1">
                <a:solidFill>
                  <a:srgbClr val="F8FAFC"/>
                </a:solidFill>
                <a:latin typeface="Segoe UI" panose="020B0502040204020203" pitchFamily="34" charset="0"/>
              </a:rPr>
              <a:t>
• QoS Policies
</a:t>
            </a:r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  Configurable reliability, transient local durability, and deadline profiles.
</a:t>
            </a:r>
            <a:r>
              <a:rPr lang="en-US" sz="1100" b="1">
                <a:solidFill>
                  <a:srgbClr val="F8FAFC"/>
                </a:solidFill>
                <a:latin typeface="Segoe UI" panose="020B0502040204020203" pitchFamily="34" charset="0"/>
              </a:rPr>
              <a:t>
• Multi-Platform
</a:t>
            </a:r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  Native Linux (Ubuntu), Windows, and RTOS micro-ROS endpoints.
</a:t>
            </a:r>
            <a:endParaRPr lang="fr-FR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49D929F-F20E-6E19-0941-9CEE60F51A71}"/>
              </a:ext>
            </a:extLst>
          </p:cNvPr>
          <p:cNvSpPr/>
          <p:nvPr/>
        </p:nvSpPr>
        <p:spPr>
          <a:xfrm>
            <a:off x="4254500" y="1270000"/>
            <a:ext cx="3429000" cy="3937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06C3CB-3477-5606-72A0-585835DAE09F}"/>
              </a:ext>
            </a:extLst>
          </p:cNvPr>
          <p:cNvSpPr txBox="1"/>
          <p:nvPr/>
        </p:nvSpPr>
        <p:spPr>
          <a:xfrm>
            <a:off x="4445000" y="1460500"/>
            <a:ext cx="30480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F59E0B"/>
                </a:solidFill>
                <a:latin typeface="Segoe UI" panose="020B0502040204020203" pitchFamily="34" charset="0"/>
              </a:rPr>
              <a:t>Motion &amp; Path Planning</a:t>
            </a:r>
          </a:p>
          <a:p>
            <a:r>
              <a:rPr lang="fr-FR" sz="1100" b="1">
                <a:solidFill>
                  <a:srgbClr val="F8FAFC"/>
                </a:solidFill>
                <a:latin typeface="Segoe UI" panose="020B0502040204020203" pitchFamily="34" charset="0"/>
              </a:rPr>
              <a:t>
• Nav2 Stack
</a:t>
            </a:r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  Global costmaps, BT navigators, and dynamic obstacle avoidance.
</a:t>
            </a:r>
            <a:r>
              <a:rPr lang="en-US" sz="1100" b="1">
                <a:solidFill>
                  <a:srgbClr val="F8FAFC"/>
                </a:solidFill>
                <a:latin typeface="Segoe UI" panose="020B0502040204020203" pitchFamily="34" charset="0"/>
              </a:rPr>
              <a:t>
• MoveIt 2
</a:t>
            </a:r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  Collision-free motion planning with OMPL, TrajOpt, and CHOMP.
</a:t>
            </a:r>
            <a:r>
              <a:rPr lang="en-US" sz="1100" b="1">
                <a:solidFill>
                  <a:srgbClr val="F8FAFC"/>
                </a:solidFill>
                <a:latin typeface="Segoe UI" panose="020B0502040204020203" pitchFamily="34" charset="0"/>
              </a:rPr>
              <a:t>
• Kinematics Solvers
</a:t>
            </a:r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  KDL, TRAC-IK, and BioIK with real-time collision checking.
</a:t>
            </a:r>
            <a:endParaRPr lang="fr-FR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A1EF534-7BE1-69D8-C619-8A7BC5A26B94}"/>
              </a:ext>
            </a:extLst>
          </p:cNvPr>
          <p:cNvSpPr/>
          <p:nvPr/>
        </p:nvSpPr>
        <p:spPr>
          <a:xfrm>
            <a:off x="8001000" y="1270000"/>
            <a:ext cx="3429000" cy="3937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86A80E-2B52-3DD5-7691-6BC3B1B179CA}"/>
              </a:ext>
            </a:extLst>
          </p:cNvPr>
          <p:cNvSpPr txBox="1"/>
          <p:nvPr/>
        </p:nvSpPr>
        <p:spPr>
          <a:xfrm>
            <a:off x="8191500" y="1460500"/>
            <a:ext cx="30480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0B981"/>
                </a:solidFill>
                <a:latin typeface="Segoe UI" panose="020B0502040204020203" pitchFamily="34" charset="0"/>
              </a:rPr>
              <a:t>Control &amp; Hardware Abstraction</a:t>
            </a:r>
          </a:p>
          <a:p>
            <a:r>
              <a:rPr lang="fr-FR" sz="1100" b="1">
                <a:solidFill>
                  <a:srgbClr val="F8FAFC"/>
                </a:solidFill>
                <a:latin typeface="Segoe UI" panose="020B0502040204020203" pitchFamily="34" charset="0"/>
              </a:rPr>
              <a:t>
• ros2_control
</a:t>
            </a:r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  Unified hardware interfaces (Command / State) via shared memory.
</a:t>
            </a:r>
            <a:r>
              <a:rPr lang="en-US" sz="1100" b="1">
                <a:solidFill>
                  <a:srgbClr val="F8FAFC"/>
                </a:solidFill>
                <a:latin typeface="Segoe UI" panose="020B0502040204020203" pitchFamily="34" charset="0"/>
              </a:rPr>
              <a:t>
• Real-Time Kernel
</a:t>
            </a:r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  PREEMPT_RT patched Linux ensures jitter &lt; 50 microseconds.
</a:t>
            </a:r>
            <a:r>
              <a:rPr lang="en-US" sz="1100" b="1">
                <a:solidFill>
                  <a:srgbClr val="F8FAFC"/>
                </a:solidFill>
                <a:latin typeface="Segoe UI" panose="020B0502040204020203" pitchFamily="34" charset="0"/>
              </a:rPr>
              <a:t>
• Hardware Buses
</a:t>
            </a:r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  CAN FD, EtherCAT, and RS-485 running deterministic packets.
</a:t>
            </a:r>
            <a:endParaRPr lang="fr-FR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050DE59-3E81-EBC5-910B-D8AE9073174F}"/>
              </a:ext>
            </a:extLst>
          </p:cNvPr>
          <p:cNvSpPr/>
          <p:nvPr/>
        </p:nvSpPr>
        <p:spPr>
          <a:xfrm>
            <a:off x="508000" y="5397500"/>
            <a:ext cx="11176000" cy="952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E74A18-8844-5751-4020-3A44C6F3602E}"/>
              </a:ext>
            </a:extLst>
          </p:cNvPr>
          <p:cNvSpPr txBox="1"/>
          <p:nvPr/>
        </p:nvSpPr>
        <p:spPr>
          <a:xfrm>
            <a:off x="1778000" y="5524500"/>
            <a:ext cx="965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F8FAFC"/>
                </a:solidFill>
                <a:latin typeface="Segoe UI" panose="020B0502040204020203" pitchFamily="34" charset="0"/>
              </a:rPr>
              <a:t>Standardized Industrial Interoperability: ROS 2 enables seamless bridging between low-level microcontrollers (STM32, ESP32, Arduino) and high-level compute (NVIDIA Jetson, Intel x86) with zero glue code.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CA921B1-9402-68C8-F1A7-19B05B7DD5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5524500"/>
            <a:ext cx="825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3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5878DE-2674-18FA-0BD3-8DA715B61F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F405CD-761B-D049-ED1E-643FCF335B60}"/>
              </a:ext>
            </a:extLst>
          </p:cNvPr>
          <p:cNvSpPr/>
          <p:nvPr/>
        </p:nvSpPr>
        <p:spPr>
          <a:xfrm>
            <a:off x="508000" y="304800"/>
            <a:ext cx="3048000" cy="228600"/>
          </a:xfrm>
          <a:prstGeom prst="rect">
            <a:avLst/>
          </a:prstGeom>
          <a:solidFill>
            <a:srgbClr val="1E2945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>
                <a:solidFill>
                  <a:srgbClr val="38BDF8"/>
                </a:solidFill>
                <a:latin typeface="Segoe UI" panose="020B0502040204020203" pitchFamily="34" charset="0"/>
              </a:rPr>
              <a:t>  ROBOTICS ENGINEERING FOUNDATIONS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9F85043-D3E2-7BC5-EFE5-F407547DDFD7}"/>
              </a:ext>
            </a:extLst>
          </p:cNvPr>
          <p:cNvSpPr txBox="1"/>
          <p:nvPr/>
        </p:nvSpPr>
        <p:spPr>
          <a:xfrm>
            <a:off x="508000" y="558800"/>
            <a:ext cx="952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F8FAFC"/>
                </a:solidFill>
                <a:latin typeface="Segoe UI" panose="020B0502040204020203" pitchFamily="34" charset="0"/>
              </a:rPr>
              <a:t>The Next Frontier: Embodied AI &amp; Bipedal Humanoid Systems</a:t>
            </a:r>
            <a:endParaRPr lang="fr-FR" sz="22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69FFCE9-FE3A-5052-387D-910C51775C8D}"/>
              </a:ext>
            </a:extLst>
          </p:cNvPr>
          <p:cNvSpPr/>
          <p:nvPr/>
        </p:nvSpPr>
        <p:spPr>
          <a:xfrm>
            <a:off x="508000" y="1206500"/>
            <a:ext cx="5461000" cy="5143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AC0EE69-E48A-A6BF-F486-D61BBCB33358}"/>
              </a:ext>
            </a:extLst>
          </p:cNvPr>
          <p:cNvSpPr txBox="1"/>
          <p:nvPr/>
        </p:nvSpPr>
        <p:spPr>
          <a:xfrm>
            <a:off x="698500" y="1397000"/>
            <a:ext cx="50800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Segoe UI" panose="020B0502040204020203" pitchFamily="34" charset="0"/>
              </a:rPr>
              <a:t>From Scripted Control to Embodied Intelligence</a:t>
            </a:r>
          </a:p>
          <a:p>
            <a:endParaRPr lang="fr-FR" sz="1200" b="1">
              <a:solidFill>
                <a:srgbClr val="38BDF8"/>
              </a:solidFill>
              <a:latin typeface="Segoe UI" panose="020B0502040204020203" pitchFamily="34" charset="0"/>
            </a:endParaRPr>
          </a:p>
          <a:p>
            <a:r>
              <a:rPr lang="fr-FR" sz="1200" b="1">
                <a:solidFill>
                  <a:srgbClr val="38BDF8"/>
                </a:solidFill>
                <a:latin typeface="Segoe UI" panose="020B0502040204020203" pitchFamily="34" charset="0"/>
              </a:rPr>
              <a:t>1. Vision-Language-Action (VLA) Models
</a:t>
            </a:r>
            <a:r>
              <a:rPr lang="fr-FR" sz="1000">
                <a:solidFill>
                  <a:srgbClr val="F8FAFC"/>
                </a:solidFill>
                <a:latin typeface="Segoe UI" panose="020B0502040204020203" pitchFamily="34" charset="0"/>
              </a:rPr>
              <a:t>Models like RT-2 and OpenVLA map multimodal internet-scale vision and natural language prompts directly into 6-DoF joint token trajectories.
</a:t>
            </a:r>
            <a:endParaRPr lang="fr-FR" sz="1200" b="1">
              <a:solidFill>
                <a:srgbClr val="10B981"/>
              </a:solidFill>
              <a:latin typeface="Segoe UI" panose="020B0502040204020203" pitchFamily="34" charset="0"/>
            </a:endParaRPr>
          </a:p>
          <a:p>
            <a:r>
              <a:rPr lang="fr-FR" sz="1200" b="1">
                <a:solidFill>
                  <a:srgbClr val="10B981"/>
                </a:solidFill>
                <a:latin typeface="Segoe UI" panose="020B0502040204020203" pitchFamily="34" charset="0"/>
              </a:rPr>
              <a:t>2. Dynamic Bipedal Locomotion
</a:t>
            </a:r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Zero Moment Point (ZMP) has been superseded by Model Predictive Control (MPC) and Deep Reinforcement Learning trained inside GPU physics simulators (Isaac Gym).
</a:t>
            </a:r>
            <a:endParaRPr lang="en-US" sz="1200" b="1">
              <a:solidFill>
                <a:srgbClr val="F59E0B"/>
              </a:solidFill>
              <a:latin typeface="Segoe UI" panose="020B0502040204020203" pitchFamily="34" charset="0"/>
            </a:endParaRPr>
          </a:p>
          <a:p>
            <a:r>
              <a:rPr lang="en-US" sz="1200" b="1">
                <a:solidFill>
                  <a:srgbClr val="F59E0B"/>
                </a:solidFill>
                <a:latin typeface="Segoe UI" panose="020B0502040204020203" pitchFamily="34" charset="0"/>
              </a:rPr>
              <a:t>3. Sim-to-Real Domain Randomization
</a:t>
            </a:r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Varying friction coefficients, motor latencies, and sensor noise across millions of parallel simulation instances yields robust zero-shot physical deployment.</a:t>
            </a:r>
            <a:endParaRPr lang="fr-FR" sz="10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6D9BB0D-0539-7514-414F-9481C744F0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206500"/>
            <a:ext cx="5461000" cy="5143500"/>
          </a:xfrm>
          <a:prstGeom prst="rect">
            <a:avLst/>
          </a:prstGeom>
          <a:ln w="15240">
            <a:solidFill>
              <a:srgbClr val="38BDF8"/>
            </a:solidFill>
          </a:ln>
        </p:spPr>
      </p:pic>
    </p:spTree>
    <p:extLst>
      <p:ext uri="{BB962C8B-B14F-4D97-AF65-F5344CB8AC3E}">
        <p14:creationId xmlns:p14="http://schemas.microsoft.com/office/powerpoint/2010/main" val="413867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926AA7-B35A-E168-DEC5-3FA20BC3FB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EE31D4-D0CC-B6C7-B858-6BF4171BB01E}"/>
              </a:ext>
            </a:extLst>
          </p:cNvPr>
          <p:cNvSpPr/>
          <p:nvPr/>
        </p:nvSpPr>
        <p:spPr>
          <a:xfrm>
            <a:off x="508000" y="304800"/>
            <a:ext cx="3048000" cy="228600"/>
          </a:xfrm>
          <a:prstGeom prst="rect">
            <a:avLst/>
          </a:prstGeom>
          <a:solidFill>
            <a:srgbClr val="1E2945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b="1">
                <a:solidFill>
                  <a:srgbClr val="38BDF8"/>
                </a:solidFill>
                <a:latin typeface="Segoe UI" panose="020B0502040204020203" pitchFamily="34" charset="0"/>
              </a:rPr>
              <a:t>  ROBOTICS ENGINEERING FOUNDATIONS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7B4601D-BDE8-B30D-5722-EE4C4C0F115A}"/>
              </a:ext>
            </a:extLst>
          </p:cNvPr>
          <p:cNvSpPr txBox="1"/>
          <p:nvPr/>
        </p:nvSpPr>
        <p:spPr>
          <a:xfrm>
            <a:off x="508000" y="558800"/>
            <a:ext cx="952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F8FAFC"/>
                </a:solidFill>
                <a:latin typeface="Segoe UI" panose="020B0502040204020203" pitchFamily="34" charset="0"/>
              </a:rPr>
              <a:t>Engineering Summary: Core Design Rules of Robotics</a:t>
            </a:r>
            <a:endParaRPr lang="fr-FR" sz="22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2C0C1C8-6727-2B2F-39BF-30B198C527CF}"/>
              </a:ext>
            </a:extLst>
          </p:cNvPr>
          <p:cNvSpPr/>
          <p:nvPr/>
        </p:nvSpPr>
        <p:spPr>
          <a:xfrm>
            <a:off x="508000" y="1270000"/>
            <a:ext cx="5461000" cy="2286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822EA88-C97E-CBFB-8CE6-6A51B2CE4C68}"/>
              </a:ext>
            </a:extLst>
          </p:cNvPr>
          <p:cNvSpPr txBox="1"/>
          <p:nvPr/>
        </p:nvSpPr>
        <p:spPr>
          <a:xfrm>
            <a:off x="762000" y="1460500"/>
            <a:ext cx="4953000" cy="8463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>
                <a:solidFill>
                  <a:srgbClr val="38BDF8"/>
                </a:solidFill>
                <a:latin typeface="Segoe UI" panose="020B0502040204020203" pitchFamily="34" charset="0"/>
              </a:rPr>
              <a:t>1. Perception</a:t>
            </a:r>
          </a:p>
          <a:p>
            <a:r>
              <a:rPr lang="en-US" sz="1100">
                <a:solidFill>
                  <a:srgbClr val="F8FAFC"/>
                </a:solidFill>
                <a:latin typeface="Segoe UI" panose="020B0502040204020203" pitchFamily="34" charset="0"/>
              </a:rPr>
              <a:t>
Never rely on a single sensor modality. Fuse optical cameras with LiDAR and wheel odometry using Kalman filters to overcome sensor blindness and drift.</a:t>
            </a:r>
            <a:endParaRPr lang="fr-FR" sz="11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F0B862F-33B4-D19C-5630-0D11FEE1367E}"/>
              </a:ext>
            </a:extLst>
          </p:cNvPr>
          <p:cNvSpPr/>
          <p:nvPr/>
        </p:nvSpPr>
        <p:spPr>
          <a:xfrm>
            <a:off x="6223000" y="1270000"/>
            <a:ext cx="5461000" cy="2286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731B931-2DC6-40FE-8D33-8528BB00D423}"/>
              </a:ext>
            </a:extLst>
          </p:cNvPr>
          <p:cNvSpPr txBox="1"/>
          <p:nvPr/>
        </p:nvSpPr>
        <p:spPr>
          <a:xfrm>
            <a:off x="6477000" y="1460500"/>
            <a:ext cx="4953000" cy="8463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>
                <a:solidFill>
                  <a:srgbClr val="F59E0B"/>
                </a:solidFill>
                <a:latin typeface="Segoe UI" panose="020B0502040204020203" pitchFamily="34" charset="0"/>
              </a:rPr>
              <a:t>2. Kinematics</a:t>
            </a:r>
          </a:p>
          <a:p>
            <a:r>
              <a:rPr lang="en-US" sz="1100">
                <a:solidFill>
                  <a:srgbClr val="F8FAFC"/>
                </a:solidFill>
                <a:latin typeface="Segoe UI" panose="020B0502040204020203" pitchFamily="34" charset="0"/>
              </a:rPr>
              <a:t>
Use closed-form analytical IK for high-speed 6-axis arms; utilize numerical Damped Least Squares (DLS) Jacobians when avoiding singularities.</a:t>
            </a:r>
            <a:endParaRPr lang="fr-FR" sz="11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546A422-7F5E-1D7C-79AC-0074F5499335}"/>
              </a:ext>
            </a:extLst>
          </p:cNvPr>
          <p:cNvSpPr/>
          <p:nvPr/>
        </p:nvSpPr>
        <p:spPr>
          <a:xfrm>
            <a:off x="508000" y="3810000"/>
            <a:ext cx="5461000" cy="2286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213490C-993A-0BEA-E606-D1829623B75A}"/>
              </a:ext>
            </a:extLst>
          </p:cNvPr>
          <p:cNvSpPr txBox="1"/>
          <p:nvPr/>
        </p:nvSpPr>
        <p:spPr>
          <a:xfrm>
            <a:off x="762000" y="4000500"/>
            <a:ext cx="4953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>
                <a:solidFill>
                  <a:srgbClr val="10B981"/>
                </a:solidFill>
                <a:latin typeface="Segoe UI" panose="020B0502040204020203" pitchFamily="34" charset="0"/>
              </a:rPr>
              <a:t>3. Actuation</a:t>
            </a:r>
          </a:p>
          <a:p>
            <a:r>
              <a:rPr lang="fr-FR" sz="1100">
                <a:solidFill>
                  <a:srgbClr val="F8FAFC"/>
                </a:solidFill>
                <a:latin typeface="Segoe UI" panose="020B0502040204020203" pitchFamily="34" charset="0"/>
              </a:rPr>
              <a:t>
Match motor inertia to load inertia. Strain wave gears eliminate backlash; integrated dual absolute encoders ensure repeatable sub-millimeter precision.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1F2F563-D906-FA20-AF36-3D8FC2446728}"/>
              </a:ext>
            </a:extLst>
          </p:cNvPr>
          <p:cNvSpPr/>
          <p:nvPr/>
        </p:nvSpPr>
        <p:spPr>
          <a:xfrm>
            <a:off x="6223000" y="3810000"/>
            <a:ext cx="5461000" cy="2286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1A5982-A7ED-A40F-E231-B31520BC0752}"/>
              </a:ext>
            </a:extLst>
          </p:cNvPr>
          <p:cNvSpPr txBox="1"/>
          <p:nvPr/>
        </p:nvSpPr>
        <p:spPr>
          <a:xfrm>
            <a:off x="6477000" y="4000500"/>
            <a:ext cx="4953000" cy="8463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>
                <a:solidFill>
                  <a:srgbClr val="2563EB"/>
                </a:solidFill>
                <a:latin typeface="Segoe UI" panose="020B0502040204020203" pitchFamily="34" charset="0"/>
              </a:rPr>
              <a:t>4. Autonomy</a:t>
            </a:r>
          </a:p>
          <a:p>
            <a:r>
              <a:rPr lang="en-US" sz="1100">
                <a:solidFill>
                  <a:srgbClr val="F8FAFC"/>
                </a:solidFill>
                <a:latin typeface="Segoe UI" panose="020B0502040204020203" pitchFamily="34" charset="0"/>
              </a:rPr>
              <a:t>
Standardize on ROS 2 with deterministic QoS. Decouple real-time motion controllers (micro-ROS) from asynchronous high-level vision and AI planners.</a:t>
            </a:r>
            <a:endParaRPr lang="fr-FR" sz="1100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4754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Microsoft Office PowerPoint</Application>
  <PresentationFormat>Personnalisé</PresentationFormat>
  <Paragraphs>63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MOUHAMED  BOUGHRARA</dc:creator>
  <cp:lastModifiedBy>MOUHAMED  BOUGHRARA</cp:lastModifiedBy>
  <cp:revision>1</cp:revision>
  <dcterms:created xsi:type="dcterms:W3CDTF">2026-09-07T15:40:50Z</dcterms:created>
  <dcterms:modified xsi:type="dcterms:W3CDTF">2026-09-07T15:40:50Z</dcterms:modified>
</cp:coreProperties>
</file>