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7"/>
  </p:notesMasterIdLst>
  <p:sldIdLst>
    <p:sldId id="271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92" r:id="rId23"/>
    <p:sldId id="293" r:id="rId24"/>
    <p:sldId id="294" r:id="rId25"/>
    <p:sldId id="295" r:id="rId26"/>
    <p:sldId id="296" r:id="rId27"/>
    <p:sldId id="297" r:id="rId28"/>
    <p:sldId id="298" r:id="rId29"/>
    <p:sldId id="299" r:id="rId30"/>
    <p:sldId id="300" r:id="rId31"/>
    <p:sldId id="301" r:id="rId32"/>
    <p:sldId id="302" r:id="rId33"/>
    <p:sldId id="303" r:id="rId34"/>
    <p:sldId id="304" r:id="rId35"/>
    <p:sldId id="305" r:id="rId36"/>
    <p:sldId id="306" r:id="rId37"/>
    <p:sldId id="307" r:id="rId38"/>
    <p:sldId id="308" r:id="rId39"/>
    <p:sldId id="309" r:id="rId40"/>
    <p:sldId id="310" r:id="rId41"/>
    <p:sldId id="311" r:id="rId42"/>
    <p:sldId id="312" r:id="rId43"/>
    <p:sldId id="313" r:id="rId44"/>
    <p:sldId id="314" r:id="rId45"/>
    <p:sldId id="315" r:id="rId46"/>
  </p:sldIdLst>
  <p:sldSz cx="18288000" cy="10287000"/>
  <p:notesSz cx="6858000" cy="9144000"/>
  <p:embeddedFontLst>
    <p:embeddedFont>
      <p:font typeface="Segoe UI" panose="020B0502040204020203" pitchFamily="34" charset="0"/>
      <p:regular r:id="rId48"/>
      <p:bold r:id="rId49"/>
      <p:italic r:id="rId50"/>
      <p:boldItalic r:id="rId51"/>
    </p:embeddedFont>
    <p:embeddedFont>
      <p:font typeface="Segoe UI Black" panose="020B0A02040204020203" pitchFamily="34" charset="0"/>
      <p:bold r:id="rId52"/>
      <p:boldItalic r:id="rId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3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2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1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4.fntdata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ED93E5-3040-42D4-A21D-657208C3A952}" type="datetimeFigureOut">
              <a:rPr lang="fr-FR" smtClean="0"/>
              <a:t>07/09/2026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0DD40B-39EC-4CD8-96EB-5D003F5A97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1215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Welcome &amp; Energy:
   - "Good evening and welcome to Session 01 of Robotics Fundamentals!"
   - "Whether you are an engineering student, an enthusiast, or a maker, this workshop is designed for YOU."
2. The Session Goal:
   - "This is not a boring calculus lecture. We are here to understand how a robot actually becomes a working physical system—from the motors and bones to the batteries and code."
3. Logistics:
   - "Keep your chat window open! We will have live polls, design sprints, and Q&amp;A throughout."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D40B-39EC-4CD8-96EB-5D003F5A970B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18102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Audience Poll:
   - "Vote in chat: A, B, C, or D! Which part is the most critical for a great robot?"
2. The Big Reveal:
   - "Most people vote Software. But think about it: If your muscles are strong and your brain is a supercomputer, but your bones are made of wet spaghetti... can you sign your name with a pen?"
   - "Robotics is the harmony of all four."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D40B-39EC-4CD8-96EB-5D003F5A970B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60533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Human Body Metaphor:
   - "Keep this metaphor in your head all evening: Skeleton, Nerves, Reflexes, and Mind."
   - "Real robotics engineering happens at the intersections."
Reference: Jeff McGough (Release 1.4, 2019), "Robotics: Concepts, Simulation and System Integration", Ch. 1-2 (Terms and Basic Concepts of Embodied Systems). URL: https://visjasola-ucilnica.sclj.si/pluginfile.php/32773/mod_resource/content/1/Robotics.pdf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D40B-39EC-4CD8-96EB-5D003F5A970B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4734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Walkthrough the Loop:
   - "Sense, Decide, Act. If any one of these three steps breaks, the robot is blind, paralyzed, or out of control."
2. Speed Matters:
   - "A quadcopter drone must run this loop at 500 Hz (500 times a second) or gravity wins."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D40B-39EC-4CD8-96EB-5D003F5A970B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87637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The First Principles:
   - "Notice what is NOT on this slide: 'What programming language should I learn?'"
   - "First define reach, payload, and physical constraints."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D40B-39EC-4CD8-96EB-5D003F5A970B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99680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Interaction:
   - "Close your eyes and try to walk 10 steps in a straight line. You will inevitably drift. That is open-loop control."
2. Encoders:
   - "Closing the loop with encoders is what separates an electric toy from a real robot."
Reference: Jeff McGough (2019), "Robotics: Concepts, Simulation and System Integration", Ch. 10 (Motion Control &amp; Closed-Loop Sensory Feedback). Diagram: Fig. 10.3.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D40B-39EC-4CD8-96EB-5D003F5A970B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6377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Section Intro:
   - "Part 01: Mechanical Fundamentals. How does geometry become movement?"
2. Takeaway:
   - "Understand links, joints, and why 6 axes are the magic number."
Reference: Prof. Jorge Angeles (4th Edition, Springer, 2014), "Fundamentals of Robotic Mechanical Systems", Ch. 3-4 (Kinematics of Serial Manipulators). URL: https://asutp.org/Skills/ROBOT/FundamentalsOfRoboticMechanica.pdf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D40B-39EC-4CD8-96EB-5D003F5A970B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58550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PRESENTER NOTES:
1. Keep it Concrete:
   - "Look at your own arm: Shoulder = Joint 1, Upper arm = Link 1, Elbow = Joint 2, Forearm = Link 2, Wrist = Joint 3, Fingers = End-Effector."
Reference: Prof. Jorge Angeles (2nd Edition, Springer-Verlag, 2002), "Fundamentals of Robotic Mechanical Systems", Ch. 3 (Serial Manipulator Anatomy &amp; Revolute/Prismatic Joints). Ref: D:\down\252.pdf &amp; SITAMS Unit 1.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D40B-39EC-4CD8-96EB-5D003F5A970B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41874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Simplify Joints:
   - "Almost every joint in the universe is either a Hinge (Revolute) or a Slider (Prismatic)."
   - "Combine them, and you get Cartesian, SCARA, or articulated robot arms."
Reference: Prof. K. Santhosh Priya (2025), "Automation and Robotics (18MEC325 Course Lecture Notes)", Unit 1 (Robot Anatomy &amp; Common Morphologies: Cartesian, SCARA, Articulated). URL: https://sitams.ac.in/wp-content/uploads/2025/02/11.18MEC325-Automation-and-Robotics-Lecture-notes.pdf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D40B-39EC-4CD8-96EB-5D003F5A970B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64168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The 6-DOF Goal:
   - "In 3D space, any rigid object has exactly 6 degrees of freedom: 3 to position it, and 3 to orient it."
Reference: Prof. Jorge Angeles (4th Edition, Springer, 2014), Ch. 4 (Orientation Kinematics and Spherical Wrist Decoupling).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D40B-39EC-4CD8-96EB-5D003F5A970B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7814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The Golden Rule:
   - "Use the MINIMUM number of joints to accomplish the mission. If your 3D printer only needs 3 axes, do not build a 6-axis arm!"
Reference: Prof. Jorge Angeles (4th Edition, Springer, 2014), Ch. 4 (Inverse Kinematics of 6-DOF Manipulators).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D40B-39EC-4CD8-96EB-5D003F5A970B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34697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Industrial Arm Anatomy:
   - "Axes 1 to 3 are the crane: they put the wrist in position."
   - "Axes 4 to 6 are the hand: they orient the welding torch or spray gun."
Reference: Prof. Jorge Angeles (4th Edition, Springer, 2014), Ch. 5 (Workspace Boundaries and Spatial Dexterity of 6-Axis Arms).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D40B-39EC-4CD8-96EB-5D003F5A970B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98109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Interactive Exercise:
   - "Look at any robot in your lab or online. Break it down using these 5 lenses."
   - "Where do the wires bend? That's where it will fail in 6 months."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D40B-39EC-4CD8-96EB-5D003F5A970B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08710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Section Intro:
   - "Part 02: Actuation and Power Transmission. The muscles of the robot!"
Reference: Prof. K. Santhosh Priya (2025), "Automation and Robotics (18MEC325)", Unit 2 (Drives &amp; Actuators in Robotics).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D40B-39EC-4CD8-96EB-5D003F5A970B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43459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PRESENTER NOTES:
1. Quick Guide:
   - "Wheels? Geared DC. 3D printer? Stepper. High-performance arm? Brushless (BLDC)."
Reference: Prof. Jorge Angeles (2nd Edition, 2002), Ch. 8 (Mechanical Advantage, Angular Velocity Transmission, and Gear Trains). Ref: D:\down\252.pdf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D40B-39EC-4CD8-96EB-5D003F5A970B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8336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Real-World Analogy:
   - "Have everyone in the audience imagine holding that shopping bag. That burning feeling in your shoulder is what your joint motor feels every second."
Reference: Prof. Jorge Angeles (2nd Edition, 2002), Ch. 8 (Statics &amp; Cantilever Torque Transmission). Ref: D:\down\252.pdf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D40B-39EC-4CD8-96EB-5D003F5A970B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17448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Don't Just Look at Torque:
   - "A winch motor has tons of torque, but takes 10 minutes to turn once. You need the right balance of torque and speed."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D40B-39EC-4CD8-96EB-5D003F5A970B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1035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PRESENTER NOTES:
1. Archer Metaphor:
   - "High resolution without repeatability is useless. Always check repeatability on robot datasheets."
Reference: Prof. K. Santhosh Priya (2025), Unit 1 (Robot Specifications: Resolution, Accuracy and Repeatability). Diagram: Fig. 1.12.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D40B-39EC-4CD8-96EB-5D003F5A970B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89171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Steering Wheel Analogy:
   - "Have you ever driven an old car where you turn the wheel 2 inches before the tires react? That is backlash."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D40B-39EC-4CD8-96EB-5D003F5A970B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19996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Trick Question Reveal:
   - "Trick question! None of them until you know your task requirements!"
   - "Never fall in love with motor specs before defining your payload."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D40B-39EC-4CD8-96EB-5D003F5A970B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14982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Section Intro:
   - "Part 03: Mechanical Design. The skeleton that bears the load."
Reference: Prof. Jorge Angeles (4th Edition, Springer, 2014), Ch. 9 (Structural Stiffness and Dynamics of Flexible Manipulator Links).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D40B-39EC-4CD8-96EB-5D003F5A970B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62921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Human Bone Metaphor:
   - "Muscles generate pull, but bones and cartilage take the load. Separate torque generation from structural load bearing."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D40B-39EC-4CD8-96EB-5D003F5A970B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92660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Explain L³ Simply:
   - "Double the reach = 8x the bend. That is why industrial robot arms look stocky and thick."
Reference: Prof. Jorge Angeles (2014), Ch. 9 (Cantilever Beam Deflection, Moment of Inertia Scaling &amp; Structural Rigidity).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D40B-39EC-4CD8-96EB-5D003F5A970B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27572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Maker Strategy:
   - "3D print brackets on Friday night, but use aluminum tubes for long structural arms!"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D40B-39EC-4CD8-96EB-5D003F5A970B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46575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The Iron Law:
   - "You cannot build a NASA precision robot for 100 dollars. Great engineering is choosing the right compromise."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D40B-39EC-4CD8-96EB-5D003F5A970B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01336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PRESENTER NOTES:
1. The Tuning Fork:
   - "When Arm B stops, it vibrates like a guitar string for 1.5 seconds. Always design arms compact."
Reference: Prof. Jorge Angeles (2002), Ch. 8 (Backlash Elimination, Lost Motion, and Pre-loaded Gear Systems). Ref: D:\down\252.pdf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D40B-39EC-4CD8-96EB-5D003F5A970B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37799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3-Minute Sprint:
   - "Drop your choices in chat: Aluminum or plastic? Stepper or servo?"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D40B-39EC-4CD8-96EB-5D003F5A970B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3745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Section Intro:
   - "Part 04: Power and Electrical Systems. A robot without power is an expensive paperweight."
Reference: Prof. Jeff McGough (2019), "Robotics: Concepts, Simulation and System Integration", Ch. 7 (Electrical Concepts and High-Current Actuation).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D40B-39EC-4CD8-96EB-5D003F5A970B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427666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Remember This:
   - "Voltage gives you SPEED. Current gives you TORQUE. Multiply them for Watts."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D40B-39EC-4CD8-96EB-5D003F5A970B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628078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Real Competition Story:
   - "Robots reboot on the starting line because the 0.5-second acceleration spike trips the battery protection."
Reference: Prof. Jeff McGough (2019), Ch. 7 (MOSFET H-Bridge Motor Drivers &amp; Shoot-Through Protection). Diagram: Fig. 7.23.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D40B-39EC-4CD8-96EB-5D003F5A970B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467625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Field Truth:
   - "Sales sheet: 2 hours. Lab test: 42 minutes before safety shutoff. Plan accordingly."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D40B-39EC-4CD8-96EB-5D003F5A970B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159626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Debugging Detective:
   - "'It worked on my desk!' On the desk, wheels spun freely. On carpet, friction triggered the brownout."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D40B-39EC-4CD8-96EB-5D003F5A970B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204452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Section Intro:
   - "Part 05: Software, Tools &amp; Simulation. Where does code actually live in a robot?"
Reference: Prof. Jeff McGough (2019), Ch. 3 (Software and Simulation - ROS 2 &amp; Gazebo Architecture). Diagram: Fig. 23.3.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D40B-39EC-4CD8-96EB-5D003F5A970B}" type="slidenum">
              <a:rPr lang="fr-FR" smtClean="0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033215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Layer Rule:
   - "Never pulse motor pins from desktop Python, and never run heavy AI on an Arduino. Respect the layers."
Reference: Prof. Jeff McGough (2019), Ch. 3 (Software Architecture, ROS Nodes, Topics, and Real-Time Control).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D40B-39EC-4CD8-96EB-5D003F5A970B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59633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Democratizing Robotics:
   - "You do not need $10,000 corporate licenses. Everything you need to build world-class robots is free."
Reference: Prof. Jeff McGough (2019), Ch. 3 &amp; Ch. 12 (System Integration &amp; Open Source Toolchain: CAD, EDA, and Gazebo).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D40B-39EC-4CD8-96EB-5D003F5A970B}" type="slidenum">
              <a:rPr lang="fr-FR" smtClean="0"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612682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PRESENTER NOTES:
1. Quote:
   - "'Installing ROS doesn't make your robot autonomous—just like installing Photoshop doesn't make you Leonardo da Vinci!'"
Reference: Prof. Jeff McGough (2019), Ch. 3 (Physics Simulation, Sensor Emulation &amp; Sim-to-Real Validation). Diagram: Fig. 5.21.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D40B-39EC-4CD8-96EB-5D003F5A970B}" type="slidenum">
              <a:rPr lang="fr-FR" smtClean="0"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965462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Section Intro:
   - "Part 06: Prototyping and Reality. This is where engineers are forged."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D40B-39EC-4CD8-96EB-5D003F5A970B}" type="slidenum">
              <a:rPr lang="fr-FR" smtClean="0"/>
              <a:t>37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31737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Mindset:
   - "If your first prototype doesn't break, you didn't test it hard enough. Breaking on your workbench is how you find your real safety boundaries."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D40B-39EC-4CD8-96EB-5D003F5A970B}" type="slidenum">
              <a:rPr lang="fr-FR" smtClean="0"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57021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Relatable Humor:
   - "Every engineer laughs at this slide because every engineer has lived it. Leave room for cables from day one."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D40B-39EC-4CD8-96EB-5D003F5A970B}" type="slidenum">
              <a:rPr lang="fr-FR" smtClean="0"/>
              <a:t>39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705066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Don't Hide Failures:
   - "In your portfolio, document your failures and how you solved them. That is what top engineering companies hire for."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D40B-39EC-4CD8-96EB-5D003F5A970B}" type="slidenum">
              <a:rPr lang="fr-FR" smtClean="0"/>
              <a:t>40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63640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Team Sprint:
   - "You are the chief engineers. Drop your drive topology and battery choice in chat!"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D40B-39EC-4CD8-96EB-5D003F5A970B}" type="slidenum">
              <a:rPr lang="fr-FR" smtClean="0"/>
              <a:t>41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055981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The Lesson of the Ramp:
   - "One small change in terrain ripples through motor torque, battery runtime, tire material, and center of gravity."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D40B-39EC-4CD8-96EB-5D003F5A970B}" type="slidenum">
              <a:rPr lang="fr-FR" smtClean="0"/>
              <a:t>42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835190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PRESENTER NOTES:
1. The Cheatsheet:
   - "Take a screenshot of this slide and put it above your workbench."
=== COMPREHENSIVE COURSE BIBLIOGRAPHY &amp; REFERENCES ===
1. Angeles, Jorge. Fundamentals of Robotic Mechanical Systems: Theory, Methods, and Algorithms (4th Edition). Springer Mechanical Engineering Series, 2014, 610 pp. https://asutp.org/Skills/ROBOT/FundamentalsOfRoboticMechanica.pdf
2. Angeles, Jorge. Fundamentals of Robotic Mechanical Systems: Theory, Methods, and Algorithms (2nd Edition). Springer-Verlag New York, 2002. File: D:\down\252.pdf
3. Santhosh Priya, K. Automation and Robotics (18MEC325 Course Lecture Notes). Department of Mechanical Engineering, Sreenivasa Institute of Technology and Management Studies (SITAMS Autonomous), 2025, 197 pp. https://sitams.ac.in/wp-content/uploads/2025/02/11.18MEC325-Automation-and-Robotics-Lecture-notes.pdf
4. McGough, Jeff. Robotics: Concepts, Simulation and System Integration (Release 1.4). South Dakota School of Mines and Technology, 2019, 582 pp. https://visjasola-ucilnica.sclj.si/pluginfile.php/32773/mod_resource/content/1/Robotics.pdf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D40B-39EC-4CD8-96EB-5D003F5A970B}" type="slidenum">
              <a:rPr lang="fr-FR" smtClean="0"/>
              <a:t>43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413000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Inspiring Close:
   - "Define. Design. Calculate. Build. Test. Break. Improve. That is the true path of robotics."
2. Teaser:
   - "Next week in Session 02: We give our robot eyes and ears with LiDAR, depth cameras, and Kalman filtering."
3. Q&amp;A:
   - "I'll now open the floor for questions! Drop them in the chat or unmute."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D40B-39EC-4CD8-96EB-5D003F5A970B}" type="slidenum">
              <a:rPr lang="fr-FR" smtClean="0"/>
              <a:t>44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813081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D40B-39EC-4CD8-96EB-5D003F5A970B}" type="slidenum">
              <a:rPr lang="fr-FR" smtClean="0"/>
              <a:t>45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1892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svg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607719" y="9111523"/>
            <a:ext cx="19254369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-431979" y="-234821"/>
            <a:ext cx="6121579" cy="10756641"/>
            <a:chOff x="0" y="0"/>
            <a:chExt cx="1612268" cy="28330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12268" cy="2833025"/>
            </a:xfrm>
            <a:custGeom>
              <a:avLst/>
              <a:gdLst/>
              <a:ahLst/>
              <a:cxnLst/>
              <a:rect l="l" t="t" r="r" b="b"/>
              <a:pathLst>
                <a:path w="1612268" h="2833025">
                  <a:moveTo>
                    <a:pt x="0" y="0"/>
                  </a:moveTo>
                  <a:lnTo>
                    <a:pt x="1612268" y="0"/>
                  </a:lnTo>
                  <a:lnTo>
                    <a:pt x="1612268" y="2833025"/>
                  </a:lnTo>
                  <a:lnTo>
                    <a:pt x="0" y="2833025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38100"/>
              <a:ext cx="1612268" cy="2794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661113" y="6715965"/>
            <a:ext cx="2598187" cy="604690"/>
            <a:chOff x="0" y="0"/>
            <a:chExt cx="877006" cy="20411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77006" cy="204110"/>
            </a:xfrm>
            <a:custGeom>
              <a:avLst/>
              <a:gdLst/>
              <a:ahLst/>
              <a:cxnLst/>
              <a:rect l="l" t="t" r="r" b="b"/>
              <a:pathLst>
                <a:path w="877006" h="204110">
                  <a:moveTo>
                    <a:pt x="0" y="0"/>
                  </a:moveTo>
                  <a:lnTo>
                    <a:pt x="877006" y="0"/>
                  </a:lnTo>
                  <a:lnTo>
                    <a:pt x="877006" y="204110"/>
                  </a:lnTo>
                  <a:lnTo>
                    <a:pt x="0" y="204110"/>
                  </a:lnTo>
                  <a:close/>
                </a:path>
              </a:pathLst>
            </a:custGeom>
            <a:solidFill>
              <a:srgbClr val="ECEEE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38100"/>
              <a:ext cx="877006" cy="1660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6550792" y="6780380"/>
            <a:ext cx="630826" cy="475860"/>
            <a:chOff x="0" y="0"/>
            <a:chExt cx="189277" cy="14278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89277" cy="142780"/>
            </a:xfrm>
            <a:custGeom>
              <a:avLst/>
              <a:gdLst/>
              <a:ahLst/>
              <a:cxnLst/>
              <a:rect l="l" t="t" r="r" b="b"/>
              <a:pathLst>
                <a:path w="189277" h="142780">
                  <a:moveTo>
                    <a:pt x="0" y="0"/>
                  </a:moveTo>
                  <a:lnTo>
                    <a:pt x="189277" y="0"/>
                  </a:lnTo>
                  <a:lnTo>
                    <a:pt x="189277" y="142780"/>
                  </a:lnTo>
                  <a:lnTo>
                    <a:pt x="0" y="142780"/>
                  </a:lnTo>
                  <a:close/>
                </a:path>
              </a:pathLst>
            </a:custGeom>
            <a:gradFill rotWithShape="1">
              <a:gsLst>
                <a:gs pos="0">
                  <a:srgbClr val="0C1112">
                    <a:alpha val="100000"/>
                  </a:srgbClr>
                </a:gs>
                <a:gs pos="100000">
                  <a:srgbClr val="515455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0" y="38100"/>
              <a:ext cx="189277" cy="1046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674396" y="6927637"/>
            <a:ext cx="383619" cy="181347"/>
          </a:xfrm>
          <a:custGeom>
            <a:avLst/>
            <a:gdLst/>
            <a:ahLst/>
            <a:cxnLst/>
            <a:rect l="l" t="t" r="r" b="b"/>
            <a:pathLst>
              <a:path w="383619" h="181347">
                <a:moveTo>
                  <a:pt x="0" y="0"/>
                </a:moveTo>
                <a:lnTo>
                  <a:pt x="383619" y="0"/>
                </a:lnTo>
                <a:lnTo>
                  <a:pt x="383619" y="181347"/>
                </a:lnTo>
                <a:lnTo>
                  <a:pt x="0" y="1813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8578378" y="1270000"/>
            <a:ext cx="8680922" cy="2175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134"/>
              </a:lnSpc>
            </a:pPr>
            <a:r>
              <a:rPr lang="en-US" sz="4400" b="1" spc="-274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lack" panose="020B0A02040204020203" pitchFamily="34" charset="0"/>
                <a:ea typeface="Pattanakarn Bold"/>
                <a:cs typeface="Pattanakarn Bold"/>
                <a:sym typeface="Pattanakarn Bold"/>
              </a:rPr>
              <a:t>ROBOTICS
FUNDAMENTALS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578378" y="3365500"/>
            <a:ext cx="8680922" cy="5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76"/>
              </a:lnSpc>
            </a:pPr>
            <a:r>
              <a:rPr lang="en-US" sz="1400" b="1" spc="-62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Medium"/>
                <a:cs typeface="Pattanakarn Medium"/>
                <a:sym typeface="Pattanakarn Medium"/>
              </a:rPr>
              <a:t>Session 01 / 04: Mechanical, Electrical Systems &amp; Design
How a robot becomes a real, functioning physical system.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859227" y="4635500"/>
            <a:ext cx="1691565" cy="802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150" b="1" spc="-49">
                <a:solidFill>
                  <a:srgbClr val="F59E0B"/>
                </a:solidFill>
                <a:latin typeface="Segoe UI Bold"/>
                <a:ea typeface="Pattanakarn Medium"/>
                <a:cs typeface="Pattanakarn Medium"/>
                <a:sym typeface="Pattanakarn Medium"/>
              </a:rPr>
              <a:t>PRESENTER: MED BOUGHRARA
ONLINE WORKSHOP SERIES • 20:00 GMT+3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850916" y="9554541"/>
            <a:ext cx="5408384" cy="289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00"/>
              </a:lnSpc>
            </a:pPr>
            <a:r>
              <a:rPr lang="en-US" sz="1000" spc="162">
                <a:gradFill flip="none" rotWithShape="1">
                  <a:gsLst>
                    <a:gs pos="0">
                      <a:srgbClr val="9199A1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ROBOTICS FUNDAMENTALS • SESSION 01 / 04 • THURSDAY, 10 SEPT 2026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299200" y="9554541"/>
            <a:ext cx="5408384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lang="en-US" sz="1000" spc="162">
                <a:gradFill flip="none" rotWithShape="1">
                  <a:gsLst>
                    <a:gs pos="0">
                      <a:srgbClr val="9199A1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10.09.2026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135118" y="1091524"/>
            <a:ext cx="153927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44"/>
              </a:lnSpc>
            </a:pPr>
            <a:r>
              <a:rPr lang="en-US" sz="1200" b="1" spc="-43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JARVIS ROBOTICS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6821431" y="1028700"/>
            <a:ext cx="437869" cy="437869"/>
            <a:chOff x="0" y="0"/>
            <a:chExt cx="698500" cy="6985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500" y="349250"/>
                  </a:moveTo>
                  <a:cubicBezTo>
                    <a:pt x="588476" y="313379"/>
                    <a:pt x="502341" y="175825"/>
                    <a:pt x="479908" y="0"/>
                  </a:cubicBezTo>
                  <a:cubicBezTo>
                    <a:pt x="463950" y="125312"/>
                    <a:pt x="415552" y="231178"/>
                    <a:pt x="349250" y="294716"/>
                  </a:cubicBezTo>
                  <a:cubicBezTo>
                    <a:pt x="282948" y="231178"/>
                    <a:pt x="234550" y="125475"/>
                    <a:pt x="218592" y="0"/>
                  </a:cubicBezTo>
                  <a:cubicBezTo>
                    <a:pt x="196159" y="175825"/>
                    <a:pt x="110024" y="313379"/>
                    <a:pt x="0" y="349250"/>
                  </a:cubicBezTo>
                  <a:cubicBezTo>
                    <a:pt x="110024" y="385121"/>
                    <a:pt x="196159" y="522675"/>
                    <a:pt x="218592" y="698500"/>
                  </a:cubicBezTo>
                  <a:cubicBezTo>
                    <a:pt x="234550" y="573188"/>
                    <a:pt x="282948" y="467322"/>
                    <a:pt x="349250" y="403784"/>
                  </a:cubicBezTo>
                  <a:cubicBezTo>
                    <a:pt x="415552" y="467322"/>
                    <a:pt x="463950" y="573025"/>
                    <a:pt x="479908" y="698500"/>
                  </a:cubicBezTo>
                  <a:cubicBezTo>
                    <a:pt x="502341" y="522675"/>
                    <a:pt x="588476" y="385121"/>
                    <a:pt x="698500" y="349250"/>
                  </a:cubicBez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9" name="TextBox 29"/>
            <p:cNvSpPr txBox="1"/>
            <p:nvPr/>
          </p:nvSpPr>
          <p:spPr>
            <a:xfrm>
              <a:off x="76200" y="44450"/>
              <a:ext cx="546100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pic>
        <p:nvPicPr>
          <p:cNvPr id="31" name="Image 30">
            <a:extLst>
              <a:ext uri="{FF2B5EF4-FFF2-40B4-BE49-F238E27FC236}">
                <a16:creationId xmlns:a16="http://schemas.microsoft.com/office/drawing/2014/main" id="{C9C9D4A2-1C87-9380-F140-7E0B2F520D86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1180240"/>
            <a:ext cx="6755607" cy="792652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718414" y="7612786"/>
            <a:ext cx="1711929" cy="1788014"/>
            <a:chOff x="0" y="0"/>
            <a:chExt cx="571500" cy="5969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10800000">
            <a:off x="6339079" y="945304"/>
            <a:ext cx="1711929" cy="1788014"/>
            <a:chOff x="0" y="0"/>
            <a:chExt cx="571500" cy="5969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F3FC50CF-A144-C4A4-B91A-83A35ECC224C}"/>
              </a:ext>
            </a:extLst>
          </p:cNvPr>
          <p:cNvSpPr/>
          <p:nvPr/>
        </p:nvSpPr>
        <p:spPr>
          <a:xfrm>
            <a:off x="1028700" y="533400"/>
            <a:ext cx="5461000" cy="330200"/>
          </a:xfrm>
          <a:prstGeom prst="roundRect">
            <a:avLst/>
          </a:prstGeom>
          <a:solidFill>
            <a:srgbClr val="0A0A0C"/>
          </a:solidFill>
          <a:ln w="15240">
            <a:solidFill>
              <a:srgbClr val="D6DA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fr-FR" sz="1000" b="1">
                <a:solidFill>
                  <a:srgbClr val="D6DADB"/>
                </a:solidFill>
                <a:latin typeface="Segoe UI" panose="020B0502040204020203" pitchFamily="34" charset="0"/>
              </a:rPr>
              <a:t>JARVIS ROBOTICS ENGINEERING ACADEMY</a:t>
            </a:r>
          </a:p>
        </p:txBody>
      </p:sp>
    </p:spTree>
    <p:extLst>
      <p:ext uri="{BB962C8B-B14F-4D97-AF65-F5344CB8AC3E}">
        <p14:creationId xmlns:p14="http://schemas.microsoft.com/office/powerpoint/2010/main" val="916523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hecker/>
      </p:transition>
    </mc:Choice>
    <mc:Fallback xmlns="">
      <p:transition>
        <p:checker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920248" y="1076888"/>
            <a:ext cx="1053933" cy="370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4"/>
              </a:lnSpc>
            </a:pPr>
            <a:r>
              <a:rPr lang="en-US" sz="1200" b="1" spc="-43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JARVIS ROBOTICS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313819" y="1028700"/>
            <a:ext cx="437869" cy="437869"/>
            <a:chOff x="0" y="0"/>
            <a:chExt cx="698500" cy="6985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500" y="349250"/>
                  </a:moveTo>
                  <a:cubicBezTo>
                    <a:pt x="588476" y="313379"/>
                    <a:pt x="502341" y="175825"/>
                    <a:pt x="479908" y="0"/>
                  </a:cubicBezTo>
                  <a:cubicBezTo>
                    <a:pt x="463950" y="125312"/>
                    <a:pt x="415552" y="231178"/>
                    <a:pt x="349250" y="294716"/>
                  </a:cubicBezTo>
                  <a:cubicBezTo>
                    <a:pt x="282948" y="231178"/>
                    <a:pt x="234550" y="125475"/>
                    <a:pt x="218592" y="0"/>
                  </a:cubicBezTo>
                  <a:cubicBezTo>
                    <a:pt x="196159" y="175825"/>
                    <a:pt x="110024" y="313379"/>
                    <a:pt x="0" y="349250"/>
                  </a:cubicBezTo>
                  <a:cubicBezTo>
                    <a:pt x="110024" y="385121"/>
                    <a:pt x="196159" y="522675"/>
                    <a:pt x="218592" y="698500"/>
                  </a:cubicBezTo>
                  <a:cubicBezTo>
                    <a:pt x="234550" y="573188"/>
                    <a:pt x="282948" y="467322"/>
                    <a:pt x="349250" y="403784"/>
                  </a:cubicBezTo>
                  <a:cubicBezTo>
                    <a:pt x="415552" y="467322"/>
                    <a:pt x="463950" y="573025"/>
                    <a:pt x="479908" y="698500"/>
                  </a:cubicBezTo>
                  <a:cubicBezTo>
                    <a:pt x="502341" y="522675"/>
                    <a:pt x="588476" y="385121"/>
                    <a:pt x="698500" y="349250"/>
                  </a:cubicBez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76200" y="44450"/>
              <a:ext cx="546100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539999" y="1460500"/>
            <a:ext cx="13208000" cy="625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3000" b="1" spc="-168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SESSION 01 ROADMAP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32000" y="2857500"/>
            <a:ext cx="6604000" cy="2154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450" b="1">
                <a:gradFill flip="none" rotWithShape="1">
                  <a:gsLst>
                    <a:gs pos="0">
                      <a:srgbClr val="38BDF8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MECHANICAL &amp; ACTUATION
• 1. Robot Anatomy: Links, joints &amp; 6 Degrees of Freedom
• 2. Motor Sizing: The Shopping Bag torque rule (</a:t>
            </a:r>
            <a:r>
              <a:rPr lang="el-GR" sz="1450" b="1">
                <a:gradFill flip="none" rotWithShape="1">
                  <a:gsLst>
                    <a:gs pos="0">
                      <a:srgbClr val="38BDF8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τ = </a:t>
            </a:r>
            <a:r>
              <a:rPr lang="en-US" sz="1450" b="1">
                <a:gradFill flip="none" rotWithShape="1">
                  <a:gsLst>
                    <a:gs pos="0">
                      <a:srgbClr val="38BDF8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F × L)
• 3. Transmissions: Trading speed for torque with gearboxes
• 4. Structural Rigidity: Why hollow tubes beat solid bars
💡 Example: KUKA industrial arms lifting 500 kg car bodies.
[References: Prof. Jorge Angeles &amp; SITAMS Unit 1-2]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39999" y="2133600"/>
            <a:ext cx="13208000" cy="207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 b="1" spc="-53">
                <a:gradFill flip="none" rotWithShape="1">
                  <a:gsLst>
                    <a:gs pos="0">
                      <a:srgbClr val="F59E0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Semi-Bold"/>
                <a:cs typeface="Pattanakarn Semi-Bold"/>
                <a:sym typeface="Pattanakarn Semi-Bold"/>
              </a:rPr>
              <a:t>THE 4 PILLARS OF EMBODIED ROBOTICS ENGINEERING</a:t>
            </a:r>
          </a:p>
        </p:txBody>
      </p:sp>
      <p:sp>
        <p:nvSpPr>
          <p:cNvPr id="9" name="AutoShape 9"/>
          <p:cNvSpPr/>
          <p:nvPr/>
        </p:nvSpPr>
        <p:spPr>
          <a:xfrm>
            <a:off x="7958310" y="2032000"/>
            <a:ext cx="2371381" cy="0"/>
          </a:xfrm>
          <a:prstGeom prst="line">
            <a:avLst/>
          </a:prstGeom>
          <a:ln w="57150" cap="flat">
            <a:solidFill>
              <a:srgbClr val="FFFFFF">
                <a:alpha val="87843"/>
              </a:srgbClr>
            </a:solidFill>
            <a:prstDash val="lgDash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9652000" y="2857500"/>
            <a:ext cx="6604000" cy="2154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450" b="1">
                <a:gradFill flip="none" rotWithShape="1">
                  <a:gsLst>
                    <a:gs pos="0">
                      <a:srgbClr val="38BDF8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ELECTRICAL &amp; SOFTWARE
• 1. Actuators: Stepper vs Brushless DC vs Servos
• 2. Brain vs Reflexes: Arduino microcontrollers vs Linux SBCs
• 3. Power Electronics: H-bridges, MOSFETs &amp; brownouts
• 4. Digital Twin: Testing in Gazebo before breaking hardware
💡 Example: NASA Mars rovers tested 10,000× in simulation.
[References: Prof. Jeff McGough Ch. 3 &amp; 7]</a:t>
            </a:r>
          </a:p>
        </p:txBody>
      </p:sp>
      <p:grpSp>
        <p:nvGrpSpPr>
          <p:cNvPr id="11" name="Group 11" hidden="1"/>
          <p:cNvGrpSpPr/>
          <p:nvPr/>
        </p:nvGrpSpPr>
        <p:grpSpPr>
          <a:xfrm>
            <a:off x="14777515" y="2229225"/>
            <a:ext cx="5863909" cy="2348419"/>
            <a:chOff x="0" y="0"/>
            <a:chExt cx="1544404" cy="618514"/>
          </a:xfrm>
        </p:grpSpPr>
        <p:sp>
          <p:nvSpPr>
            <p:cNvPr id="12" name="Freeform 12" hidden="1"/>
            <p:cNvSpPr/>
            <p:nvPr/>
          </p:nvSpPr>
          <p:spPr>
            <a:xfrm>
              <a:off x="0" y="0"/>
              <a:ext cx="1544404" cy="618514"/>
            </a:xfrm>
            <a:custGeom>
              <a:avLst/>
              <a:gdLst/>
              <a:ahLst/>
              <a:cxnLst/>
              <a:rect l="l" t="t" r="r" b="b"/>
              <a:pathLst>
                <a:path w="1544404" h="618514">
                  <a:moveTo>
                    <a:pt x="0" y="0"/>
                  </a:moveTo>
                  <a:lnTo>
                    <a:pt x="1544404" y="0"/>
                  </a:lnTo>
                  <a:lnTo>
                    <a:pt x="1544404" y="618514"/>
                  </a:lnTo>
                  <a:lnTo>
                    <a:pt x="0" y="618514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3" name="TextBox 13" hidden="1"/>
            <p:cNvSpPr txBox="1"/>
            <p:nvPr/>
          </p:nvSpPr>
          <p:spPr>
            <a:xfrm>
              <a:off x="0" y="38100"/>
              <a:ext cx="1544404" cy="5804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4" name="Group 14" hidden="1"/>
          <p:cNvGrpSpPr/>
          <p:nvPr/>
        </p:nvGrpSpPr>
        <p:grpSpPr>
          <a:xfrm>
            <a:off x="-2354965" y="2208445"/>
            <a:ext cx="5863909" cy="2348419"/>
            <a:chOff x="0" y="0"/>
            <a:chExt cx="1544404" cy="618514"/>
          </a:xfrm>
        </p:grpSpPr>
        <p:sp>
          <p:nvSpPr>
            <p:cNvPr id="15" name="Freeform 15" hidden="1"/>
            <p:cNvSpPr/>
            <p:nvPr/>
          </p:nvSpPr>
          <p:spPr>
            <a:xfrm>
              <a:off x="0" y="0"/>
              <a:ext cx="1544404" cy="618514"/>
            </a:xfrm>
            <a:custGeom>
              <a:avLst/>
              <a:gdLst/>
              <a:ahLst/>
              <a:cxnLst/>
              <a:rect l="l" t="t" r="r" b="b"/>
              <a:pathLst>
                <a:path w="1544404" h="618514">
                  <a:moveTo>
                    <a:pt x="0" y="0"/>
                  </a:moveTo>
                  <a:lnTo>
                    <a:pt x="1544404" y="0"/>
                  </a:lnTo>
                  <a:lnTo>
                    <a:pt x="1544404" y="618514"/>
                  </a:lnTo>
                  <a:lnTo>
                    <a:pt x="0" y="618514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6" name="TextBox 16" hidden="1"/>
            <p:cNvSpPr txBox="1"/>
            <p:nvPr/>
          </p:nvSpPr>
          <p:spPr>
            <a:xfrm>
              <a:off x="0" y="38100"/>
              <a:ext cx="1544404" cy="5804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7" name="AutoShape 17"/>
          <p:cNvSpPr/>
          <p:nvPr/>
        </p:nvSpPr>
        <p:spPr>
          <a:xfrm>
            <a:off x="-607719" y="9111523"/>
            <a:ext cx="19254369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18"/>
          <p:cNvSpPr txBox="1"/>
          <p:nvPr/>
        </p:nvSpPr>
        <p:spPr>
          <a:xfrm>
            <a:off x="6440434" y="9554541"/>
            <a:ext cx="5408384" cy="289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US" sz="1000" spc="162">
                <a:gradFill flip="none" rotWithShape="1">
                  <a:gsLst>
                    <a:gs pos="0">
                      <a:srgbClr val="9199A1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ROBOTICS FUNDAMENTALS • SESSION 01 / 04 • THURSDAY, 10 SEPT 2026</a:t>
            </a:r>
          </a:p>
        </p:txBody>
      </p:sp>
      <p:grpSp>
        <p:nvGrpSpPr>
          <p:cNvPr id="19" name="Group 19" hidden="1"/>
          <p:cNvGrpSpPr/>
          <p:nvPr/>
        </p:nvGrpSpPr>
        <p:grpSpPr>
          <a:xfrm rot="5400000">
            <a:off x="-721951" y="1881195"/>
            <a:ext cx="1468820" cy="1534100"/>
            <a:chOff x="0" y="0"/>
            <a:chExt cx="571500" cy="596900"/>
          </a:xfrm>
        </p:grpSpPr>
        <p:sp>
          <p:nvSpPr>
            <p:cNvPr id="20" name="Freeform 20" hidden="1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1" name="TextBox 21" hidden="1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22" name="Group 22" hidden="1"/>
          <p:cNvGrpSpPr/>
          <p:nvPr/>
        </p:nvGrpSpPr>
        <p:grpSpPr>
          <a:xfrm rot="-5400000">
            <a:off x="2256675" y="3391574"/>
            <a:ext cx="1468820" cy="1534100"/>
            <a:chOff x="0" y="0"/>
            <a:chExt cx="571500" cy="596900"/>
          </a:xfrm>
        </p:grpSpPr>
        <p:sp>
          <p:nvSpPr>
            <p:cNvPr id="23" name="Freeform 23" hidden="1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4" name="TextBox 24" hidden="1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25" name="Group 25" hidden="1"/>
          <p:cNvGrpSpPr/>
          <p:nvPr/>
        </p:nvGrpSpPr>
        <p:grpSpPr>
          <a:xfrm rot="5400000">
            <a:off x="14563758" y="1922755"/>
            <a:ext cx="1468820" cy="1534100"/>
            <a:chOff x="0" y="0"/>
            <a:chExt cx="571500" cy="596900"/>
          </a:xfrm>
        </p:grpSpPr>
        <p:sp>
          <p:nvSpPr>
            <p:cNvPr id="26" name="Freeform 26" hidden="1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7" name="TextBox 27" hidden="1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28" name="Group 28" hidden="1"/>
          <p:cNvGrpSpPr/>
          <p:nvPr/>
        </p:nvGrpSpPr>
        <p:grpSpPr>
          <a:xfrm rot="-5400000">
            <a:off x="17542385" y="3433135"/>
            <a:ext cx="1468820" cy="1534100"/>
            <a:chOff x="0" y="0"/>
            <a:chExt cx="571500" cy="596900"/>
          </a:xfrm>
        </p:grpSpPr>
        <p:sp>
          <p:nvSpPr>
            <p:cNvPr id="29" name="Freeform 29" hidden="1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30" name="TextBox 30" hidden="1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D585A157-F1AE-9870-4AB3-921AE9A481EA}"/>
              </a:ext>
            </a:extLst>
          </p:cNvPr>
          <p:cNvSpPr/>
          <p:nvPr/>
        </p:nvSpPr>
        <p:spPr>
          <a:xfrm>
            <a:off x="1028700" y="533400"/>
            <a:ext cx="5461000" cy="330200"/>
          </a:xfrm>
          <a:prstGeom prst="roundRect">
            <a:avLst/>
          </a:prstGeom>
          <a:solidFill>
            <a:srgbClr val="0A0A0C"/>
          </a:solidFill>
          <a:ln w="15240">
            <a:solidFill>
              <a:srgbClr val="D6DA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en-US" sz="1000" b="1">
                <a:solidFill>
                  <a:srgbClr val="D6DADB"/>
                </a:solidFill>
                <a:latin typeface="Segoe UI" panose="020B0502040204020203" pitchFamily="34" charset="0"/>
              </a:rPr>
              <a:t>COURSE BLUEPRINT • 4 FOUNDATIONAL PILLARS</a:t>
            </a:r>
            <a:endParaRPr lang="fr-FR" sz="1000" b="1">
              <a:solidFill>
                <a:srgbClr val="D6DADB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2964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hecker/>
      </p:transition>
    </mc:Choice>
    <mc:Fallback xmlns="">
      <p:transition>
        <p:checker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270000"/>
            <a:ext cx="5270500" cy="625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3000" b="1" spc="-168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WHAT IS A ROBOT?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699" y="2476499"/>
            <a:ext cx="8064500" cy="2934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35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A robot is an intelligent physical machine that operates in the real world through a continuous loop: Sense → Think → Act.
• Screen AI vs Embodied AI: If an LLM chatbot makes an error, you get a typo on screen. If a robot makes an error, a 50 kg arm crashes into a wall or snaps a gearbox!
• The Feedback Reality: Robotics is where software algorithms collide with the unforgiving laws of gravity and friction.
💡 Real-World Example: A Roomba vacuum. Bump and IR sensors detect an obstacle (Sense), the onboard processor calculates a turn (Think), and dual wheel motors drive the change (Act).
[Reference: Jeff McGough, Robotics: Concepts &amp; Simulation, Ch. 1-2]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006600"/>
            <a:ext cx="7032529" cy="207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00" b="1" spc="-53">
                <a:gradFill flip="none" rotWithShape="1">
                  <a:gsLst>
                    <a:gs pos="0">
                      <a:srgbClr val="F59E0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Semi-Bold"/>
                <a:cs typeface="Pattanakarn Semi-Bold"/>
                <a:sym typeface="Pattanakarn Semi-Bold"/>
              </a:rPr>
              <a:t>EMBODIED AI: CODE WITH PHYSICAL CONSEQUENCES</a:t>
            </a:r>
          </a:p>
        </p:txBody>
      </p:sp>
      <p:sp>
        <p:nvSpPr>
          <p:cNvPr id="5" name="AutoShape 5"/>
          <p:cNvSpPr/>
          <p:nvPr/>
        </p:nvSpPr>
        <p:spPr>
          <a:xfrm>
            <a:off x="1028700" y="1879600"/>
            <a:ext cx="2371381" cy="0"/>
          </a:xfrm>
          <a:prstGeom prst="line">
            <a:avLst/>
          </a:prstGeom>
          <a:ln w="57150" cap="flat">
            <a:solidFill>
              <a:srgbClr val="FFFFFF">
                <a:alpha val="87843"/>
              </a:srgbClr>
            </a:solidFill>
            <a:prstDash val="lgDash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-607719" y="9111523"/>
            <a:ext cx="19254369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12166421" y="1606376"/>
            <a:ext cx="6481934" cy="10756641"/>
            <a:chOff x="0" y="0"/>
            <a:chExt cx="1707176" cy="28330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07176" cy="2833025"/>
            </a:xfrm>
            <a:custGeom>
              <a:avLst/>
              <a:gdLst/>
              <a:ahLst/>
              <a:cxnLst/>
              <a:rect l="l" t="t" r="r" b="b"/>
              <a:pathLst>
                <a:path w="1707176" h="2833025">
                  <a:moveTo>
                    <a:pt x="0" y="0"/>
                  </a:moveTo>
                  <a:lnTo>
                    <a:pt x="1707176" y="0"/>
                  </a:lnTo>
                  <a:lnTo>
                    <a:pt x="1707176" y="2833025"/>
                  </a:lnTo>
                  <a:lnTo>
                    <a:pt x="0" y="2833025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1707176" cy="2794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635129" y="1076888"/>
            <a:ext cx="153927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4"/>
              </a:lnSpc>
            </a:pPr>
            <a:r>
              <a:rPr lang="en-US" sz="1200" b="1" spc="-43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JARVIS ROBOTICS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28700" y="1028700"/>
            <a:ext cx="437869" cy="437869"/>
            <a:chOff x="0" y="0"/>
            <a:chExt cx="698500" cy="6985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500" y="349250"/>
                  </a:moveTo>
                  <a:cubicBezTo>
                    <a:pt x="588476" y="313379"/>
                    <a:pt x="502341" y="175825"/>
                    <a:pt x="479908" y="0"/>
                  </a:cubicBezTo>
                  <a:cubicBezTo>
                    <a:pt x="463950" y="125312"/>
                    <a:pt x="415552" y="231178"/>
                    <a:pt x="349250" y="294716"/>
                  </a:cubicBezTo>
                  <a:cubicBezTo>
                    <a:pt x="282948" y="231178"/>
                    <a:pt x="234550" y="125475"/>
                    <a:pt x="218592" y="0"/>
                  </a:cubicBezTo>
                  <a:cubicBezTo>
                    <a:pt x="196159" y="175825"/>
                    <a:pt x="110024" y="313379"/>
                    <a:pt x="0" y="349250"/>
                  </a:cubicBezTo>
                  <a:cubicBezTo>
                    <a:pt x="110024" y="385121"/>
                    <a:pt x="196159" y="522675"/>
                    <a:pt x="218592" y="698500"/>
                  </a:cubicBezTo>
                  <a:cubicBezTo>
                    <a:pt x="234550" y="573188"/>
                    <a:pt x="282948" y="467322"/>
                    <a:pt x="349250" y="403784"/>
                  </a:cubicBezTo>
                  <a:cubicBezTo>
                    <a:pt x="415552" y="467322"/>
                    <a:pt x="463950" y="573025"/>
                    <a:pt x="479908" y="698500"/>
                  </a:cubicBezTo>
                  <a:cubicBezTo>
                    <a:pt x="502341" y="522675"/>
                    <a:pt x="588476" y="385121"/>
                    <a:pt x="698500" y="349250"/>
                  </a:cubicBez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44450"/>
              <a:ext cx="546100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28700" y="9554541"/>
            <a:ext cx="5408384" cy="289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lang="en-US" sz="1000" spc="162">
                <a:gradFill flip="none" rotWithShape="1">
                  <a:gsLst>
                    <a:gs pos="0">
                      <a:srgbClr val="9199A1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ROBOTICS FUNDAMENTALS • SESSION 01 / 04 • THURSDAY, 10 SEPT 2026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0677A208-6477-D3D1-EAD3-BC342512FBA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8330" y="1047884"/>
            <a:ext cx="7780970" cy="8210416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 rot="5400000">
            <a:off x="9276804" y="758404"/>
            <a:ext cx="1711929" cy="1788014"/>
            <a:chOff x="0" y="0"/>
            <a:chExt cx="571500" cy="5969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5312322">
            <a:off x="15743087" y="7871964"/>
            <a:ext cx="1711929" cy="1788014"/>
            <a:chOff x="0" y="0"/>
            <a:chExt cx="571500" cy="5969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231BEAC5-D33D-5343-8904-B18ADDEBB450}"/>
              </a:ext>
            </a:extLst>
          </p:cNvPr>
          <p:cNvSpPr/>
          <p:nvPr/>
        </p:nvSpPr>
        <p:spPr>
          <a:xfrm>
            <a:off x="1028700" y="533400"/>
            <a:ext cx="5461000" cy="330200"/>
          </a:xfrm>
          <a:prstGeom prst="roundRect">
            <a:avLst/>
          </a:prstGeom>
          <a:solidFill>
            <a:srgbClr val="0A0A0C"/>
          </a:solidFill>
          <a:ln w="15240">
            <a:solidFill>
              <a:srgbClr val="D6DA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fr-FR" sz="1000" b="1">
                <a:solidFill>
                  <a:srgbClr val="D6DADB"/>
                </a:solidFill>
                <a:latin typeface="Segoe UI" panose="020B0502040204020203" pitchFamily="34" charset="0"/>
              </a:rPr>
              <a:t>CORE CONCEPT • EMBODIED ARTIFICIAL INTELLIGENCE</a:t>
            </a:r>
          </a:p>
        </p:txBody>
      </p:sp>
    </p:spTree>
    <p:extLst>
      <p:ext uri="{BB962C8B-B14F-4D97-AF65-F5344CB8AC3E}">
        <p14:creationId xmlns:p14="http://schemas.microsoft.com/office/powerpoint/2010/main" val="214176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hecker/>
      </p:transition>
    </mc:Choice>
    <mc:Fallback xmlns="">
      <p:transition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213599" y="952500"/>
            <a:ext cx="10033000" cy="619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600"/>
              </a:lnSpc>
            </a:pPr>
            <a:r>
              <a:rPr lang="en-US" sz="2800" b="1" spc="-168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THE 4 ROBOT SUBSYSTEMS</a:t>
            </a:r>
          </a:p>
        </p:txBody>
      </p:sp>
      <p:sp>
        <p:nvSpPr>
          <p:cNvPr id="3" name="AutoShape 3"/>
          <p:cNvSpPr/>
          <p:nvPr/>
        </p:nvSpPr>
        <p:spPr>
          <a:xfrm>
            <a:off x="-607719" y="9111523"/>
            <a:ext cx="19254369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7213600" y="1524000"/>
            <a:ext cx="100330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00"/>
              </a:lnSpc>
            </a:pPr>
            <a:r>
              <a:rPr lang="en-US" sz="1150" spc="162">
                <a:gradFill flip="none" rotWithShape="1">
                  <a:gsLst>
                    <a:gs pos="0">
                      <a:srgbClr val="F59E0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Light"/>
                <a:cs typeface="Pattanakarn Light"/>
                <a:sym typeface="Pattanakarn Light"/>
              </a:rPr>
              <a:t>HOW EVERY FUNCTIONING ROBOT IS CONSTRUCTED</a:t>
            </a:r>
          </a:p>
        </p:txBody>
      </p:sp>
      <p:grpSp>
        <p:nvGrpSpPr>
          <p:cNvPr id="5" name="Group 5" hidden="1"/>
          <p:cNvGrpSpPr/>
          <p:nvPr/>
        </p:nvGrpSpPr>
        <p:grpSpPr>
          <a:xfrm>
            <a:off x="-2342376" y="-4198081"/>
            <a:ext cx="6121579" cy="10756641"/>
            <a:chOff x="0" y="0"/>
            <a:chExt cx="1612268" cy="2833025"/>
          </a:xfrm>
        </p:grpSpPr>
        <p:sp>
          <p:nvSpPr>
            <p:cNvPr id="6" name="Freeform 6" hidden="1"/>
            <p:cNvSpPr/>
            <p:nvPr/>
          </p:nvSpPr>
          <p:spPr>
            <a:xfrm>
              <a:off x="0" y="0"/>
              <a:ext cx="1612268" cy="2833025"/>
            </a:xfrm>
            <a:custGeom>
              <a:avLst/>
              <a:gdLst/>
              <a:ahLst/>
              <a:cxnLst/>
              <a:rect l="l" t="t" r="r" b="b"/>
              <a:pathLst>
                <a:path w="1612268" h="2833025">
                  <a:moveTo>
                    <a:pt x="0" y="0"/>
                  </a:moveTo>
                  <a:lnTo>
                    <a:pt x="1612268" y="0"/>
                  </a:lnTo>
                  <a:lnTo>
                    <a:pt x="1612268" y="2833025"/>
                  </a:lnTo>
                  <a:lnTo>
                    <a:pt x="0" y="2833025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7" name="TextBox 7" hidden="1"/>
            <p:cNvSpPr txBox="1"/>
            <p:nvPr/>
          </p:nvSpPr>
          <p:spPr>
            <a:xfrm>
              <a:off x="0" y="38100"/>
              <a:ext cx="1612268" cy="2794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213599" y="2412999"/>
            <a:ext cx="4826000" cy="776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25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Rigid links, bearings, chassis plates, and brackets that support weight and define reach.
💡 Example: Hollow aluminum tubes and steel base plates.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13599" y="2032000"/>
            <a:ext cx="4826000" cy="213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400" b="1" spc="-53">
                <a:gradFill flip="none" rotWithShape="1">
                  <a:gsLst>
                    <a:gs pos="0">
                      <a:srgbClr val="38BDF8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Semi-Bold"/>
                <a:cs typeface="Pattanakarn Semi-Bold"/>
                <a:sym typeface="Pattanakarn Semi-Bold"/>
              </a:rPr>
              <a:t>1. SKELETON (MECHANICAL)</a:t>
            </a:r>
          </a:p>
        </p:txBody>
      </p:sp>
      <p:sp>
        <p:nvSpPr>
          <p:cNvPr id="18" name="AutoShape 18"/>
          <p:cNvSpPr/>
          <p:nvPr/>
        </p:nvSpPr>
        <p:spPr>
          <a:xfrm>
            <a:off x="7213600" y="1930400"/>
            <a:ext cx="2531491" cy="0"/>
          </a:xfrm>
          <a:prstGeom prst="line">
            <a:avLst/>
          </a:prstGeom>
          <a:ln w="57150" cap="flat">
            <a:solidFill>
              <a:srgbClr val="FFFFFF">
                <a:alpha val="87843"/>
              </a:srgbClr>
            </a:solidFill>
            <a:prstDash val="lgDash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12445999" y="2412999"/>
            <a:ext cx="4826000" cy="776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25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Motors, gear reductions, and belts converting electrical battery energy into mechanical torque.
💡 Example: NEMA steppers and planetary brushless motors.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445999" y="2032000"/>
            <a:ext cx="4826000" cy="213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400" b="1" spc="-53">
                <a:gradFill flip="none" rotWithShape="1">
                  <a:gsLst>
                    <a:gs pos="0">
                      <a:srgbClr val="38BDF8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Semi-Bold"/>
                <a:cs typeface="Pattanakarn Semi-Bold"/>
                <a:sym typeface="Pattanakarn Semi-Bold"/>
              </a:rPr>
              <a:t>2. MUSCLES (ACTUATORS)</a:t>
            </a:r>
          </a:p>
        </p:txBody>
      </p:sp>
      <p:sp>
        <p:nvSpPr>
          <p:cNvPr id="21" name="AutoShape 21"/>
          <p:cNvSpPr/>
          <p:nvPr/>
        </p:nvSpPr>
        <p:spPr>
          <a:xfrm>
            <a:off x="12446000" y="1930400"/>
            <a:ext cx="2531491" cy="0"/>
          </a:xfrm>
          <a:prstGeom prst="line">
            <a:avLst/>
          </a:prstGeom>
          <a:ln w="57150" cap="flat">
            <a:solidFill>
              <a:srgbClr val="FFFFFF">
                <a:alpha val="87843"/>
              </a:srgbClr>
            </a:solidFill>
            <a:prstDash val="lgDash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7213600" y="5778499"/>
            <a:ext cx="10033000" cy="517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25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Sensors (IMU, encoders, LiDAR), real-time microcontrollers for PWM, and Linux SBCs for vision.
💡 Example: Arduino pulsing PWM + Jetson running YOLO.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213599" y="5397500"/>
            <a:ext cx="10033000" cy="213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400" b="1" spc="-53">
                <a:gradFill flip="none" rotWithShape="1">
                  <a:gsLst>
                    <a:gs pos="0">
                      <a:srgbClr val="38BDF8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Semi-Bold"/>
                <a:cs typeface="Pattanakarn Semi-Bold"/>
                <a:sym typeface="Pattanakarn Semi-Bold"/>
              </a:rPr>
              <a:t>3. BRAIN &amp; NERVES (COMPUTE)</a:t>
            </a:r>
          </a:p>
        </p:txBody>
      </p:sp>
      <p:sp>
        <p:nvSpPr>
          <p:cNvPr id="24" name="AutoShape 24"/>
          <p:cNvSpPr/>
          <p:nvPr/>
        </p:nvSpPr>
        <p:spPr>
          <a:xfrm>
            <a:off x="7213600" y="5295900"/>
            <a:ext cx="2531491" cy="0"/>
          </a:xfrm>
          <a:prstGeom prst="line">
            <a:avLst/>
          </a:prstGeom>
          <a:ln w="57150" cap="flat">
            <a:solidFill>
              <a:srgbClr val="FFFFFF">
                <a:alpha val="87843"/>
              </a:srgbClr>
            </a:solidFill>
            <a:prstDash val="lgDash"/>
            <a:headEnd type="none" w="sm" len="sm"/>
            <a:tailEnd type="none" w="sm" len="sm"/>
          </a:ln>
        </p:spPr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56B92846-3AFF-2617-0C9A-DC6CBE81061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1180240"/>
            <a:ext cx="5023095" cy="792652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718414" y="8008473"/>
            <a:ext cx="1333079" cy="1392327"/>
            <a:chOff x="0" y="0"/>
            <a:chExt cx="571500" cy="5969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10800000">
            <a:off x="5009804" y="908442"/>
            <a:ext cx="1289396" cy="1346702"/>
            <a:chOff x="0" y="0"/>
            <a:chExt cx="571500" cy="5969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5" name="TextBox 15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510DC1CE-F89E-129B-54A6-425C7AE50082}"/>
              </a:ext>
            </a:extLst>
          </p:cNvPr>
          <p:cNvSpPr/>
          <p:nvPr/>
        </p:nvSpPr>
        <p:spPr>
          <a:xfrm>
            <a:off x="1028700" y="533400"/>
            <a:ext cx="5461000" cy="330200"/>
          </a:xfrm>
          <a:prstGeom prst="roundRect">
            <a:avLst/>
          </a:prstGeom>
          <a:solidFill>
            <a:srgbClr val="0A0A0C"/>
          </a:solidFill>
          <a:ln w="15240">
            <a:solidFill>
              <a:srgbClr val="D6DA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en-US" sz="1000" b="1">
                <a:solidFill>
                  <a:srgbClr val="D6DADB"/>
                </a:solidFill>
                <a:latin typeface="Segoe UI" panose="020B0502040204020203" pitchFamily="34" charset="0"/>
              </a:rPr>
              <a:t>SYSTEM ARCHITECTURE • THE 4 SUB-SYSTEMS</a:t>
            </a:r>
            <a:endParaRPr lang="fr-FR" sz="1000" b="1">
              <a:solidFill>
                <a:srgbClr val="D6DADB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7330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hecker/>
      </p:transition>
    </mc:Choice>
    <mc:Fallback xmlns="">
      <p:transition>
        <p:checker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>
            <a:off x="-607719" y="9111523"/>
            <a:ext cx="19254369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12166421" y="1606376"/>
            <a:ext cx="6481934" cy="10756641"/>
            <a:chOff x="0" y="0"/>
            <a:chExt cx="1707176" cy="28330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07176" cy="2833025"/>
            </a:xfrm>
            <a:custGeom>
              <a:avLst/>
              <a:gdLst/>
              <a:ahLst/>
              <a:cxnLst/>
              <a:rect l="l" t="t" r="r" b="b"/>
              <a:pathLst>
                <a:path w="1707176" h="2833025">
                  <a:moveTo>
                    <a:pt x="0" y="0"/>
                  </a:moveTo>
                  <a:lnTo>
                    <a:pt x="1707176" y="0"/>
                  </a:lnTo>
                  <a:lnTo>
                    <a:pt x="1707176" y="2833025"/>
                  </a:lnTo>
                  <a:lnTo>
                    <a:pt x="0" y="2833025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1707176" cy="2794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635129" y="1076888"/>
            <a:ext cx="153927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4"/>
              </a:lnSpc>
            </a:pPr>
            <a:r>
              <a:rPr lang="en-US" sz="1200" b="1" spc="-43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JARVIS ROBOTICS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28700" y="1028700"/>
            <a:ext cx="437869" cy="437869"/>
            <a:chOff x="0" y="0"/>
            <a:chExt cx="698500" cy="6985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500" y="349250"/>
                  </a:moveTo>
                  <a:cubicBezTo>
                    <a:pt x="588476" y="313379"/>
                    <a:pt x="502341" y="175825"/>
                    <a:pt x="479908" y="0"/>
                  </a:cubicBezTo>
                  <a:cubicBezTo>
                    <a:pt x="463950" y="125312"/>
                    <a:pt x="415552" y="231178"/>
                    <a:pt x="349250" y="294716"/>
                  </a:cubicBezTo>
                  <a:cubicBezTo>
                    <a:pt x="282948" y="231178"/>
                    <a:pt x="234550" y="125475"/>
                    <a:pt x="218592" y="0"/>
                  </a:cubicBezTo>
                  <a:cubicBezTo>
                    <a:pt x="196159" y="175825"/>
                    <a:pt x="110024" y="313379"/>
                    <a:pt x="0" y="349250"/>
                  </a:cubicBezTo>
                  <a:cubicBezTo>
                    <a:pt x="110024" y="385121"/>
                    <a:pt x="196159" y="522675"/>
                    <a:pt x="218592" y="698500"/>
                  </a:cubicBezTo>
                  <a:cubicBezTo>
                    <a:pt x="234550" y="573188"/>
                    <a:pt x="282948" y="467322"/>
                    <a:pt x="349250" y="403784"/>
                  </a:cubicBezTo>
                  <a:cubicBezTo>
                    <a:pt x="415552" y="467322"/>
                    <a:pt x="463950" y="573025"/>
                    <a:pt x="479908" y="698500"/>
                  </a:cubicBezTo>
                  <a:cubicBezTo>
                    <a:pt x="502341" y="522675"/>
                    <a:pt x="588476" y="385121"/>
                    <a:pt x="698500" y="349250"/>
                  </a:cubicBez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44450"/>
              <a:ext cx="546100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28700" y="9554541"/>
            <a:ext cx="5408384" cy="289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lang="en-US" sz="1000" spc="162">
                <a:gradFill flip="none" rotWithShape="1">
                  <a:gsLst>
                    <a:gs pos="0">
                      <a:srgbClr val="9199A1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ROBOTICS FUNDAMENTALS • SESSION 01 / 04 • THURSDAY, 10 SEPT 2026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3CCBBC8A-D47C-1495-0970-A55BE64BE9F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8330" y="1047884"/>
            <a:ext cx="7780970" cy="8210416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 rot="5400000">
            <a:off x="9276804" y="758404"/>
            <a:ext cx="1711929" cy="1788014"/>
            <a:chOff x="0" y="0"/>
            <a:chExt cx="571500" cy="5969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5312322">
            <a:off x="15743087" y="7871964"/>
            <a:ext cx="1711929" cy="1788014"/>
            <a:chOff x="0" y="0"/>
            <a:chExt cx="571500" cy="5969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365525D9-1323-23DD-8A62-990B1764B760}"/>
              </a:ext>
            </a:extLst>
          </p:cNvPr>
          <p:cNvSpPr/>
          <p:nvPr/>
        </p:nvSpPr>
        <p:spPr>
          <a:xfrm>
            <a:off x="1028700" y="533400"/>
            <a:ext cx="5461000" cy="330200"/>
          </a:xfrm>
          <a:prstGeom prst="roundRect">
            <a:avLst/>
          </a:prstGeom>
          <a:solidFill>
            <a:srgbClr val="0A0A0C"/>
          </a:solidFill>
          <a:ln w="1524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en-US" sz="1000" b="1">
                <a:solidFill>
                  <a:srgbClr val="F59E0B"/>
                </a:solidFill>
                <a:latin typeface="Segoe UI" panose="020B0502040204020203" pitchFamily="34" charset="0"/>
              </a:rPr>
              <a:t>⚡ QUICK CHALLENGE 01 • REAL-WORLD SPECS</a:t>
            </a:r>
            <a:endParaRPr lang="fr-FR" sz="1000" b="1">
              <a:solidFill>
                <a:srgbClr val="F59E0B"/>
              </a:solidFill>
              <a:latin typeface="Segoe UI" panose="020B0502040204020203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5DE46E89-BA45-702F-8CCD-7AC1A060B5C9}"/>
              </a:ext>
            </a:extLst>
          </p:cNvPr>
          <p:cNvSpPr txBox="1"/>
          <p:nvPr/>
        </p:nvSpPr>
        <p:spPr>
          <a:xfrm>
            <a:off x="1028700" y="1206500"/>
            <a:ext cx="8178800" cy="430887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500" b="1">
                <a:solidFill>
                  <a:srgbClr val="FFFFFF"/>
                </a:solidFill>
                <a:latin typeface="Segoe UI Bold"/>
              </a:rPr>
              <a:t>DEFINING ROBOT SPECIFICATIONS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897DB384-3F11-9FAF-00CF-A6F89B9F7D9B}"/>
              </a:ext>
            </a:extLst>
          </p:cNvPr>
          <p:cNvSpPr txBox="1"/>
          <p:nvPr/>
        </p:nvSpPr>
        <p:spPr>
          <a:xfrm>
            <a:off x="1028700" y="1905000"/>
            <a:ext cx="8178800" cy="44627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300">
                <a:solidFill>
                  <a:srgbClr val="D6DADB"/>
                </a:solidFill>
                <a:latin typeface="Segoe UI" panose="020B0502040204020203" pitchFamily="34" charset="0"/>
              </a:rPr>
              <a:t>You are building an autonomous sidewalk parcel delivery robot (like Starship). What is the #1 reason pure open-loop motor control will fail outdoors?</a:t>
            </a:r>
            <a:endParaRPr lang="fr-FR" sz="1300">
              <a:solidFill>
                <a:srgbClr val="D6DADB"/>
              </a:solidFill>
              <a:latin typeface="Segoe UI" panose="020B0502040204020203" pitchFamily="34" charset="0"/>
            </a:endParaRP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C2B8ED47-1958-3DD5-12E2-EC51CD79EF4A}"/>
              </a:ext>
            </a:extLst>
          </p:cNvPr>
          <p:cNvSpPr/>
          <p:nvPr/>
        </p:nvSpPr>
        <p:spPr>
          <a:xfrm>
            <a:off x="1028700" y="3365500"/>
            <a:ext cx="4000500" cy="1206500"/>
          </a:xfrm>
          <a:prstGeom prst="roundRect">
            <a:avLst/>
          </a:prstGeom>
          <a:solidFill>
            <a:srgbClr val="1A1D21"/>
          </a:solidFill>
          <a:ln w="15240">
            <a:solidFill>
              <a:srgbClr val="3C42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 algn="ctr"/>
            <a:r>
              <a:rPr lang="en-US" sz="1200" b="1">
                <a:solidFill>
                  <a:srgbClr val="F59E0B"/>
                </a:solidFill>
                <a:latin typeface="Segoe UI" panose="020B0502040204020203" pitchFamily="34" charset="0"/>
              </a:rPr>
              <a:t>[A]</a:t>
            </a:r>
            <a:r>
              <a:rPr lang="en-US" sz="1200">
                <a:solidFill>
                  <a:srgbClr val="FFFFFF"/>
                </a:solidFill>
                <a:latin typeface="Segoe UI" panose="020B0502040204020203" pitchFamily="34" charset="0"/>
              </a:rPr>
              <a:t>  The battery has too many ampere-hours</a:t>
            </a:r>
            <a:endParaRPr lang="fr-FR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E78A9234-186C-8BA1-D719-9945F8DC0F89}"/>
              </a:ext>
            </a:extLst>
          </p:cNvPr>
          <p:cNvSpPr/>
          <p:nvPr/>
        </p:nvSpPr>
        <p:spPr>
          <a:xfrm>
            <a:off x="5207000" y="3365500"/>
            <a:ext cx="4000500" cy="1206500"/>
          </a:xfrm>
          <a:prstGeom prst="roundRect">
            <a:avLst/>
          </a:prstGeom>
          <a:solidFill>
            <a:srgbClr val="1A1D21"/>
          </a:solidFill>
          <a:ln w="15240">
            <a:solidFill>
              <a:srgbClr val="3C42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 algn="ctr"/>
            <a:r>
              <a:rPr lang="en-US" sz="1200" b="1">
                <a:solidFill>
                  <a:srgbClr val="F59E0B"/>
                </a:solidFill>
                <a:latin typeface="Segoe UI" panose="020B0502040204020203" pitchFamily="34" charset="0"/>
              </a:rPr>
              <a:t>[B]</a:t>
            </a:r>
            <a:r>
              <a:rPr lang="en-US" sz="1200">
                <a:solidFill>
                  <a:srgbClr val="FFFFFF"/>
                </a:solidFill>
                <a:latin typeface="Segoe UI" panose="020B0502040204020203" pitchFamily="34" charset="0"/>
              </a:rPr>
              <a:t>  Pavement friction and sidewalk slopes cause heading drift without encoder feedback</a:t>
            </a:r>
            <a:endParaRPr lang="fr-FR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B209734B-29B5-35A2-3113-28D1F4A70912}"/>
              </a:ext>
            </a:extLst>
          </p:cNvPr>
          <p:cNvSpPr/>
          <p:nvPr/>
        </p:nvSpPr>
        <p:spPr>
          <a:xfrm>
            <a:off x="1028700" y="4762500"/>
            <a:ext cx="4000500" cy="1206500"/>
          </a:xfrm>
          <a:prstGeom prst="roundRect">
            <a:avLst/>
          </a:prstGeom>
          <a:solidFill>
            <a:srgbClr val="1A1D21"/>
          </a:solidFill>
          <a:ln w="15240">
            <a:solidFill>
              <a:srgbClr val="3C42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 algn="ctr"/>
            <a:r>
              <a:rPr lang="en-US" sz="1200" b="1">
                <a:solidFill>
                  <a:srgbClr val="F59E0B"/>
                </a:solidFill>
                <a:latin typeface="Segoe UI" panose="020B0502040204020203" pitchFamily="34" charset="0"/>
              </a:rPr>
              <a:t>[C]</a:t>
            </a:r>
            <a:r>
              <a:rPr lang="en-US" sz="1200">
                <a:solidFill>
                  <a:srgbClr val="FFFFFF"/>
                </a:solidFill>
                <a:latin typeface="Segoe UI" panose="020B0502040204020203" pitchFamily="34" charset="0"/>
              </a:rPr>
              <a:t>  Linux cannot execute Python code outdoors</a:t>
            </a:r>
            <a:endParaRPr lang="fr-FR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8203155B-D75A-7C7E-E3D9-E1C450311C2D}"/>
              </a:ext>
            </a:extLst>
          </p:cNvPr>
          <p:cNvSpPr/>
          <p:nvPr/>
        </p:nvSpPr>
        <p:spPr>
          <a:xfrm>
            <a:off x="5207000" y="4762500"/>
            <a:ext cx="4000500" cy="1206500"/>
          </a:xfrm>
          <a:prstGeom prst="roundRect">
            <a:avLst/>
          </a:prstGeom>
          <a:solidFill>
            <a:srgbClr val="1A1D21"/>
          </a:solidFill>
          <a:ln w="15240">
            <a:solidFill>
              <a:srgbClr val="3C42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 algn="ctr"/>
            <a:r>
              <a:rPr lang="en-US" sz="1200" b="1">
                <a:solidFill>
                  <a:srgbClr val="F59E0B"/>
                </a:solidFill>
                <a:latin typeface="Segoe UI" panose="020B0502040204020203" pitchFamily="34" charset="0"/>
              </a:rPr>
              <a:t>[D]</a:t>
            </a:r>
            <a:r>
              <a:rPr lang="en-US" sz="1200">
                <a:solidFill>
                  <a:srgbClr val="FFFFFF"/>
                </a:solidFill>
                <a:latin typeface="Segoe UI" panose="020B0502040204020203" pitchFamily="34" charset="0"/>
              </a:rPr>
              <a:t>  Rubber tires block radio signals</a:t>
            </a:r>
            <a:endParaRPr lang="fr-FR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240FF253-A4F8-B8AA-FC91-0C4F49167C98}"/>
              </a:ext>
            </a:extLst>
          </p:cNvPr>
          <p:cNvSpPr/>
          <p:nvPr/>
        </p:nvSpPr>
        <p:spPr>
          <a:xfrm>
            <a:off x="1028700" y="6286500"/>
            <a:ext cx="8178800" cy="1397000"/>
          </a:xfrm>
          <a:prstGeom prst="roundRect">
            <a:avLst/>
          </a:prstGeom>
          <a:solidFill>
            <a:srgbClr val="0F2319"/>
          </a:solidFill>
          <a:ln w="254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101600" rIns="203200" rtlCol="0" anchor="ctr"/>
          <a:lstStyle/>
          <a:p>
            <a:pPr algn="ctr"/>
            <a:r>
              <a:rPr lang="en-US" sz="1350" b="1">
                <a:solidFill>
                  <a:srgbClr val="10B981"/>
                </a:solidFill>
                <a:latin typeface="Segoe UI" panose="020B0502040204020203" pitchFamily="34" charset="0"/>
              </a:rPr>
              <a:t>✓ CORRECT ANSWER: [B]
Without wheel encoders to measure actual distance traveled (closed-loop), tiny variations in ground friction or slopes cause the robot to drift completely off course. [Ref: McGough Ch. 10]</a:t>
            </a:r>
            <a:endParaRPr lang="fr-FR" sz="1350" b="1">
              <a:solidFill>
                <a:srgbClr val="10B98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692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hecker/>
      </p:transition>
    </mc:Choice>
    <mc:Fallback xmlns="">
      <p:transition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/>
      <p:bldP spid="27" grpId="0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270000"/>
            <a:ext cx="5270500" cy="625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3000" b="1" spc="-168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FEEDBACK LOOPS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699" y="2476499"/>
            <a:ext cx="8064500" cy="2941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35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Why do raw motor commands fail in reality? Pavement friction, payload weight changes, and battery voltage sag.
• Open-Loop (Blind): You command a motor: 'Spin for 2 seconds'. It has no sensor. If a payload is heavy, it stalls, and the controller never knows.
• Closed-Loop (Smart): The controller continuously reads an optical encoder. It compares Target vs Measured position (Error = Target - Measured) and adjusts power via PID.
💡 Real-World Example: Car Cruise Control. Driving uphill, the car automatically presses the gas pedal harder to maintain 65 mph. That is closed-loop feedback!
[Reference: Jeff McGough, Ch. 10 • Motion Control]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006600"/>
            <a:ext cx="7032529" cy="207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00" b="1" spc="-53">
                <a:gradFill flip="none" rotWithShape="1">
                  <a:gsLst>
                    <a:gs pos="0">
                      <a:srgbClr val="F59E0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Semi-Bold"/>
                <a:cs typeface="Pattanakarn Semi-Bold"/>
                <a:sym typeface="Pattanakarn Semi-Bold"/>
              </a:rPr>
              <a:t>OPEN-LOOP VS CLOSED-LOOP CONTROL</a:t>
            </a:r>
          </a:p>
        </p:txBody>
      </p:sp>
      <p:sp>
        <p:nvSpPr>
          <p:cNvPr id="5" name="AutoShape 5"/>
          <p:cNvSpPr/>
          <p:nvPr/>
        </p:nvSpPr>
        <p:spPr>
          <a:xfrm>
            <a:off x="1028700" y="1879600"/>
            <a:ext cx="2371381" cy="0"/>
          </a:xfrm>
          <a:prstGeom prst="line">
            <a:avLst/>
          </a:prstGeom>
          <a:ln w="57150" cap="flat">
            <a:solidFill>
              <a:srgbClr val="FFFFFF">
                <a:alpha val="87843"/>
              </a:srgbClr>
            </a:solidFill>
            <a:prstDash val="lgDash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-607719" y="9111523"/>
            <a:ext cx="19254369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12166421" y="1606376"/>
            <a:ext cx="6481934" cy="10756641"/>
            <a:chOff x="0" y="0"/>
            <a:chExt cx="1707176" cy="28330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07176" cy="2833025"/>
            </a:xfrm>
            <a:custGeom>
              <a:avLst/>
              <a:gdLst/>
              <a:ahLst/>
              <a:cxnLst/>
              <a:rect l="l" t="t" r="r" b="b"/>
              <a:pathLst>
                <a:path w="1707176" h="2833025">
                  <a:moveTo>
                    <a:pt x="0" y="0"/>
                  </a:moveTo>
                  <a:lnTo>
                    <a:pt x="1707176" y="0"/>
                  </a:lnTo>
                  <a:lnTo>
                    <a:pt x="1707176" y="2833025"/>
                  </a:lnTo>
                  <a:lnTo>
                    <a:pt x="0" y="2833025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1707176" cy="2794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635129" y="1076888"/>
            <a:ext cx="153927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4"/>
              </a:lnSpc>
            </a:pPr>
            <a:r>
              <a:rPr lang="en-US" sz="1200" b="1" spc="-43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JARVIS ROBOTICS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28700" y="1028700"/>
            <a:ext cx="437869" cy="437869"/>
            <a:chOff x="0" y="0"/>
            <a:chExt cx="698500" cy="6985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500" y="349250"/>
                  </a:moveTo>
                  <a:cubicBezTo>
                    <a:pt x="588476" y="313379"/>
                    <a:pt x="502341" y="175825"/>
                    <a:pt x="479908" y="0"/>
                  </a:cubicBezTo>
                  <a:cubicBezTo>
                    <a:pt x="463950" y="125312"/>
                    <a:pt x="415552" y="231178"/>
                    <a:pt x="349250" y="294716"/>
                  </a:cubicBezTo>
                  <a:cubicBezTo>
                    <a:pt x="282948" y="231178"/>
                    <a:pt x="234550" y="125475"/>
                    <a:pt x="218592" y="0"/>
                  </a:cubicBezTo>
                  <a:cubicBezTo>
                    <a:pt x="196159" y="175825"/>
                    <a:pt x="110024" y="313379"/>
                    <a:pt x="0" y="349250"/>
                  </a:cubicBezTo>
                  <a:cubicBezTo>
                    <a:pt x="110024" y="385121"/>
                    <a:pt x="196159" y="522675"/>
                    <a:pt x="218592" y="698500"/>
                  </a:cubicBezTo>
                  <a:cubicBezTo>
                    <a:pt x="234550" y="573188"/>
                    <a:pt x="282948" y="467322"/>
                    <a:pt x="349250" y="403784"/>
                  </a:cubicBezTo>
                  <a:cubicBezTo>
                    <a:pt x="415552" y="467322"/>
                    <a:pt x="463950" y="573025"/>
                    <a:pt x="479908" y="698500"/>
                  </a:cubicBezTo>
                  <a:cubicBezTo>
                    <a:pt x="502341" y="522675"/>
                    <a:pt x="588476" y="385121"/>
                    <a:pt x="698500" y="349250"/>
                  </a:cubicBez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44450"/>
              <a:ext cx="546100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28700" y="9554541"/>
            <a:ext cx="5408384" cy="289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lang="en-US" sz="1000" spc="162">
                <a:gradFill flip="none" rotWithShape="1">
                  <a:gsLst>
                    <a:gs pos="0">
                      <a:srgbClr val="9199A1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ROBOTICS FUNDAMENTALS • SESSION 01 / 04 • THURSDAY, 10 SEPT 2026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7BC8C94C-81A0-88A7-83F3-716CCCE5805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8330" y="1047884"/>
            <a:ext cx="7780970" cy="8210416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 rot="5400000">
            <a:off x="9276804" y="758404"/>
            <a:ext cx="1711929" cy="1788014"/>
            <a:chOff x="0" y="0"/>
            <a:chExt cx="571500" cy="5969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5312322">
            <a:off x="15743087" y="7871964"/>
            <a:ext cx="1711929" cy="1788014"/>
            <a:chOff x="0" y="0"/>
            <a:chExt cx="571500" cy="5969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4D5E41ED-F4AA-90FF-600D-28EC76DB0B3A}"/>
              </a:ext>
            </a:extLst>
          </p:cNvPr>
          <p:cNvSpPr/>
          <p:nvPr/>
        </p:nvSpPr>
        <p:spPr>
          <a:xfrm>
            <a:off x="1028700" y="533400"/>
            <a:ext cx="5461000" cy="330200"/>
          </a:xfrm>
          <a:prstGeom prst="roundRect">
            <a:avLst/>
          </a:prstGeom>
          <a:solidFill>
            <a:srgbClr val="0A0A0C"/>
          </a:solidFill>
          <a:ln w="15240">
            <a:solidFill>
              <a:srgbClr val="D6DA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fr-FR" sz="1000" b="1">
                <a:solidFill>
                  <a:srgbClr val="D6DADB"/>
                </a:solidFill>
                <a:latin typeface="Segoe UI" panose="020B0502040204020203" pitchFamily="34" charset="0"/>
              </a:rPr>
              <a:t>CONTROL ARCHITECTURE • SENSORY FEEDBACK</a:t>
            </a:r>
          </a:p>
        </p:txBody>
      </p:sp>
    </p:spTree>
    <p:extLst>
      <p:ext uri="{BB962C8B-B14F-4D97-AF65-F5344CB8AC3E}">
        <p14:creationId xmlns:p14="http://schemas.microsoft.com/office/powerpoint/2010/main" val="380580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hecker/>
      </p:transition>
    </mc:Choice>
    <mc:Fallback xmlns="">
      <p:transition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135118" y="1091524"/>
            <a:ext cx="153927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44"/>
              </a:lnSpc>
            </a:pPr>
            <a:r>
              <a:rPr lang="en-US" sz="1200" b="1" spc="-43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JARVIS ROBOTICS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821431" y="1028700"/>
            <a:ext cx="437869" cy="437869"/>
            <a:chOff x="0" y="0"/>
            <a:chExt cx="698500" cy="6985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500" y="349250"/>
                  </a:moveTo>
                  <a:cubicBezTo>
                    <a:pt x="588476" y="313379"/>
                    <a:pt x="502341" y="175825"/>
                    <a:pt x="479908" y="0"/>
                  </a:cubicBezTo>
                  <a:cubicBezTo>
                    <a:pt x="463950" y="125312"/>
                    <a:pt x="415552" y="231178"/>
                    <a:pt x="349250" y="294716"/>
                  </a:cubicBezTo>
                  <a:cubicBezTo>
                    <a:pt x="282948" y="231178"/>
                    <a:pt x="234550" y="125475"/>
                    <a:pt x="218592" y="0"/>
                  </a:cubicBezTo>
                  <a:cubicBezTo>
                    <a:pt x="196159" y="175825"/>
                    <a:pt x="110024" y="313379"/>
                    <a:pt x="0" y="349250"/>
                  </a:cubicBezTo>
                  <a:cubicBezTo>
                    <a:pt x="110024" y="385121"/>
                    <a:pt x="196159" y="522675"/>
                    <a:pt x="218592" y="698500"/>
                  </a:cubicBezTo>
                  <a:cubicBezTo>
                    <a:pt x="234550" y="573188"/>
                    <a:pt x="282948" y="467322"/>
                    <a:pt x="349250" y="403784"/>
                  </a:cubicBezTo>
                  <a:cubicBezTo>
                    <a:pt x="415552" y="467322"/>
                    <a:pt x="463950" y="573025"/>
                    <a:pt x="479908" y="698500"/>
                  </a:cubicBezTo>
                  <a:cubicBezTo>
                    <a:pt x="502341" y="522675"/>
                    <a:pt x="588476" y="385121"/>
                    <a:pt x="698500" y="349250"/>
                  </a:cubicBez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76200" y="44450"/>
              <a:ext cx="546100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8700" y="5461000"/>
            <a:ext cx="5842000" cy="2765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2500" b="1" spc="-168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MECHANICAL SYSTEMS &amp; KINEMATICS
Links, joints, degrees of freedom, and spatial motion geometry.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365999" y="5460999"/>
            <a:ext cx="4572000" cy="1044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20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• Anatomy of robot links and joints (Revolute vs Prismatic)
• Degrees of Freedom: What can your robot reach and point at?
• 4 Classic Industrial Configurations: Cartesian, SCARA, Cylindrical, Articulated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318999" y="5460999"/>
            <a:ext cx="4953000" cy="1044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20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• Forward Kinematics: Motor Angles → Gripper 3D Position
• Inverse Kinematics: Desired 3D Target → Required Motor Angles
• Real work envelopes and workspace reach boundaries
[Ref: Jorge Angeles, 4th Ed., Springer, Ch. 3-4 &amp; SITAMS Unit 1]</a:t>
            </a:r>
          </a:p>
        </p:txBody>
      </p:sp>
      <p:sp>
        <p:nvSpPr>
          <p:cNvPr id="17" name="AutoShape 17"/>
          <p:cNvSpPr/>
          <p:nvPr/>
        </p:nvSpPr>
        <p:spPr>
          <a:xfrm>
            <a:off x="-607719" y="9111523"/>
            <a:ext cx="19254369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18"/>
          <p:cNvSpPr txBox="1"/>
          <p:nvPr/>
        </p:nvSpPr>
        <p:spPr>
          <a:xfrm>
            <a:off x="11850916" y="9554541"/>
            <a:ext cx="5408384" cy="289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00"/>
              </a:lnSpc>
            </a:pPr>
            <a:r>
              <a:rPr lang="en-US" sz="1000" spc="162">
                <a:gradFill flip="none" rotWithShape="1">
                  <a:gsLst>
                    <a:gs pos="0">
                      <a:srgbClr val="9199A1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ROBOTICS FUNDAMENTALS • SESSION 01 / 04 • THURSDAY, 10 SEPT 2026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24D9F84D-456D-25EA-C24F-D2AA4FF6903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5280" y="1062949"/>
            <a:ext cx="13427937" cy="3800856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 rot="-5400000">
            <a:off x="13633658" y="3599560"/>
            <a:ext cx="1468820" cy="1534100"/>
            <a:chOff x="0" y="0"/>
            <a:chExt cx="571500" cy="5969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5400000">
            <a:off x="1061340" y="699519"/>
            <a:ext cx="1468820" cy="1534100"/>
            <a:chOff x="0" y="0"/>
            <a:chExt cx="571500" cy="5969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EE60824D-47BC-DAD1-C13C-1B511D19EEE5}"/>
              </a:ext>
            </a:extLst>
          </p:cNvPr>
          <p:cNvSpPr/>
          <p:nvPr/>
        </p:nvSpPr>
        <p:spPr>
          <a:xfrm>
            <a:off x="1028700" y="533400"/>
            <a:ext cx="5461000" cy="330200"/>
          </a:xfrm>
          <a:prstGeom prst="roundRect">
            <a:avLst/>
          </a:prstGeom>
          <a:solidFill>
            <a:srgbClr val="0A0A0C"/>
          </a:solidFill>
          <a:ln w="15240">
            <a:solidFill>
              <a:srgbClr val="D6DA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fr-FR" sz="1000" b="1">
                <a:solidFill>
                  <a:srgbClr val="D6DADB"/>
                </a:solidFill>
                <a:latin typeface="Segoe UI" panose="020B0502040204020203" pitchFamily="34" charset="0"/>
              </a:rPr>
              <a:t>MODULE TRACK • 01 / 06</a:t>
            </a:r>
          </a:p>
        </p:txBody>
      </p:sp>
    </p:spTree>
    <p:extLst>
      <p:ext uri="{BB962C8B-B14F-4D97-AF65-F5344CB8AC3E}">
        <p14:creationId xmlns:p14="http://schemas.microsoft.com/office/powerpoint/2010/main" val="763371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hecker/>
      </p:transition>
    </mc:Choice>
    <mc:Fallback xmlns="">
      <p:transition>
        <p:checker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270000"/>
            <a:ext cx="5270500" cy="625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3000" b="1" spc="-168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LINKS AND JOINTS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699" y="2476499"/>
            <a:ext cx="8064500" cy="2664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35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Robotic manipulators are built by alternating rigid links and movable joints:
• 1. Links: Rigid structural beams (aluminum, carbon fiber) that maintain fixed spacing between joints.
• 2. Revolute Joints (R): Rotational hinges that measure angles (degrees or radians).
  💡 Example: Your elbow joint and human shoulder.
• 3. Prismatic Joints (P): Linear sliding rails that measure travel distance (millimeters).
  💡 Example: A 3D printer Z-axis lead screw or gantry rail.
Chain Rule: Base Link 0 → Joint 1 → Link 1 → Joint 2 → ... → End-Effector Tool.
[Reference: Jorge Angeles Ch. 3 &amp; SITAMS Unit 1]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006600"/>
            <a:ext cx="7032529" cy="207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00" b="1" spc="-53">
                <a:gradFill flip="none" rotWithShape="1">
                  <a:gsLst>
                    <a:gs pos="0">
                      <a:srgbClr val="F59E0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Semi-Bold"/>
                <a:cs typeface="Pattanakarn Semi-Bold"/>
                <a:sym typeface="Pattanakarn Semi-Bold"/>
              </a:rPr>
              <a:t>THE SKELETON OF A ROBOT MANIPULATOR</a:t>
            </a:r>
          </a:p>
        </p:txBody>
      </p:sp>
      <p:sp>
        <p:nvSpPr>
          <p:cNvPr id="5" name="AutoShape 5"/>
          <p:cNvSpPr/>
          <p:nvPr/>
        </p:nvSpPr>
        <p:spPr>
          <a:xfrm>
            <a:off x="1028700" y="1879600"/>
            <a:ext cx="2371381" cy="0"/>
          </a:xfrm>
          <a:prstGeom prst="line">
            <a:avLst/>
          </a:prstGeom>
          <a:ln w="57150" cap="flat">
            <a:solidFill>
              <a:srgbClr val="FFFFFF">
                <a:alpha val="87843"/>
              </a:srgbClr>
            </a:solidFill>
            <a:prstDash val="lgDash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-607719" y="9111523"/>
            <a:ext cx="19254369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12166421" y="1606376"/>
            <a:ext cx="6481934" cy="10756641"/>
            <a:chOff x="0" y="0"/>
            <a:chExt cx="1707176" cy="28330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07176" cy="2833025"/>
            </a:xfrm>
            <a:custGeom>
              <a:avLst/>
              <a:gdLst/>
              <a:ahLst/>
              <a:cxnLst/>
              <a:rect l="l" t="t" r="r" b="b"/>
              <a:pathLst>
                <a:path w="1707176" h="2833025">
                  <a:moveTo>
                    <a:pt x="0" y="0"/>
                  </a:moveTo>
                  <a:lnTo>
                    <a:pt x="1707176" y="0"/>
                  </a:lnTo>
                  <a:lnTo>
                    <a:pt x="1707176" y="2833025"/>
                  </a:lnTo>
                  <a:lnTo>
                    <a:pt x="0" y="2833025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1707176" cy="2794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635129" y="1076888"/>
            <a:ext cx="153927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4"/>
              </a:lnSpc>
            </a:pPr>
            <a:r>
              <a:rPr lang="en-US" sz="1200" b="1" spc="-43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JARVIS ROBOTICS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28700" y="1028700"/>
            <a:ext cx="437869" cy="437869"/>
            <a:chOff x="0" y="0"/>
            <a:chExt cx="698500" cy="6985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500" y="349250"/>
                  </a:moveTo>
                  <a:cubicBezTo>
                    <a:pt x="588476" y="313379"/>
                    <a:pt x="502341" y="175825"/>
                    <a:pt x="479908" y="0"/>
                  </a:cubicBezTo>
                  <a:cubicBezTo>
                    <a:pt x="463950" y="125312"/>
                    <a:pt x="415552" y="231178"/>
                    <a:pt x="349250" y="294716"/>
                  </a:cubicBezTo>
                  <a:cubicBezTo>
                    <a:pt x="282948" y="231178"/>
                    <a:pt x="234550" y="125475"/>
                    <a:pt x="218592" y="0"/>
                  </a:cubicBezTo>
                  <a:cubicBezTo>
                    <a:pt x="196159" y="175825"/>
                    <a:pt x="110024" y="313379"/>
                    <a:pt x="0" y="349250"/>
                  </a:cubicBezTo>
                  <a:cubicBezTo>
                    <a:pt x="110024" y="385121"/>
                    <a:pt x="196159" y="522675"/>
                    <a:pt x="218592" y="698500"/>
                  </a:cubicBezTo>
                  <a:cubicBezTo>
                    <a:pt x="234550" y="573188"/>
                    <a:pt x="282948" y="467322"/>
                    <a:pt x="349250" y="403784"/>
                  </a:cubicBezTo>
                  <a:cubicBezTo>
                    <a:pt x="415552" y="467322"/>
                    <a:pt x="463950" y="573025"/>
                    <a:pt x="479908" y="698500"/>
                  </a:cubicBezTo>
                  <a:cubicBezTo>
                    <a:pt x="502341" y="522675"/>
                    <a:pt x="588476" y="385121"/>
                    <a:pt x="698500" y="349250"/>
                  </a:cubicBez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44450"/>
              <a:ext cx="546100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28700" y="9554541"/>
            <a:ext cx="5408384" cy="289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lang="en-US" sz="1000" spc="162">
                <a:gradFill flip="none" rotWithShape="1">
                  <a:gsLst>
                    <a:gs pos="0">
                      <a:srgbClr val="9199A1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ROBOTICS FUNDAMENTALS • SESSION 01 / 04 • THURSDAY, 10 SEPT 2026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996BBC8E-6F08-0056-352E-9628475CA64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8330" y="1047884"/>
            <a:ext cx="7780970" cy="8210416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 rot="5400000">
            <a:off x="9276804" y="758404"/>
            <a:ext cx="1711929" cy="1788014"/>
            <a:chOff x="0" y="0"/>
            <a:chExt cx="571500" cy="5969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5312322">
            <a:off x="15743087" y="7871964"/>
            <a:ext cx="1711929" cy="1788014"/>
            <a:chOff x="0" y="0"/>
            <a:chExt cx="571500" cy="5969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A1464EB3-7AB3-67E8-0D14-CCBCBD3F7ABF}"/>
              </a:ext>
            </a:extLst>
          </p:cNvPr>
          <p:cNvSpPr/>
          <p:nvPr/>
        </p:nvSpPr>
        <p:spPr>
          <a:xfrm>
            <a:off x="1028700" y="533400"/>
            <a:ext cx="5461000" cy="330200"/>
          </a:xfrm>
          <a:prstGeom prst="roundRect">
            <a:avLst/>
          </a:prstGeom>
          <a:solidFill>
            <a:srgbClr val="0A0A0C"/>
          </a:solidFill>
          <a:ln w="15240">
            <a:solidFill>
              <a:srgbClr val="D6DA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fr-FR" sz="1000" b="1">
                <a:solidFill>
                  <a:srgbClr val="D6DADB"/>
                </a:solidFill>
                <a:latin typeface="Segoe UI" panose="020B0502040204020203" pitchFamily="34" charset="0"/>
              </a:rPr>
              <a:t>KINEMATICS • THE STRUCTURAL CHAIN</a:t>
            </a:r>
          </a:p>
        </p:txBody>
      </p:sp>
    </p:spTree>
    <p:extLst>
      <p:ext uri="{BB962C8B-B14F-4D97-AF65-F5344CB8AC3E}">
        <p14:creationId xmlns:p14="http://schemas.microsoft.com/office/powerpoint/2010/main" val="590685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hecker/>
      </p:transition>
    </mc:Choice>
    <mc:Fallback xmlns="">
      <p:transition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213599" y="952500"/>
            <a:ext cx="10033000" cy="619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600"/>
              </a:lnSpc>
            </a:pPr>
            <a:r>
              <a:rPr lang="en-US" sz="2800" b="1" spc="-168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3 ROBOT CONFIGURATIONS</a:t>
            </a:r>
          </a:p>
        </p:txBody>
      </p:sp>
      <p:sp>
        <p:nvSpPr>
          <p:cNvPr id="3" name="AutoShape 3"/>
          <p:cNvSpPr/>
          <p:nvPr/>
        </p:nvSpPr>
        <p:spPr>
          <a:xfrm>
            <a:off x="-607719" y="9111523"/>
            <a:ext cx="19254369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7213600" y="1524000"/>
            <a:ext cx="100330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00"/>
              </a:lnSpc>
            </a:pPr>
            <a:r>
              <a:rPr lang="en-US" sz="1150" spc="162">
                <a:gradFill flip="none" rotWithShape="1">
                  <a:gsLst>
                    <a:gs pos="0">
                      <a:srgbClr val="F59E0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Light"/>
                <a:cs typeface="Pattanakarn Light"/>
                <a:sym typeface="Pattanakarn Light"/>
              </a:rPr>
              <a:t>MATCHING ARCHITECTURE TO THE MISSION</a:t>
            </a:r>
          </a:p>
        </p:txBody>
      </p:sp>
      <p:grpSp>
        <p:nvGrpSpPr>
          <p:cNvPr id="5" name="Group 5" hidden="1"/>
          <p:cNvGrpSpPr/>
          <p:nvPr/>
        </p:nvGrpSpPr>
        <p:grpSpPr>
          <a:xfrm>
            <a:off x="-2342376" y="-4198081"/>
            <a:ext cx="6121579" cy="10756641"/>
            <a:chOff x="0" y="0"/>
            <a:chExt cx="1612268" cy="2833025"/>
          </a:xfrm>
        </p:grpSpPr>
        <p:sp>
          <p:nvSpPr>
            <p:cNvPr id="6" name="Freeform 6" hidden="1"/>
            <p:cNvSpPr/>
            <p:nvPr/>
          </p:nvSpPr>
          <p:spPr>
            <a:xfrm>
              <a:off x="0" y="0"/>
              <a:ext cx="1612268" cy="2833025"/>
            </a:xfrm>
            <a:custGeom>
              <a:avLst/>
              <a:gdLst/>
              <a:ahLst/>
              <a:cxnLst/>
              <a:rect l="l" t="t" r="r" b="b"/>
              <a:pathLst>
                <a:path w="1612268" h="2833025">
                  <a:moveTo>
                    <a:pt x="0" y="0"/>
                  </a:moveTo>
                  <a:lnTo>
                    <a:pt x="1612268" y="0"/>
                  </a:lnTo>
                  <a:lnTo>
                    <a:pt x="1612268" y="2833025"/>
                  </a:lnTo>
                  <a:lnTo>
                    <a:pt x="0" y="2833025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7" name="TextBox 7" hidden="1"/>
            <p:cNvSpPr txBox="1"/>
            <p:nvPr/>
          </p:nvSpPr>
          <p:spPr>
            <a:xfrm>
              <a:off x="0" y="38100"/>
              <a:ext cx="1612268" cy="2794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213599" y="2412999"/>
            <a:ext cx="4826000" cy="776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25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3 perpendicular linear sliding axes. Extremely rigid, high precision, simple math.
💡 Example: 3D Printers (Ender 3) and CNC gantry mills.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13599" y="2032000"/>
            <a:ext cx="4826000" cy="213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400" b="1" spc="-53">
                <a:gradFill flip="none" rotWithShape="1">
                  <a:gsLst>
                    <a:gs pos="0">
                      <a:srgbClr val="38BDF8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Semi-Bold"/>
                <a:cs typeface="Pattanakarn Semi-Bold"/>
                <a:sym typeface="Pattanakarn Semi-Bold"/>
              </a:rPr>
              <a:t>CARTESIAN (XYZ)</a:t>
            </a:r>
          </a:p>
        </p:txBody>
      </p:sp>
      <p:sp>
        <p:nvSpPr>
          <p:cNvPr id="18" name="AutoShape 18"/>
          <p:cNvSpPr/>
          <p:nvPr/>
        </p:nvSpPr>
        <p:spPr>
          <a:xfrm>
            <a:off x="7213600" y="1930400"/>
            <a:ext cx="2531491" cy="0"/>
          </a:xfrm>
          <a:prstGeom prst="line">
            <a:avLst/>
          </a:prstGeom>
          <a:ln w="57150" cap="flat">
            <a:solidFill>
              <a:srgbClr val="FFFFFF">
                <a:alpha val="87843"/>
              </a:srgbClr>
            </a:solidFill>
            <a:prstDash val="lgDash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12445999" y="2412999"/>
            <a:ext cx="4826000" cy="787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25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2 parallel rotary joints + 1 vertical slide. Ultra-fast pick-and-place, rigid vertically.
💡 Example: High-speed electronics PCB assembly.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445999" y="2032000"/>
            <a:ext cx="4826000" cy="213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400" b="1" spc="-53">
                <a:gradFill flip="none" rotWithShape="1">
                  <a:gsLst>
                    <a:gs pos="0">
                      <a:srgbClr val="38BDF8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Semi-Bold"/>
                <a:cs typeface="Pattanakarn Semi-Bold"/>
                <a:sym typeface="Pattanakarn Semi-Bold"/>
              </a:rPr>
              <a:t>SCARA (RRP)</a:t>
            </a:r>
          </a:p>
        </p:txBody>
      </p:sp>
      <p:sp>
        <p:nvSpPr>
          <p:cNvPr id="21" name="AutoShape 21"/>
          <p:cNvSpPr/>
          <p:nvPr/>
        </p:nvSpPr>
        <p:spPr>
          <a:xfrm>
            <a:off x="12446000" y="1930400"/>
            <a:ext cx="2531491" cy="0"/>
          </a:xfrm>
          <a:prstGeom prst="line">
            <a:avLst/>
          </a:prstGeom>
          <a:ln w="57150" cap="flat">
            <a:solidFill>
              <a:srgbClr val="FFFFFF">
                <a:alpha val="87843"/>
              </a:srgbClr>
            </a:solidFill>
            <a:prstDash val="lgDash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7213600" y="5778499"/>
            <a:ext cx="10033000" cy="517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25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6 revolute joints mimicking the human arm. Maximum 3D reach and dexterity.
💡 Example: Automotive factory welding robots (KUKA/ABB).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213599" y="5397500"/>
            <a:ext cx="10033000" cy="213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400" b="1" spc="-53">
                <a:gradFill flip="none" rotWithShape="1">
                  <a:gsLst>
                    <a:gs pos="0">
                      <a:srgbClr val="38BDF8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Semi-Bold"/>
                <a:cs typeface="Pattanakarn Semi-Bold"/>
                <a:sym typeface="Pattanakarn Semi-Bold"/>
              </a:rPr>
              <a:t>ARTICULATED (6-AXIS)</a:t>
            </a:r>
          </a:p>
        </p:txBody>
      </p:sp>
      <p:sp>
        <p:nvSpPr>
          <p:cNvPr id="24" name="AutoShape 24"/>
          <p:cNvSpPr/>
          <p:nvPr/>
        </p:nvSpPr>
        <p:spPr>
          <a:xfrm>
            <a:off x="7213600" y="5295900"/>
            <a:ext cx="2531491" cy="0"/>
          </a:xfrm>
          <a:prstGeom prst="line">
            <a:avLst/>
          </a:prstGeom>
          <a:ln w="57150" cap="flat">
            <a:solidFill>
              <a:srgbClr val="FFFFFF">
                <a:alpha val="87843"/>
              </a:srgbClr>
            </a:solidFill>
            <a:prstDash val="lgDash"/>
            <a:headEnd type="none" w="sm" len="sm"/>
            <a:tailEnd type="none" w="sm" len="sm"/>
          </a:ln>
        </p:spPr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AD908E57-A377-A692-3526-161C3013E47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1180240"/>
            <a:ext cx="5023095" cy="792652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718414" y="8008473"/>
            <a:ext cx="1333079" cy="1392327"/>
            <a:chOff x="0" y="0"/>
            <a:chExt cx="571500" cy="5969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10800000">
            <a:off x="5009804" y="908442"/>
            <a:ext cx="1289396" cy="1346702"/>
            <a:chOff x="0" y="0"/>
            <a:chExt cx="571500" cy="5969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5" name="TextBox 15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EF43C9DF-1533-A4C4-009E-5646AE052306}"/>
              </a:ext>
            </a:extLst>
          </p:cNvPr>
          <p:cNvSpPr/>
          <p:nvPr/>
        </p:nvSpPr>
        <p:spPr>
          <a:xfrm>
            <a:off x="1028700" y="533400"/>
            <a:ext cx="5461000" cy="330200"/>
          </a:xfrm>
          <a:prstGeom prst="roundRect">
            <a:avLst/>
          </a:prstGeom>
          <a:solidFill>
            <a:srgbClr val="0A0A0C"/>
          </a:solidFill>
          <a:ln w="15240">
            <a:solidFill>
              <a:srgbClr val="D6DA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fr-FR" sz="1000" b="1">
                <a:solidFill>
                  <a:srgbClr val="D6DADB"/>
                </a:solidFill>
                <a:latin typeface="Segoe UI" panose="020B0502040204020203" pitchFamily="34" charset="0"/>
              </a:rPr>
              <a:t>MECHANISMS • WORKSPACE MORPHOLOGY</a:t>
            </a:r>
          </a:p>
        </p:txBody>
      </p:sp>
    </p:spTree>
    <p:extLst>
      <p:ext uri="{BB962C8B-B14F-4D97-AF65-F5344CB8AC3E}">
        <p14:creationId xmlns:p14="http://schemas.microsoft.com/office/powerpoint/2010/main" val="4127840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hecker/>
      </p:transition>
    </mc:Choice>
    <mc:Fallback xmlns="">
      <p:transition>
        <p:checker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>
            <a:off x="-607719" y="9111523"/>
            <a:ext cx="19254369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12166421" y="1606376"/>
            <a:ext cx="6481934" cy="10756641"/>
            <a:chOff x="0" y="0"/>
            <a:chExt cx="1707176" cy="28330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07176" cy="2833025"/>
            </a:xfrm>
            <a:custGeom>
              <a:avLst/>
              <a:gdLst/>
              <a:ahLst/>
              <a:cxnLst/>
              <a:rect l="l" t="t" r="r" b="b"/>
              <a:pathLst>
                <a:path w="1707176" h="2833025">
                  <a:moveTo>
                    <a:pt x="0" y="0"/>
                  </a:moveTo>
                  <a:lnTo>
                    <a:pt x="1707176" y="0"/>
                  </a:lnTo>
                  <a:lnTo>
                    <a:pt x="1707176" y="2833025"/>
                  </a:lnTo>
                  <a:lnTo>
                    <a:pt x="0" y="2833025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1707176" cy="2794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635129" y="1076888"/>
            <a:ext cx="153927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4"/>
              </a:lnSpc>
            </a:pPr>
            <a:r>
              <a:rPr lang="en-US" sz="1200" b="1" spc="-43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JARVIS ROBOTICS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28700" y="1028700"/>
            <a:ext cx="437869" cy="437869"/>
            <a:chOff x="0" y="0"/>
            <a:chExt cx="698500" cy="6985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500" y="349250"/>
                  </a:moveTo>
                  <a:cubicBezTo>
                    <a:pt x="588476" y="313379"/>
                    <a:pt x="502341" y="175825"/>
                    <a:pt x="479908" y="0"/>
                  </a:cubicBezTo>
                  <a:cubicBezTo>
                    <a:pt x="463950" y="125312"/>
                    <a:pt x="415552" y="231178"/>
                    <a:pt x="349250" y="294716"/>
                  </a:cubicBezTo>
                  <a:cubicBezTo>
                    <a:pt x="282948" y="231178"/>
                    <a:pt x="234550" y="125475"/>
                    <a:pt x="218592" y="0"/>
                  </a:cubicBezTo>
                  <a:cubicBezTo>
                    <a:pt x="196159" y="175825"/>
                    <a:pt x="110024" y="313379"/>
                    <a:pt x="0" y="349250"/>
                  </a:cubicBezTo>
                  <a:cubicBezTo>
                    <a:pt x="110024" y="385121"/>
                    <a:pt x="196159" y="522675"/>
                    <a:pt x="218592" y="698500"/>
                  </a:cubicBezTo>
                  <a:cubicBezTo>
                    <a:pt x="234550" y="573188"/>
                    <a:pt x="282948" y="467322"/>
                    <a:pt x="349250" y="403784"/>
                  </a:cubicBezTo>
                  <a:cubicBezTo>
                    <a:pt x="415552" y="467322"/>
                    <a:pt x="463950" y="573025"/>
                    <a:pt x="479908" y="698500"/>
                  </a:cubicBezTo>
                  <a:cubicBezTo>
                    <a:pt x="502341" y="522675"/>
                    <a:pt x="588476" y="385121"/>
                    <a:pt x="698500" y="349250"/>
                  </a:cubicBez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44450"/>
              <a:ext cx="546100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28700" y="9554541"/>
            <a:ext cx="5408384" cy="289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lang="en-US" sz="1000" spc="162">
                <a:gradFill flip="none" rotWithShape="1">
                  <a:gsLst>
                    <a:gs pos="0">
                      <a:srgbClr val="9199A1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ROBOTICS FUNDAMENTALS • SESSION 01 / 04 • THURSDAY, 10 SEPT 2026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B5FCFC66-8FAC-A8A6-711F-A7076C6DDF7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8330" y="1047884"/>
            <a:ext cx="7780970" cy="8210416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 rot="5400000">
            <a:off x="9276804" y="758404"/>
            <a:ext cx="1711929" cy="1788014"/>
            <a:chOff x="0" y="0"/>
            <a:chExt cx="571500" cy="5969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5312322">
            <a:off x="15743087" y="7871964"/>
            <a:ext cx="1711929" cy="1788014"/>
            <a:chOff x="0" y="0"/>
            <a:chExt cx="571500" cy="5969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0F34391E-D4C2-66C1-FFF6-BF8155E0FC22}"/>
              </a:ext>
            </a:extLst>
          </p:cNvPr>
          <p:cNvSpPr/>
          <p:nvPr/>
        </p:nvSpPr>
        <p:spPr>
          <a:xfrm>
            <a:off x="1028700" y="533400"/>
            <a:ext cx="5461000" cy="330200"/>
          </a:xfrm>
          <a:prstGeom prst="roundRect">
            <a:avLst/>
          </a:prstGeom>
          <a:solidFill>
            <a:srgbClr val="0A0A0C"/>
          </a:solidFill>
          <a:ln w="1524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en-US" sz="1000" b="1">
                <a:solidFill>
                  <a:srgbClr val="F59E0B"/>
                </a:solidFill>
                <a:latin typeface="Segoe UI" panose="020B0502040204020203" pitchFamily="34" charset="0"/>
              </a:rPr>
              <a:t>⚡ QUICK CHALLENGE 02 • SPATIAL DEXTERITY</a:t>
            </a:r>
            <a:endParaRPr lang="fr-FR" sz="1000" b="1">
              <a:solidFill>
                <a:srgbClr val="F59E0B"/>
              </a:solidFill>
              <a:latin typeface="Segoe UI" panose="020B0502040204020203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60A4A1D6-59F0-56F8-2725-714905600852}"/>
              </a:ext>
            </a:extLst>
          </p:cNvPr>
          <p:cNvSpPr txBox="1"/>
          <p:nvPr/>
        </p:nvSpPr>
        <p:spPr>
          <a:xfrm>
            <a:off x="1028700" y="1206500"/>
            <a:ext cx="8178800" cy="430887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Segoe UI Bold"/>
              </a:rPr>
              <a:t>THE MISSING DEGREE OF FREEDOM</a:t>
            </a:r>
            <a:endParaRPr lang="fr-FR" sz="2500" b="1">
              <a:solidFill>
                <a:srgbClr val="FFFFFF"/>
              </a:solidFill>
              <a:latin typeface="Segoe UI Bold"/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8473835C-5AC5-DB5D-77D6-38C5CB9CD99A}"/>
              </a:ext>
            </a:extLst>
          </p:cNvPr>
          <p:cNvSpPr txBox="1"/>
          <p:nvPr/>
        </p:nvSpPr>
        <p:spPr>
          <a:xfrm>
            <a:off x="1028700" y="1905000"/>
            <a:ext cx="8178800" cy="44627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300">
                <a:solidFill>
                  <a:srgbClr val="D6DADB"/>
                </a:solidFill>
                <a:latin typeface="Segoe UI" panose="020B0502040204020203" pitchFamily="34" charset="0"/>
              </a:rPr>
              <a:t>A 3-axis Cartesian robot moves a tool anywhere in 3D space (X, Y, Z), but it CANNOT insert a square peg into a 45° tilted hole. Why?</a:t>
            </a:r>
            <a:endParaRPr lang="fr-FR" sz="1300">
              <a:solidFill>
                <a:srgbClr val="D6DADB"/>
              </a:solidFill>
              <a:latin typeface="Segoe UI" panose="020B0502040204020203" pitchFamily="34" charset="0"/>
            </a:endParaRP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EC7D871D-E08A-ACF5-9C81-718A04EA1464}"/>
              </a:ext>
            </a:extLst>
          </p:cNvPr>
          <p:cNvSpPr/>
          <p:nvPr/>
        </p:nvSpPr>
        <p:spPr>
          <a:xfrm>
            <a:off x="1028700" y="3365500"/>
            <a:ext cx="4000500" cy="1206500"/>
          </a:xfrm>
          <a:prstGeom prst="roundRect">
            <a:avLst/>
          </a:prstGeom>
          <a:solidFill>
            <a:srgbClr val="1A1D21"/>
          </a:solidFill>
          <a:ln w="15240">
            <a:solidFill>
              <a:srgbClr val="3C42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 algn="ctr"/>
            <a:r>
              <a:rPr lang="en-US" sz="1200" b="1">
                <a:solidFill>
                  <a:srgbClr val="F59E0B"/>
                </a:solidFill>
                <a:latin typeface="Segoe UI" panose="020B0502040204020203" pitchFamily="34" charset="0"/>
              </a:rPr>
              <a:t>[A]</a:t>
            </a:r>
            <a:r>
              <a:rPr lang="en-US" sz="1200">
                <a:solidFill>
                  <a:srgbClr val="FFFFFF"/>
                </a:solidFill>
                <a:latin typeface="Segoe UI" panose="020B0502040204020203" pitchFamily="34" charset="0"/>
              </a:rPr>
              <a:t>  The stepper motors lack holding torque</a:t>
            </a:r>
            <a:endParaRPr lang="fr-FR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484220F5-24CA-0B64-9797-6AF054E7359D}"/>
              </a:ext>
            </a:extLst>
          </p:cNvPr>
          <p:cNvSpPr/>
          <p:nvPr/>
        </p:nvSpPr>
        <p:spPr>
          <a:xfrm>
            <a:off x="5207000" y="3365500"/>
            <a:ext cx="4000500" cy="1206500"/>
          </a:xfrm>
          <a:prstGeom prst="roundRect">
            <a:avLst/>
          </a:prstGeom>
          <a:solidFill>
            <a:srgbClr val="1A1D21"/>
          </a:solidFill>
          <a:ln w="15240">
            <a:solidFill>
              <a:srgbClr val="3C42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 algn="ctr"/>
            <a:r>
              <a:rPr lang="en-US" sz="1200" b="1">
                <a:solidFill>
                  <a:srgbClr val="F59E0B"/>
                </a:solidFill>
                <a:latin typeface="Segoe UI" panose="020B0502040204020203" pitchFamily="34" charset="0"/>
              </a:rPr>
              <a:t>[B]</a:t>
            </a:r>
            <a:r>
              <a:rPr lang="en-US" sz="1200">
                <a:solidFill>
                  <a:srgbClr val="FFFFFF"/>
                </a:solidFill>
                <a:latin typeface="Segoe UI" panose="020B0502040204020203" pitchFamily="34" charset="0"/>
              </a:rPr>
              <a:t>  3 axes only control position (X,Y,Z); tilting requires rotary wrist orientation axes</a:t>
            </a:r>
            <a:endParaRPr lang="fr-FR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CD41B907-659F-64FF-19A4-4293D91CA0CE}"/>
              </a:ext>
            </a:extLst>
          </p:cNvPr>
          <p:cNvSpPr/>
          <p:nvPr/>
        </p:nvSpPr>
        <p:spPr>
          <a:xfrm>
            <a:off x="1028700" y="4762500"/>
            <a:ext cx="4000500" cy="1206500"/>
          </a:xfrm>
          <a:prstGeom prst="roundRect">
            <a:avLst/>
          </a:prstGeom>
          <a:solidFill>
            <a:srgbClr val="1A1D21"/>
          </a:solidFill>
          <a:ln w="15240">
            <a:solidFill>
              <a:srgbClr val="3C42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 algn="ctr"/>
            <a:r>
              <a:rPr lang="en-US" sz="1200" b="1">
                <a:solidFill>
                  <a:srgbClr val="F59E0B"/>
                </a:solidFill>
                <a:latin typeface="Segoe UI" panose="020B0502040204020203" pitchFamily="34" charset="0"/>
              </a:rPr>
              <a:t>[C]</a:t>
            </a:r>
            <a:r>
              <a:rPr lang="en-US" sz="1200">
                <a:solidFill>
                  <a:srgbClr val="FFFFFF"/>
                </a:solidFill>
                <a:latin typeface="Segoe UI" panose="020B0502040204020203" pitchFamily="34" charset="0"/>
              </a:rPr>
              <a:t>  The computer lacks floating-point trigonometry</a:t>
            </a:r>
            <a:endParaRPr lang="fr-FR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9F306478-2BAE-2170-C06A-45F838D27000}"/>
              </a:ext>
            </a:extLst>
          </p:cNvPr>
          <p:cNvSpPr/>
          <p:nvPr/>
        </p:nvSpPr>
        <p:spPr>
          <a:xfrm>
            <a:off x="5207000" y="4762500"/>
            <a:ext cx="4000500" cy="1206500"/>
          </a:xfrm>
          <a:prstGeom prst="roundRect">
            <a:avLst/>
          </a:prstGeom>
          <a:solidFill>
            <a:srgbClr val="1A1D21"/>
          </a:solidFill>
          <a:ln w="15240">
            <a:solidFill>
              <a:srgbClr val="3C42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 algn="ctr"/>
            <a:r>
              <a:rPr lang="en-US" sz="1200" b="1">
                <a:solidFill>
                  <a:srgbClr val="F59E0B"/>
                </a:solidFill>
                <a:latin typeface="Segoe UI" panose="020B0502040204020203" pitchFamily="34" charset="0"/>
              </a:rPr>
              <a:t>[D]</a:t>
            </a:r>
            <a:r>
              <a:rPr lang="en-US" sz="1200">
                <a:solidFill>
                  <a:srgbClr val="FFFFFF"/>
                </a:solidFill>
                <a:latin typeface="Segoe UI" panose="020B0502040204020203" pitchFamily="34" charset="0"/>
              </a:rPr>
              <a:t>  Gravity disables tilted insertions</a:t>
            </a:r>
            <a:endParaRPr lang="fr-FR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E13D7E17-788D-EC33-6E01-6F358C9A4B34}"/>
              </a:ext>
            </a:extLst>
          </p:cNvPr>
          <p:cNvSpPr/>
          <p:nvPr/>
        </p:nvSpPr>
        <p:spPr>
          <a:xfrm>
            <a:off x="1028700" y="6286500"/>
            <a:ext cx="8178800" cy="1397000"/>
          </a:xfrm>
          <a:prstGeom prst="roundRect">
            <a:avLst/>
          </a:prstGeom>
          <a:solidFill>
            <a:srgbClr val="0F2319"/>
          </a:solidFill>
          <a:ln w="254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101600" rIns="203200" rtlCol="0" anchor="ctr"/>
          <a:lstStyle/>
          <a:p>
            <a:pPr algn="ctr"/>
            <a:r>
              <a:rPr lang="en-US" sz="1350" b="1">
                <a:solidFill>
                  <a:srgbClr val="10B981"/>
                </a:solidFill>
                <a:latin typeface="Segoe UI" panose="020B0502040204020203" pitchFamily="34" charset="0"/>
              </a:rPr>
              <a:t>✓ CORRECT ANSWER: [B]
3 DOFs give position in 3D space, but 0 orientation dexterity. Matching a tilted surface requires rotary wrist joints (Roll, Pitch, Yaw). [Ref: Jorge Angeles Ch. 4 &amp; SITAMS Unit 1]</a:t>
            </a:r>
            <a:endParaRPr lang="fr-FR" sz="1350" b="1">
              <a:solidFill>
                <a:srgbClr val="10B98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7293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hecker/>
      </p:transition>
    </mc:Choice>
    <mc:Fallback xmlns="">
      <p:transition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/>
      <p:bldP spid="27" grpId="0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920248" y="1076888"/>
            <a:ext cx="1053933" cy="370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4"/>
              </a:lnSpc>
            </a:pPr>
            <a:r>
              <a:rPr lang="en-US" sz="1200" b="1" spc="-43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JARVIS ROBOTICS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313819" y="1028700"/>
            <a:ext cx="437869" cy="437869"/>
            <a:chOff x="0" y="0"/>
            <a:chExt cx="698500" cy="6985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500" y="349250"/>
                  </a:moveTo>
                  <a:cubicBezTo>
                    <a:pt x="588476" y="313379"/>
                    <a:pt x="502341" y="175825"/>
                    <a:pt x="479908" y="0"/>
                  </a:cubicBezTo>
                  <a:cubicBezTo>
                    <a:pt x="463950" y="125312"/>
                    <a:pt x="415552" y="231178"/>
                    <a:pt x="349250" y="294716"/>
                  </a:cubicBezTo>
                  <a:cubicBezTo>
                    <a:pt x="282948" y="231178"/>
                    <a:pt x="234550" y="125475"/>
                    <a:pt x="218592" y="0"/>
                  </a:cubicBezTo>
                  <a:cubicBezTo>
                    <a:pt x="196159" y="175825"/>
                    <a:pt x="110024" y="313379"/>
                    <a:pt x="0" y="349250"/>
                  </a:cubicBezTo>
                  <a:cubicBezTo>
                    <a:pt x="110024" y="385121"/>
                    <a:pt x="196159" y="522675"/>
                    <a:pt x="218592" y="698500"/>
                  </a:cubicBezTo>
                  <a:cubicBezTo>
                    <a:pt x="234550" y="573188"/>
                    <a:pt x="282948" y="467322"/>
                    <a:pt x="349250" y="403784"/>
                  </a:cubicBezTo>
                  <a:cubicBezTo>
                    <a:pt x="415552" y="467322"/>
                    <a:pt x="463950" y="573025"/>
                    <a:pt x="479908" y="698500"/>
                  </a:cubicBezTo>
                  <a:cubicBezTo>
                    <a:pt x="502341" y="522675"/>
                    <a:pt x="588476" y="385121"/>
                    <a:pt x="698500" y="349250"/>
                  </a:cubicBez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76200" y="44450"/>
              <a:ext cx="546100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539999" y="1460500"/>
            <a:ext cx="13208000" cy="625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3000" b="1" spc="-168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FORWARD VS INVERSE KINEMATICS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32000" y="2857500"/>
            <a:ext cx="6604000" cy="2133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450" b="1">
                <a:gradFill flip="none" rotWithShape="1">
                  <a:gsLst>
                    <a:gs pos="0">
                      <a:srgbClr val="38BDF8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FORWARD KINEMATICS (EASY)
• Input: Joint angles from encoders (</a:t>
            </a:r>
            <a:r>
              <a:rPr lang="el-GR" sz="1450" b="1">
                <a:gradFill flip="none" rotWithShape="1">
                  <a:gsLst>
                    <a:gs pos="0">
                      <a:srgbClr val="38BDF8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θ1 = 45°, θ2 = 30°)
• </a:t>
            </a:r>
            <a:r>
              <a:rPr lang="en-US" sz="1450" b="1">
                <a:gradFill flip="none" rotWithShape="1">
                  <a:gsLst>
                    <a:gs pos="0">
                      <a:srgbClr val="38BDF8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Output: Gripper 3D tool position (X, Y, Z, Roll, Pitch, Yaw)
• Math: Matrix multiplication along the link lengths
• Solvability: Always fast, deterministic, single unique answer!
💡 Example: Reading motor sensors to display robot location on screen.
[Ref: Angeles 4th Ed. Ch. 4]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39999" y="2133600"/>
            <a:ext cx="13208000" cy="207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 b="1" spc="-53">
                <a:gradFill flip="none" rotWithShape="1">
                  <a:gsLst>
                    <a:gs pos="0">
                      <a:srgbClr val="F59E0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Semi-Bold"/>
                <a:cs typeface="Pattanakarn Semi-Bold"/>
                <a:sym typeface="Pattanakarn Semi-Bold"/>
              </a:rPr>
              <a:t>TRANSLATING BETWEEN MOTOR ANGLES AND 3D WORKSPACE</a:t>
            </a:r>
          </a:p>
        </p:txBody>
      </p:sp>
      <p:sp>
        <p:nvSpPr>
          <p:cNvPr id="9" name="AutoShape 9"/>
          <p:cNvSpPr/>
          <p:nvPr/>
        </p:nvSpPr>
        <p:spPr>
          <a:xfrm>
            <a:off x="7958310" y="2032000"/>
            <a:ext cx="2371381" cy="0"/>
          </a:xfrm>
          <a:prstGeom prst="line">
            <a:avLst/>
          </a:prstGeom>
          <a:ln w="57150" cap="flat">
            <a:solidFill>
              <a:srgbClr val="FFFFFF">
                <a:alpha val="87843"/>
              </a:srgbClr>
            </a:solidFill>
            <a:prstDash val="lgDash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9652000" y="2857500"/>
            <a:ext cx="6604000" cy="2394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450" b="1">
                <a:gradFill flip="none" rotWithShape="1">
                  <a:gsLst>
                    <a:gs pos="0">
                      <a:srgbClr val="38BDF8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INVERSE KINEMATICS (HARD)
• Input: Desired gripper coordinate (X = 400, Y = 200, Z = 150 mm)
• Output: Required motor angles (</a:t>
            </a:r>
            <a:r>
              <a:rPr lang="el-GR" sz="1450" b="1">
                <a:gradFill flip="none" rotWithShape="1">
                  <a:gsLst>
                    <a:gs pos="0">
                      <a:srgbClr val="38BDF8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θ1, θ2, θ3) </a:t>
            </a:r>
            <a:r>
              <a:rPr lang="en-US" sz="1450" b="1">
                <a:gradFill flip="none" rotWithShape="1">
                  <a:gsLst>
                    <a:gs pos="0">
                      <a:srgbClr val="38BDF8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to reach it
• Math: Non-linear trigonometry with multiple solutions
• Solvability: Multiple postures (elbow-up vs elbow-down) or unreachable singularities!
💡 Example: Video game character reaching out to grab a doorknob.
[Ref: Angeles 4th Ed. Ch. 4]</a:t>
            </a:r>
          </a:p>
        </p:txBody>
      </p:sp>
      <p:grpSp>
        <p:nvGrpSpPr>
          <p:cNvPr id="11" name="Group 11" hidden="1"/>
          <p:cNvGrpSpPr/>
          <p:nvPr/>
        </p:nvGrpSpPr>
        <p:grpSpPr>
          <a:xfrm>
            <a:off x="14777515" y="2229225"/>
            <a:ext cx="5863909" cy="2348419"/>
            <a:chOff x="0" y="0"/>
            <a:chExt cx="1544404" cy="618514"/>
          </a:xfrm>
        </p:grpSpPr>
        <p:sp>
          <p:nvSpPr>
            <p:cNvPr id="12" name="Freeform 12" hidden="1"/>
            <p:cNvSpPr/>
            <p:nvPr/>
          </p:nvSpPr>
          <p:spPr>
            <a:xfrm>
              <a:off x="0" y="0"/>
              <a:ext cx="1544404" cy="618514"/>
            </a:xfrm>
            <a:custGeom>
              <a:avLst/>
              <a:gdLst/>
              <a:ahLst/>
              <a:cxnLst/>
              <a:rect l="l" t="t" r="r" b="b"/>
              <a:pathLst>
                <a:path w="1544404" h="618514">
                  <a:moveTo>
                    <a:pt x="0" y="0"/>
                  </a:moveTo>
                  <a:lnTo>
                    <a:pt x="1544404" y="0"/>
                  </a:lnTo>
                  <a:lnTo>
                    <a:pt x="1544404" y="618514"/>
                  </a:lnTo>
                  <a:lnTo>
                    <a:pt x="0" y="618514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3" name="TextBox 13" hidden="1"/>
            <p:cNvSpPr txBox="1"/>
            <p:nvPr/>
          </p:nvSpPr>
          <p:spPr>
            <a:xfrm>
              <a:off x="0" y="38100"/>
              <a:ext cx="1544404" cy="5804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4" name="Group 14" hidden="1"/>
          <p:cNvGrpSpPr/>
          <p:nvPr/>
        </p:nvGrpSpPr>
        <p:grpSpPr>
          <a:xfrm>
            <a:off x="-2354965" y="2208445"/>
            <a:ext cx="5863909" cy="2348419"/>
            <a:chOff x="0" y="0"/>
            <a:chExt cx="1544404" cy="618514"/>
          </a:xfrm>
        </p:grpSpPr>
        <p:sp>
          <p:nvSpPr>
            <p:cNvPr id="15" name="Freeform 15" hidden="1"/>
            <p:cNvSpPr/>
            <p:nvPr/>
          </p:nvSpPr>
          <p:spPr>
            <a:xfrm>
              <a:off x="0" y="0"/>
              <a:ext cx="1544404" cy="618514"/>
            </a:xfrm>
            <a:custGeom>
              <a:avLst/>
              <a:gdLst/>
              <a:ahLst/>
              <a:cxnLst/>
              <a:rect l="l" t="t" r="r" b="b"/>
              <a:pathLst>
                <a:path w="1544404" h="618514">
                  <a:moveTo>
                    <a:pt x="0" y="0"/>
                  </a:moveTo>
                  <a:lnTo>
                    <a:pt x="1544404" y="0"/>
                  </a:lnTo>
                  <a:lnTo>
                    <a:pt x="1544404" y="618514"/>
                  </a:lnTo>
                  <a:lnTo>
                    <a:pt x="0" y="618514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6" name="TextBox 16" hidden="1"/>
            <p:cNvSpPr txBox="1"/>
            <p:nvPr/>
          </p:nvSpPr>
          <p:spPr>
            <a:xfrm>
              <a:off x="0" y="38100"/>
              <a:ext cx="1544404" cy="5804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7" name="AutoShape 17"/>
          <p:cNvSpPr/>
          <p:nvPr/>
        </p:nvSpPr>
        <p:spPr>
          <a:xfrm>
            <a:off x="-607719" y="9111523"/>
            <a:ext cx="19254369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18"/>
          <p:cNvSpPr txBox="1"/>
          <p:nvPr/>
        </p:nvSpPr>
        <p:spPr>
          <a:xfrm>
            <a:off x="6440434" y="9554541"/>
            <a:ext cx="5408384" cy="289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US" sz="1000" spc="162">
                <a:gradFill flip="none" rotWithShape="1">
                  <a:gsLst>
                    <a:gs pos="0">
                      <a:srgbClr val="9199A1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ROBOTICS FUNDAMENTALS • SESSION 01 / 04 • THURSDAY, 10 SEPT 2026</a:t>
            </a:r>
          </a:p>
        </p:txBody>
      </p:sp>
      <p:grpSp>
        <p:nvGrpSpPr>
          <p:cNvPr id="19" name="Group 19" hidden="1"/>
          <p:cNvGrpSpPr/>
          <p:nvPr/>
        </p:nvGrpSpPr>
        <p:grpSpPr>
          <a:xfrm rot="5400000">
            <a:off x="-721951" y="1881195"/>
            <a:ext cx="1468820" cy="1534100"/>
            <a:chOff x="0" y="0"/>
            <a:chExt cx="571500" cy="596900"/>
          </a:xfrm>
        </p:grpSpPr>
        <p:sp>
          <p:nvSpPr>
            <p:cNvPr id="20" name="Freeform 20" hidden="1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1" name="TextBox 21" hidden="1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22" name="Group 22" hidden="1"/>
          <p:cNvGrpSpPr/>
          <p:nvPr/>
        </p:nvGrpSpPr>
        <p:grpSpPr>
          <a:xfrm rot="-5400000">
            <a:off x="2256675" y="3391574"/>
            <a:ext cx="1468820" cy="1534100"/>
            <a:chOff x="0" y="0"/>
            <a:chExt cx="571500" cy="596900"/>
          </a:xfrm>
        </p:grpSpPr>
        <p:sp>
          <p:nvSpPr>
            <p:cNvPr id="23" name="Freeform 23" hidden="1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4" name="TextBox 24" hidden="1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25" name="Group 25" hidden="1"/>
          <p:cNvGrpSpPr/>
          <p:nvPr/>
        </p:nvGrpSpPr>
        <p:grpSpPr>
          <a:xfrm rot="5400000">
            <a:off x="14563758" y="1922755"/>
            <a:ext cx="1468820" cy="1534100"/>
            <a:chOff x="0" y="0"/>
            <a:chExt cx="571500" cy="596900"/>
          </a:xfrm>
        </p:grpSpPr>
        <p:sp>
          <p:nvSpPr>
            <p:cNvPr id="26" name="Freeform 26" hidden="1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7" name="TextBox 27" hidden="1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28" name="Group 28" hidden="1"/>
          <p:cNvGrpSpPr/>
          <p:nvPr/>
        </p:nvGrpSpPr>
        <p:grpSpPr>
          <a:xfrm rot="-5400000">
            <a:off x="17542385" y="3433135"/>
            <a:ext cx="1468820" cy="1534100"/>
            <a:chOff x="0" y="0"/>
            <a:chExt cx="571500" cy="596900"/>
          </a:xfrm>
        </p:grpSpPr>
        <p:sp>
          <p:nvSpPr>
            <p:cNvPr id="29" name="Freeform 29" hidden="1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30" name="TextBox 30" hidden="1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10106F0F-E399-4264-AB7B-B9C08D665A20}"/>
              </a:ext>
            </a:extLst>
          </p:cNvPr>
          <p:cNvSpPr/>
          <p:nvPr/>
        </p:nvSpPr>
        <p:spPr>
          <a:xfrm>
            <a:off x="1028700" y="533400"/>
            <a:ext cx="5461000" cy="330200"/>
          </a:xfrm>
          <a:prstGeom prst="roundRect">
            <a:avLst/>
          </a:prstGeom>
          <a:solidFill>
            <a:srgbClr val="0A0A0C"/>
          </a:solidFill>
          <a:ln w="15240">
            <a:solidFill>
              <a:srgbClr val="D6DA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fr-FR" sz="1000" b="1">
                <a:solidFill>
                  <a:srgbClr val="D6DADB"/>
                </a:solidFill>
                <a:latin typeface="Segoe UI" panose="020B0502040204020203" pitchFamily="34" charset="0"/>
              </a:rPr>
              <a:t>MATHEMATICS • KINEMATIC TRANSFORMS</a:t>
            </a:r>
          </a:p>
        </p:txBody>
      </p:sp>
    </p:spTree>
    <p:extLst>
      <p:ext uri="{BB962C8B-B14F-4D97-AF65-F5344CB8AC3E}">
        <p14:creationId xmlns:p14="http://schemas.microsoft.com/office/powerpoint/2010/main" val="4051181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hecker/>
      </p:transition>
    </mc:Choice>
    <mc:Fallback xmlns="">
      <p:transition>
        <p:checker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270000"/>
            <a:ext cx="5270500" cy="625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3000" b="1" spc="-168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WHY 6 AXES?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699" y="2476499"/>
            <a:ext cx="8064500" cy="3480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35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Why do standard industrial robot arms (KUKA, ABB, Fanuc, Universal Robots) universally feature 6 rotary axes?
• 3 Axes for Position: Shoulder pan, shoulder lift, and elbow pitch place the wrist anywhere in the 3D sphere (X, Y, Z).
• 3 Axes for Orientation (The Spherical Wrist): Roll, pitch, and yaw rotate the gripper to match any surface angle.
💡 Real-World Example: Screwing in a Lightbulb:
• Moving your hand to the ceiling socket requires 3 position axes.
• Tilting the bulb straight and twisting the screw threads requires 3 orientation axes!
Takeaway: 6 DOFs is the exact mathematical minimum for total 3D spatial dexterity.
[Reference: Jorge Angeles, Ch. 5 • Spatial Dexterity]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006600"/>
            <a:ext cx="7032529" cy="207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00" b="1" spc="-53">
                <a:gradFill flip="none" rotWithShape="1">
                  <a:gsLst>
                    <a:gs pos="0">
                      <a:srgbClr val="F59E0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Semi-Bold"/>
                <a:cs typeface="Pattanakarn Semi-Bold"/>
                <a:sym typeface="Pattanakarn Semi-Bold"/>
              </a:rPr>
              <a:t>TOTAL DEXTERITY IN THREE-DIMENSIONAL SPACE</a:t>
            </a:r>
          </a:p>
        </p:txBody>
      </p:sp>
      <p:sp>
        <p:nvSpPr>
          <p:cNvPr id="5" name="AutoShape 5"/>
          <p:cNvSpPr/>
          <p:nvPr/>
        </p:nvSpPr>
        <p:spPr>
          <a:xfrm>
            <a:off x="1028700" y="1879600"/>
            <a:ext cx="2371381" cy="0"/>
          </a:xfrm>
          <a:prstGeom prst="line">
            <a:avLst/>
          </a:prstGeom>
          <a:ln w="57150" cap="flat">
            <a:solidFill>
              <a:srgbClr val="FFFFFF">
                <a:alpha val="87843"/>
              </a:srgbClr>
            </a:solidFill>
            <a:prstDash val="lgDash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-607719" y="9111523"/>
            <a:ext cx="19254369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12166421" y="1606376"/>
            <a:ext cx="6481934" cy="10756641"/>
            <a:chOff x="0" y="0"/>
            <a:chExt cx="1707176" cy="28330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07176" cy="2833025"/>
            </a:xfrm>
            <a:custGeom>
              <a:avLst/>
              <a:gdLst/>
              <a:ahLst/>
              <a:cxnLst/>
              <a:rect l="l" t="t" r="r" b="b"/>
              <a:pathLst>
                <a:path w="1707176" h="2833025">
                  <a:moveTo>
                    <a:pt x="0" y="0"/>
                  </a:moveTo>
                  <a:lnTo>
                    <a:pt x="1707176" y="0"/>
                  </a:lnTo>
                  <a:lnTo>
                    <a:pt x="1707176" y="2833025"/>
                  </a:lnTo>
                  <a:lnTo>
                    <a:pt x="0" y="2833025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1707176" cy="2794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635129" y="1076888"/>
            <a:ext cx="153927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4"/>
              </a:lnSpc>
            </a:pPr>
            <a:r>
              <a:rPr lang="en-US" sz="1200" b="1" spc="-43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JARVIS ROBOTICS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28700" y="1028700"/>
            <a:ext cx="437869" cy="437869"/>
            <a:chOff x="0" y="0"/>
            <a:chExt cx="698500" cy="6985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500" y="349250"/>
                  </a:moveTo>
                  <a:cubicBezTo>
                    <a:pt x="588476" y="313379"/>
                    <a:pt x="502341" y="175825"/>
                    <a:pt x="479908" y="0"/>
                  </a:cubicBezTo>
                  <a:cubicBezTo>
                    <a:pt x="463950" y="125312"/>
                    <a:pt x="415552" y="231178"/>
                    <a:pt x="349250" y="294716"/>
                  </a:cubicBezTo>
                  <a:cubicBezTo>
                    <a:pt x="282948" y="231178"/>
                    <a:pt x="234550" y="125475"/>
                    <a:pt x="218592" y="0"/>
                  </a:cubicBezTo>
                  <a:cubicBezTo>
                    <a:pt x="196159" y="175825"/>
                    <a:pt x="110024" y="313379"/>
                    <a:pt x="0" y="349250"/>
                  </a:cubicBezTo>
                  <a:cubicBezTo>
                    <a:pt x="110024" y="385121"/>
                    <a:pt x="196159" y="522675"/>
                    <a:pt x="218592" y="698500"/>
                  </a:cubicBezTo>
                  <a:cubicBezTo>
                    <a:pt x="234550" y="573188"/>
                    <a:pt x="282948" y="467322"/>
                    <a:pt x="349250" y="403784"/>
                  </a:cubicBezTo>
                  <a:cubicBezTo>
                    <a:pt x="415552" y="467322"/>
                    <a:pt x="463950" y="573025"/>
                    <a:pt x="479908" y="698500"/>
                  </a:cubicBezTo>
                  <a:cubicBezTo>
                    <a:pt x="502341" y="522675"/>
                    <a:pt x="588476" y="385121"/>
                    <a:pt x="698500" y="349250"/>
                  </a:cubicBez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44450"/>
              <a:ext cx="546100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28700" y="9554541"/>
            <a:ext cx="5408384" cy="289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lang="en-US" sz="1000" spc="162">
                <a:gradFill flip="none" rotWithShape="1">
                  <a:gsLst>
                    <a:gs pos="0">
                      <a:srgbClr val="9199A1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ROBOTICS FUNDAMENTALS • SESSION 01 / 04 • THURSDAY, 10 SEPT 2026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7A6C426F-D275-FAFB-C697-9E48DBCFAF9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8330" y="1047884"/>
            <a:ext cx="7780970" cy="8210416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 rot="5400000">
            <a:off x="9276804" y="758404"/>
            <a:ext cx="1711929" cy="1788014"/>
            <a:chOff x="0" y="0"/>
            <a:chExt cx="571500" cy="5969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5312322">
            <a:off x="15743087" y="7871964"/>
            <a:ext cx="1711929" cy="1788014"/>
            <a:chOff x="0" y="0"/>
            <a:chExt cx="571500" cy="5969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75E51E40-E420-CEA6-189E-941853C4A48A}"/>
              </a:ext>
            </a:extLst>
          </p:cNvPr>
          <p:cNvSpPr/>
          <p:nvPr/>
        </p:nvSpPr>
        <p:spPr>
          <a:xfrm>
            <a:off x="1028700" y="533400"/>
            <a:ext cx="5461000" cy="330200"/>
          </a:xfrm>
          <a:prstGeom prst="roundRect">
            <a:avLst/>
          </a:prstGeom>
          <a:solidFill>
            <a:srgbClr val="0A0A0C"/>
          </a:solidFill>
          <a:ln w="15240">
            <a:solidFill>
              <a:srgbClr val="D6DA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en-US" sz="1000" b="1">
                <a:solidFill>
                  <a:srgbClr val="D6DADB"/>
                </a:solidFill>
                <a:latin typeface="Segoe UI" panose="020B0502040204020203" pitchFamily="34" charset="0"/>
              </a:rPr>
              <a:t>INDUSTRIAL ANATOMY • 6 DEGREES OF FREEDOM</a:t>
            </a:r>
            <a:endParaRPr lang="fr-FR" sz="1000" b="1">
              <a:solidFill>
                <a:srgbClr val="D6DADB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152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hecker/>
      </p:transition>
    </mc:Choice>
    <mc:Fallback xmlns="">
      <p:transition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213599" y="952500"/>
            <a:ext cx="10033000" cy="619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600"/>
              </a:lnSpc>
            </a:pPr>
            <a:r>
              <a:rPr lang="en-US" sz="2800" b="1" spc="-168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3 COMMON ROBOT MOTORS</a:t>
            </a:r>
          </a:p>
        </p:txBody>
      </p:sp>
      <p:sp>
        <p:nvSpPr>
          <p:cNvPr id="3" name="AutoShape 3"/>
          <p:cNvSpPr/>
          <p:nvPr/>
        </p:nvSpPr>
        <p:spPr>
          <a:xfrm>
            <a:off x="-607719" y="9111523"/>
            <a:ext cx="19254369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7213600" y="1524000"/>
            <a:ext cx="100330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00"/>
              </a:lnSpc>
            </a:pPr>
            <a:r>
              <a:rPr lang="en-US" sz="1150" spc="162">
                <a:gradFill flip="none" rotWithShape="1">
                  <a:gsLst>
                    <a:gs pos="0">
                      <a:srgbClr val="F59E0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Light"/>
                <a:cs typeface="Pattanakarn Light"/>
                <a:sym typeface="Pattanakarn Light"/>
              </a:rPr>
              <a:t>CHOOSING THE MUSCLES FOR YOUR SYSTEM</a:t>
            </a:r>
          </a:p>
        </p:txBody>
      </p:sp>
      <p:grpSp>
        <p:nvGrpSpPr>
          <p:cNvPr id="5" name="Group 5" hidden="1"/>
          <p:cNvGrpSpPr/>
          <p:nvPr/>
        </p:nvGrpSpPr>
        <p:grpSpPr>
          <a:xfrm>
            <a:off x="-2342376" y="-4198081"/>
            <a:ext cx="6121579" cy="10756641"/>
            <a:chOff x="0" y="0"/>
            <a:chExt cx="1612268" cy="2833025"/>
          </a:xfrm>
        </p:grpSpPr>
        <p:sp>
          <p:nvSpPr>
            <p:cNvPr id="6" name="Freeform 6" hidden="1"/>
            <p:cNvSpPr/>
            <p:nvPr/>
          </p:nvSpPr>
          <p:spPr>
            <a:xfrm>
              <a:off x="0" y="0"/>
              <a:ext cx="1612268" cy="2833025"/>
            </a:xfrm>
            <a:custGeom>
              <a:avLst/>
              <a:gdLst/>
              <a:ahLst/>
              <a:cxnLst/>
              <a:rect l="l" t="t" r="r" b="b"/>
              <a:pathLst>
                <a:path w="1612268" h="2833025">
                  <a:moveTo>
                    <a:pt x="0" y="0"/>
                  </a:moveTo>
                  <a:lnTo>
                    <a:pt x="1612268" y="0"/>
                  </a:lnTo>
                  <a:lnTo>
                    <a:pt x="1612268" y="2833025"/>
                  </a:lnTo>
                  <a:lnTo>
                    <a:pt x="0" y="2833025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7" name="TextBox 7" hidden="1"/>
            <p:cNvSpPr txBox="1"/>
            <p:nvPr/>
          </p:nvSpPr>
          <p:spPr>
            <a:xfrm>
              <a:off x="0" y="38100"/>
              <a:ext cx="1612268" cy="2794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213599" y="2412999"/>
            <a:ext cx="4826000" cy="787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25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Moves in discrete precise steps (1.8°/pulse). Massive holding torque at 0 RPM; simple open-loop control.
💡 Example: 3D printers &amp; camera sliders.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13599" y="2032000"/>
            <a:ext cx="4826000" cy="213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400" b="1" spc="-53">
                <a:gradFill flip="none" rotWithShape="1">
                  <a:gsLst>
                    <a:gs pos="0">
                      <a:srgbClr val="38BDF8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Semi-Bold"/>
                <a:cs typeface="Pattanakarn Semi-Bold"/>
                <a:sym typeface="Pattanakarn Semi-Bold"/>
              </a:rPr>
              <a:t>STEPPER MOTORS</a:t>
            </a:r>
          </a:p>
        </p:txBody>
      </p:sp>
      <p:sp>
        <p:nvSpPr>
          <p:cNvPr id="18" name="AutoShape 18"/>
          <p:cNvSpPr/>
          <p:nvPr/>
        </p:nvSpPr>
        <p:spPr>
          <a:xfrm>
            <a:off x="7213600" y="1930400"/>
            <a:ext cx="2531491" cy="0"/>
          </a:xfrm>
          <a:prstGeom prst="line">
            <a:avLst/>
          </a:prstGeom>
          <a:ln w="57150" cap="flat">
            <a:solidFill>
              <a:srgbClr val="FFFFFF">
                <a:alpha val="87843"/>
              </a:srgbClr>
            </a:solidFill>
            <a:prstDash val="lgDash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12445999" y="2412999"/>
            <a:ext cx="4826000" cy="787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25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High speed, 90%+ efficiency, light weight. Requires smart FOC driver and magnetic encoder feedback.
💡 Example: Quadruped robot legs &amp; drones.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445999" y="2032000"/>
            <a:ext cx="4826000" cy="213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400" b="1" spc="-53">
                <a:gradFill flip="none" rotWithShape="1">
                  <a:gsLst>
                    <a:gs pos="0">
                      <a:srgbClr val="38BDF8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Semi-Bold"/>
                <a:cs typeface="Pattanakarn Semi-Bold"/>
                <a:sym typeface="Pattanakarn Semi-Bold"/>
              </a:rPr>
              <a:t>BRUSHLESS DC (BLDC)</a:t>
            </a:r>
          </a:p>
        </p:txBody>
      </p:sp>
      <p:sp>
        <p:nvSpPr>
          <p:cNvPr id="21" name="AutoShape 21"/>
          <p:cNvSpPr/>
          <p:nvPr/>
        </p:nvSpPr>
        <p:spPr>
          <a:xfrm>
            <a:off x="12446000" y="1930400"/>
            <a:ext cx="2531491" cy="0"/>
          </a:xfrm>
          <a:prstGeom prst="line">
            <a:avLst/>
          </a:prstGeom>
          <a:ln w="57150" cap="flat">
            <a:solidFill>
              <a:srgbClr val="FFFFFF">
                <a:alpha val="87843"/>
              </a:srgbClr>
            </a:solidFill>
            <a:prstDash val="lgDash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7213600" y="5778499"/>
            <a:ext cx="10033000" cy="517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25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All-in-one motor, gearbox, potentiometer &amp; driver. Simple 50 Hz PWM control; very low cost ($10).
💡 Example: Small robotic grippers &amp; gimbals.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213599" y="5397500"/>
            <a:ext cx="10033000" cy="213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400" b="1" spc="-53">
                <a:gradFill flip="none" rotWithShape="1">
                  <a:gsLst>
                    <a:gs pos="0">
                      <a:srgbClr val="38BDF8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Semi-Bold"/>
                <a:cs typeface="Pattanakarn Semi-Bold"/>
                <a:sym typeface="Pattanakarn Semi-Bold"/>
              </a:rPr>
              <a:t>HOBBY SERVOS</a:t>
            </a:r>
          </a:p>
        </p:txBody>
      </p:sp>
      <p:sp>
        <p:nvSpPr>
          <p:cNvPr id="24" name="AutoShape 24"/>
          <p:cNvSpPr/>
          <p:nvPr/>
        </p:nvSpPr>
        <p:spPr>
          <a:xfrm>
            <a:off x="7213600" y="5295900"/>
            <a:ext cx="2531491" cy="0"/>
          </a:xfrm>
          <a:prstGeom prst="line">
            <a:avLst/>
          </a:prstGeom>
          <a:ln w="57150" cap="flat">
            <a:solidFill>
              <a:srgbClr val="FFFFFF">
                <a:alpha val="87843"/>
              </a:srgbClr>
            </a:solidFill>
            <a:prstDash val="lgDash"/>
            <a:headEnd type="none" w="sm" len="sm"/>
            <a:tailEnd type="none" w="sm" len="sm"/>
          </a:ln>
        </p:spPr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73CE0FAC-E0A7-D63A-F6F0-1E8A8B39115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1180240"/>
            <a:ext cx="5023095" cy="792652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718414" y="8008473"/>
            <a:ext cx="1333079" cy="1392327"/>
            <a:chOff x="0" y="0"/>
            <a:chExt cx="571500" cy="5969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10800000">
            <a:off x="5009804" y="908442"/>
            <a:ext cx="1289396" cy="1346702"/>
            <a:chOff x="0" y="0"/>
            <a:chExt cx="571500" cy="5969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5" name="TextBox 15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C3B6354B-07AD-6D35-8540-80453D8443EC}"/>
              </a:ext>
            </a:extLst>
          </p:cNvPr>
          <p:cNvSpPr/>
          <p:nvPr/>
        </p:nvSpPr>
        <p:spPr>
          <a:xfrm>
            <a:off x="1028700" y="533400"/>
            <a:ext cx="5461000" cy="330200"/>
          </a:xfrm>
          <a:prstGeom prst="roundRect">
            <a:avLst/>
          </a:prstGeom>
          <a:solidFill>
            <a:srgbClr val="0A0A0C"/>
          </a:solidFill>
          <a:ln w="15240">
            <a:solidFill>
              <a:srgbClr val="D6DA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en-US" sz="1000" b="1">
                <a:solidFill>
                  <a:srgbClr val="D6DADB"/>
                </a:solidFill>
                <a:latin typeface="Segoe UI" panose="020B0502040204020203" pitchFamily="34" charset="0"/>
              </a:rPr>
              <a:t>ACTUATION • CHOOSING THE RIGHT MOTOR</a:t>
            </a:r>
            <a:endParaRPr lang="fr-FR" sz="1000" b="1">
              <a:solidFill>
                <a:srgbClr val="D6DADB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37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hecker/>
      </p:transition>
    </mc:Choice>
    <mc:Fallback xmlns="">
      <p:transition>
        <p:checker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135118" y="1091524"/>
            <a:ext cx="153927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44"/>
              </a:lnSpc>
            </a:pPr>
            <a:r>
              <a:rPr lang="en-US" sz="1200" b="1" spc="-43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JARVIS ROBOTICS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821431" y="1028700"/>
            <a:ext cx="437869" cy="437869"/>
            <a:chOff x="0" y="0"/>
            <a:chExt cx="698500" cy="6985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500" y="349250"/>
                  </a:moveTo>
                  <a:cubicBezTo>
                    <a:pt x="588476" y="313379"/>
                    <a:pt x="502341" y="175825"/>
                    <a:pt x="479908" y="0"/>
                  </a:cubicBezTo>
                  <a:cubicBezTo>
                    <a:pt x="463950" y="125312"/>
                    <a:pt x="415552" y="231178"/>
                    <a:pt x="349250" y="294716"/>
                  </a:cubicBezTo>
                  <a:cubicBezTo>
                    <a:pt x="282948" y="231178"/>
                    <a:pt x="234550" y="125475"/>
                    <a:pt x="218592" y="0"/>
                  </a:cubicBezTo>
                  <a:cubicBezTo>
                    <a:pt x="196159" y="175825"/>
                    <a:pt x="110024" y="313379"/>
                    <a:pt x="0" y="349250"/>
                  </a:cubicBezTo>
                  <a:cubicBezTo>
                    <a:pt x="110024" y="385121"/>
                    <a:pt x="196159" y="522675"/>
                    <a:pt x="218592" y="698500"/>
                  </a:cubicBezTo>
                  <a:cubicBezTo>
                    <a:pt x="234550" y="573188"/>
                    <a:pt x="282948" y="467322"/>
                    <a:pt x="349250" y="403784"/>
                  </a:cubicBezTo>
                  <a:cubicBezTo>
                    <a:pt x="415552" y="467322"/>
                    <a:pt x="463950" y="573025"/>
                    <a:pt x="479908" y="698500"/>
                  </a:cubicBezTo>
                  <a:cubicBezTo>
                    <a:pt x="502341" y="522675"/>
                    <a:pt x="588476" y="385121"/>
                    <a:pt x="698500" y="349250"/>
                  </a:cubicBez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76200" y="44450"/>
              <a:ext cx="546100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8700" y="5461000"/>
            <a:ext cx="5842000" cy="2765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2500" b="1" spc="-168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ACTUATORS, TRANSMISSIONS &amp; PHYSICS
Torque, gear reductions, efficiency, and mechanical sizing fundamentals.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365999" y="5460999"/>
            <a:ext cx="4572000" cy="1044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20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• Torque = Force × Distance: Sizing motors for worst-case horizontal reach
• Gear Ratios: Trading motor rotational speed for lifting torque
• Transmission types: Timing belts, lead screws, and harmonic drives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318999" y="5460999"/>
            <a:ext cx="4953000" cy="1044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20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• Efficiency losses: How heat and gear friction degrade power
• Backlash vs Pre-load: Eliminating deadband in gear teeth
• Motor thermal limits: Conduction and duty cycles
[Ref: SITAMS 18MEC325, Unit 2 &amp; Angeles 2nd Ed. Ch. 8]</a:t>
            </a:r>
          </a:p>
        </p:txBody>
      </p:sp>
      <p:sp>
        <p:nvSpPr>
          <p:cNvPr id="17" name="AutoShape 17"/>
          <p:cNvSpPr/>
          <p:nvPr/>
        </p:nvSpPr>
        <p:spPr>
          <a:xfrm>
            <a:off x="-607719" y="9111523"/>
            <a:ext cx="19254369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18"/>
          <p:cNvSpPr txBox="1"/>
          <p:nvPr/>
        </p:nvSpPr>
        <p:spPr>
          <a:xfrm>
            <a:off x="11850916" y="9554541"/>
            <a:ext cx="5408384" cy="289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00"/>
              </a:lnSpc>
            </a:pPr>
            <a:r>
              <a:rPr lang="en-US" sz="1000" spc="162">
                <a:gradFill flip="none" rotWithShape="1">
                  <a:gsLst>
                    <a:gs pos="0">
                      <a:srgbClr val="9199A1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ROBOTICS FUNDAMENTALS • SESSION 01 / 04 • THURSDAY, 10 SEPT 2026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F956B03A-867A-E381-6076-955C7DF15EB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5280" y="1062949"/>
            <a:ext cx="13427937" cy="3800856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 rot="-5400000">
            <a:off x="13633658" y="3599560"/>
            <a:ext cx="1468820" cy="1534100"/>
            <a:chOff x="0" y="0"/>
            <a:chExt cx="571500" cy="5969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5400000">
            <a:off x="1061340" y="699519"/>
            <a:ext cx="1468820" cy="1534100"/>
            <a:chOff x="0" y="0"/>
            <a:chExt cx="571500" cy="5969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DB7D5FD4-B931-E56C-F964-631B8B03049F}"/>
              </a:ext>
            </a:extLst>
          </p:cNvPr>
          <p:cNvSpPr/>
          <p:nvPr/>
        </p:nvSpPr>
        <p:spPr>
          <a:xfrm>
            <a:off x="1028700" y="533400"/>
            <a:ext cx="5461000" cy="330200"/>
          </a:xfrm>
          <a:prstGeom prst="roundRect">
            <a:avLst/>
          </a:prstGeom>
          <a:solidFill>
            <a:srgbClr val="0A0A0C"/>
          </a:solidFill>
          <a:ln w="15240">
            <a:solidFill>
              <a:srgbClr val="D6DA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fr-FR" sz="1000" b="1">
                <a:solidFill>
                  <a:srgbClr val="D6DADB"/>
                </a:solidFill>
                <a:latin typeface="Segoe UI" panose="020B0502040204020203" pitchFamily="34" charset="0"/>
              </a:rPr>
              <a:t>MODULE TRACK • 02 / 06</a:t>
            </a:r>
          </a:p>
        </p:txBody>
      </p:sp>
    </p:spTree>
    <p:extLst>
      <p:ext uri="{BB962C8B-B14F-4D97-AF65-F5344CB8AC3E}">
        <p14:creationId xmlns:p14="http://schemas.microsoft.com/office/powerpoint/2010/main" val="1054779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hecker/>
      </p:transition>
    </mc:Choice>
    <mc:Fallback xmlns="">
      <p:transition>
        <p:checker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270000"/>
            <a:ext cx="5270500" cy="625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3000" b="1" spc="-168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GEAR RATIOS &amp; SPEED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699" y="2476499"/>
            <a:ext cx="8064500" cy="2941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35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Electric motors naturally spin fast (3,000 RPM) with modest torque (0.2 N·m). Robots require high torque (20 N·m) at slow speed (30 RPM). Gearboxes solve this:
• Speed drops: Output Speed = Input Speed ÷ Gear Ratio (N)
• Torque multiplies: Output Torque = Input Torque × N × Efficiency (</a:t>
            </a:r>
            <a:r>
              <a:rPr lang="el-GR" sz="135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η ≈ 85%)
</a:t>
            </a:r>
            <a:r>
              <a:rPr lang="en-US" sz="135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💡 Real-World Example: An 18-Speed Bicycle:
When pedaling uphill, you shift into lowest gear (large rear cog). You pedal fast, your bike moves slowly, but climbing the steep hill feels effortless!
Takeaway: A 10:1 planetary gearbox turns a 0.5 N·m motor into a powerful 4.2 N·m joint.
[Reference: Jorge Angeles, 2nd Ed., Ch. 8 • Ref: 252.pdf]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006600"/>
            <a:ext cx="7032529" cy="207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00" b="1" spc="-53">
                <a:gradFill flip="none" rotWithShape="1">
                  <a:gsLst>
                    <a:gs pos="0">
                      <a:srgbClr val="F59E0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Semi-Bold"/>
                <a:cs typeface="Pattanakarn Semi-Bold"/>
                <a:sym typeface="Pattanakarn Semi-Bold"/>
              </a:rPr>
              <a:t>TRADING MOTOR RPM FOR LIFTING TORQUE</a:t>
            </a:r>
          </a:p>
        </p:txBody>
      </p:sp>
      <p:sp>
        <p:nvSpPr>
          <p:cNvPr id="5" name="AutoShape 5"/>
          <p:cNvSpPr/>
          <p:nvPr/>
        </p:nvSpPr>
        <p:spPr>
          <a:xfrm>
            <a:off x="1028700" y="1879600"/>
            <a:ext cx="2371381" cy="0"/>
          </a:xfrm>
          <a:prstGeom prst="line">
            <a:avLst/>
          </a:prstGeom>
          <a:ln w="57150" cap="flat">
            <a:solidFill>
              <a:srgbClr val="FFFFFF">
                <a:alpha val="87843"/>
              </a:srgbClr>
            </a:solidFill>
            <a:prstDash val="lgDash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-607719" y="9111523"/>
            <a:ext cx="19254369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12166421" y="1606376"/>
            <a:ext cx="6481934" cy="10756641"/>
            <a:chOff x="0" y="0"/>
            <a:chExt cx="1707176" cy="28330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07176" cy="2833025"/>
            </a:xfrm>
            <a:custGeom>
              <a:avLst/>
              <a:gdLst/>
              <a:ahLst/>
              <a:cxnLst/>
              <a:rect l="l" t="t" r="r" b="b"/>
              <a:pathLst>
                <a:path w="1707176" h="2833025">
                  <a:moveTo>
                    <a:pt x="0" y="0"/>
                  </a:moveTo>
                  <a:lnTo>
                    <a:pt x="1707176" y="0"/>
                  </a:lnTo>
                  <a:lnTo>
                    <a:pt x="1707176" y="2833025"/>
                  </a:lnTo>
                  <a:lnTo>
                    <a:pt x="0" y="2833025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1707176" cy="2794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635129" y="1076888"/>
            <a:ext cx="153927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4"/>
              </a:lnSpc>
            </a:pPr>
            <a:r>
              <a:rPr lang="en-US" sz="1200" b="1" spc="-43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JARVIS ROBOTICS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28700" y="1028700"/>
            <a:ext cx="437869" cy="437869"/>
            <a:chOff x="0" y="0"/>
            <a:chExt cx="698500" cy="6985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500" y="349250"/>
                  </a:moveTo>
                  <a:cubicBezTo>
                    <a:pt x="588476" y="313379"/>
                    <a:pt x="502341" y="175825"/>
                    <a:pt x="479908" y="0"/>
                  </a:cubicBezTo>
                  <a:cubicBezTo>
                    <a:pt x="463950" y="125312"/>
                    <a:pt x="415552" y="231178"/>
                    <a:pt x="349250" y="294716"/>
                  </a:cubicBezTo>
                  <a:cubicBezTo>
                    <a:pt x="282948" y="231178"/>
                    <a:pt x="234550" y="125475"/>
                    <a:pt x="218592" y="0"/>
                  </a:cubicBezTo>
                  <a:cubicBezTo>
                    <a:pt x="196159" y="175825"/>
                    <a:pt x="110024" y="313379"/>
                    <a:pt x="0" y="349250"/>
                  </a:cubicBezTo>
                  <a:cubicBezTo>
                    <a:pt x="110024" y="385121"/>
                    <a:pt x="196159" y="522675"/>
                    <a:pt x="218592" y="698500"/>
                  </a:cubicBezTo>
                  <a:cubicBezTo>
                    <a:pt x="234550" y="573188"/>
                    <a:pt x="282948" y="467322"/>
                    <a:pt x="349250" y="403784"/>
                  </a:cubicBezTo>
                  <a:cubicBezTo>
                    <a:pt x="415552" y="467322"/>
                    <a:pt x="463950" y="573025"/>
                    <a:pt x="479908" y="698500"/>
                  </a:cubicBezTo>
                  <a:cubicBezTo>
                    <a:pt x="502341" y="522675"/>
                    <a:pt x="588476" y="385121"/>
                    <a:pt x="698500" y="349250"/>
                  </a:cubicBez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44450"/>
              <a:ext cx="546100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28700" y="9554541"/>
            <a:ext cx="5408384" cy="289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lang="en-US" sz="1000" spc="162">
                <a:gradFill flip="none" rotWithShape="1">
                  <a:gsLst>
                    <a:gs pos="0">
                      <a:srgbClr val="9199A1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ROBOTICS FUNDAMENTALS • SESSION 01 / 04 • THURSDAY, 10 SEPT 2026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38E26715-9D43-CF91-6421-524766CF4EA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8330" y="1047884"/>
            <a:ext cx="7780970" cy="8210416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 rot="5400000">
            <a:off x="9276804" y="758404"/>
            <a:ext cx="1711929" cy="1788014"/>
            <a:chOff x="0" y="0"/>
            <a:chExt cx="571500" cy="5969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5312322">
            <a:off x="15743087" y="7871964"/>
            <a:ext cx="1711929" cy="1788014"/>
            <a:chOff x="0" y="0"/>
            <a:chExt cx="571500" cy="5969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EFE0A58D-C22E-41D0-56CE-B9C5C47F3A43}"/>
              </a:ext>
            </a:extLst>
          </p:cNvPr>
          <p:cNvSpPr/>
          <p:nvPr/>
        </p:nvSpPr>
        <p:spPr>
          <a:xfrm>
            <a:off x="1028700" y="533400"/>
            <a:ext cx="5461000" cy="330200"/>
          </a:xfrm>
          <a:prstGeom prst="roundRect">
            <a:avLst/>
          </a:prstGeom>
          <a:solidFill>
            <a:srgbClr val="0A0A0C"/>
          </a:solidFill>
          <a:ln w="15240">
            <a:solidFill>
              <a:srgbClr val="D6DA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fr-FR" sz="1000" b="1">
                <a:solidFill>
                  <a:srgbClr val="D6DADB"/>
                </a:solidFill>
                <a:latin typeface="Segoe UI" panose="020B0502040204020203" pitchFamily="34" charset="0"/>
              </a:rPr>
              <a:t>MECHANICAL ADVANTAGE • GEARBOX DESIGN</a:t>
            </a:r>
          </a:p>
        </p:txBody>
      </p:sp>
    </p:spTree>
    <p:extLst>
      <p:ext uri="{BB962C8B-B14F-4D97-AF65-F5344CB8AC3E}">
        <p14:creationId xmlns:p14="http://schemas.microsoft.com/office/powerpoint/2010/main" val="2323033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hecker/>
      </p:transition>
    </mc:Choice>
    <mc:Fallback xmlns="">
      <p:transition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270000"/>
            <a:ext cx="5270500" cy="625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3000" b="1" spc="-168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TORQUE: THE SHOPPING BAG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699" y="2476499"/>
            <a:ext cx="8064500" cy="2395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35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Hold a heavy 5 kg shopping bag close to your chest: Easy.
Now stretch your arm straight out horizontally: Your shoulder muscles burn in 10 seconds!
• The Physics: The weight is still 5 kg (F ≈ 50 N).
• Close to chest (L = 0.05 m): Torque = 50 N × 0.05 m = 2.5 N·m
• Outstretched (L = 0.60 m): Torque = 50 N × 0.60 m = 30 N·m (12× more torque required!)
Golden Design Rule: Always size base and shoulder motors for full horizontal cantilever extension!
[Reference: Jorge Angeles, 2nd Ed., Ch. 8 • Statics &amp; Cantilever Moments]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006600"/>
            <a:ext cx="7032529" cy="207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00" b="1" spc="-53">
                <a:gradFill flip="none" rotWithShape="1">
                  <a:gsLst>
                    <a:gs pos="0">
                      <a:srgbClr val="F59E0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Semi-Bold"/>
                <a:cs typeface="Pattanakarn Semi-Bold"/>
                <a:sym typeface="Pattanakarn Semi-Bold"/>
              </a:rPr>
              <a:t>INTUITIVE PHYSICS FOR SIZING ROBOT ARMS</a:t>
            </a:r>
          </a:p>
        </p:txBody>
      </p:sp>
      <p:sp>
        <p:nvSpPr>
          <p:cNvPr id="5" name="AutoShape 5"/>
          <p:cNvSpPr/>
          <p:nvPr/>
        </p:nvSpPr>
        <p:spPr>
          <a:xfrm>
            <a:off x="1028700" y="1879600"/>
            <a:ext cx="2371381" cy="0"/>
          </a:xfrm>
          <a:prstGeom prst="line">
            <a:avLst/>
          </a:prstGeom>
          <a:ln w="57150" cap="flat">
            <a:solidFill>
              <a:srgbClr val="FFFFFF">
                <a:alpha val="87843"/>
              </a:srgbClr>
            </a:solidFill>
            <a:prstDash val="lgDash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-607719" y="9111523"/>
            <a:ext cx="19254369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12166421" y="1606376"/>
            <a:ext cx="6481934" cy="10756641"/>
            <a:chOff x="0" y="0"/>
            <a:chExt cx="1707176" cy="28330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07176" cy="2833025"/>
            </a:xfrm>
            <a:custGeom>
              <a:avLst/>
              <a:gdLst/>
              <a:ahLst/>
              <a:cxnLst/>
              <a:rect l="l" t="t" r="r" b="b"/>
              <a:pathLst>
                <a:path w="1707176" h="2833025">
                  <a:moveTo>
                    <a:pt x="0" y="0"/>
                  </a:moveTo>
                  <a:lnTo>
                    <a:pt x="1707176" y="0"/>
                  </a:lnTo>
                  <a:lnTo>
                    <a:pt x="1707176" y="2833025"/>
                  </a:lnTo>
                  <a:lnTo>
                    <a:pt x="0" y="2833025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1707176" cy="2794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635129" y="1076888"/>
            <a:ext cx="153927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4"/>
              </a:lnSpc>
            </a:pPr>
            <a:r>
              <a:rPr lang="en-US" sz="1200" b="1" spc="-43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JARVIS ROBOTICS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28700" y="1028700"/>
            <a:ext cx="437869" cy="437869"/>
            <a:chOff x="0" y="0"/>
            <a:chExt cx="698500" cy="6985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500" y="349250"/>
                  </a:moveTo>
                  <a:cubicBezTo>
                    <a:pt x="588476" y="313379"/>
                    <a:pt x="502341" y="175825"/>
                    <a:pt x="479908" y="0"/>
                  </a:cubicBezTo>
                  <a:cubicBezTo>
                    <a:pt x="463950" y="125312"/>
                    <a:pt x="415552" y="231178"/>
                    <a:pt x="349250" y="294716"/>
                  </a:cubicBezTo>
                  <a:cubicBezTo>
                    <a:pt x="282948" y="231178"/>
                    <a:pt x="234550" y="125475"/>
                    <a:pt x="218592" y="0"/>
                  </a:cubicBezTo>
                  <a:cubicBezTo>
                    <a:pt x="196159" y="175825"/>
                    <a:pt x="110024" y="313379"/>
                    <a:pt x="0" y="349250"/>
                  </a:cubicBezTo>
                  <a:cubicBezTo>
                    <a:pt x="110024" y="385121"/>
                    <a:pt x="196159" y="522675"/>
                    <a:pt x="218592" y="698500"/>
                  </a:cubicBezTo>
                  <a:cubicBezTo>
                    <a:pt x="234550" y="573188"/>
                    <a:pt x="282948" y="467322"/>
                    <a:pt x="349250" y="403784"/>
                  </a:cubicBezTo>
                  <a:cubicBezTo>
                    <a:pt x="415552" y="467322"/>
                    <a:pt x="463950" y="573025"/>
                    <a:pt x="479908" y="698500"/>
                  </a:cubicBezTo>
                  <a:cubicBezTo>
                    <a:pt x="502341" y="522675"/>
                    <a:pt x="588476" y="385121"/>
                    <a:pt x="698500" y="349250"/>
                  </a:cubicBez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44450"/>
              <a:ext cx="546100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28700" y="9554541"/>
            <a:ext cx="5408384" cy="289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lang="en-US" sz="1000" spc="162">
                <a:gradFill flip="none" rotWithShape="1">
                  <a:gsLst>
                    <a:gs pos="0">
                      <a:srgbClr val="9199A1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ROBOTICS FUNDAMENTALS • SESSION 01 / 04 • THURSDAY, 10 SEPT 2026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5BFFB3E2-8C07-BA33-7B20-B69B02E533B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8330" y="1047884"/>
            <a:ext cx="7780970" cy="8210416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 rot="5400000">
            <a:off x="9276804" y="758404"/>
            <a:ext cx="1711929" cy="1788014"/>
            <a:chOff x="0" y="0"/>
            <a:chExt cx="571500" cy="5969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5312322">
            <a:off x="15743087" y="7871964"/>
            <a:ext cx="1711929" cy="1788014"/>
            <a:chOff x="0" y="0"/>
            <a:chExt cx="571500" cy="5969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B38C9CF5-1B44-FF74-63C1-1E85DD8285BE}"/>
              </a:ext>
            </a:extLst>
          </p:cNvPr>
          <p:cNvSpPr/>
          <p:nvPr/>
        </p:nvSpPr>
        <p:spPr>
          <a:xfrm>
            <a:off x="1028700" y="533400"/>
            <a:ext cx="5461000" cy="330200"/>
          </a:xfrm>
          <a:prstGeom prst="roundRect">
            <a:avLst/>
          </a:prstGeom>
          <a:solidFill>
            <a:srgbClr val="0A0A0C"/>
          </a:solidFill>
          <a:ln w="15240">
            <a:solidFill>
              <a:srgbClr val="D6DA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fr-FR" sz="1000" b="1">
                <a:solidFill>
                  <a:srgbClr val="D6DADB"/>
                </a:solidFill>
                <a:latin typeface="Segoe UI" panose="020B0502040204020203" pitchFamily="34" charset="0"/>
              </a:rPr>
              <a:t>PHYSICS PRINCIPLES • CANTILEVER LOADS</a:t>
            </a:r>
          </a:p>
        </p:txBody>
      </p:sp>
    </p:spTree>
    <p:extLst>
      <p:ext uri="{BB962C8B-B14F-4D97-AF65-F5344CB8AC3E}">
        <p14:creationId xmlns:p14="http://schemas.microsoft.com/office/powerpoint/2010/main" val="2404422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hecker/>
      </p:transition>
    </mc:Choice>
    <mc:Fallback xmlns="">
      <p:transition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>
            <a:off x="-607719" y="9111523"/>
            <a:ext cx="19254369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12166421" y="1606376"/>
            <a:ext cx="6481934" cy="10756641"/>
            <a:chOff x="0" y="0"/>
            <a:chExt cx="1707176" cy="28330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07176" cy="2833025"/>
            </a:xfrm>
            <a:custGeom>
              <a:avLst/>
              <a:gdLst/>
              <a:ahLst/>
              <a:cxnLst/>
              <a:rect l="l" t="t" r="r" b="b"/>
              <a:pathLst>
                <a:path w="1707176" h="2833025">
                  <a:moveTo>
                    <a:pt x="0" y="0"/>
                  </a:moveTo>
                  <a:lnTo>
                    <a:pt x="1707176" y="0"/>
                  </a:lnTo>
                  <a:lnTo>
                    <a:pt x="1707176" y="2833025"/>
                  </a:lnTo>
                  <a:lnTo>
                    <a:pt x="0" y="2833025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1707176" cy="2794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635129" y="1076888"/>
            <a:ext cx="153927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4"/>
              </a:lnSpc>
            </a:pPr>
            <a:r>
              <a:rPr lang="en-US" sz="1200" b="1" spc="-43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JARVIS ROBOTICS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28700" y="1028700"/>
            <a:ext cx="437869" cy="437869"/>
            <a:chOff x="0" y="0"/>
            <a:chExt cx="698500" cy="6985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500" y="349250"/>
                  </a:moveTo>
                  <a:cubicBezTo>
                    <a:pt x="588476" y="313379"/>
                    <a:pt x="502341" y="175825"/>
                    <a:pt x="479908" y="0"/>
                  </a:cubicBezTo>
                  <a:cubicBezTo>
                    <a:pt x="463950" y="125312"/>
                    <a:pt x="415552" y="231178"/>
                    <a:pt x="349250" y="294716"/>
                  </a:cubicBezTo>
                  <a:cubicBezTo>
                    <a:pt x="282948" y="231178"/>
                    <a:pt x="234550" y="125475"/>
                    <a:pt x="218592" y="0"/>
                  </a:cubicBezTo>
                  <a:cubicBezTo>
                    <a:pt x="196159" y="175825"/>
                    <a:pt x="110024" y="313379"/>
                    <a:pt x="0" y="349250"/>
                  </a:cubicBezTo>
                  <a:cubicBezTo>
                    <a:pt x="110024" y="385121"/>
                    <a:pt x="196159" y="522675"/>
                    <a:pt x="218592" y="698500"/>
                  </a:cubicBezTo>
                  <a:cubicBezTo>
                    <a:pt x="234550" y="573188"/>
                    <a:pt x="282948" y="467322"/>
                    <a:pt x="349250" y="403784"/>
                  </a:cubicBezTo>
                  <a:cubicBezTo>
                    <a:pt x="415552" y="467322"/>
                    <a:pt x="463950" y="573025"/>
                    <a:pt x="479908" y="698500"/>
                  </a:cubicBezTo>
                  <a:cubicBezTo>
                    <a:pt x="502341" y="522675"/>
                    <a:pt x="588476" y="385121"/>
                    <a:pt x="698500" y="349250"/>
                  </a:cubicBez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44450"/>
              <a:ext cx="546100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28700" y="9554541"/>
            <a:ext cx="5408384" cy="289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lang="en-US" sz="1000" spc="162">
                <a:gradFill flip="none" rotWithShape="1">
                  <a:gsLst>
                    <a:gs pos="0">
                      <a:srgbClr val="9199A1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ROBOTICS FUNDAMENTALS • SESSION 01 / 04 • THURSDAY, 10 SEPT 2026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5AF51A1C-7F93-5BE2-B129-357ADBA370B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8330" y="1047884"/>
            <a:ext cx="7780970" cy="8210416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 rot="5400000">
            <a:off x="9276804" y="758404"/>
            <a:ext cx="1711929" cy="1788014"/>
            <a:chOff x="0" y="0"/>
            <a:chExt cx="571500" cy="5969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5312322">
            <a:off x="15743087" y="7871964"/>
            <a:ext cx="1711929" cy="1788014"/>
            <a:chOff x="0" y="0"/>
            <a:chExt cx="571500" cy="5969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1280AF5B-1E2F-BDE6-66D3-35CB15967C66}"/>
              </a:ext>
            </a:extLst>
          </p:cNvPr>
          <p:cNvSpPr/>
          <p:nvPr/>
        </p:nvSpPr>
        <p:spPr>
          <a:xfrm>
            <a:off x="1028700" y="533400"/>
            <a:ext cx="5461000" cy="330200"/>
          </a:xfrm>
          <a:prstGeom prst="roundRect">
            <a:avLst/>
          </a:prstGeom>
          <a:solidFill>
            <a:srgbClr val="0A0A0C"/>
          </a:solidFill>
          <a:ln w="1524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en-US" sz="1000" b="1">
                <a:solidFill>
                  <a:srgbClr val="F59E0B"/>
                </a:solidFill>
                <a:latin typeface="Segoe UI" panose="020B0502040204020203" pitchFamily="34" charset="0"/>
              </a:rPr>
              <a:t>⚡ QUICK CHALLENGE 03 • MOTOR SIZING MATH</a:t>
            </a:r>
            <a:endParaRPr lang="fr-FR" sz="1000" b="1">
              <a:solidFill>
                <a:srgbClr val="F59E0B"/>
              </a:solidFill>
              <a:latin typeface="Segoe UI" panose="020B0502040204020203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57FAE701-3C10-C99E-148E-4C1ECF948357}"/>
              </a:ext>
            </a:extLst>
          </p:cNvPr>
          <p:cNvSpPr txBox="1"/>
          <p:nvPr/>
        </p:nvSpPr>
        <p:spPr>
          <a:xfrm>
            <a:off x="1028700" y="1206500"/>
            <a:ext cx="8178800" cy="430887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500" b="1">
                <a:solidFill>
                  <a:srgbClr val="FFFFFF"/>
                </a:solidFill>
                <a:latin typeface="Segoe UI Bold"/>
              </a:rPr>
              <a:t>MOTOR SIZING CALCULATION CHECK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A3120459-C4CF-7DF4-04D0-F1BF0FA1B30D}"/>
              </a:ext>
            </a:extLst>
          </p:cNvPr>
          <p:cNvSpPr txBox="1"/>
          <p:nvPr/>
        </p:nvSpPr>
        <p:spPr>
          <a:xfrm>
            <a:off x="1028700" y="1905000"/>
            <a:ext cx="8178800" cy="44627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300">
                <a:solidFill>
                  <a:srgbClr val="D6DADB"/>
                </a:solidFill>
                <a:latin typeface="Segoe UI" panose="020B0502040204020203" pitchFamily="34" charset="0"/>
              </a:rPr>
              <a:t>A robot arm link is 0.5 meters long and holds a 2 kg payload (20 N) horizontally outstretched. With a 2× safety margin, what torque must the shoulder motor provide?</a:t>
            </a:r>
            <a:endParaRPr lang="fr-FR" sz="1300">
              <a:solidFill>
                <a:srgbClr val="D6DADB"/>
              </a:solidFill>
              <a:latin typeface="Segoe UI" panose="020B0502040204020203" pitchFamily="34" charset="0"/>
            </a:endParaRP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52128AD4-DEB9-24C9-6EFB-9EDB46BFB2EB}"/>
              </a:ext>
            </a:extLst>
          </p:cNvPr>
          <p:cNvSpPr/>
          <p:nvPr/>
        </p:nvSpPr>
        <p:spPr>
          <a:xfrm>
            <a:off x="1028700" y="3365500"/>
            <a:ext cx="4000500" cy="1206500"/>
          </a:xfrm>
          <a:prstGeom prst="roundRect">
            <a:avLst/>
          </a:prstGeom>
          <a:solidFill>
            <a:srgbClr val="1A1D21"/>
          </a:solidFill>
          <a:ln w="15240">
            <a:solidFill>
              <a:srgbClr val="3C42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 algn="ctr"/>
            <a:r>
              <a:rPr lang="fr-FR" sz="1200" b="1">
                <a:solidFill>
                  <a:srgbClr val="F59E0B"/>
                </a:solidFill>
                <a:latin typeface="Segoe UI" panose="020B0502040204020203" pitchFamily="34" charset="0"/>
              </a:rPr>
              <a:t>[A]</a:t>
            </a:r>
            <a:r>
              <a:rPr lang="fr-FR" sz="1200">
                <a:solidFill>
                  <a:srgbClr val="FFFFFF"/>
                </a:solidFill>
                <a:latin typeface="Segoe UI" panose="020B0502040204020203" pitchFamily="34" charset="0"/>
              </a:rPr>
              <a:t>  2.0 N·m (Force ÷ Distance)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EC668770-B35F-219A-41CA-F01CABDF86EE}"/>
              </a:ext>
            </a:extLst>
          </p:cNvPr>
          <p:cNvSpPr/>
          <p:nvPr/>
        </p:nvSpPr>
        <p:spPr>
          <a:xfrm>
            <a:off x="5207000" y="3365500"/>
            <a:ext cx="4000500" cy="1206500"/>
          </a:xfrm>
          <a:prstGeom prst="roundRect">
            <a:avLst/>
          </a:prstGeom>
          <a:solidFill>
            <a:srgbClr val="1A1D21"/>
          </a:solidFill>
          <a:ln w="15240">
            <a:solidFill>
              <a:srgbClr val="3C42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 algn="ctr"/>
            <a:r>
              <a:rPr lang="fr-FR" sz="1200" b="1">
                <a:solidFill>
                  <a:srgbClr val="F59E0B"/>
                </a:solidFill>
                <a:latin typeface="Segoe UI" panose="020B0502040204020203" pitchFamily="34" charset="0"/>
              </a:rPr>
              <a:t>[B]</a:t>
            </a:r>
            <a:r>
              <a:rPr lang="fr-FR" sz="1200">
                <a:solidFill>
                  <a:srgbClr val="FFFFFF"/>
                </a:solidFill>
                <a:latin typeface="Segoe UI" panose="020B0502040204020203" pitchFamily="34" charset="0"/>
              </a:rPr>
              <a:t>  5.0 N·m (Distance ÷ Force)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C02D45EB-0612-B3B8-E2D7-324C6ED09B39}"/>
              </a:ext>
            </a:extLst>
          </p:cNvPr>
          <p:cNvSpPr/>
          <p:nvPr/>
        </p:nvSpPr>
        <p:spPr>
          <a:xfrm>
            <a:off x="1028700" y="4762500"/>
            <a:ext cx="4000500" cy="1206500"/>
          </a:xfrm>
          <a:prstGeom prst="roundRect">
            <a:avLst/>
          </a:prstGeom>
          <a:solidFill>
            <a:srgbClr val="1A1D21"/>
          </a:solidFill>
          <a:ln w="15240">
            <a:solidFill>
              <a:srgbClr val="3C42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 algn="ctr"/>
            <a:r>
              <a:rPr lang="pt-BR" sz="1200" b="1">
                <a:solidFill>
                  <a:srgbClr val="F59E0B"/>
                </a:solidFill>
                <a:latin typeface="Segoe UI" panose="020B0502040204020203" pitchFamily="34" charset="0"/>
              </a:rPr>
              <a:t>[C]</a:t>
            </a:r>
            <a:r>
              <a:rPr lang="pt-BR" sz="1200">
                <a:solidFill>
                  <a:srgbClr val="FFFFFF"/>
                </a:solidFill>
                <a:latin typeface="Segoe UI" panose="020B0502040204020203" pitchFamily="34" charset="0"/>
              </a:rPr>
              <a:t>  20.0 N·m (Torque = 20 N × 0.5 m × 2× Safety Factor)</a:t>
            </a:r>
            <a:endParaRPr lang="fr-FR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534F9345-FF5F-FABF-E72A-64D82CE7589F}"/>
              </a:ext>
            </a:extLst>
          </p:cNvPr>
          <p:cNvSpPr/>
          <p:nvPr/>
        </p:nvSpPr>
        <p:spPr>
          <a:xfrm>
            <a:off x="5207000" y="4762500"/>
            <a:ext cx="4000500" cy="1206500"/>
          </a:xfrm>
          <a:prstGeom prst="roundRect">
            <a:avLst/>
          </a:prstGeom>
          <a:solidFill>
            <a:srgbClr val="1A1D21"/>
          </a:solidFill>
          <a:ln w="15240">
            <a:solidFill>
              <a:srgbClr val="3C42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 algn="ctr"/>
            <a:r>
              <a:rPr lang="fr-FR" sz="1200" b="1">
                <a:solidFill>
                  <a:srgbClr val="F59E0B"/>
                </a:solidFill>
                <a:latin typeface="Segoe UI" panose="020B0502040204020203" pitchFamily="34" charset="0"/>
              </a:rPr>
              <a:t>[D]</a:t>
            </a:r>
            <a:r>
              <a:rPr lang="fr-FR" sz="1200">
                <a:solidFill>
                  <a:srgbClr val="FFFFFF"/>
                </a:solidFill>
                <a:latin typeface="Segoe UI" panose="020B0502040204020203" pitchFamily="34" charset="0"/>
              </a:rPr>
              <a:t>  50.0 N·m (Force × Mass)</a:t>
            </a: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FAB63C39-C481-4672-2270-AE1906129483}"/>
              </a:ext>
            </a:extLst>
          </p:cNvPr>
          <p:cNvSpPr/>
          <p:nvPr/>
        </p:nvSpPr>
        <p:spPr>
          <a:xfrm>
            <a:off x="1028700" y="6286500"/>
            <a:ext cx="8178800" cy="1397000"/>
          </a:xfrm>
          <a:prstGeom prst="roundRect">
            <a:avLst/>
          </a:prstGeom>
          <a:solidFill>
            <a:srgbClr val="0F2319"/>
          </a:solidFill>
          <a:ln w="254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101600" rIns="203200" rtlCol="0" anchor="ctr"/>
          <a:lstStyle/>
          <a:p>
            <a:pPr algn="ctr"/>
            <a:r>
              <a:rPr lang="en-US" sz="1350" b="1">
                <a:solidFill>
                  <a:srgbClr val="10B981"/>
                </a:solidFill>
                <a:latin typeface="Segoe UI" panose="020B0502040204020203" pitchFamily="34" charset="0"/>
              </a:rPr>
              <a:t>✓ CORRECT ANSWER: [C]
Static torque τ = F × L = 20 N × 0.5 m = 10 N·m. Multiplying by a 2× engineering safety factor yields 20 N·m to overcome link weight, friction, and acceleration! [Ref: Angeles Ch. 8]</a:t>
            </a:r>
            <a:endParaRPr lang="fr-FR" sz="1350" b="1">
              <a:solidFill>
                <a:srgbClr val="10B98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2972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hecker/>
      </p:transition>
    </mc:Choice>
    <mc:Fallback xmlns="">
      <p:transition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/>
      <p:bldP spid="27" grpId="0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270000"/>
            <a:ext cx="5270500" cy="625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3000" b="1" spc="-168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RESOLUTION VS ACCURACY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699" y="2476499"/>
            <a:ext cx="8064500" cy="3203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35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Engineers often confuse these 3 critical metrology specifications:
• 1. Resolution: The smallest step the encoder or driver can detect.
  💡 Example: The tiny millimeter tick marks on a ruler.
• 2. Accuracy: How close the gripper gets to the true world coordinate.
  💡 Example: Throwing a dart and hitting the bullseye.
• 3. Repeatability: How consistently the robot returns to the exact same spot across 1,000 cycles.
  💡 Example: Throwing 10 darts that all land in a tight 2mm cluster, even if slightly off-center.
Key Insight: In industrial robotics, repeatability is far more critical than accuracy. Offsets can be calibrated in software!
[Reference: SITAMS 18MEC325, Unit 1 • Metrology Specs]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006600"/>
            <a:ext cx="7032529" cy="207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00" b="1" spc="-53">
                <a:gradFill flip="none" rotWithShape="1">
                  <a:gsLst>
                    <a:gs pos="0">
                      <a:srgbClr val="F59E0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Semi-Bold"/>
                <a:cs typeface="Pattanakarn Semi-Bold"/>
                <a:sym typeface="Pattanakarn Semi-Bold"/>
              </a:rPr>
              <a:t>THE DARTBOARD ANALOGY FOR ROBOT PRECISION</a:t>
            </a:r>
          </a:p>
        </p:txBody>
      </p:sp>
      <p:sp>
        <p:nvSpPr>
          <p:cNvPr id="5" name="AutoShape 5"/>
          <p:cNvSpPr/>
          <p:nvPr/>
        </p:nvSpPr>
        <p:spPr>
          <a:xfrm>
            <a:off x="1028700" y="1879600"/>
            <a:ext cx="2371381" cy="0"/>
          </a:xfrm>
          <a:prstGeom prst="line">
            <a:avLst/>
          </a:prstGeom>
          <a:ln w="57150" cap="flat">
            <a:solidFill>
              <a:srgbClr val="FFFFFF">
                <a:alpha val="87843"/>
              </a:srgbClr>
            </a:solidFill>
            <a:prstDash val="lgDash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-607719" y="9111523"/>
            <a:ext cx="19254369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12166421" y="1606376"/>
            <a:ext cx="6481934" cy="10756641"/>
            <a:chOff x="0" y="0"/>
            <a:chExt cx="1707176" cy="28330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07176" cy="2833025"/>
            </a:xfrm>
            <a:custGeom>
              <a:avLst/>
              <a:gdLst/>
              <a:ahLst/>
              <a:cxnLst/>
              <a:rect l="l" t="t" r="r" b="b"/>
              <a:pathLst>
                <a:path w="1707176" h="2833025">
                  <a:moveTo>
                    <a:pt x="0" y="0"/>
                  </a:moveTo>
                  <a:lnTo>
                    <a:pt x="1707176" y="0"/>
                  </a:lnTo>
                  <a:lnTo>
                    <a:pt x="1707176" y="2833025"/>
                  </a:lnTo>
                  <a:lnTo>
                    <a:pt x="0" y="2833025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1707176" cy="2794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635129" y="1076888"/>
            <a:ext cx="153927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4"/>
              </a:lnSpc>
            </a:pPr>
            <a:r>
              <a:rPr lang="en-US" sz="1200" b="1" spc="-43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JARVIS ROBOTICS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28700" y="1028700"/>
            <a:ext cx="437869" cy="437869"/>
            <a:chOff x="0" y="0"/>
            <a:chExt cx="698500" cy="6985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500" y="349250"/>
                  </a:moveTo>
                  <a:cubicBezTo>
                    <a:pt x="588476" y="313379"/>
                    <a:pt x="502341" y="175825"/>
                    <a:pt x="479908" y="0"/>
                  </a:cubicBezTo>
                  <a:cubicBezTo>
                    <a:pt x="463950" y="125312"/>
                    <a:pt x="415552" y="231178"/>
                    <a:pt x="349250" y="294716"/>
                  </a:cubicBezTo>
                  <a:cubicBezTo>
                    <a:pt x="282948" y="231178"/>
                    <a:pt x="234550" y="125475"/>
                    <a:pt x="218592" y="0"/>
                  </a:cubicBezTo>
                  <a:cubicBezTo>
                    <a:pt x="196159" y="175825"/>
                    <a:pt x="110024" y="313379"/>
                    <a:pt x="0" y="349250"/>
                  </a:cubicBezTo>
                  <a:cubicBezTo>
                    <a:pt x="110024" y="385121"/>
                    <a:pt x="196159" y="522675"/>
                    <a:pt x="218592" y="698500"/>
                  </a:cubicBezTo>
                  <a:cubicBezTo>
                    <a:pt x="234550" y="573188"/>
                    <a:pt x="282948" y="467322"/>
                    <a:pt x="349250" y="403784"/>
                  </a:cubicBezTo>
                  <a:cubicBezTo>
                    <a:pt x="415552" y="467322"/>
                    <a:pt x="463950" y="573025"/>
                    <a:pt x="479908" y="698500"/>
                  </a:cubicBezTo>
                  <a:cubicBezTo>
                    <a:pt x="502341" y="522675"/>
                    <a:pt x="588476" y="385121"/>
                    <a:pt x="698500" y="349250"/>
                  </a:cubicBez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44450"/>
              <a:ext cx="546100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28700" y="9554541"/>
            <a:ext cx="5408384" cy="289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lang="en-US" sz="1000" spc="162">
                <a:gradFill flip="none" rotWithShape="1">
                  <a:gsLst>
                    <a:gs pos="0">
                      <a:srgbClr val="9199A1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ROBOTICS FUNDAMENTALS • SESSION 01 / 04 • THURSDAY, 10 SEPT 2026</a:t>
            </a: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F4F2568E-84A8-881E-2EFE-613A0102F954}"/>
              </a:ext>
            </a:extLst>
          </p:cNvPr>
          <p:cNvSpPr/>
          <p:nvPr/>
        </p:nvSpPr>
        <p:spPr>
          <a:xfrm>
            <a:off x="1028700" y="533400"/>
            <a:ext cx="5461000" cy="330200"/>
          </a:xfrm>
          <a:prstGeom prst="roundRect">
            <a:avLst/>
          </a:prstGeom>
          <a:solidFill>
            <a:srgbClr val="0A0A0C"/>
          </a:solidFill>
          <a:ln w="15240">
            <a:solidFill>
              <a:srgbClr val="D6DA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fr-FR" sz="1000" b="1">
                <a:solidFill>
                  <a:srgbClr val="D6DADB"/>
                </a:solidFill>
                <a:latin typeface="Segoe UI" panose="020B0502040204020203" pitchFamily="34" charset="0"/>
              </a:rPr>
              <a:t>METROLOGY • PRECISION SPECIFICATIONS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0D7793E0-CBA8-027E-2108-7C224B83247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8330" y="1047884"/>
            <a:ext cx="7780970" cy="8210416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 rot="5400000">
            <a:off x="9276804" y="758404"/>
            <a:ext cx="1711929" cy="1788014"/>
            <a:chOff x="0" y="0"/>
            <a:chExt cx="571500" cy="5969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5312322">
            <a:off x="15743087" y="7871964"/>
            <a:ext cx="1711929" cy="1788014"/>
            <a:chOff x="0" y="0"/>
            <a:chExt cx="571500" cy="5969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428644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hecker/>
      </p:transition>
    </mc:Choice>
    <mc:Fallback xmlns="">
      <p:transition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213599" y="952500"/>
            <a:ext cx="10033000" cy="619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600"/>
              </a:lnSpc>
            </a:pPr>
            <a:r>
              <a:rPr lang="en-US" sz="2800" b="1" spc="-168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3 COMMON TRANSMISSIONS</a:t>
            </a:r>
          </a:p>
        </p:txBody>
      </p:sp>
      <p:sp>
        <p:nvSpPr>
          <p:cNvPr id="3" name="AutoShape 3"/>
          <p:cNvSpPr/>
          <p:nvPr/>
        </p:nvSpPr>
        <p:spPr>
          <a:xfrm>
            <a:off x="-607719" y="9111523"/>
            <a:ext cx="19254369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7213600" y="1524000"/>
            <a:ext cx="100330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00"/>
              </a:lnSpc>
            </a:pPr>
            <a:r>
              <a:rPr lang="en-US" sz="1150" spc="162">
                <a:gradFill flip="none" rotWithShape="1">
                  <a:gsLst>
                    <a:gs pos="0">
                      <a:srgbClr val="F59E0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Light"/>
                <a:cs typeface="Pattanakarn Light"/>
                <a:sym typeface="Pattanakarn Light"/>
              </a:rPr>
              <a:t>TRANSFERRING POWER FROM MOTORS TO JOINTS</a:t>
            </a:r>
          </a:p>
        </p:txBody>
      </p:sp>
      <p:grpSp>
        <p:nvGrpSpPr>
          <p:cNvPr id="5" name="Group 5" hidden="1"/>
          <p:cNvGrpSpPr/>
          <p:nvPr/>
        </p:nvGrpSpPr>
        <p:grpSpPr>
          <a:xfrm>
            <a:off x="-2342376" y="-4198081"/>
            <a:ext cx="6121579" cy="10756641"/>
            <a:chOff x="0" y="0"/>
            <a:chExt cx="1612268" cy="2833025"/>
          </a:xfrm>
        </p:grpSpPr>
        <p:sp>
          <p:nvSpPr>
            <p:cNvPr id="6" name="Freeform 6" hidden="1"/>
            <p:cNvSpPr/>
            <p:nvPr/>
          </p:nvSpPr>
          <p:spPr>
            <a:xfrm>
              <a:off x="0" y="0"/>
              <a:ext cx="1612268" cy="2833025"/>
            </a:xfrm>
            <a:custGeom>
              <a:avLst/>
              <a:gdLst/>
              <a:ahLst/>
              <a:cxnLst/>
              <a:rect l="l" t="t" r="r" b="b"/>
              <a:pathLst>
                <a:path w="1612268" h="2833025">
                  <a:moveTo>
                    <a:pt x="0" y="0"/>
                  </a:moveTo>
                  <a:lnTo>
                    <a:pt x="1612268" y="0"/>
                  </a:lnTo>
                  <a:lnTo>
                    <a:pt x="1612268" y="2833025"/>
                  </a:lnTo>
                  <a:lnTo>
                    <a:pt x="0" y="2833025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7" name="TextBox 7" hidden="1"/>
            <p:cNvSpPr txBox="1"/>
            <p:nvPr/>
          </p:nvSpPr>
          <p:spPr>
            <a:xfrm>
              <a:off x="0" y="38100"/>
              <a:ext cx="1612268" cy="2794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213599" y="2412999"/>
            <a:ext cx="4826000" cy="776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25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Lightweight, quiet, zero backlash when pre-tensioned. Lets heavy motors sit near the base to reduce arm inertia.
💡 Example: 3D printer XY axes &amp; robot wrists.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13599" y="2032000"/>
            <a:ext cx="4826000" cy="213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400" b="1" spc="-53">
                <a:gradFill flip="none" rotWithShape="1">
                  <a:gsLst>
                    <a:gs pos="0">
                      <a:srgbClr val="38BDF8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Semi-Bold"/>
                <a:cs typeface="Pattanakarn Semi-Bold"/>
                <a:sym typeface="Pattanakarn Semi-Bold"/>
              </a:rPr>
              <a:t>GT2/HTD TIMING BELTS</a:t>
            </a:r>
          </a:p>
        </p:txBody>
      </p:sp>
      <p:sp>
        <p:nvSpPr>
          <p:cNvPr id="18" name="AutoShape 18"/>
          <p:cNvSpPr/>
          <p:nvPr/>
        </p:nvSpPr>
        <p:spPr>
          <a:xfrm>
            <a:off x="7213600" y="1930400"/>
            <a:ext cx="2531491" cy="0"/>
          </a:xfrm>
          <a:prstGeom prst="line">
            <a:avLst/>
          </a:prstGeom>
          <a:ln w="57150" cap="flat">
            <a:solidFill>
              <a:srgbClr val="FFFFFF">
                <a:alpha val="87843"/>
              </a:srgbClr>
            </a:solidFill>
            <a:prstDash val="lgDash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12445999" y="2412999"/>
            <a:ext cx="4826000" cy="787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25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Converts rotary motor spin into massive linear push. High mechanical advantage, non-backdrivable.
💡 Example: CNC milling tables &amp; car jacks.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445999" y="2032000"/>
            <a:ext cx="4826000" cy="213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400" b="1" spc="-53">
                <a:gradFill flip="none" rotWithShape="1">
                  <a:gsLst>
                    <a:gs pos="0">
                      <a:srgbClr val="38BDF8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Semi-Bold"/>
                <a:cs typeface="Pattanakarn Semi-Bold"/>
                <a:sym typeface="Pattanakarn Semi-Bold"/>
              </a:rPr>
              <a:t>LEAD &amp; BALL SCREWS</a:t>
            </a:r>
          </a:p>
        </p:txBody>
      </p:sp>
      <p:sp>
        <p:nvSpPr>
          <p:cNvPr id="21" name="AutoShape 21"/>
          <p:cNvSpPr/>
          <p:nvPr/>
        </p:nvSpPr>
        <p:spPr>
          <a:xfrm>
            <a:off x="12446000" y="1930400"/>
            <a:ext cx="2531491" cy="0"/>
          </a:xfrm>
          <a:prstGeom prst="line">
            <a:avLst/>
          </a:prstGeom>
          <a:ln w="57150" cap="flat">
            <a:solidFill>
              <a:srgbClr val="FFFFFF">
                <a:alpha val="87843"/>
              </a:srgbClr>
            </a:solidFill>
            <a:prstDash val="lgDash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7213600" y="5778499"/>
            <a:ext cx="10033000" cy="517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25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Compact flexible gear cup. 100:1 ratio in a single stage with true zero backlash!
💡 Example: Cobots (Universal Robots) &amp; surgical arms.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213599" y="5397500"/>
            <a:ext cx="10033000" cy="213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400" b="1" spc="-53">
                <a:gradFill flip="none" rotWithShape="1">
                  <a:gsLst>
                    <a:gs pos="0">
                      <a:srgbClr val="38BDF8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Semi-Bold"/>
                <a:cs typeface="Pattanakarn Semi-Bold"/>
                <a:sym typeface="Pattanakarn Semi-Bold"/>
              </a:rPr>
              <a:t>HARMONIC (STRAIN-WAVE)</a:t>
            </a:r>
          </a:p>
        </p:txBody>
      </p:sp>
      <p:sp>
        <p:nvSpPr>
          <p:cNvPr id="24" name="AutoShape 24"/>
          <p:cNvSpPr/>
          <p:nvPr/>
        </p:nvSpPr>
        <p:spPr>
          <a:xfrm>
            <a:off x="7213600" y="5295900"/>
            <a:ext cx="2531491" cy="0"/>
          </a:xfrm>
          <a:prstGeom prst="line">
            <a:avLst/>
          </a:prstGeom>
          <a:ln w="57150" cap="flat">
            <a:solidFill>
              <a:srgbClr val="FFFFFF">
                <a:alpha val="87843"/>
              </a:srgbClr>
            </a:solidFill>
            <a:prstDash val="lgDash"/>
            <a:headEnd type="none" w="sm" len="sm"/>
            <a:tailEnd type="none" w="sm" len="sm"/>
          </a:ln>
        </p:spPr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FEB5162C-12DF-8304-99CF-BDCD3B17647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1180240"/>
            <a:ext cx="5023095" cy="792652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718414" y="8008473"/>
            <a:ext cx="1333079" cy="1392327"/>
            <a:chOff x="0" y="0"/>
            <a:chExt cx="571500" cy="5969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10800000">
            <a:off x="5009804" y="908442"/>
            <a:ext cx="1289396" cy="1346702"/>
            <a:chOff x="0" y="0"/>
            <a:chExt cx="571500" cy="5969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5" name="TextBox 15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109573B2-1B40-62C2-59C8-EE0C72710F2F}"/>
              </a:ext>
            </a:extLst>
          </p:cNvPr>
          <p:cNvSpPr/>
          <p:nvPr/>
        </p:nvSpPr>
        <p:spPr>
          <a:xfrm>
            <a:off x="1028700" y="533400"/>
            <a:ext cx="5461000" cy="330200"/>
          </a:xfrm>
          <a:prstGeom prst="roundRect">
            <a:avLst/>
          </a:prstGeom>
          <a:solidFill>
            <a:srgbClr val="0A0A0C"/>
          </a:solidFill>
          <a:ln w="15240">
            <a:solidFill>
              <a:srgbClr val="D6DA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fr-FR" sz="1000" b="1">
                <a:solidFill>
                  <a:srgbClr val="D6DADB"/>
                </a:solidFill>
                <a:latin typeface="Segoe UI" panose="020B0502040204020203" pitchFamily="34" charset="0"/>
              </a:rPr>
              <a:t>TRANSMISSIONS • POWER DELIVERY</a:t>
            </a:r>
          </a:p>
        </p:txBody>
      </p:sp>
    </p:spTree>
    <p:extLst>
      <p:ext uri="{BB962C8B-B14F-4D97-AF65-F5344CB8AC3E}">
        <p14:creationId xmlns:p14="http://schemas.microsoft.com/office/powerpoint/2010/main" val="1282981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hecker/>
      </p:transition>
    </mc:Choice>
    <mc:Fallback xmlns="">
      <p:transition>
        <p:checker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213599" y="952500"/>
            <a:ext cx="10033000" cy="619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600"/>
              </a:lnSpc>
            </a:pPr>
            <a:r>
              <a:rPr lang="en-US" sz="2800" b="1" spc="-168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DRIVE SELECTION CHECKLIST</a:t>
            </a:r>
          </a:p>
        </p:txBody>
      </p:sp>
      <p:sp>
        <p:nvSpPr>
          <p:cNvPr id="3" name="AutoShape 3"/>
          <p:cNvSpPr/>
          <p:nvPr/>
        </p:nvSpPr>
        <p:spPr>
          <a:xfrm>
            <a:off x="-607719" y="9111523"/>
            <a:ext cx="19254369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7213600" y="1524000"/>
            <a:ext cx="100330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00"/>
              </a:lnSpc>
            </a:pPr>
            <a:r>
              <a:rPr lang="en-US" sz="1150" spc="162">
                <a:gradFill flip="none" rotWithShape="1">
                  <a:gsLst>
                    <a:gs pos="0">
                      <a:srgbClr val="F59E0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Light"/>
                <a:cs typeface="Pattanakarn Light"/>
                <a:sym typeface="Pattanakarn Light"/>
              </a:rPr>
              <a:t>3 CHECKS BEFORE BUYING MOTORS</a:t>
            </a:r>
          </a:p>
        </p:txBody>
      </p:sp>
      <p:grpSp>
        <p:nvGrpSpPr>
          <p:cNvPr id="5" name="Group 5" hidden="1"/>
          <p:cNvGrpSpPr/>
          <p:nvPr/>
        </p:nvGrpSpPr>
        <p:grpSpPr>
          <a:xfrm>
            <a:off x="-2342376" y="-4198081"/>
            <a:ext cx="6121579" cy="10756641"/>
            <a:chOff x="0" y="0"/>
            <a:chExt cx="1612268" cy="2833025"/>
          </a:xfrm>
        </p:grpSpPr>
        <p:sp>
          <p:nvSpPr>
            <p:cNvPr id="6" name="Freeform 6" hidden="1"/>
            <p:cNvSpPr/>
            <p:nvPr/>
          </p:nvSpPr>
          <p:spPr>
            <a:xfrm>
              <a:off x="0" y="0"/>
              <a:ext cx="1612268" cy="2833025"/>
            </a:xfrm>
            <a:custGeom>
              <a:avLst/>
              <a:gdLst/>
              <a:ahLst/>
              <a:cxnLst/>
              <a:rect l="l" t="t" r="r" b="b"/>
              <a:pathLst>
                <a:path w="1612268" h="2833025">
                  <a:moveTo>
                    <a:pt x="0" y="0"/>
                  </a:moveTo>
                  <a:lnTo>
                    <a:pt x="1612268" y="0"/>
                  </a:lnTo>
                  <a:lnTo>
                    <a:pt x="1612268" y="2833025"/>
                  </a:lnTo>
                  <a:lnTo>
                    <a:pt x="0" y="2833025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7" name="TextBox 7" hidden="1"/>
            <p:cNvSpPr txBox="1"/>
            <p:nvPr/>
          </p:nvSpPr>
          <p:spPr>
            <a:xfrm>
              <a:off x="0" y="38100"/>
              <a:ext cx="1612268" cy="2794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213599" y="2412999"/>
            <a:ext cx="4826000" cy="776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25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Size motors for continuous holding load, not peak stall limit. Peak stall current will burn windings within seconds!
💡 Keep continuous load &lt; 60% rated.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13599" y="2032000"/>
            <a:ext cx="4826000" cy="213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400" b="1" spc="-53">
                <a:gradFill flip="none" rotWithShape="1">
                  <a:gsLst>
                    <a:gs pos="0">
                      <a:srgbClr val="38BDF8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Semi-Bold"/>
                <a:cs typeface="Pattanakarn Semi-Bold"/>
                <a:sym typeface="Pattanakarn Semi-Bold"/>
              </a:rPr>
              <a:t>1. CONTINUOUS VS PEAK</a:t>
            </a:r>
          </a:p>
        </p:txBody>
      </p:sp>
      <p:sp>
        <p:nvSpPr>
          <p:cNvPr id="18" name="AutoShape 18"/>
          <p:cNvSpPr/>
          <p:nvPr/>
        </p:nvSpPr>
        <p:spPr>
          <a:xfrm>
            <a:off x="7213600" y="1930400"/>
            <a:ext cx="2531491" cy="0"/>
          </a:xfrm>
          <a:prstGeom prst="line">
            <a:avLst/>
          </a:prstGeom>
          <a:ln w="57150" cap="flat">
            <a:solidFill>
              <a:srgbClr val="FFFFFF">
                <a:alpha val="87843"/>
              </a:srgbClr>
            </a:solidFill>
            <a:prstDash val="lgDash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12445999" y="2412999"/>
            <a:ext cx="4826000" cy="787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25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Keep payload inertia within 5:1 of motor rotor inertia.
💡 Prevents uncontrollable vibrations and violent overshooting during fast stops.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445999" y="2032000"/>
            <a:ext cx="4826000" cy="213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400" b="1" spc="-53">
                <a:gradFill flip="none" rotWithShape="1">
                  <a:gsLst>
                    <a:gs pos="0">
                      <a:srgbClr val="38BDF8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Semi-Bold"/>
                <a:cs typeface="Pattanakarn Semi-Bold"/>
                <a:sym typeface="Pattanakarn Semi-Bold"/>
              </a:rPr>
              <a:t>2. INERTIA MATCHING</a:t>
            </a:r>
          </a:p>
        </p:txBody>
      </p:sp>
      <p:sp>
        <p:nvSpPr>
          <p:cNvPr id="21" name="AutoShape 21"/>
          <p:cNvSpPr/>
          <p:nvPr/>
        </p:nvSpPr>
        <p:spPr>
          <a:xfrm>
            <a:off x="12446000" y="1930400"/>
            <a:ext cx="2531491" cy="0"/>
          </a:xfrm>
          <a:prstGeom prst="line">
            <a:avLst/>
          </a:prstGeom>
          <a:ln w="57150" cap="flat">
            <a:solidFill>
              <a:srgbClr val="FFFFFF">
                <a:alpha val="87843"/>
              </a:srgbClr>
            </a:solidFill>
            <a:prstDash val="lgDash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7213600" y="5778499"/>
            <a:ext cx="10033000" cy="517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25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A tiny 1° gear play at the shoulder causes 17.5 mm of wobble at a 1-meter gripper!
💡 Use timing belts or harmonic drives on base joints.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213599" y="5397500"/>
            <a:ext cx="10033000" cy="213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400" b="1" spc="-53">
                <a:gradFill flip="none" rotWithShape="1">
                  <a:gsLst>
                    <a:gs pos="0">
                      <a:srgbClr val="38BDF8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Semi-Bold"/>
                <a:cs typeface="Pattanakarn Semi-Bold"/>
                <a:sym typeface="Pattanakarn Semi-Bold"/>
              </a:rPr>
              <a:t>3. BACKLASH BUDGET</a:t>
            </a:r>
          </a:p>
        </p:txBody>
      </p:sp>
      <p:sp>
        <p:nvSpPr>
          <p:cNvPr id="24" name="AutoShape 24"/>
          <p:cNvSpPr/>
          <p:nvPr/>
        </p:nvSpPr>
        <p:spPr>
          <a:xfrm>
            <a:off x="7213600" y="5295900"/>
            <a:ext cx="2531491" cy="0"/>
          </a:xfrm>
          <a:prstGeom prst="line">
            <a:avLst/>
          </a:prstGeom>
          <a:ln w="57150" cap="flat">
            <a:solidFill>
              <a:srgbClr val="FFFFFF">
                <a:alpha val="87843"/>
              </a:srgbClr>
            </a:solidFill>
            <a:prstDash val="lgDash"/>
            <a:headEnd type="none" w="sm" len="sm"/>
            <a:tailEnd type="none" w="sm" len="sm"/>
          </a:ln>
        </p:spPr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FC17985B-0AB6-B955-F167-2EF97AB0B71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1180240"/>
            <a:ext cx="5023095" cy="792652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718414" y="8008473"/>
            <a:ext cx="1333079" cy="1392327"/>
            <a:chOff x="0" y="0"/>
            <a:chExt cx="571500" cy="5969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10800000">
            <a:off x="5009804" y="908442"/>
            <a:ext cx="1289396" cy="1346702"/>
            <a:chOff x="0" y="0"/>
            <a:chExt cx="571500" cy="5969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5" name="TextBox 15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B235CFA0-314C-E458-63F7-047994A0FEC4}"/>
              </a:ext>
            </a:extLst>
          </p:cNvPr>
          <p:cNvSpPr/>
          <p:nvPr/>
        </p:nvSpPr>
        <p:spPr>
          <a:xfrm>
            <a:off x="1028700" y="533400"/>
            <a:ext cx="5461000" cy="330200"/>
          </a:xfrm>
          <a:prstGeom prst="roundRect">
            <a:avLst/>
          </a:prstGeom>
          <a:solidFill>
            <a:srgbClr val="0A0A0C"/>
          </a:solidFill>
          <a:ln w="15240">
            <a:solidFill>
              <a:srgbClr val="D6DA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fr-FR" sz="1000" b="1">
                <a:solidFill>
                  <a:srgbClr val="D6DADB"/>
                </a:solidFill>
                <a:latin typeface="Segoe UI" panose="020B0502040204020203" pitchFamily="34" charset="0"/>
              </a:rPr>
              <a:t>DESIGN CHECKLIST • DRIVE SIZING</a:t>
            </a:r>
          </a:p>
        </p:txBody>
      </p:sp>
    </p:spTree>
    <p:extLst>
      <p:ext uri="{BB962C8B-B14F-4D97-AF65-F5344CB8AC3E}">
        <p14:creationId xmlns:p14="http://schemas.microsoft.com/office/powerpoint/2010/main" val="3748223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hecker/>
      </p:transition>
    </mc:Choice>
    <mc:Fallback xmlns="">
      <p:transition>
        <p:checker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135118" y="1091524"/>
            <a:ext cx="153927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44"/>
              </a:lnSpc>
            </a:pPr>
            <a:r>
              <a:rPr lang="en-US" sz="1200" b="1" spc="-43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JARVIS ROBOTICS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821431" y="1028700"/>
            <a:ext cx="437869" cy="437869"/>
            <a:chOff x="0" y="0"/>
            <a:chExt cx="698500" cy="6985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500" y="349250"/>
                  </a:moveTo>
                  <a:cubicBezTo>
                    <a:pt x="588476" y="313379"/>
                    <a:pt x="502341" y="175825"/>
                    <a:pt x="479908" y="0"/>
                  </a:cubicBezTo>
                  <a:cubicBezTo>
                    <a:pt x="463950" y="125312"/>
                    <a:pt x="415552" y="231178"/>
                    <a:pt x="349250" y="294716"/>
                  </a:cubicBezTo>
                  <a:cubicBezTo>
                    <a:pt x="282948" y="231178"/>
                    <a:pt x="234550" y="125475"/>
                    <a:pt x="218592" y="0"/>
                  </a:cubicBezTo>
                  <a:cubicBezTo>
                    <a:pt x="196159" y="175825"/>
                    <a:pt x="110024" y="313379"/>
                    <a:pt x="0" y="349250"/>
                  </a:cubicBezTo>
                  <a:cubicBezTo>
                    <a:pt x="110024" y="385121"/>
                    <a:pt x="196159" y="522675"/>
                    <a:pt x="218592" y="698500"/>
                  </a:cubicBezTo>
                  <a:cubicBezTo>
                    <a:pt x="234550" y="573188"/>
                    <a:pt x="282948" y="467322"/>
                    <a:pt x="349250" y="403784"/>
                  </a:cubicBezTo>
                  <a:cubicBezTo>
                    <a:pt x="415552" y="467322"/>
                    <a:pt x="463950" y="573025"/>
                    <a:pt x="479908" y="698500"/>
                  </a:cubicBezTo>
                  <a:cubicBezTo>
                    <a:pt x="502341" y="522675"/>
                    <a:pt x="588476" y="385121"/>
                    <a:pt x="698500" y="349250"/>
                  </a:cubicBez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76200" y="44450"/>
              <a:ext cx="546100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8700" y="5461000"/>
            <a:ext cx="5842000" cy="2765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2500" b="1" spc="-168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MATERIALS, STRUCTURES &amp; DYNAMICS
Structural stiffness, beam deflection, 3D printing limits, and thermal design.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365999" y="5460999"/>
            <a:ext cx="4572000" cy="1044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20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• Materials: 6061-T6 Aluminum vs Carbon Fiber vs 3D printed plastic
• Cantilever Bending: The diving board effect (</a:t>
            </a:r>
            <a:r>
              <a:rPr lang="el-GR" sz="120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δ = </a:t>
            </a:r>
            <a:r>
              <a:rPr lang="en-US" sz="120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F·L³ / 3·E·I)
• Geometry vs Material: Why hollow rectangular tubes beat heavy solid rods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318999" y="5460999"/>
            <a:ext cx="4953000" cy="1314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20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• 3D Printing Weakness: Layer adhesion and Z-axis delamination
• Thermal Management: Motor heat dissipation and thermal creep
• Backlash elimination: Split gears, belt tensioners, and preloaded bearings
[Ref: Jorge Angeles, 4th Ed., Ch. 9 • Structural Rigidity]</a:t>
            </a:r>
          </a:p>
        </p:txBody>
      </p:sp>
      <p:sp>
        <p:nvSpPr>
          <p:cNvPr id="17" name="AutoShape 17"/>
          <p:cNvSpPr/>
          <p:nvPr/>
        </p:nvSpPr>
        <p:spPr>
          <a:xfrm>
            <a:off x="-607719" y="9111523"/>
            <a:ext cx="19254369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18"/>
          <p:cNvSpPr txBox="1"/>
          <p:nvPr/>
        </p:nvSpPr>
        <p:spPr>
          <a:xfrm>
            <a:off x="11850916" y="9554541"/>
            <a:ext cx="5408384" cy="289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00"/>
              </a:lnSpc>
            </a:pPr>
            <a:r>
              <a:rPr lang="en-US" sz="1000" spc="162">
                <a:gradFill flip="none" rotWithShape="1">
                  <a:gsLst>
                    <a:gs pos="0">
                      <a:srgbClr val="9199A1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ROBOTICS FUNDAMENTALS • SESSION 01 / 04 • THURSDAY, 10 SEPT 2026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63CCAB91-C152-7055-E182-FAEFBA1097C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5280" y="1062949"/>
            <a:ext cx="13427937" cy="3800856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 rot="-5400000">
            <a:off x="13633658" y="3599560"/>
            <a:ext cx="1468820" cy="1534100"/>
            <a:chOff x="0" y="0"/>
            <a:chExt cx="571500" cy="5969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5400000">
            <a:off x="1061340" y="699519"/>
            <a:ext cx="1468820" cy="1534100"/>
            <a:chOff x="0" y="0"/>
            <a:chExt cx="571500" cy="5969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33EDFD84-4C53-84F5-E123-AFCA95F0BC70}"/>
              </a:ext>
            </a:extLst>
          </p:cNvPr>
          <p:cNvSpPr/>
          <p:nvPr/>
        </p:nvSpPr>
        <p:spPr>
          <a:xfrm>
            <a:off x="1028700" y="533400"/>
            <a:ext cx="5461000" cy="330200"/>
          </a:xfrm>
          <a:prstGeom prst="roundRect">
            <a:avLst/>
          </a:prstGeom>
          <a:solidFill>
            <a:srgbClr val="0A0A0C"/>
          </a:solidFill>
          <a:ln w="15240">
            <a:solidFill>
              <a:srgbClr val="D6DA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fr-FR" sz="1000" b="1">
                <a:solidFill>
                  <a:srgbClr val="D6DADB"/>
                </a:solidFill>
                <a:latin typeface="Segoe UI" panose="020B0502040204020203" pitchFamily="34" charset="0"/>
              </a:rPr>
              <a:t>MODULE TRACK • 03 / 06</a:t>
            </a:r>
          </a:p>
        </p:txBody>
      </p:sp>
    </p:spTree>
    <p:extLst>
      <p:ext uri="{BB962C8B-B14F-4D97-AF65-F5344CB8AC3E}">
        <p14:creationId xmlns:p14="http://schemas.microsoft.com/office/powerpoint/2010/main" val="1879029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hecker/>
      </p:transition>
    </mc:Choice>
    <mc:Fallback xmlns="">
      <p:transition>
        <p:checker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920248" y="1076888"/>
            <a:ext cx="1053933" cy="370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4"/>
              </a:lnSpc>
            </a:pPr>
            <a:r>
              <a:rPr lang="en-US" sz="1200" b="1" spc="-43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JARVIS ROBOTICS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313819" y="1028700"/>
            <a:ext cx="437869" cy="437869"/>
            <a:chOff x="0" y="0"/>
            <a:chExt cx="698500" cy="6985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500" y="349250"/>
                  </a:moveTo>
                  <a:cubicBezTo>
                    <a:pt x="588476" y="313379"/>
                    <a:pt x="502341" y="175825"/>
                    <a:pt x="479908" y="0"/>
                  </a:cubicBezTo>
                  <a:cubicBezTo>
                    <a:pt x="463950" y="125312"/>
                    <a:pt x="415552" y="231178"/>
                    <a:pt x="349250" y="294716"/>
                  </a:cubicBezTo>
                  <a:cubicBezTo>
                    <a:pt x="282948" y="231178"/>
                    <a:pt x="234550" y="125475"/>
                    <a:pt x="218592" y="0"/>
                  </a:cubicBezTo>
                  <a:cubicBezTo>
                    <a:pt x="196159" y="175825"/>
                    <a:pt x="110024" y="313379"/>
                    <a:pt x="0" y="349250"/>
                  </a:cubicBezTo>
                  <a:cubicBezTo>
                    <a:pt x="110024" y="385121"/>
                    <a:pt x="196159" y="522675"/>
                    <a:pt x="218592" y="698500"/>
                  </a:cubicBezTo>
                  <a:cubicBezTo>
                    <a:pt x="234550" y="573188"/>
                    <a:pt x="282948" y="467322"/>
                    <a:pt x="349250" y="403784"/>
                  </a:cubicBezTo>
                  <a:cubicBezTo>
                    <a:pt x="415552" y="467322"/>
                    <a:pt x="463950" y="573025"/>
                    <a:pt x="479908" y="698500"/>
                  </a:cubicBezTo>
                  <a:cubicBezTo>
                    <a:pt x="502341" y="522675"/>
                    <a:pt x="588476" y="385121"/>
                    <a:pt x="698500" y="349250"/>
                  </a:cubicBez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76200" y="44450"/>
              <a:ext cx="546100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539999" y="1460500"/>
            <a:ext cx="13208000" cy="625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3000" b="1" spc="-168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ALUMINUM VS 3D PRINTING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32000" y="2857500"/>
            <a:ext cx="6604000" cy="2124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450" b="1">
                <a:gradFill flip="none" rotWithShape="1">
                  <a:gsLst>
                    <a:gs pos="0">
                      <a:srgbClr val="38BDF8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6061-T6 ALUMINUM (INDUSTRY STANDARD)
• Elastic Stiffness (E): 70 GPa (20× stiffer than plastic!)
• Machinability: Easy to mill, drill, tap threads, and bolt together
• Thermal: Excellent heat conductor (dissipates motor heat into chassis)
• Verdict: Premier choice for primary arm links and structural motor mounts
💡 Example: Combat robot chassis &amp; commercial drone arms.
[Ref: Angeles 4th Ed. Ch. 9]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39999" y="2133600"/>
            <a:ext cx="13208000" cy="207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 b="1" spc="-53">
                <a:gradFill flip="none" rotWithShape="1">
                  <a:gsLst>
                    <a:gs pos="0">
                      <a:srgbClr val="F59E0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Semi-Bold"/>
                <a:cs typeface="Pattanakarn Semi-Bold"/>
                <a:sym typeface="Pattanakarn Semi-Bold"/>
              </a:rPr>
              <a:t>CHOOSING THE RIGHT MATERIAL FOR YOUR ROBOT</a:t>
            </a:r>
          </a:p>
        </p:txBody>
      </p:sp>
      <p:sp>
        <p:nvSpPr>
          <p:cNvPr id="9" name="AutoShape 9"/>
          <p:cNvSpPr/>
          <p:nvPr/>
        </p:nvSpPr>
        <p:spPr>
          <a:xfrm>
            <a:off x="7958310" y="2032000"/>
            <a:ext cx="2371381" cy="0"/>
          </a:xfrm>
          <a:prstGeom prst="line">
            <a:avLst/>
          </a:prstGeom>
          <a:ln w="57150" cap="flat">
            <a:solidFill>
              <a:srgbClr val="FFFFFF">
                <a:alpha val="87843"/>
              </a:srgbClr>
            </a:solidFill>
            <a:prstDash val="lgDash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9652000" y="2857500"/>
            <a:ext cx="6604000" cy="2133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450" b="1">
                <a:gradFill flip="none" rotWithShape="1">
                  <a:gsLst>
                    <a:gs pos="0">
                      <a:srgbClr val="38BDF8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3D PRINTED PLA / PETG (RAPID PROTOTYPING)
• Elastic Stiffness (E): 3.5 GPa (Bends easily under load)
• Thermal: Softens at 60°C (Hot stepper motors melt PLA mounts!)
• Strength: Strong in compression, weak along horizontal layer seams
• Verdict: Great for prototypes, sensor clips, and cosmetic shells
💡 Example: Custom camera brackets and cable clips.
[Ref: SITAMS Unit 5]</a:t>
            </a:r>
          </a:p>
        </p:txBody>
      </p:sp>
      <p:grpSp>
        <p:nvGrpSpPr>
          <p:cNvPr id="11" name="Group 11" hidden="1"/>
          <p:cNvGrpSpPr/>
          <p:nvPr/>
        </p:nvGrpSpPr>
        <p:grpSpPr>
          <a:xfrm>
            <a:off x="14777515" y="2229225"/>
            <a:ext cx="5863909" cy="2348419"/>
            <a:chOff x="0" y="0"/>
            <a:chExt cx="1544404" cy="618514"/>
          </a:xfrm>
        </p:grpSpPr>
        <p:sp>
          <p:nvSpPr>
            <p:cNvPr id="12" name="Freeform 12" hidden="1"/>
            <p:cNvSpPr/>
            <p:nvPr/>
          </p:nvSpPr>
          <p:spPr>
            <a:xfrm>
              <a:off x="0" y="0"/>
              <a:ext cx="1544404" cy="618514"/>
            </a:xfrm>
            <a:custGeom>
              <a:avLst/>
              <a:gdLst/>
              <a:ahLst/>
              <a:cxnLst/>
              <a:rect l="l" t="t" r="r" b="b"/>
              <a:pathLst>
                <a:path w="1544404" h="618514">
                  <a:moveTo>
                    <a:pt x="0" y="0"/>
                  </a:moveTo>
                  <a:lnTo>
                    <a:pt x="1544404" y="0"/>
                  </a:lnTo>
                  <a:lnTo>
                    <a:pt x="1544404" y="618514"/>
                  </a:lnTo>
                  <a:lnTo>
                    <a:pt x="0" y="618514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3" name="TextBox 13" hidden="1"/>
            <p:cNvSpPr txBox="1"/>
            <p:nvPr/>
          </p:nvSpPr>
          <p:spPr>
            <a:xfrm>
              <a:off x="0" y="38100"/>
              <a:ext cx="1544404" cy="5804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4" name="Group 14" hidden="1"/>
          <p:cNvGrpSpPr/>
          <p:nvPr/>
        </p:nvGrpSpPr>
        <p:grpSpPr>
          <a:xfrm>
            <a:off x="-2354965" y="2208445"/>
            <a:ext cx="5863909" cy="2348419"/>
            <a:chOff x="0" y="0"/>
            <a:chExt cx="1544404" cy="618514"/>
          </a:xfrm>
        </p:grpSpPr>
        <p:sp>
          <p:nvSpPr>
            <p:cNvPr id="15" name="Freeform 15" hidden="1"/>
            <p:cNvSpPr/>
            <p:nvPr/>
          </p:nvSpPr>
          <p:spPr>
            <a:xfrm>
              <a:off x="0" y="0"/>
              <a:ext cx="1544404" cy="618514"/>
            </a:xfrm>
            <a:custGeom>
              <a:avLst/>
              <a:gdLst/>
              <a:ahLst/>
              <a:cxnLst/>
              <a:rect l="l" t="t" r="r" b="b"/>
              <a:pathLst>
                <a:path w="1544404" h="618514">
                  <a:moveTo>
                    <a:pt x="0" y="0"/>
                  </a:moveTo>
                  <a:lnTo>
                    <a:pt x="1544404" y="0"/>
                  </a:lnTo>
                  <a:lnTo>
                    <a:pt x="1544404" y="618514"/>
                  </a:lnTo>
                  <a:lnTo>
                    <a:pt x="0" y="618514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6" name="TextBox 16" hidden="1"/>
            <p:cNvSpPr txBox="1"/>
            <p:nvPr/>
          </p:nvSpPr>
          <p:spPr>
            <a:xfrm>
              <a:off x="0" y="38100"/>
              <a:ext cx="1544404" cy="5804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7" name="AutoShape 17"/>
          <p:cNvSpPr/>
          <p:nvPr/>
        </p:nvSpPr>
        <p:spPr>
          <a:xfrm>
            <a:off x="-607719" y="9111523"/>
            <a:ext cx="19254369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18"/>
          <p:cNvSpPr txBox="1"/>
          <p:nvPr/>
        </p:nvSpPr>
        <p:spPr>
          <a:xfrm>
            <a:off x="6440434" y="9554541"/>
            <a:ext cx="5408384" cy="289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US" sz="1000" spc="162">
                <a:gradFill flip="none" rotWithShape="1">
                  <a:gsLst>
                    <a:gs pos="0">
                      <a:srgbClr val="9199A1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ROBOTICS FUNDAMENTALS • SESSION 01 / 04 • THURSDAY, 10 SEPT 2026</a:t>
            </a:r>
          </a:p>
        </p:txBody>
      </p:sp>
      <p:grpSp>
        <p:nvGrpSpPr>
          <p:cNvPr id="19" name="Group 19" hidden="1"/>
          <p:cNvGrpSpPr/>
          <p:nvPr/>
        </p:nvGrpSpPr>
        <p:grpSpPr>
          <a:xfrm rot="5400000">
            <a:off x="-721951" y="1881195"/>
            <a:ext cx="1468820" cy="1534100"/>
            <a:chOff x="0" y="0"/>
            <a:chExt cx="571500" cy="596900"/>
          </a:xfrm>
        </p:grpSpPr>
        <p:sp>
          <p:nvSpPr>
            <p:cNvPr id="20" name="Freeform 20" hidden="1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1" name="TextBox 21" hidden="1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22" name="Group 22" hidden="1"/>
          <p:cNvGrpSpPr/>
          <p:nvPr/>
        </p:nvGrpSpPr>
        <p:grpSpPr>
          <a:xfrm rot="-5400000">
            <a:off x="2256675" y="3391574"/>
            <a:ext cx="1468820" cy="1534100"/>
            <a:chOff x="0" y="0"/>
            <a:chExt cx="571500" cy="596900"/>
          </a:xfrm>
        </p:grpSpPr>
        <p:sp>
          <p:nvSpPr>
            <p:cNvPr id="23" name="Freeform 23" hidden="1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4" name="TextBox 24" hidden="1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25" name="Group 25" hidden="1"/>
          <p:cNvGrpSpPr/>
          <p:nvPr/>
        </p:nvGrpSpPr>
        <p:grpSpPr>
          <a:xfrm rot="5400000">
            <a:off x="14563758" y="1922755"/>
            <a:ext cx="1468820" cy="1534100"/>
            <a:chOff x="0" y="0"/>
            <a:chExt cx="571500" cy="596900"/>
          </a:xfrm>
        </p:grpSpPr>
        <p:sp>
          <p:nvSpPr>
            <p:cNvPr id="26" name="Freeform 26" hidden="1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7" name="TextBox 27" hidden="1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28" name="Group 28" hidden="1"/>
          <p:cNvGrpSpPr/>
          <p:nvPr/>
        </p:nvGrpSpPr>
        <p:grpSpPr>
          <a:xfrm rot="-5400000">
            <a:off x="17542385" y="3433135"/>
            <a:ext cx="1468820" cy="1534100"/>
            <a:chOff x="0" y="0"/>
            <a:chExt cx="571500" cy="596900"/>
          </a:xfrm>
        </p:grpSpPr>
        <p:sp>
          <p:nvSpPr>
            <p:cNvPr id="29" name="Freeform 29" hidden="1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30" name="TextBox 30" hidden="1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D881B950-8A64-274A-6E3A-DCD5AD289331}"/>
              </a:ext>
            </a:extLst>
          </p:cNvPr>
          <p:cNvSpPr/>
          <p:nvPr/>
        </p:nvSpPr>
        <p:spPr>
          <a:xfrm>
            <a:off x="1028700" y="533400"/>
            <a:ext cx="5461000" cy="330200"/>
          </a:xfrm>
          <a:prstGeom prst="roundRect">
            <a:avLst/>
          </a:prstGeom>
          <a:solidFill>
            <a:srgbClr val="0A0A0C"/>
          </a:solidFill>
          <a:ln w="15240">
            <a:solidFill>
              <a:srgbClr val="D6DA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fr-FR" sz="1000" b="1">
                <a:solidFill>
                  <a:srgbClr val="D6DADB"/>
                </a:solidFill>
                <a:latin typeface="Segoe UI" panose="020B0502040204020203" pitchFamily="34" charset="0"/>
              </a:rPr>
              <a:t>MATERIAL SELECTION • STRUCTURAL RIGIDITY</a:t>
            </a:r>
          </a:p>
        </p:txBody>
      </p:sp>
    </p:spTree>
    <p:extLst>
      <p:ext uri="{BB962C8B-B14F-4D97-AF65-F5344CB8AC3E}">
        <p14:creationId xmlns:p14="http://schemas.microsoft.com/office/powerpoint/2010/main" val="579978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hecker/>
      </p:transition>
    </mc:Choice>
    <mc:Fallback xmlns="">
      <p:transition>
        <p:checker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270000"/>
            <a:ext cx="5270500" cy="625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3000" b="1" spc="-168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BEAM DEFLECTION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699" y="2476499"/>
            <a:ext cx="8064500" cy="3203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35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When a robot arm carries a payload, it deflects like a diving board under a swimmer:
• The Intuitive Ruler Experiment:
  - Try to bend a plastic ruler when it is flat: It bends effortlessly.
  - Now turn the ruler 90° onto its narrow edge and try to bend it: It is virtually impossible to bend!
• The Physics (Stiffness scales with height cubed: h³):
  - Doubling the vertical height of an aluminum tube makes it 8× stiffer (800% stiffness gain) with almost zero added weight!
Key Takeaway: Geometry and cross-section shape beat heavy solid metal every single time.
[Reference: Jorge Angeles, Ch. 9 • Mechanics of Manipulator Beams]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006600"/>
            <a:ext cx="7032529" cy="219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00" b="1" spc="-53">
                <a:gradFill flip="none" rotWithShape="1">
                  <a:gsLst>
                    <a:gs pos="0">
                      <a:srgbClr val="F59E0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Semi-Bold"/>
                <a:cs typeface="Pattanakarn Semi-Bold"/>
                <a:sym typeface="Pattanakarn Semi-Bold"/>
              </a:rPr>
              <a:t>WHY THICKNESS MATTERS 8× MORE THAN ALLOY</a:t>
            </a:r>
          </a:p>
        </p:txBody>
      </p:sp>
      <p:sp>
        <p:nvSpPr>
          <p:cNvPr id="5" name="AutoShape 5"/>
          <p:cNvSpPr/>
          <p:nvPr/>
        </p:nvSpPr>
        <p:spPr>
          <a:xfrm>
            <a:off x="1028700" y="1879600"/>
            <a:ext cx="2371381" cy="0"/>
          </a:xfrm>
          <a:prstGeom prst="line">
            <a:avLst/>
          </a:prstGeom>
          <a:ln w="57150" cap="flat">
            <a:solidFill>
              <a:srgbClr val="FFFFFF">
                <a:alpha val="87843"/>
              </a:srgbClr>
            </a:solidFill>
            <a:prstDash val="lgDash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-607719" y="9111523"/>
            <a:ext cx="19254369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12166421" y="1606376"/>
            <a:ext cx="6481934" cy="10756641"/>
            <a:chOff x="0" y="0"/>
            <a:chExt cx="1707176" cy="28330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07176" cy="2833025"/>
            </a:xfrm>
            <a:custGeom>
              <a:avLst/>
              <a:gdLst/>
              <a:ahLst/>
              <a:cxnLst/>
              <a:rect l="l" t="t" r="r" b="b"/>
              <a:pathLst>
                <a:path w="1707176" h="2833025">
                  <a:moveTo>
                    <a:pt x="0" y="0"/>
                  </a:moveTo>
                  <a:lnTo>
                    <a:pt x="1707176" y="0"/>
                  </a:lnTo>
                  <a:lnTo>
                    <a:pt x="1707176" y="2833025"/>
                  </a:lnTo>
                  <a:lnTo>
                    <a:pt x="0" y="2833025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1707176" cy="2794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635129" y="1076888"/>
            <a:ext cx="153927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4"/>
              </a:lnSpc>
            </a:pPr>
            <a:r>
              <a:rPr lang="en-US" sz="1200" b="1" spc="-43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JARVIS ROBOTICS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28700" y="1028700"/>
            <a:ext cx="437869" cy="437869"/>
            <a:chOff x="0" y="0"/>
            <a:chExt cx="698500" cy="6985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500" y="349250"/>
                  </a:moveTo>
                  <a:cubicBezTo>
                    <a:pt x="588476" y="313379"/>
                    <a:pt x="502341" y="175825"/>
                    <a:pt x="479908" y="0"/>
                  </a:cubicBezTo>
                  <a:cubicBezTo>
                    <a:pt x="463950" y="125312"/>
                    <a:pt x="415552" y="231178"/>
                    <a:pt x="349250" y="294716"/>
                  </a:cubicBezTo>
                  <a:cubicBezTo>
                    <a:pt x="282948" y="231178"/>
                    <a:pt x="234550" y="125475"/>
                    <a:pt x="218592" y="0"/>
                  </a:cubicBezTo>
                  <a:cubicBezTo>
                    <a:pt x="196159" y="175825"/>
                    <a:pt x="110024" y="313379"/>
                    <a:pt x="0" y="349250"/>
                  </a:cubicBezTo>
                  <a:cubicBezTo>
                    <a:pt x="110024" y="385121"/>
                    <a:pt x="196159" y="522675"/>
                    <a:pt x="218592" y="698500"/>
                  </a:cubicBezTo>
                  <a:cubicBezTo>
                    <a:pt x="234550" y="573188"/>
                    <a:pt x="282948" y="467322"/>
                    <a:pt x="349250" y="403784"/>
                  </a:cubicBezTo>
                  <a:cubicBezTo>
                    <a:pt x="415552" y="467322"/>
                    <a:pt x="463950" y="573025"/>
                    <a:pt x="479908" y="698500"/>
                  </a:cubicBezTo>
                  <a:cubicBezTo>
                    <a:pt x="502341" y="522675"/>
                    <a:pt x="588476" y="385121"/>
                    <a:pt x="698500" y="349250"/>
                  </a:cubicBez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44450"/>
              <a:ext cx="546100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28700" y="9554541"/>
            <a:ext cx="5408384" cy="289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lang="en-US" sz="1000" spc="162">
                <a:gradFill flip="none" rotWithShape="1">
                  <a:gsLst>
                    <a:gs pos="0">
                      <a:srgbClr val="9199A1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ROBOTICS FUNDAMENTALS • SESSION 01 / 04 • THURSDAY, 10 SEPT 2026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7147366B-A808-0A34-C553-833C853442E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8330" y="1047884"/>
            <a:ext cx="7780970" cy="8210416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 rot="5400000">
            <a:off x="9276804" y="758404"/>
            <a:ext cx="1711929" cy="1788014"/>
            <a:chOff x="0" y="0"/>
            <a:chExt cx="571500" cy="5969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5312322">
            <a:off x="15743087" y="7871964"/>
            <a:ext cx="1711929" cy="1788014"/>
            <a:chOff x="0" y="0"/>
            <a:chExt cx="571500" cy="5969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31199877-F8C4-25F9-AD91-28AD580F48E2}"/>
              </a:ext>
            </a:extLst>
          </p:cNvPr>
          <p:cNvSpPr/>
          <p:nvPr/>
        </p:nvSpPr>
        <p:spPr>
          <a:xfrm>
            <a:off x="1028700" y="533400"/>
            <a:ext cx="5461000" cy="330200"/>
          </a:xfrm>
          <a:prstGeom prst="roundRect">
            <a:avLst/>
          </a:prstGeom>
          <a:solidFill>
            <a:srgbClr val="0A0A0C"/>
          </a:solidFill>
          <a:ln w="15240">
            <a:solidFill>
              <a:srgbClr val="D6DA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en-US" sz="1000" b="1">
                <a:solidFill>
                  <a:srgbClr val="D6DADB"/>
                </a:solidFill>
                <a:latin typeface="Segoe UI" panose="020B0502040204020203" pitchFamily="34" charset="0"/>
              </a:rPr>
              <a:t>STRUCTURAL PHYSICS • MOMENT OF INERTIA</a:t>
            </a:r>
            <a:endParaRPr lang="fr-FR" sz="1000" b="1">
              <a:solidFill>
                <a:srgbClr val="D6DADB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8854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hecker/>
      </p:transition>
    </mc:Choice>
    <mc:Fallback xmlns="">
      <p:transition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>
            <a:off x="-607719" y="9111523"/>
            <a:ext cx="19254369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12166421" y="1606376"/>
            <a:ext cx="6481934" cy="10756641"/>
            <a:chOff x="0" y="0"/>
            <a:chExt cx="1707176" cy="28330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07176" cy="2833025"/>
            </a:xfrm>
            <a:custGeom>
              <a:avLst/>
              <a:gdLst/>
              <a:ahLst/>
              <a:cxnLst/>
              <a:rect l="l" t="t" r="r" b="b"/>
              <a:pathLst>
                <a:path w="1707176" h="2833025">
                  <a:moveTo>
                    <a:pt x="0" y="0"/>
                  </a:moveTo>
                  <a:lnTo>
                    <a:pt x="1707176" y="0"/>
                  </a:lnTo>
                  <a:lnTo>
                    <a:pt x="1707176" y="2833025"/>
                  </a:lnTo>
                  <a:lnTo>
                    <a:pt x="0" y="2833025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1707176" cy="2794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635129" y="1076888"/>
            <a:ext cx="153927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4"/>
              </a:lnSpc>
            </a:pPr>
            <a:r>
              <a:rPr lang="en-US" sz="1200" b="1" spc="-43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JARVIS ROBOTICS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28700" y="1028700"/>
            <a:ext cx="437869" cy="437869"/>
            <a:chOff x="0" y="0"/>
            <a:chExt cx="698500" cy="6985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500" y="349250"/>
                  </a:moveTo>
                  <a:cubicBezTo>
                    <a:pt x="588476" y="313379"/>
                    <a:pt x="502341" y="175825"/>
                    <a:pt x="479908" y="0"/>
                  </a:cubicBezTo>
                  <a:cubicBezTo>
                    <a:pt x="463950" y="125312"/>
                    <a:pt x="415552" y="231178"/>
                    <a:pt x="349250" y="294716"/>
                  </a:cubicBezTo>
                  <a:cubicBezTo>
                    <a:pt x="282948" y="231178"/>
                    <a:pt x="234550" y="125475"/>
                    <a:pt x="218592" y="0"/>
                  </a:cubicBezTo>
                  <a:cubicBezTo>
                    <a:pt x="196159" y="175825"/>
                    <a:pt x="110024" y="313379"/>
                    <a:pt x="0" y="349250"/>
                  </a:cubicBezTo>
                  <a:cubicBezTo>
                    <a:pt x="110024" y="385121"/>
                    <a:pt x="196159" y="522675"/>
                    <a:pt x="218592" y="698500"/>
                  </a:cubicBezTo>
                  <a:cubicBezTo>
                    <a:pt x="234550" y="573188"/>
                    <a:pt x="282948" y="467322"/>
                    <a:pt x="349250" y="403784"/>
                  </a:cubicBezTo>
                  <a:cubicBezTo>
                    <a:pt x="415552" y="467322"/>
                    <a:pt x="463950" y="573025"/>
                    <a:pt x="479908" y="698500"/>
                  </a:cubicBezTo>
                  <a:cubicBezTo>
                    <a:pt x="502341" y="522675"/>
                    <a:pt x="588476" y="385121"/>
                    <a:pt x="698500" y="349250"/>
                  </a:cubicBez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44450"/>
              <a:ext cx="546100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28700" y="9554541"/>
            <a:ext cx="5408384" cy="289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lang="en-US" sz="1000" spc="162">
                <a:gradFill flip="none" rotWithShape="1">
                  <a:gsLst>
                    <a:gs pos="0">
                      <a:srgbClr val="9199A1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ROBOTICS FUNDAMENTALS • SESSION 01 / 04 • THURSDAY, 10 SEPT 2026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8F4CCD45-478F-715C-95ED-1C61948547A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8330" y="1047884"/>
            <a:ext cx="7780970" cy="8210416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 rot="5400000">
            <a:off x="9276804" y="758404"/>
            <a:ext cx="1711929" cy="1788014"/>
            <a:chOff x="0" y="0"/>
            <a:chExt cx="571500" cy="5969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5312322">
            <a:off x="15743087" y="7871964"/>
            <a:ext cx="1711929" cy="1788014"/>
            <a:chOff x="0" y="0"/>
            <a:chExt cx="571500" cy="5969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EBD06665-3DE9-7051-0894-C6D0056FE2E5}"/>
              </a:ext>
            </a:extLst>
          </p:cNvPr>
          <p:cNvSpPr/>
          <p:nvPr/>
        </p:nvSpPr>
        <p:spPr>
          <a:xfrm>
            <a:off x="1028700" y="533400"/>
            <a:ext cx="5461000" cy="330200"/>
          </a:xfrm>
          <a:prstGeom prst="roundRect">
            <a:avLst/>
          </a:prstGeom>
          <a:solidFill>
            <a:srgbClr val="0A0A0C"/>
          </a:solidFill>
          <a:ln w="1524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en-US" sz="1000" b="1">
                <a:solidFill>
                  <a:srgbClr val="F59E0B"/>
                </a:solidFill>
                <a:latin typeface="Segoe UI" panose="020B0502040204020203" pitchFamily="34" charset="0"/>
              </a:rPr>
              <a:t>⚡ QUICK CHALLENGE 04 • STRUCTURAL RIGIDITY</a:t>
            </a:r>
            <a:endParaRPr lang="fr-FR" sz="1000" b="1">
              <a:solidFill>
                <a:srgbClr val="F59E0B"/>
              </a:solidFill>
              <a:latin typeface="Segoe UI" panose="020B0502040204020203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A7FA9882-8F9D-CE31-9963-EB2A3BC09527}"/>
              </a:ext>
            </a:extLst>
          </p:cNvPr>
          <p:cNvSpPr txBox="1"/>
          <p:nvPr/>
        </p:nvSpPr>
        <p:spPr>
          <a:xfrm>
            <a:off x="1028700" y="1206500"/>
            <a:ext cx="8178800" cy="430887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500" b="1">
                <a:solidFill>
                  <a:srgbClr val="FFFFFF"/>
                </a:solidFill>
                <a:latin typeface="Segoe UI Bold"/>
              </a:rPr>
              <a:t>ELIMINATING ARM DEFLECTION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E07E2FBB-3DEB-05AD-BD99-09392515657C}"/>
              </a:ext>
            </a:extLst>
          </p:cNvPr>
          <p:cNvSpPr txBox="1"/>
          <p:nvPr/>
        </p:nvSpPr>
        <p:spPr>
          <a:xfrm>
            <a:off x="1028700" y="1905000"/>
            <a:ext cx="8178800" cy="44627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300">
                <a:solidFill>
                  <a:srgbClr val="D6DADB"/>
                </a:solidFill>
                <a:latin typeface="Segoe UI" panose="020B0502040204020203" pitchFamily="34" charset="0"/>
              </a:rPr>
              <a:t>Your robot arm sags 8 mm downward under a heavy payload. You want to make it significantly stiffer without adding heavy weight. What is the smartest fix?</a:t>
            </a:r>
            <a:endParaRPr lang="fr-FR" sz="1300">
              <a:solidFill>
                <a:srgbClr val="D6DADB"/>
              </a:solidFill>
              <a:latin typeface="Segoe UI" panose="020B0502040204020203" pitchFamily="34" charset="0"/>
            </a:endParaRP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2ED8DBCD-A0FE-824C-ECBA-F5BEB7307F53}"/>
              </a:ext>
            </a:extLst>
          </p:cNvPr>
          <p:cNvSpPr/>
          <p:nvPr/>
        </p:nvSpPr>
        <p:spPr>
          <a:xfrm>
            <a:off x="1028700" y="3365500"/>
            <a:ext cx="4000500" cy="1206500"/>
          </a:xfrm>
          <a:prstGeom prst="roundRect">
            <a:avLst/>
          </a:prstGeom>
          <a:solidFill>
            <a:srgbClr val="1A1D21"/>
          </a:solidFill>
          <a:ln w="15240">
            <a:solidFill>
              <a:srgbClr val="3C42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 algn="ctr"/>
            <a:r>
              <a:rPr lang="en-US" sz="1200" b="1">
                <a:solidFill>
                  <a:srgbClr val="F59E0B"/>
                </a:solidFill>
                <a:latin typeface="Segoe UI" panose="020B0502040204020203" pitchFamily="34" charset="0"/>
              </a:rPr>
              <a:t>[A]</a:t>
            </a:r>
            <a:r>
              <a:rPr lang="en-US" sz="1200">
                <a:solidFill>
                  <a:srgbClr val="FFFFFF"/>
                </a:solidFill>
                <a:latin typeface="Segoe UI" panose="020B0502040204020203" pitchFamily="34" charset="0"/>
              </a:rPr>
              <a:t>  Switch to a taller hollow rectangular tube (Stiffness scales with height cubed: h³)</a:t>
            </a:r>
            <a:endParaRPr lang="fr-FR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1E59112A-B783-1BC1-C1CC-8B7994339D43}"/>
              </a:ext>
            </a:extLst>
          </p:cNvPr>
          <p:cNvSpPr/>
          <p:nvPr/>
        </p:nvSpPr>
        <p:spPr>
          <a:xfrm>
            <a:off x="5207000" y="3365500"/>
            <a:ext cx="4000500" cy="1206500"/>
          </a:xfrm>
          <a:prstGeom prst="roundRect">
            <a:avLst/>
          </a:prstGeom>
          <a:solidFill>
            <a:srgbClr val="1A1D21"/>
          </a:solidFill>
          <a:ln w="15240">
            <a:solidFill>
              <a:srgbClr val="3C42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 algn="ctr"/>
            <a:r>
              <a:rPr lang="en-US" sz="1200" b="1">
                <a:solidFill>
                  <a:srgbClr val="F59E0B"/>
                </a:solidFill>
                <a:latin typeface="Segoe UI" panose="020B0502040204020203" pitchFamily="34" charset="0"/>
              </a:rPr>
              <a:t>[B]</a:t>
            </a:r>
            <a:r>
              <a:rPr lang="en-US" sz="1200">
                <a:solidFill>
                  <a:srgbClr val="FFFFFF"/>
                </a:solidFill>
                <a:latin typeface="Segoe UI" panose="020B0502040204020203" pitchFamily="34" charset="0"/>
              </a:rPr>
              <a:t>  Replace aluminum with a heavy solid steel rod</a:t>
            </a:r>
            <a:endParaRPr lang="fr-FR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D9F49709-3913-6ADB-9560-294933825526}"/>
              </a:ext>
            </a:extLst>
          </p:cNvPr>
          <p:cNvSpPr/>
          <p:nvPr/>
        </p:nvSpPr>
        <p:spPr>
          <a:xfrm>
            <a:off x="1028700" y="4762500"/>
            <a:ext cx="4000500" cy="1206500"/>
          </a:xfrm>
          <a:prstGeom prst="roundRect">
            <a:avLst/>
          </a:prstGeom>
          <a:solidFill>
            <a:srgbClr val="1A1D21"/>
          </a:solidFill>
          <a:ln w="15240">
            <a:solidFill>
              <a:srgbClr val="3C42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 algn="ctr"/>
            <a:r>
              <a:rPr lang="en-US" sz="1200" b="1">
                <a:solidFill>
                  <a:srgbClr val="F59E0B"/>
                </a:solidFill>
                <a:latin typeface="Segoe UI" panose="020B0502040204020203" pitchFamily="34" charset="0"/>
              </a:rPr>
              <a:t>[C]</a:t>
            </a:r>
            <a:r>
              <a:rPr lang="en-US" sz="1200">
                <a:solidFill>
                  <a:srgbClr val="FFFFFF"/>
                </a:solidFill>
                <a:latin typeface="Segoe UI" panose="020B0502040204020203" pitchFamily="34" charset="0"/>
              </a:rPr>
              <a:t>  Increase motor holding current to maximum</a:t>
            </a:r>
            <a:endParaRPr lang="fr-FR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DC2FC793-DBD1-651F-D69B-92FE8D0F2475}"/>
              </a:ext>
            </a:extLst>
          </p:cNvPr>
          <p:cNvSpPr/>
          <p:nvPr/>
        </p:nvSpPr>
        <p:spPr>
          <a:xfrm>
            <a:off x="5207000" y="4762500"/>
            <a:ext cx="4000500" cy="1206500"/>
          </a:xfrm>
          <a:prstGeom prst="roundRect">
            <a:avLst/>
          </a:prstGeom>
          <a:solidFill>
            <a:srgbClr val="1A1D21"/>
          </a:solidFill>
          <a:ln w="15240">
            <a:solidFill>
              <a:srgbClr val="3C42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 algn="ctr"/>
            <a:r>
              <a:rPr lang="en-US" sz="1200" b="1">
                <a:solidFill>
                  <a:srgbClr val="F59E0B"/>
                </a:solidFill>
                <a:latin typeface="Segoe UI" panose="020B0502040204020203" pitchFamily="34" charset="0"/>
              </a:rPr>
              <a:t>[D]</a:t>
            </a:r>
            <a:r>
              <a:rPr lang="en-US" sz="1200">
                <a:solidFill>
                  <a:srgbClr val="FFFFFF"/>
                </a:solidFill>
                <a:latin typeface="Segoe UI" panose="020B0502040204020203" pitchFamily="34" charset="0"/>
              </a:rPr>
              <a:t>  Increase the baud rate of the serial bus</a:t>
            </a:r>
            <a:endParaRPr lang="fr-FR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4B4EFA96-AB54-F459-406A-69C9DC4268B9}"/>
              </a:ext>
            </a:extLst>
          </p:cNvPr>
          <p:cNvSpPr/>
          <p:nvPr/>
        </p:nvSpPr>
        <p:spPr>
          <a:xfrm>
            <a:off x="1028700" y="6286500"/>
            <a:ext cx="8178800" cy="1397000"/>
          </a:xfrm>
          <a:prstGeom prst="roundRect">
            <a:avLst/>
          </a:prstGeom>
          <a:solidFill>
            <a:srgbClr val="0F2319"/>
          </a:solidFill>
          <a:ln w="254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101600" rIns="203200" rtlCol="0" anchor="ctr"/>
          <a:lstStyle/>
          <a:p>
            <a:pPr algn="ctr"/>
            <a:r>
              <a:rPr lang="en-US" sz="1350" b="1">
                <a:solidFill>
                  <a:srgbClr val="10B981"/>
                </a:solidFill>
                <a:latin typeface="Segoe UI" panose="020B0502040204020203" pitchFamily="34" charset="0"/>
              </a:rPr>
              <a:t>✓ CORRECT ANSWER: [A]
Beam stiffness scales with height cubed (h³)! Doubling the vertical thickness of a hollow tube makes it 8× stiffer with almost zero added weight. [Ref: Jorge Angeles Ch. 9 • Diving Board Deflection]</a:t>
            </a:r>
            <a:endParaRPr lang="fr-FR" sz="1350" b="1">
              <a:solidFill>
                <a:srgbClr val="10B98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152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hecker/>
      </p:transition>
    </mc:Choice>
    <mc:Fallback xmlns="">
      <p:transition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/>
      <p:bldP spid="27" grpId="0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213599" y="952500"/>
            <a:ext cx="10033000" cy="619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600"/>
              </a:lnSpc>
            </a:pPr>
            <a:r>
              <a:rPr lang="en-US" sz="2800" b="1" spc="-168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MOTOR THERMAL MANAGEMENT</a:t>
            </a:r>
          </a:p>
        </p:txBody>
      </p:sp>
      <p:sp>
        <p:nvSpPr>
          <p:cNvPr id="3" name="AutoShape 3"/>
          <p:cNvSpPr/>
          <p:nvPr/>
        </p:nvSpPr>
        <p:spPr>
          <a:xfrm>
            <a:off x="-607719" y="9111523"/>
            <a:ext cx="19254369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7213600" y="1524000"/>
            <a:ext cx="100330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00"/>
              </a:lnSpc>
            </a:pPr>
            <a:r>
              <a:rPr lang="en-US" sz="1150" spc="162">
                <a:gradFill flip="none" rotWithShape="1">
                  <a:gsLst>
                    <a:gs pos="0">
                      <a:srgbClr val="F59E0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Light"/>
                <a:cs typeface="Pattanakarn Light"/>
                <a:sym typeface="Pattanakarn Light"/>
              </a:rPr>
              <a:t>KEEPING ACTUATORS COOL UNDER CONTINUOUS LOAD</a:t>
            </a:r>
          </a:p>
        </p:txBody>
      </p:sp>
      <p:grpSp>
        <p:nvGrpSpPr>
          <p:cNvPr id="5" name="Group 5" hidden="1"/>
          <p:cNvGrpSpPr/>
          <p:nvPr/>
        </p:nvGrpSpPr>
        <p:grpSpPr>
          <a:xfrm>
            <a:off x="-2342376" y="-4198081"/>
            <a:ext cx="6121579" cy="10756641"/>
            <a:chOff x="0" y="0"/>
            <a:chExt cx="1612268" cy="2833025"/>
          </a:xfrm>
        </p:grpSpPr>
        <p:sp>
          <p:nvSpPr>
            <p:cNvPr id="6" name="Freeform 6" hidden="1"/>
            <p:cNvSpPr/>
            <p:nvPr/>
          </p:nvSpPr>
          <p:spPr>
            <a:xfrm>
              <a:off x="0" y="0"/>
              <a:ext cx="1612268" cy="2833025"/>
            </a:xfrm>
            <a:custGeom>
              <a:avLst/>
              <a:gdLst/>
              <a:ahLst/>
              <a:cxnLst/>
              <a:rect l="l" t="t" r="r" b="b"/>
              <a:pathLst>
                <a:path w="1612268" h="2833025">
                  <a:moveTo>
                    <a:pt x="0" y="0"/>
                  </a:moveTo>
                  <a:lnTo>
                    <a:pt x="1612268" y="0"/>
                  </a:lnTo>
                  <a:lnTo>
                    <a:pt x="1612268" y="2833025"/>
                  </a:lnTo>
                  <a:lnTo>
                    <a:pt x="0" y="2833025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7" name="TextBox 7" hidden="1"/>
            <p:cNvSpPr txBox="1"/>
            <p:nvPr/>
          </p:nvSpPr>
          <p:spPr>
            <a:xfrm>
              <a:off x="0" y="38100"/>
              <a:ext cx="1612268" cy="2794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213599" y="2412999"/>
            <a:ext cx="4826000" cy="776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25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Bolt motors directly to thick aluminum structural plates. The chassis acts as a large heatsink to conduct stator heat away.
💡 Example: Electric go-kart motor mounts.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13599" y="2032000"/>
            <a:ext cx="4826000" cy="213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400" b="1" spc="-53">
                <a:gradFill flip="none" rotWithShape="1">
                  <a:gsLst>
                    <a:gs pos="0">
                      <a:srgbClr val="38BDF8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Semi-Bold"/>
                <a:cs typeface="Pattanakarn Semi-Bold"/>
                <a:sym typeface="Pattanakarn Semi-Bold"/>
              </a:rPr>
              <a:t>1. CONDUCTION PATHS</a:t>
            </a:r>
          </a:p>
        </p:txBody>
      </p:sp>
      <p:sp>
        <p:nvSpPr>
          <p:cNvPr id="18" name="AutoShape 18"/>
          <p:cNvSpPr/>
          <p:nvPr/>
        </p:nvSpPr>
        <p:spPr>
          <a:xfrm>
            <a:off x="7213600" y="1930400"/>
            <a:ext cx="2531491" cy="0"/>
          </a:xfrm>
          <a:prstGeom prst="line">
            <a:avLst/>
          </a:prstGeom>
          <a:ln w="57150" cap="flat">
            <a:solidFill>
              <a:srgbClr val="FFFFFF">
                <a:alpha val="87843"/>
              </a:srgbClr>
            </a:solidFill>
            <a:prstDash val="lgDash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12445999" y="2412999"/>
            <a:ext cx="4826000" cy="776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25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Steppers running at 80°C will soften PLA mounts, causing belt tension to loosen and motor shafts to misalign!
💡 Use PETG, ABS, or aluminum mounts.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445999" y="2032000"/>
            <a:ext cx="4826000" cy="213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400" b="1" spc="-53">
                <a:gradFill flip="none" rotWithShape="1">
                  <a:gsLst>
                    <a:gs pos="0">
                      <a:srgbClr val="38BDF8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Semi-Bold"/>
                <a:cs typeface="Pattanakarn Semi-Bold"/>
                <a:sym typeface="Pattanakarn Semi-Bold"/>
              </a:rPr>
              <a:t>2. PLASTIC CREEP</a:t>
            </a:r>
          </a:p>
        </p:txBody>
      </p:sp>
      <p:sp>
        <p:nvSpPr>
          <p:cNvPr id="21" name="AutoShape 21"/>
          <p:cNvSpPr/>
          <p:nvPr/>
        </p:nvSpPr>
        <p:spPr>
          <a:xfrm>
            <a:off x="12446000" y="1930400"/>
            <a:ext cx="2531491" cy="0"/>
          </a:xfrm>
          <a:prstGeom prst="line">
            <a:avLst/>
          </a:prstGeom>
          <a:ln w="57150" cap="flat">
            <a:solidFill>
              <a:srgbClr val="FFFFFF">
                <a:alpha val="87843"/>
              </a:srgbClr>
            </a:solidFill>
            <a:prstDash val="lgDash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7213600" y="5778499"/>
            <a:ext cx="10033000" cy="517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25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Winding heat scales with current squared (P = I²R). Drop holding current to 40% when stationary.
💡 Cuts stationary heat generation by 84%!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213599" y="5397500"/>
            <a:ext cx="10033000" cy="213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400" b="1" spc="-53">
                <a:gradFill flip="none" rotWithShape="1">
                  <a:gsLst>
                    <a:gs pos="0">
                      <a:srgbClr val="38BDF8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Semi-Bold"/>
                <a:cs typeface="Pattanakarn Semi-Bold"/>
                <a:sym typeface="Pattanakarn Semi-Bold"/>
              </a:rPr>
              <a:t>3. IDLE CURRENT SLEEP</a:t>
            </a:r>
          </a:p>
        </p:txBody>
      </p:sp>
      <p:sp>
        <p:nvSpPr>
          <p:cNvPr id="24" name="AutoShape 24"/>
          <p:cNvSpPr/>
          <p:nvPr/>
        </p:nvSpPr>
        <p:spPr>
          <a:xfrm>
            <a:off x="7213600" y="5295900"/>
            <a:ext cx="2531491" cy="0"/>
          </a:xfrm>
          <a:prstGeom prst="line">
            <a:avLst/>
          </a:prstGeom>
          <a:ln w="57150" cap="flat">
            <a:solidFill>
              <a:srgbClr val="FFFFFF">
                <a:alpha val="87843"/>
              </a:srgbClr>
            </a:solidFill>
            <a:prstDash val="lgDash"/>
            <a:headEnd type="none" w="sm" len="sm"/>
            <a:tailEnd type="none" w="sm" len="sm"/>
          </a:ln>
        </p:spPr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AC433F6D-C31E-CE2E-3BE7-CC8CAD68C66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1180240"/>
            <a:ext cx="5023095" cy="792652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718414" y="8008473"/>
            <a:ext cx="1333079" cy="1392327"/>
            <a:chOff x="0" y="0"/>
            <a:chExt cx="571500" cy="5969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10800000">
            <a:off x="5009804" y="908442"/>
            <a:ext cx="1289396" cy="1346702"/>
            <a:chOff x="0" y="0"/>
            <a:chExt cx="571500" cy="5969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5" name="TextBox 15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413E59CF-0778-15D5-8E02-E235EF0DE4E8}"/>
              </a:ext>
            </a:extLst>
          </p:cNvPr>
          <p:cNvSpPr/>
          <p:nvPr/>
        </p:nvSpPr>
        <p:spPr>
          <a:xfrm>
            <a:off x="1028700" y="533400"/>
            <a:ext cx="5461000" cy="330200"/>
          </a:xfrm>
          <a:prstGeom prst="roundRect">
            <a:avLst/>
          </a:prstGeom>
          <a:solidFill>
            <a:srgbClr val="0A0A0C"/>
          </a:solidFill>
          <a:ln w="15240">
            <a:solidFill>
              <a:srgbClr val="D6DA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fr-FR" sz="1000" b="1">
                <a:solidFill>
                  <a:srgbClr val="D6DADB"/>
                </a:solidFill>
                <a:latin typeface="Segoe UI" panose="020B0502040204020203" pitchFamily="34" charset="0"/>
              </a:rPr>
              <a:t>THERMAL ENGINEERING • RELIABILITY</a:t>
            </a:r>
          </a:p>
        </p:txBody>
      </p:sp>
    </p:spTree>
    <p:extLst>
      <p:ext uri="{BB962C8B-B14F-4D97-AF65-F5344CB8AC3E}">
        <p14:creationId xmlns:p14="http://schemas.microsoft.com/office/powerpoint/2010/main" val="1895446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hecker/>
      </p:transition>
    </mc:Choice>
    <mc:Fallback xmlns="">
      <p:transition>
        <p:checker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270000"/>
            <a:ext cx="5270500" cy="1343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3000" b="1" spc="-168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GEAR BACKLASH: LOST MOTION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699" y="2476499"/>
            <a:ext cx="8064500" cy="3500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35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Backlash is the mechanical clearance gap between mating gear teeth needed to prevent jamming and allow lubrication.
• The Lost Motion Problem: When a motor reverses direction, the input gear turns through an empty angle before touching the opposite tooth face.
• The Tip Amplification: A tiny 0.5° gear play at the base joint swings the tip of an 800 mm arm by 7 millimeters!
💡 Real-World Example: Steering Wheel Play in an Old Car:
Turning the wheel 2 inches before the car's wheels actually respond.
Solutions: Spring-loaded anti-backlash split gears, pre-tensioned timing belts, or zero-backlash harmonic drive gearboxes.
[Reference: SITAMS Unit 2, p. 96 &amp; Jorge Angeles 2nd Ed. Ch. 8]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006600"/>
            <a:ext cx="7032529" cy="207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00" b="1" spc="-53">
                <a:gradFill flip="none" rotWithShape="1">
                  <a:gsLst>
                    <a:gs pos="0">
                      <a:srgbClr val="F59E0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Semi-Bold"/>
                <a:cs typeface="Pattanakarn Semi-Bold"/>
                <a:sym typeface="Pattanakarn Semi-Bold"/>
              </a:rPr>
              <a:t>THE ENEMY OF ROBOTIC POSITIONING</a:t>
            </a:r>
          </a:p>
        </p:txBody>
      </p:sp>
      <p:sp>
        <p:nvSpPr>
          <p:cNvPr id="5" name="AutoShape 5"/>
          <p:cNvSpPr/>
          <p:nvPr/>
        </p:nvSpPr>
        <p:spPr>
          <a:xfrm>
            <a:off x="1028700" y="1879600"/>
            <a:ext cx="2371381" cy="0"/>
          </a:xfrm>
          <a:prstGeom prst="line">
            <a:avLst/>
          </a:prstGeom>
          <a:ln w="57150" cap="flat">
            <a:solidFill>
              <a:srgbClr val="FFFFFF">
                <a:alpha val="87843"/>
              </a:srgbClr>
            </a:solidFill>
            <a:prstDash val="lgDash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-607719" y="9111523"/>
            <a:ext cx="19254369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12166421" y="1606376"/>
            <a:ext cx="6481934" cy="10756641"/>
            <a:chOff x="0" y="0"/>
            <a:chExt cx="1707176" cy="28330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07176" cy="2833025"/>
            </a:xfrm>
            <a:custGeom>
              <a:avLst/>
              <a:gdLst/>
              <a:ahLst/>
              <a:cxnLst/>
              <a:rect l="l" t="t" r="r" b="b"/>
              <a:pathLst>
                <a:path w="1707176" h="2833025">
                  <a:moveTo>
                    <a:pt x="0" y="0"/>
                  </a:moveTo>
                  <a:lnTo>
                    <a:pt x="1707176" y="0"/>
                  </a:lnTo>
                  <a:lnTo>
                    <a:pt x="1707176" y="2833025"/>
                  </a:lnTo>
                  <a:lnTo>
                    <a:pt x="0" y="2833025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1707176" cy="2794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635129" y="1076888"/>
            <a:ext cx="153927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4"/>
              </a:lnSpc>
            </a:pPr>
            <a:r>
              <a:rPr lang="en-US" sz="1200" b="1" spc="-43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JARVIS ROBOTICS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28700" y="1028700"/>
            <a:ext cx="437869" cy="437869"/>
            <a:chOff x="0" y="0"/>
            <a:chExt cx="698500" cy="6985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500" y="349250"/>
                  </a:moveTo>
                  <a:cubicBezTo>
                    <a:pt x="588476" y="313379"/>
                    <a:pt x="502341" y="175825"/>
                    <a:pt x="479908" y="0"/>
                  </a:cubicBezTo>
                  <a:cubicBezTo>
                    <a:pt x="463950" y="125312"/>
                    <a:pt x="415552" y="231178"/>
                    <a:pt x="349250" y="294716"/>
                  </a:cubicBezTo>
                  <a:cubicBezTo>
                    <a:pt x="282948" y="231178"/>
                    <a:pt x="234550" y="125475"/>
                    <a:pt x="218592" y="0"/>
                  </a:cubicBezTo>
                  <a:cubicBezTo>
                    <a:pt x="196159" y="175825"/>
                    <a:pt x="110024" y="313379"/>
                    <a:pt x="0" y="349250"/>
                  </a:cubicBezTo>
                  <a:cubicBezTo>
                    <a:pt x="110024" y="385121"/>
                    <a:pt x="196159" y="522675"/>
                    <a:pt x="218592" y="698500"/>
                  </a:cubicBezTo>
                  <a:cubicBezTo>
                    <a:pt x="234550" y="573188"/>
                    <a:pt x="282948" y="467322"/>
                    <a:pt x="349250" y="403784"/>
                  </a:cubicBezTo>
                  <a:cubicBezTo>
                    <a:pt x="415552" y="467322"/>
                    <a:pt x="463950" y="573025"/>
                    <a:pt x="479908" y="698500"/>
                  </a:cubicBezTo>
                  <a:cubicBezTo>
                    <a:pt x="502341" y="522675"/>
                    <a:pt x="588476" y="385121"/>
                    <a:pt x="698500" y="349250"/>
                  </a:cubicBez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44450"/>
              <a:ext cx="546100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28700" y="9554541"/>
            <a:ext cx="5408384" cy="289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lang="en-US" sz="1000" spc="162">
                <a:gradFill flip="none" rotWithShape="1">
                  <a:gsLst>
                    <a:gs pos="0">
                      <a:srgbClr val="9199A1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ROBOTICS FUNDAMENTALS • SESSION 01 / 04 • THURSDAY, 10 SEPT 2026</a:t>
            </a: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9F7FD98A-F23D-9BCB-1D78-FECECAA19B2F}"/>
              </a:ext>
            </a:extLst>
          </p:cNvPr>
          <p:cNvSpPr/>
          <p:nvPr/>
        </p:nvSpPr>
        <p:spPr>
          <a:xfrm>
            <a:off x="1028700" y="533400"/>
            <a:ext cx="5461000" cy="330200"/>
          </a:xfrm>
          <a:prstGeom prst="roundRect">
            <a:avLst/>
          </a:prstGeom>
          <a:solidFill>
            <a:srgbClr val="0A0A0C"/>
          </a:solidFill>
          <a:ln w="15240">
            <a:solidFill>
              <a:srgbClr val="D6DA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fr-FR" sz="1000" b="1">
                <a:solidFill>
                  <a:srgbClr val="D6DADB"/>
                </a:solidFill>
                <a:latin typeface="Segoe UI" panose="020B0502040204020203" pitchFamily="34" charset="0"/>
              </a:rPr>
              <a:t>PRECISION MECHANICS • HYSTERESIS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4007667C-A14C-8313-9919-1C755339A08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8330" y="1047884"/>
            <a:ext cx="7780970" cy="8210416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 rot="5400000">
            <a:off x="9276804" y="758404"/>
            <a:ext cx="1711929" cy="1788014"/>
            <a:chOff x="0" y="0"/>
            <a:chExt cx="571500" cy="5969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5312322">
            <a:off x="15743087" y="7871964"/>
            <a:ext cx="1711929" cy="1788014"/>
            <a:chOff x="0" y="0"/>
            <a:chExt cx="571500" cy="5969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613829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hecker/>
      </p:transition>
    </mc:Choice>
    <mc:Fallback xmlns="">
      <p:transition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>
            <a:off x="-607719" y="9111523"/>
            <a:ext cx="19254369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12166421" y="1606376"/>
            <a:ext cx="6481934" cy="10756641"/>
            <a:chOff x="0" y="0"/>
            <a:chExt cx="1707176" cy="28330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07176" cy="2833025"/>
            </a:xfrm>
            <a:custGeom>
              <a:avLst/>
              <a:gdLst/>
              <a:ahLst/>
              <a:cxnLst/>
              <a:rect l="l" t="t" r="r" b="b"/>
              <a:pathLst>
                <a:path w="1707176" h="2833025">
                  <a:moveTo>
                    <a:pt x="0" y="0"/>
                  </a:moveTo>
                  <a:lnTo>
                    <a:pt x="1707176" y="0"/>
                  </a:lnTo>
                  <a:lnTo>
                    <a:pt x="1707176" y="2833025"/>
                  </a:lnTo>
                  <a:lnTo>
                    <a:pt x="0" y="2833025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1707176" cy="2794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635129" y="1076888"/>
            <a:ext cx="153927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4"/>
              </a:lnSpc>
            </a:pPr>
            <a:r>
              <a:rPr lang="en-US" sz="1200" b="1" spc="-43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JARVIS ROBOTICS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28700" y="1028700"/>
            <a:ext cx="437869" cy="437869"/>
            <a:chOff x="0" y="0"/>
            <a:chExt cx="698500" cy="6985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500" y="349250"/>
                  </a:moveTo>
                  <a:cubicBezTo>
                    <a:pt x="588476" y="313379"/>
                    <a:pt x="502341" y="175825"/>
                    <a:pt x="479908" y="0"/>
                  </a:cubicBezTo>
                  <a:cubicBezTo>
                    <a:pt x="463950" y="125312"/>
                    <a:pt x="415552" y="231178"/>
                    <a:pt x="349250" y="294716"/>
                  </a:cubicBezTo>
                  <a:cubicBezTo>
                    <a:pt x="282948" y="231178"/>
                    <a:pt x="234550" y="125475"/>
                    <a:pt x="218592" y="0"/>
                  </a:cubicBezTo>
                  <a:cubicBezTo>
                    <a:pt x="196159" y="175825"/>
                    <a:pt x="110024" y="313379"/>
                    <a:pt x="0" y="349250"/>
                  </a:cubicBezTo>
                  <a:cubicBezTo>
                    <a:pt x="110024" y="385121"/>
                    <a:pt x="196159" y="522675"/>
                    <a:pt x="218592" y="698500"/>
                  </a:cubicBezTo>
                  <a:cubicBezTo>
                    <a:pt x="234550" y="573188"/>
                    <a:pt x="282948" y="467322"/>
                    <a:pt x="349250" y="403784"/>
                  </a:cubicBezTo>
                  <a:cubicBezTo>
                    <a:pt x="415552" y="467322"/>
                    <a:pt x="463950" y="573025"/>
                    <a:pt x="479908" y="698500"/>
                  </a:cubicBezTo>
                  <a:cubicBezTo>
                    <a:pt x="502341" y="522675"/>
                    <a:pt x="588476" y="385121"/>
                    <a:pt x="698500" y="349250"/>
                  </a:cubicBez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44450"/>
              <a:ext cx="546100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28700" y="9554541"/>
            <a:ext cx="5408384" cy="289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lang="en-US" sz="1000" spc="162">
                <a:gradFill flip="none" rotWithShape="1">
                  <a:gsLst>
                    <a:gs pos="0">
                      <a:srgbClr val="9199A1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ROBOTICS FUNDAMENTALS • SESSION 01 / 04 • THURSDAY, 10 SEPT 2026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60BE8686-1893-528F-340D-12C7768AD9C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8330" y="1047884"/>
            <a:ext cx="7780970" cy="8210416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 rot="5400000">
            <a:off x="9276804" y="758404"/>
            <a:ext cx="1711929" cy="1788014"/>
            <a:chOff x="0" y="0"/>
            <a:chExt cx="571500" cy="5969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5312322">
            <a:off x="15743087" y="7871964"/>
            <a:ext cx="1711929" cy="1788014"/>
            <a:chOff x="0" y="0"/>
            <a:chExt cx="571500" cy="5969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6756A8BA-9428-EBD5-9484-8E493709FE47}"/>
              </a:ext>
            </a:extLst>
          </p:cNvPr>
          <p:cNvSpPr/>
          <p:nvPr/>
        </p:nvSpPr>
        <p:spPr>
          <a:xfrm>
            <a:off x="1028700" y="533400"/>
            <a:ext cx="5461000" cy="330200"/>
          </a:xfrm>
          <a:prstGeom prst="roundRect">
            <a:avLst/>
          </a:prstGeom>
          <a:solidFill>
            <a:srgbClr val="0A0A0C"/>
          </a:solidFill>
          <a:ln w="1524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en-US" sz="1000" b="1">
                <a:solidFill>
                  <a:srgbClr val="F59E0B"/>
                </a:solidFill>
                <a:latin typeface="Segoe UI" panose="020B0502040204020203" pitchFamily="34" charset="0"/>
              </a:rPr>
              <a:t>⚡ QUICK CHALLENGE 05 • 3D PRINTING FORCES</a:t>
            </a:r>
            <a:endParaRPr lang="fr-FR" sz="1000" b="1">
              <a:solidFill>
                <a:srgbClr val="F59E0B"/>
              </a:solidFill>
              <a:latin typeface="Segoe UI" panose="020B0502040204020203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AEE16646-6F4A-4655-E547-ED897DC2A7E3}"/>
              </a:ext>
            </a:extLst>
          </p:cNvPr>
          <p:cNvSpPr txBox="1"/>
          <p:nvPr/>
        </p:nvSpPr>
        <p:spPr>
          <a:xfrm>
            <a:off x="1028700" y="1206500"/>
            <a:ext cx="8178800" cy="430887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500" b="1">
                <a:solidFill>
                  <a:srgbClr val="FFFFFF"/>
                </a:solidFill>
                <a:latin typeface="Segoe UI Bold"/>
              </a:rPr>
              <a:t>3D PRINTED HARDWARE FAILURE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24434158-7095-EF86-89C2-9AB54FCA9619}"/>
              </a:ext>
            </a:extLst>
          </p:cNvPr>
          <p:cNvSpPr txBox="1"/>
          <p:nvPr/>
        </p:nvSpPr>
        <p:spPr>
          <a:xfrm>
            <a:off x="1028700" y="1905000"/>
            <a:ext cx="8178800" cy="44627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300">
                <a:solidFill>
                  <a:srgbClr val="D6DADB"/>
                </a:solidFill>
                <a:latin typeface="Segoe UI" panose="020B0502040204020203" pitchFamily="34" charset="0"/>
              </a:rPr>
              <a:t>A 3D-printed robot bracket snaps cleanly in half along a shiny, flat horizontal surface under moderate pull force. What caused the fracture?</a:t>
            </a:r>
            <a:endParaRPr lang="fr-FR" sz="1300">
              <a:solidFill>
                <a:srgbClr val="D6DADB"/>
              </a:solidFill>
              <a:latin typeface="Segoe UI" panose="020B0502040204020203" pitchFamily="34" charset="0"/>
            </a:endParaRP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5287938F-AA96-14B0-F73E-9D2F0D90935C}"/>
              </a:ext>
            </a:extLst>
          </p:cNvPr>
          <p:cNvSpPr/>
          <p:nvPr/>
        </p:nvSpPr>
        <p:spPr>
          <a:xfrm>
            <a:off x="1028700" y="3365500"/>
            <a:ext cx="4000500" cy="1206500"/>
          </a:xfrm>
          <a:prstGeom prst="roundRect">
            <a:avLst/>
          </a:prstGeom>
          <a:solidFill>
            <a:srgbClr val="1A1D21"/>
          </a:solidFill>
          <a:ln w="15240">
            <a:solidFill>
              <a:srgbClr val="3C42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 algn="ctr"/>
            <a:r>
              <a:rPr lang="en-US" sz="1200" b="1">
                <a:solidFill>
                  <a:srgbClr val="F59E0B"/>
                </a:solidFill>
                <a:latin typeface="Segoe UI" panose="020B0502040204020203" pitchFamily="34" charset="0"/>
              </a:rPr>
              <a:t>[A]</a:t>
            </a:r>
            <a:r>
              <a:rPr lang="en-US" sz="1200">
                <a:solidFill>
                  <a:srgbClr val="FFFFFF"/>
                </a:solidFill>
                <a:latin typeface="Segoe UI" panose="020B0502040204020203" pitchFamily="34" charset="0"/>
              </a:rPr>
              <a:t>  The motor wire gauge was too thin</a:t>
            </a:r>
            <a:endParaRPr lang="fr-FR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E6BF2889-F936-35D4-6649-99E34735472A}"/>
              </a:ext>
            </a:extLst>
          </p:cNvPr>
          <p:cNvSpPr/>
          <p:nvPr/>
        </p:nvSpPr>
        <p:spPr>
          <a:xfrm>
            <a:off x="5207000" y="3365500"/>
            <a:ext cx="4000500" cy="1206500"/>
          </a:xfrm>
          <a:prstGeom prst="roundRect">
            <a:avLst/>
          </a:prstGeom>
          <a:solidFill>
            <a:srgbClr val="1A1D21"/>
          </a:solidFill>
          <a:ln w="15240">
            <a:solidFill>
              <a:srgbClr val="3C42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 algn="ctr"/>
            <a:r>
              <a:rPr lang="en-US" sz="1200" b="1">
                <a:solidFill>
                  <a:srgbClr val="F59E0B"/>
                </a:solidFill>
                <a:latin typeface="Segoe UI" panose="020B0502040204020203" pitchFamily="34" charset="0"/>
              </a:rPr>
              <a:t>[B]</a:t>
            </a:r>
            <a:r>
              <a:rPr lang="en-US" sz="1200">
                <a:solidFill>
                  <a:srgbClr val="FFFFFF"/>
                </a:solidFill>
                <a:latin typeface="Segoe UI" panose="020B0502040204020203" pitchFamily="34" charset="0"/>
              </a:rPr>
              <a:t>  Tensile pull separated the plastic layer lines (Z-axis delamination); FDM prints are anisotropic</a:t>
            </a:r>
            <a:endParaRPr lang="fr-FR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9709565B-47BD-07E7-E1E5-2D632A3A1432}"/>
              </a:ext>
            </a:extLst>
          </p:cNvPr>
          <p:cNvSpPr/>
          <p:nvPr/>
        </p:nvSpPr>
        <p:spPr>
          <a:xfrm>
            <a:off x="1028700" y="4762500"/>
            <a:ext cx="4000500" cy="1206500"/>
          </a:xfrm>
          <a:prstGeom prst="roundRect">
            <a:avLst/>
          </a:prstGeom>
          <a:solidFill>
            <a:srgbClr val="1A1D21"/>
          </a:solidFill>
          <a:ln w="15240">
            <a:solidFill>
              <a:srgbClr val="3C42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 algn="ctr"/>
            <a:r>
              <a:rPr lang="en-US" sz="1200" b="1">
                <a:solidFill>
                  <a:srgbClr val="F59E0B"/>
                </a:solidFill>
                <a:latin typeface="Segoe UI" panose="020B0502040204020203" pitchFamily="34" charset="0"/>
              </a:rPr>
              <a:t>[C]</a:t>
            </a:r>
            <a:r>
              <a:rPr lang="en-US" sz="1200">
                <a:solidFill>
                  <a:srgbClr val="FFFFFF"/>
                </a:solidFill>
                <a:latin typeface="Segoe UI" panose="020B0502040204020203" pitchFamily="34" charset="0"/>
              </a:rPr>
              <a:t>  Gear backlash induced high-frequency vibration</a:t>
            </a:r>
            <a:endParaRPr lang="fr-FR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989A2F25-D174-4F10-319D-5EC9687C9E91}"/>
              </a:ext>
            </a:extLst>
          </p:cNvPr>
          <p:cNvSpPr/>
          <p:nvPr/>
        </p:nvSpPr>
        <p:spPr>
          <a:xfrm>
            <a:off x="5207000" y="4762500"/>
            <a:ext cx="4000500" cy="1206500"/>
          </a:xfrm>
          <a:prstGeom prst="roundRect">
            <a:avLst/>
          </a:prstGeom>
          <a:solidFill>
            <a:srgbClr val="1A1D21"/>
          </a:solidFill>
          <a:ln w="15240">
            <a:solidFill>
              <a:srgbClr val="3C42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 algn="ctr"/>
            <a:r>
              <a:rPr lang="en-US" sz="1200" b="1">
                <a:solidFill>
                  <a:srgbClr val="F59E0B"/>
                </a:solidFill>
                <a:latin typeface="Segoe UI" panose="020B0502040204020203" pitchFamily="34" charset="0"/>
              </a:rPr>
              <a:t>[D]</a:t>
            </a:r>
            <a:r>
              <a:rPr lang="en-US" sz="1200">
                <a:solidFill>
                  <a:srgbClr val="FFFFFF"/>
                </a:solidFill>
                <a:latin typeface="Segoe UI" panose="020B0502040204020203" pitchFamily="34" charset="0"/>
              </a:rPr>
              <a:t>  Microcontroller brownout released the joint</a:t>
            </a:r>
            <a:endParaRPr lang="fr-FR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FBFF8D9F-E8B2-3E12-33F0-8AF543517D40}"/>
              </a:ext>
            </a:extLst>
          </p:cNvPr>
          <p:cNvSpPr/>
          <p:nvPr/>
        </p:nvSpPr>
        <p:spPr>
          <a:xfrm>
            <a:off x="1028700" y="6286500"/>
            <a:ext cx="8178800" cy="1397000"/>
          </a:xfrm>
          <a:prstGeom prst="roundRect">
            <a:avLst/>
          </a:prstGeom>
          <a:solidFill>
            <a:srgbClr val="0F2319"/>
          </a:solidFill>
          <a:ln w="254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101600" rIns="203200" rtlCol="0" anchor="ctr"/>
          <a:lstStyle/>
          <a:p>
            <a:pPr algn="ctr"/>
            <a:r>
              <a:rPr lang="en-US" sz="1350" b="1">
                <a:solidFill>
                  <a:srgbClr val="10B981"/>
                </a:solidFill>
                <a:latin typeface="Segoe UI" panose="020B0502040204020203" pitchFamily="34" charset="0"/>
              </a:rPr>
              <a:t>✓ CORRECT ANSWER: [B]
FDM 3D prints are anisotropic: layer-to-layer bonding is only 30–50% of continuous filament strength. Always orient parts so pull stresses travel along continuous XY lines! [Ref: SITAMS Unit 5]</a:t>
            </a:r>
            <a:endParaRPr lang="fr-FR" sz="1350" b="1">
              <a:solidFill>
                <a:srgbClr val="10B98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593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hecker/>
      </p:transition>
    </mc:Choice>
    <mc:Fallback xmlns="">
      <p:transition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/>
      <p:bldP spid="27" grpId="0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135118" y="1091524"/>
            <a:ext cx="153927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44"/>
              </a:lnSpc>
            </a:pPr>
            <a:r>
              <a:rPr lang="en-US" sz="1200" b="1" spc="-43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JARVIS ROBOTICS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821431" y="1028700"/>
            <a:ext cx="437869" cy="437869"/>
            <a:chOff x="0" y="0"/>
            <a:chExt cx="698500" cy="6985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500" y="349250"/>
                  </a:moveTo>
                  <a:cubicBezTo>
                    <a:pt x="588476" y="313379"/>
                    <a:pt x="502341" y="175825"/>
                    <a:pt x="479908" y="0"/>
                  </a:cubicBezTo>
                  <a:cubicBezTo>
                    <a:pt x="463950" y="125312"/>
                    <a:pt x="415552" y="231178"/>
                    <a:pt x="349250" y="294716"/>
                  </a:cubicBezTo>
                  <a:cubicBezTo>
                    <a:pt x="282948" y="231178"/>
                    <a:pt x="234550" y="125475"/>
                    <a:pt x="218592" y="0"/>
                  </a:cubicBezTo>
                  <a:cubicBezTo>
                    <a:pt x="196159" y="175825"/>
                    <a:pt x="110024" y="313379"/>
                    <a:pt x="0" y="349250"/>
                  </a:cubicBezTo>
                  <a:cubicBezTo>
                    <a:pt x="110024" y="385121"/>
                    <a:pt x="196159" y="522675"/>
                    <a:pt x="218592" y="698500"/>
                  </a:cubicBezTo>
                  <a:cubicBezTo>
                    <a:pt x="234550" y="573188"/>
                    <a:pt x="282948" y="467322"/>
                    <a:pt x="349250" y="403784"/>
                  </a:cubicBezTo>
                  <a:cubicBezTo>
                    <a:pt x="415552" y="467322"/>
                    <a:pt x="463950" y="573025"/>
                    <a:pt x="479908" y="698500"/>
                  </a:cubicBezTo>
                  <a:cubicBezTo>
                    <a:pt x="502341" y="522675"/>
                    <a:pt x="588476" y="385121"/>
                    <a:pt x="698500" y="349250"/>
                  </a:cubicBez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76200" y="44450"/>
              <a:ext cx="546100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8700" y="5461000"/>
            <a:ext cx="5842000" cy="2765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2500" b="1" spc="-168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ELECTRICAL ARCHITECTURE &amp; CONTROL
Microcontrollers, motor drivers, power distribution, and communication buses.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365999" y="5460999"/>
            <a:ext cx="4572000" cy="1044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20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• Microcontrollers (Reflexes) vs Single-Board Computers (Brain)
• Motor Driver Physics: MOSFET H-bridges &amp; shoot-through protection
• Stepper open-loop pulses vs Brushless closed-loop FOC control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318999" y="5460999"/>
            <a:ext cx="4953000" cy="1044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20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• Power Delivery: Battery discharge C-ratings, ESR, and voltage sag
• Preventing Brownouts: Dedicated DC-DC buck regulators &amp; capacitors
• Noise Immunity: Star grounding and ground loops
[Ref: Jeff McGough, Robotics: Concepts &amp; Simulation, Ch. 7]</a:t>
            </a:r>
          </a:p>
        </p:txBody>
      </p:sp>
      <p:sp>
        <p:nvSpPr>
          <p:cNvPr id="17" name="AutoShape 17"/>
          <p:cNvSpPr/>
          <p:nvPr/>
        </p:nvSpPr>
        <p:spPr>
          <a:xfrm>
            <a:off x="-607719" y="9111523"/>
            <a:ext cx="19254369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18"/>
          <p:cNvSpPr txBox="1"/>
          <p:nvPr/>
        </p:nvSpPr>
        <p:spPr>
          <a:xfrm>
            <a:off x="11850916" y="9554541"/>
            <a:ext cx="5408384" cy="289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00"/>
              </a:lnSpc>
            </a:pPr>
            <a:r>
              <a:rPr lang="en-US" sz="1000" spc="162">
                <a:gradFill flip="none" rotWithShape="1">
                  <a:gsLst>
                    <a:gs pos="0">
                      <a:srgbClr val="9199A1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ROBOTICS FUNDAMENTALS • SESSION 01 / 04 • THURSDAY, 10 SEPT 2026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46818A3F-53DB-CA06-12FF-036ABB639DE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5280" y="1062949"/>
            <a:ext cx="13427937" cy="3800856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 rot="-5400000">
            <a:off x="13633658" y="3599560"/>
            <a:ext cx="1468820" cy="1534100"/>
            <a:chOff x="0" y="0"/>
            <a:chExt cx="571500" cy="5969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5400000">
            <a:off x="1061340" y="699519"/>
            <a:ext cx="1468820" cy="1534100"/>
            <a:chOff x="0" y="0"/>
            <a:chExt cx="571500" cy="5969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C82A79D0-FA3C-CBB6-FBE8-9C74A1382081}"/>
              </a:ext>
            </a:extLst>
          </p:cNvPr>
          <p:cNvSpPr/>
          <p:nvPr/>
        </p:nvSpPr>
        <p:spPr>
          <a:xfrm>
            <a:off x="1028700" y="533400"/>
            <a:ext cx="5461000" cy="330200"/>
          </a:xfrm>
          <a:prstGeom prst="roundRect">
            <a:avLst/>
          </a:prstGeom>
          <a:solidFill>
            <a:srgbClr val="0A0A0C"/>
          </a:solidFill>
          <a:ln w="15240">
            <a:solidFill>
              <a:srgbClr val="D6DA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fr-FR" sz="1000" b="1">
                <a:solidFill>
                  <a:srgbClr val="D6DADB"/>
                </a:solidFill>
                <a:latin typeface="Segoe UI" panose="020B0502040204020203" pitchFamily="34" charset="0"/>
              </a:rPr>
              <a:t>MODULE TRACK • 04 / 06</a:t>
            </a:r>
          </a:p>
        </p:txBody>
      </p:sp>
    </p:spTree>
    <p:extLst>
      <p:ext uri="{BB962C8B-B14F-4D97-AF65-F5344CB8AC3E}">
        <p14:creationId xmlns:p14="http://schemas.microsoft.com/office/powerpoint/2010/main" val="2318666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hecker/>
      </p:transition>
    </mc:Choice>
    <mc:Fallback xmlns="">
      <p:transition>
        <p:checker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920248" y="1076888"/>
            <a:ext cx="1053933" cy="370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4"/>
              </a:lnSpc>
            </a:pPr>
            <a:r>
              <a:rPr lang="en-US" sz="1200" b="1" spc="-43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JARVIS ROBOTICS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313819" y="1028700"/>
            <a:ext cx="437869" cy="437869"/>
            <a:chOff x="0" y="0"/>
            <a:chExt cx="698500" cy="6985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500" y="349250"/>
                  </a:moveTo>
                  <a:cubicBezTo>
                    <a:pt x="588476" y="313379"/>
                    <a:pt x="502341" y="175825"/>
                    <a:pt x="479908" y="0"/>
                  </a:cubicBezTo>
                  <a:cubicBezTo>
                    <a:pt x="463950" y="125312"/>
                    <a:pt x="415552" y="231178"/>
                    <a:pt x="349250" y="294716"/>
                  </a:cubicBezTo>
                  <a:cubicBezTo>
                    <a:pt x="282948" y="231178"/>
                    <a:pt x="234550" y="125475"/>
                    <a:pt x="218592" y="0"/>
                  </a:cubicBezTo>
                  <a:cubicBezTo>
                    <a:pt x="196159" y="175825"/>
                    <a:pt x="110024" y="313379"/>
                    <a:pt x="0" y="349250"/>
                  </a:cubicBezTo>
                  <a:cubicBezTo>
                    <a:pt x="110024" y="385121"/>
                    <a:pt x="196159" y="522675"/>
                    <a:pt x="218592" y="698500"/>
                  </a:cubicBezTo>
                  <a:cubicBezTo>
                    <a:pt x="234550" y="573188"/>
                    <a:pt x="282948" y="467322"/>
                    <a:pt x="349250" y="403784"/>
                  </a:cubicBezTo>
                  <a:cubicBezTo>
                    <a:pt x="415552" y="467322"/>
                    <a:pt x="463950" y="573025"/>
                    <a:pt x="479908" y="698500"/>
                  </a:cubicBezTo>
                  <a:cubicBezTo>
                    <a:pt x="502341" y="522675"/>
                    <a:pt x="588476" y="385121"/>
                    <a:pt x="698500" y="349250"/>
                  </a:cubicBez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76200" y="44450"/>
              <a:ext cx="546100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539999" y="1460500"/>
            <a:ext cx="13208000" cy="625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3000" b="1" spc="-168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MCU VS SINGLE-BOARD COMPUTER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32000" y="3175000"/>
            <a:ext cx="6604000" cy="2932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450" b="1">
                <a:gradFill flip="none" rotWithShape="1">
                  <a:gsLst>
                    <a:gs pos="0">
                      <a:srgbClr val="38BDF8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MICROCONTROLLER (STM32 / ESP32 / ARDUINO)
• Role: The Spinal Cord &amp; Reflexes (Hard Real-Time)
• Execution: Microsecond-deterministic C/C++ without an operating system
• Tasks: 20 kHz motor PWM, encoder interrupt counting, PID loops, E-stop monitoring
• Crucial Advantage: Never freezes, misses a clock tick, or lags from background OS tasks!
💡 Real-World Example: Touching a hot stove and pulling your hand back in 10 milliseconds.
[Ref: Jeff McGough Ch. 7 • Microcontrollers]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39999" y="2133600"/>
            <a:ext cx="13208000" cy="207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 b="1" spc="-53">
                <a:gradFill flip="none" rotWithShape="1">
                  <a:gsLst>
                    <a:gs pos="0">
                      <a:srgbClr val="F59E0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Semi-Bold"/>
                <a:cs typeface="Pattanakarn Semi-Bold"/>
                <a:sym typeface="Pattanakarn Semi-Bold"/>
              </a:rPr>
              <a:t>SEPARATION OF CONCERNS: REFLEXES VS BRAIN</a:t>
            </a:r>
          </a:p>
        </p:txBody>
      </p:sp>
      <p:sp>
        <p:nvSpPr>
          <p:cNvPr id="9" name="AutoShape 9"/>
          <p:cNvSpPr/>
          <p:nvPr/>
        </p:nvSpPr>
        <p:spPr>
          <a:xfrm>
            <a:off x="7958310" y="2032000"/>
            <a:ext cx="2371381" cy="0"/>
          </a:xfrm>
          <a:prstGeom prst="line">
            <a:avLst/>
          </a:prstGeom>
          <a:ln w="57150" cap="flat">
            <a:solidFill>
              <a:srgbClr val="FFFFFF">
                <a:alpha val="87843"/>
              </a:srgbClr>
            </a:solidFill>
            <a:prstDash val="lgDash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9652000" y="3175000"/>
            <a:ext cx="6604000" cy="266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450" b="1">
                <a:gradFill flip="none" rotWithShape="1">
                  <a:gsLst>
                    <a:gs pos="0">
                      <a:srgbClr val="38BDF8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SINGLE-BOARD COMPUTER (JETSON / PI / LINUX)
• Role: The Strategic Cerebrum Brain (High-Level Autonomy)
• Execution: Linux (Ubuntu) + ROS 2 middleware + Python AI nodes
• Tasks: Camera vision (YOLO), LiDAR SLAM mapping, trajectory path planning (MoveIt)
• Rule of Thumb: Never toggle motor pins directly from Linux user space!
💡 Real-World Example: Deciding which route to navigate across a college campus.
[Ref: Jeff McGough Ch. 3 • Embedded Linux]</a:t>
            </a:r>
          </a:p>
        </p:txBody>
      </p:sp>
      <p:grpSp>
        <p:nvGrpSpPr>
          <p:cNvPr id="11" name="Group 11" hidden="1"/>
          <p:cNvGrpSpPr/>
          <p:nvPr/>
        </p:nvGrpSpPr>
        <p:grpSpPr>
          <a:xfrm>
            <a:off x="14777515" y="2229225"/>
            <a:ext cx="5863909" cy="2348419"/>
            <a:chOff x="0" y="0"/>
            <a:chExt cx="1544404" cy="618514"/>
          </a:xfrm>
        </p:grpSpPr>
        <p:sp>
          <p:nvSpPr>
            <p:cNvPr id="12" name="Freeform 12" hidden="1"/>
            <p:cNvSpPr/>
            <p:nvPr/>
          </p:nvSpPr>
          <p:spPr>
            <a:xfrm>
              <a:off x="0" y="0"/>
              <a:ext cx="1544404" cy="618514"/>
            </a:xfrm>
            <a:custGeom>
              <a:avLst/>
              <a:gdLst/>
              <a:ahLst/>
              <a:cxnLst/>
              <a:rect l="l" t="t" r="r" b="b"/>
              <a:pathLst>
                <a:path w="1544404" h="618514">
                  <a:moveTo>
                    <a:pt x="0" y="0"/>
                  </a:moveTo>
                  <a:lnTo>
                    <a:pt x="1544404" y="0"/>
                  </a:lnTo>
                  <a:lnTo>
                    <a:pt x="1544404" y="618514"/>
                  </a:lnTo>
                  <a:lnTo>
                    <a:pt x="0" y="618514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3" name="TextBox 13" hidden="1"/>
            <p:cNvSpPr txBox="1"/>
            <p:nvPr/>
          </p:nvSpPr>
          <p:spPr>
            <a:xfrm>
              <a:off x="0" y="38100"/>
              <a:ext cx="1544404" cy="5804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4" name="Group 14" hidden="1"/>
          <p:cNvGrpSpPr/>
          <p:nvPr/>
        </p:nvGrpSpPr>
        <p:grpSpPr>
          <a:xfrm>
            <a:off x="-2354965" y="2208445"/>
            <a:ext cx="5863909" cy="2348419"/>
            <a:chOff x="0" y="0"/>
            <a:chExt cx="1544404" cy="618514"/>
          </a:xfrm>
        </p:grpSpPr>
        <p:sp>
          <p:nvSpPr>
            <p:cNvPr id="15" name="Freeform 15" hidden="1"/>
            <p:cNvSpPr/>
            <p:nvPr/>
          </p:nvSpPr>
          <p:spPr>
            <a:xfrm>
              <a:off x="0" y="0"/>
              <a:ext cx="1544404" cy="618514"/>
            </a:xfrm>
            <a:custGeom>
              <a:avLst/>
              <a:gdLst/>
              <a:ahLst/>
              <a:cxnLst/>
              <a:rect l="l" t="t" r="r" b="b"/>
              <a:pathLst>
                <a:path w="1544404" h="618514">
                  <a:moveTo>
                    <a:pt x="0" y="0"/>
                  </a:moveTo>
                  <a:lnTo>
                    <a:pt x="1544404" y="0"/>
                  </a:lnTo>
                  <a:lnTo>
                    <a:pt x="1544404" y="618514"/>
                  </a:lnTo>
                  <a:lnTo>
                    <a:pt x="0" y="618514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6" name="TextBox 16" hidden="1"/>
            <p:cNvSpPr txBox="1"/>
            <p:nvPr/>
          </p:nvSpPr>
          <p:spPr>
            <a:xfrm>
              <a:off x="0" y="38100"/>
              <a:ext cx="1544404" cy="5804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7" name="AutoShape 17"/>
          <p:cNvSpPr/>
          <p:nvPr/>
        </p:nvSpPr>
        <p:spPr>
          <a:xfrm>
            <a:off x="-607719" y="9111523"/>
            <a:ext cx="19254369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18"/>
          <p:cNvSpPr txBox="1"/>
          <p:nvPr/>
        </p:nvSpPr>
        <p:spPr>
          <a:xfrm>
            <a:off x="6440434" y="9554541"/>
            <a:ext cx="5408384" cy="289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US" sz="1000" spc="162">
                <a:gradFill flip="none" rotWithShape="1">
                  <a:gsLst>
                    <a:gs pos="0">
                      <a:srgbClr val="9199A1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ROBOTICS FUNDAMENTALS • SESSION 01 / 04 • THURSDAY, 10 SEPT 2026</a:t>
            </a:r>
          </a:p>
        </p:txBody>
      </p:sp>
      <p:grpSp>
        <p:nvGrpSpPr>
          <p:cNvPr id="19" name="Group 19" hidden="1"/>
          <p:cNvGrpSpPr/>
          <p:nvPr/>
        </p:nvGrpSpPr>
        <p:grpSpPr>
          <a:xfrm rot="5400000">
            <a:off x="-721951" y="1881195"/>
            <a:ext cx="1468820" cy="1534100"/>
            <a:chOff x="0" y="0"/>
            <a:chExt cx="571500" cy="596900"/>
          </a:xfrm>
        </p:grpSpPr>
        <p:sp>
          <p:nvSpPr>
            <p:cNvPr id="20" name="Freeform 20" hidden="1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1" name="TextBox 21" hidden="1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22" name="Group 22" hidden="1"/>
          <p:cNvGrpSpPr/>
          <p:nvPr/>
        </p:nvGrpSpPr>
        <p:grpSpPr>
          <a:xfrm rot="-5400000">
            <a:off x="2256675" y="3391574"/>
            <a:ext cx="1468820" cy="1534100"/>
            <a:chOff x="0" y="0"/>
            <a:chExt cx="571500" cy="596900"/>
          </a:xfrm>
        </p:grpSpPr>
        <p:sp>
          <p:nvSpPr>
            <p:cNvPr id="23" name="Freeform 23" hidden="1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4" name="TextBox 24" hidden="1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25" name="Group 25" hidden="1"/>
          <p:cNvGrpSpPr/>
          <p:nvPr/>
        </p:nvGrpSpPr>
        <p:grpSpPr>
          <a:xfrm rot="5400000">
            <a:off x="14563758" y="1922755"/>
            <a:ext cx="1468820" cy="1534100"/>
            <a:chOff x="0" y="0"/>
            <a:chExt cx="571500" cy="596900"/>
          </a:xfrm>
        </p:grpSpPr>
        <p:sp>
          <p:nvSpPr>
            <p:cNvPr id="26" name="Freeform 26" hidden="1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7" name="TextBox 27" hidden="1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28" name="Group 28" hidden="1"/>
          <p:cNvGrpSpPr/>
          <p:nvPr/>
        </p:nvGrpSpPr>
        <p:grpSpPr>
          <a:xfrm rot="-5400000">
            <a:off x="17542385" y="3433135"/>
            <a:ext cx="1468820" cy="1534100"/>
            <a:chOff x="0" y="0"/>
            <a:chExt cx="571500" cy="596900"/>
          </a:xfrm>
        </p:grpSpPr>
        <p:sp>
          <p:nvSpPr>
            <p:cNvPr id="29" name="Freeform 29" hidden="1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30" name="TextBox 30" hidden="1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87F20F64-9F7E-9CDC-C94D-812FE226093D}"/>
              </a:ext>
            </a:extLst>
          </p:cNvPr>
          <p:cNvSpPr/>
          <p:nvPr/>
        </p:nvSpPr>
        <p:spPr>
          <a:xfrm>
            <a:off x="1028700" y="533400"/>
            <a:ext cx="5461000" cy="330200"/>
          </a:xfrm>
          <a:prstGeom prst="roundRect">
            <a:avLst/>
          </a:prstGeom>
          <a:solidFill>
            <a:srgbClr val="0A0A0C"/>
          </a:solidFill>
          <a:ln w="15240">
            <a:solidFill>
              <a:srgbClr val="D6DA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fr-FR" sz="1000" b="1">
                <a:solidFill>
                  <a:srgbClr val="D6DADB"/>
                </a:solidFill>
                <a:latin typeface="Segoe UI" panose="020B0502040204020203" pitchFamily="34" charset="0"/>
              </a:rPr>
              <a:t>COMPUTATION • EMBEDDED HARDWARE</a:t>
            </a:r>
          </a:p>
        </p:txBody>
      </p:sp>
      <p:pic>
        <p:nvPicPr>
          <p:cNvPr id="33" name="Graphique 32">
            <a:extLst>
              <a:ext uri="{FF2B5EF4-FFF2-40B4-BE49-F238E27FC236}">
                <a16:creationId xmlns:a16="http://schemas.microsoft.com/office/drawing/2014/main" id="{6528EE27-EDAD-36D8-0C15-75D2D943E41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32000" y="2692400"/>
            <a:ext cx="558800" cy="355600"/>
          </a:xfrm>
          <a:prstGeom prst="rect">
            <a:avLst/>
          </a:prstGeom>
        </p:spPr>
      </p:pic>
      <p:pic>
        <p:nvPicPr>
          <p:cNvPr id="35" name="Graphique 34">
            <a:extLst>
              <a:ext uri="{FF2B5EF4-FFF2-40B4-BE49-F238E27FC236}">
                <a16:creationId xmlns:a16="http://schemas.microsoft.com/office/drawing/2014/main" id="{AD8A3843-FF09-2498-E489-D43E8E4AA1DE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2000" y="2616200"/>
            <a:ext cx="431800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927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hecker/>
      </p:transition>
    </mc:Choice>
    <mc:Fallback xmlns="">
      <p:transition>
        <p:checker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270000"/>
            <a:ext cx="5270500" cy="625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3000" b="1" spc="-168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H-BRIDGES &amp; MOSFETS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699" y="2476499"/>
            <a:ext cx="8064500" cy="2934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35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Microcontroller pins output 3.3V at 20 milliamps. A robot motor needs 24V at 10 amps. An H-Bridge bridges the gap:
• The H-Formation (4 MOSFET Switches):
  - Forward: Switches Q1 and Q4 turn ON → Current flows left to right.
  - Reverse: Switches Q2 and Q3 turn ON → Current flows right to left.
  - Speed Control: Pulsing the switches on and off at 20 kHz (PWM) modulates motor speed smoothly!
Critical Rule: Shoot-Through Prevention. Never turn Q1 and Q2 ON at the same time! That connects battery positive directly to ground, exploding the transistors in milliseconds!
[Reference: Jeff McGough, Ch. 7 • Power Control &amp; Motor Drivers]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006600"/>
            <a:ext cx="7032529" cy="207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00" b="1" spc="-53">
                <a:gradFill flip="none" rotWithShape="1">
                  <a:gsLst>
                    <a:gs pos="0">
                      <a:srgbClr val="F59E0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Semi-Bold"/>
                <a:cs typeface="Pattanakarn Semi-Bold"/>
                <a:sym typeface="Pattanakarn Semi-Bold"/>
              </a:rPr>
              <a:t>HOW WEAK LOGIC CONTROLS POWERFUL MOTORS</a:t>
            </a:r>
          </a:p>
        </p:txBody>
      </p:sp>
      <p:sp>
        <p:nvSpPr>
          <p:cNvPr id="5" name="AutoShape 5"/>
          <p:cNvSpPr/>
          <p:nvPr/>
        </p:nvSpPr>
        <p:spPr>
          <a:xfrm>
            <a:off x="1028700" y="1879600"/>
            <a:ext cx="2371381" cy="0"/>
          </a:xfrm>
          <a:prstGeom prst="line">
            <a:avLst/>
          </a:prstGeom>
          <a:ln w="57150" cap="flat">
            <a:solidFill>
              <a:srgbClr val="FFFFFF">
                <a:alpha val="87843"/>
              </a:srgbClr>
            </a:solidFill>
            <a:prstDash val="lgDash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-607719" y="9111523"/>
            <a:ext cx="19254369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12166421" y="1606376"/>
            <a:ext cx="6481934" cy="10756641"/>
            <a:chOff x="0" y="0"/>
            <a:chExt cx="1707176" cy="28330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07176" cy="2833025"/>
            </a:xfrm>
            <a:custGeom>
              <a:avLst/>
              <a:gdLst/>
              <a:ahLst/>
              <a:cxnLst/>
              <a:rect l="l" t="t" r="r" b="b"/>
              <a:pathLst>
                <a:path w="1707176" h="2833025">
                  <a:moveTo>
                    <a:pt x="0" y="0"/>
                  </a:moveTo>
                  <a:lnTo>
                    <a:pt x="1707176" y="0"/>
                  </a:lnTo>
                  <a:lnTo>
                    <a:pt x="1707176" y="2833025"/>
                  </a:lnTo>
                  <a:lnTo>
                    <a:pt x="0" y="2833025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1707176" cy="2794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635129" y="1076888"/>
            <a:ext cx="153927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4"/>
              </a:lnSpc>
            </a:pPr>
            <a:r>
              <a:rPr lang="en-US" sz="1200" b="1" spc="-43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JARVIS ROBOTICS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28700" y="1028700"/>
            <a:ext cx="437869" cy="437869"/>
            <a:chOff x="0" y="0"/>
            <a:chExt cx="698500" cy="6985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500" y="349250"/>
                  </a:moveTo>
                  <a:cubicBezTo>
                    <a:pt x="588476" y="313379"/>
                    <a:pt x="502341" y="175825"/>
                    <a:pt x="479908" y="0"/>
                  </a:cubicBezTo>
                  <a:cubicBezTo>
                    <a:pt x="463950" y="125312"/>
                    <a:pt x="415552" y="231178"/>
                    <a:pt x="349250" y="294716"/>
                  </a:cubicBezTo>
                  <a:cubicBezTo>
                    <a:pt x="282948" y="231178"/>
                    <a:pt x="234550" y="125475"/>
                    <a:pt x="218592" y="0"/>
                  </a:cubicBezTo>
                  <a:cubicBezTo>
                    <a:pt x="196159" y="175825"/>
                    <a:pt x="110024" y="313379"/>
                    <a:pt x="0" y="349250"/>
                  </a:cubicBezTo>
                  <a:cubicBezTo>
                    <a:pt x="110024" y="385121"/>
                    <a:pt x="196159" y="522675"/>
                    <a:pt x="218592" y="698500"/>
                  </a:cubicBezTo>
                  <a:cubicBezTo>
                    <a:pt x="234550" y="573188"/>
                    <a:pt x="282948" y="467322"/>
                    <a:pt x="349250" y="403784"/>
                  </a:cubicBezTo>
                  <a:cubicBezTo>
                    <a:pt x="415552" y="467322"/>
                    <a:pt x="463950" y="573025"/>
                    <a:pt x="479908" y="698500"/>
                  </a:cubicBezTo>
                  <a:cubicBezTo>
                    <a:pt x="502341" y="522675"/>
                    <a:pt x="588476" y="385121"/>
                    <a:pt x="698500" y="349250"/>
                  </a:cubicBez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44450"/>
              <a:ext cx="546100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28700" y="9554541"/>
            <a:ext cx="5408384" cy="289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lang="en-US" sz="1000" spc="162">
                <a:gradFill flip="none" rotWithShape="1">
                  <a:gsLst>
                    <a:gs pos="0">
                      <a:srgbClr val="9199A1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ROBOTICS FUNDAMENTALS • SESSION 01 / 04 • THURSDAY, 10 SEPT 2026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39906284-1EC4-7A85-BD54-36DECEA6737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8330" y="1047884"/>
            <a:ext cx="7780970" cy="8210416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 rot="5400000">
            <a:off x="9276804" y="758404"/>
            <a:ext cx="1711929" cy="1788014"/>
            <a:chOff x="0" y="0"/>
            <a:chExt cx="571500" cy="5969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5312322">
            <a:off x="15743087" y="7871964"/>
            <a:ext cx="1711929" cy="1788014"/>
            <a:chOff x="0" y="0"/>
            <a:chExt cx="571500" cy="5969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B563B77E-919A-924E-9CA9-C12AA017361F}"/>
              </a:ext>
            </a:extLst>
          </p:cNvPr>
          <p:cNvSpPr/>
          <p:nvPr/>
        </p:nvSpPr>
        <p:spPr>
          <a:xfrm>
            <a:off x="1028700" y="533400"/>
            <a:ext cx="5461000" cy="330200"/>
          </a:xfrm>
          <a:prstGeom prst="roundRect">
            <a:avLst/>
          </a:prstGeom>
          <a:solidFill>
            <a:srgbClr val="0A0A0C"/>
          </a:solidFill>
          <a:ln w="15240">
            <a:solidFill>
              <a:srgbClr val="D6DA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fr-FR" sz="1000" b="1">
                <a:solidFill>
                  <a:srgbClr val="D6DADB"/>
                </a:solidFill>
                <a:latin typeface="Segoe UI" panose="020B0502040204020203" pitchFamily="34" charset="0"/>
              </a:rPr>
              <a:t>POWER ELECTRONICS • MOTOR DRIVERS</a:t>
            </a:r>
          </a:p>
        </p:txBody>
      </p:sp>
    </p:spTree>
    <p:extLst>
      <p:ext uri="{BB962C8B-B14F-4D97-AF65-F5344CB8AC3E}">
        <p14:creationId xmlns:p14="http://schemas.microsoft.com/office/powerpoint/2010/main" val="2834820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hecker/>
      </p:transition>
    </mc:Choice>
    <mc:Fallback xmlns="">
      <p:transition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920248" y="1076888"/>
            <a:ext cx="1053933" cy="370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4"/>
              </a:lnSpc>
            </a:pPr>
            <a:r>
              <a:rPr lang="en-US" sz="1200" b="1" spc="-43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JARVIS ROBOTICS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313819" y="1028700"/>
            <a:ext cx="437869" cy="437869"/>
            <a:chOff x="0" y="0"/>
            <a:chExt cx="698500" cy="6985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500" y="349250"/>
                  </a:moveTo>
                  <a:cubicBezTo>
                    <a:pt x="588476" y="313379"/>
                    <a:pt x="502341" y="175825"/>
                    <a:pt x="479908" y="0"/>
                  </a:cubicBezTo>
                  <a:cubicBezTo>
                    <a:pt x="463950" y="125312"/>
                    <a:pt x="415552" y="231178"/>
                    <a:pt x="349250" y="294716"/>
                  </a:cubicBezTo>
                  <a:cubicBezTo>
                    <a:pt x="282948" y="231178"/>
                    <a:pt x="234550" y="125475"/>
                    <a:pt x="218592" y="0"/>
                  </a:cubicBezTo>
                  <a:cubicBezTo>
                    <a:pt x="196159" y="175825"/>
                    <a:pt x="110024" y="313379"/>
                    <a:pt x="0" y="349250"/>
                  </a:cubicBezTo>
                  <a:cubicBezTo>
                    <a:pt x="110024" y="385121"/>
                    <a:pt x="196159" y="522675"/>
                    <a:pt x="218592" y="698500"/>
                  </a:cubicBezTo>
                  <a:cubicBezTo>
                    <a:pt x="234550" y="573188"/>
                    <a:pt x="282948" y="467322"/>
                    <a:pt x="349250" y="403784"/>
                  </a:cubicBezTo>
                  <a:cubicBezTo>
                    <a:pt x="415552" y="467322"/>
                    <a:pt x="463950" y="573025"/>
                    <a:pt x="479908" y="698500"/>
                  </a:cubicBezTo>
                  <a:cubicBezTo>
                    <a:pt x="502341" y="522675"/>
                    <a:pt x="588476" y="385121"/>
                    <a:pt x="698500" y="349250"/>
                  </a:cubicBez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76200" y="44450"/>
              <a:ext cx="546100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539999" y="1460500"/>
            <a:ext cx="13208000" cy="625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3000" b="1" spc="-168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STEPPER VS BRUSHLESS DC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32000" y="2857500"/>
            <a:ext cx="6604000" cy="266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450" b="1">
                <a:gradFill flip="none" rotWithShape="1">
                  <a:gsLst>
                    <a:gs pos="0">
                      <a:srgbClr val="38BDF8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STEPPER MOTOR (NEMA 17 / 23)
• Control: Simple step &amp; direction pulses; no encoder required for basic positioning
• Torque Curve: Massive torque at 0 RPM; falls off sharply above 600 RPM
• Efficiency: Low (draws full current even when holding stationary; runs hot)
• Cost: Very inexpensive ($15–$30 with driver)
• Best For: 3D printers, CNC linear axes, fixed-reach tabletop arms
💡 Real-World Example: Ender 3 3D printer axis motors.
[Ref: SITAMS Unit 2]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39999" y="2133600"/>
            <a:ext cx="13208000" cy="207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 b="1" spc="-53">
                <a:gradFill flip="none" rotWithShape="1">
                  <a:gsLst>
                    <a:gs pos="0">
                      <a:srgbClr val="F59E0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Semi-Bold"/>
                <a:cs typeface="Pattanakarn Semi-Bold"/>
                <a:sym typeface="Pattanakarn Semi-Bold"/>
              </a:rPr>
              <a:t>MATCHING MOTOR CHARACTERISTICS TO THE MISSION</a:t>
            </a:r>
          </a:p>
        </p:txBody>
      </p:sp>
      <p:sp>
        <p:nvSpPr>
          <p:cNvPr id="9" name="AutoShape 9"/>
          <p:cNvSpPr/>
          <p:nvPr/>
        </p:nvSpPr>
        <p:spPr>
          <a:xfrm>
            <a:off x="7958310" y="2032000"/>
            <a:ext cx="2371381" cy="0"/>
          </a:xfrm>
          <a:prstGeom prst="line">
            <a:avLst/>
          </a:prstGeom>
          <a:ln w="57150" cap="flat">
            <a:solidFill>
              <a:srgbClr val="FFFFFF">
                <a:alpha val="87843"/>
              </a:srgbClr>
            </a:solidFill>
            <a:prstDash val="lgDash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9652000" y="2857500"/>
            <a:ext cx="6604000" cy="2937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450" b="1">
                <a:gradFill flip="none" rotWithShape="1">
                  <a:gsLst>
                    <a:gs pos="0">
                      <a:srgbClr val="38BDF8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BRUSHLESS DC + FOC (FOC SERVO)
• Control: High-speed 3-phase Field-Oriented Control with magnetic encoder feedback
• Torque Curve: Smooth, wide torque-speed envelope up to 5,000+ RPM
• Efficiency: High (90%+; only draws current proportional to external load)
• Cost: Moderate to High ($80–$250 with FOC driver)
• Best For: Dynamic quadruped legs, robot arm joints, mobile AMR wheel hubs
💡 Real-World Example: Boston Dynamics Spot robot dog leg joints.
[Ref: McGough Ch. 7]</a:t>
            </a:r>
          </a:p>
        </p:txBody>
      </p:sp>
      <p:grpSp>
        <p:nvGrpSpPr>
          <p:cNvPr id="11" name="Group 11" hidden="1"/>
          <p:cNvGrpSpPr/>
          <p:nvPr/>
        </p:nvGrpSpPr>
        <p:grpSpPr>
          <a:xfrm>
            <a:off x="14777515" y="2229225"/>
            <a:ext cx="5863909" cy="2348419"/>
            <a:chOff x="0" y="0"/>
            <a:chExt cx="1544404" cy="618514"/>
          </a:xfrm>
        </p:grpSpPr>
        <p:sp>
          <p:nvSpPr>
            <p:cNvPr id="12" name="Freeform 12" hidden="1"/>
            <p:cNvSpPr/>
            <p:nvPr/>
          </p:nvSpPr>
          <p:spPr>
            <a:xfrm>
              <a:off x="0" y="0"/>
              <a:ext cx="1544404" cy="618514"/>
            </a:xfrm>
            <a:custGeom>
              <a:avLst/>
              <a:gdLst/>
              <a:ahLst/>
              <a:cxnLst/>
              <a:rect l="l" t="t" r="r" b="b"/>
              <a:pathLst>
                <a:path w="1544404" h="618514">
                  <a:moveTo>
                    <a:pt x="0" y="0"/>
                  </a:moveTo>
                  <a:lnTo>
                    <a:pt x="1544404" y="0"/>
                  </a:lnTo>
                  <a:lnTo>
                    <a:pt x="1544404" y="618514"/>
                  </a:lnTo>
                  <a:lnTo>
                    <a:pt x="0" y="618514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3" name="TextBox 13" hidden="1"/>
            <p:cNvSpPr txBox="1"/>
            <p:nvPr/>
          </p:nvSpPr>
          <p:spPr>
            <a:xfrm>
              <a:off x="0" y="38100"/>
              <a:ext cx="1544404" cy="5804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4" name="Group 14" hidden="1"/>
          <p:cNvGrpSpPr/>
          <p:nvPr/>
        </p:nvGrpSpPr>
        <p:grpSpPr>
          <a:xfrm>
            <a:off x="-2354965" y="2208445"/>
            <a:ext cx="5863909" cy="2348419"/>
            <a:chOff x="0" y="0"/>
            <a:chExt cx="1544404" cy="618514"/>
          </a:xfrm>
        </p:grpSpPr>
        <p:sp>
          <p:nvSpPr>
            <p:cNvPr id="15" name="Freeform 15" hidden="1"/>
            <p:cNvSpPr/>
            <p:nvPr/>
          </p:nvSpPr>
          <p:spPr>
            <a:xfrm>
              <a:off x="0" y="0"/>
              <a:ext cx="1544404" cy="618514"/>
            </a:xfrm>
            <a:custGeom>
              <a:avLst/>
              <a:gdLst/>
              <a:ahLst/>
              <a:cxnLst/>
              <a:rect l="l" t="t" r="r" b="b"/>
              <a:pathLst>
                <a:path w="1544404" h="618514">
                  <a:moveTo>
                    <a:pt x="0" y="0"/>
                  </a:moveTo>
                  <a:lnTo>
                    <a:pt x="1544404" y="0"/>
                  </a:lnTo>
                  <a:lnTo>
                    <a:pt x="1544404" y="618514"/>
                  </a:lnTo>
                  <a:lnTo>
                    <a:pt x="0" y="618514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6" name="TextBox 16" hidden="1"/>
            <p:cNvSpPr txBox="1"/>
            <p:nvPr/>
          </p:nvSpPr>
          <p:spPr>
            <a:xfrm>
              <a:off x="0" y="38100"/>
              <a:ext cx="1544404" cy="5804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7" name="AutoShape 17"/>
          <p:cNvSpPr/>
          <p:nvPr/>
        </p:nvSpPr>
        <p:spPr>
          <a:xfrm>
            <a:off x="-607719" y="9111523"/>
            <a:ext cx="19254369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18"/>
          <p:cNvSpPr txBox="1"/>
          <p:nvPr/>
        </p:nvSpPr>
        <p:spPr>
          <a:xfrm>
            <a:off x="6440434" y="9554541"/>
            <a:ext cx="5408384" cy="289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US" sz="1000" spc="162">
                <a:gradFill flip="none" rotWithShape="1">
                  <a:gsLst>
                    <a:gs pos="0">
                      <a:srgbClr val="9199A1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ROBOTICS FUNDAMENTALS • SESSION 01 / 04 • THURSDAY, 10 SEPT 2026</a:t>
            </a:r>
          </a:p>
        </p:txBody>
      </p:sp>
      <p:grpSp>
        <p:nvGrpSpPr>
          <p:cNvPr id="19" name="Group 19" hidden="1"/>
          <p:cNvGrpSpPr/>
          <p:nvPr/>
        </p:nvGrpSpPr>
        <p:grpSpPr>
          <a:xfrm rot="5400000">
            <a:off x="-721951" y="1881195"/>
            <a:ext cx="1468820" cy="1534100"/>
            <a:chOff x="0" y="0"/>
            <a:chExt cx="571500" cy="596900"/>
          </a:xfrm>
        </p:grpSpPr>
        <p:sp>
          <p:nvSpPr>
            <p:cNvPr id="20" name="Freeform 20" hidden="1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1" name="TextBox 21" hidden="1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22" name="Group 22" hidden="1"/>
          <p:cNvGrpSpPr/>
          <p:nvPr/>
        </p:nvGrpSpPr>
        <p:grpSpPr>
          <a:xfrm rot="-5400000">
            <a:off x="2256675" y="3391574"/>
            <a:ext cx="1468820" cy="1534100"/>
            <a:chOff x="0" y="0"/>
            <a:chExt cx="571500" cy="596900"/>
          </a:xfrm>
        </p:grpSpPr>
        <p:sp>
          <p:nvSpPr>
            <p:cNvPr id="23" name="Freeform 23" hidden="1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4" name="TextBox 24" hidden="1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25" name="Group 25" hidden="1"/>
          <p:cNvGrpSpPr/>
          <p:nvPr/>
        </p:nvGrpSpPr>
        <p:grpSpPr>
          <a:xfrm rot="5400000">
            <a:off x="14563758" y="1922755"/>
            <a:ext cx="1468820" cy="1534100"/>
            <a:chOff x="0" y="0"/>
            <a:chExt cx="571500" cy="596900"/>
          </a:xfrm>
        </p:grpSpPr>
        <p:sp>
          <p:nvSpPr>
            <p:cNvPr id="26" name="Freeform 26" hidden="1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7" name="TextBox 27" hidden="1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28" name="Group 28" hidden="1"/>
          <p:cNvGrpSpPr/>
          <p:nvPr/>
        </p:nvGrpSpPr>
        <p:grpSpPr>
          <a:xfrm rot="-5400000">
            <a:off x="17542385" y="3433135"/>
            <a:ext cx="1468820" cy="1534100"/>
            <a:chOff x="0" y="0"/>
            <a:chExt cx="571500" cy="596900"/>
          </a:xfrm>
        </p:grpSpPr>
        <p:sp>
          <p:nvSpPr>
            <p:cNvPr id="29" name="Freeform 29" hidden="1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30" name="TextBox 30" hidden="1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1CBA5487-1E9B-DB06-8D96-70504B825D51}"/>
              </a:ext>
            </a:extLst>
          </p:cNvPr>
          <p:cNvSpPr/>
          <p:nvPr/>
        </p:nvSpPr>
        <p:spPr>
          <a:xfrm>
            <a:off x="1028700" y="533400"/>
            <a:ext cx="5461000" cy="330200"/>
          </a:xfrm>
          <a:prstGeom prst="roundRect">
            <a:avLst/>
          </a:prstGeom>
          <a:solidFill>
            <a:srgbClr val="0A0A0C"/>
          </a:solidFill>
          <a:ln w="15240">
            <a:solidFill>
              <a:srgbClr val="D6DA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fr-FR" sz="1000" b="1">
                <a:solidFill>
                  <a:srgbClr val="D6DADB"/>
                </a:solidFill>
                <a:latin typeface="Segoe UI" panose="020B0502040204020203" pitchFamily="34" charset="0"/>
              </a:rPr>
              <a:t>MOTOR COMPARISON • SYSTEM TRADEOFFS</a:t>
            </a:r>
          </a:p>
        </p:txBody>
      </p:sp>
    </p:spTree>
    <p:extLst>
      <p:ext uri="{BB962C8B-B14F-4D97-AF65-F5344CB8AC3E}">
        <p14:creationId xmlns:p14="http://schemas.microsoft.com/office/powerpoint/2010/main" val="2382960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hecker/>
      </p:transition>
    </mc:Choice>
    <mc:Fallback xmlns="">
      <p:transition>
        <p:checker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>
            <a:off x="-607719" y="9111523"/>
            <a:ext cx="19254369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12166421" y="1606376"/>
            <a:ext cx="6481934" cy="10756641"/>
            <a:chOff x="0" y="0"/>
            <a:chExt cx="1707176" cy="28330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07176" cy="2833025"/>
            </a:xfrm>
            <a:custGeom>
              <a:avLst/>
              <a:gdLst/>
              <a:ahLst/>
              <a:cxnLst/>
              <a:rect l="l" t="t" r="r" b="b"/>
              <a:pathLst>
                <a:path w="1707176" h="2833025">
                  <a:moveTo>
                    <a:pt x="0" y="0"/>
                  </a:moveTo>
                  <a:lnTo>
                    <a:pt x="1707176" y="0"/>
                  </a:lnTo>
                  <a:lnTo>
                    <a:pt x="1707176" y="2833025"/>
                  </a:lnTo>
                  <a:lnTo>
                    <a:pt x="0" y="2833025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1707176" cy="2794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635129" y="1076888"/>
            <a:ext cx="153927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4"/>
              </a:lnSpc>
            </a:pPr>
            <a:r>
              <a:rPr lang="en-US" sz="1200" b="1" spc="-43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JARVIS ROBOTICS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28700" y="1028700"/>
            <a:ext cx="437869" cy="437869"/>
            <a:chOff x="0" y="0"/>
            <a:chExt cx="698500" cy="6985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500" y="349250"/>
                  </a:moveTo>
                  <a:cubicBezTo>
                    <a:pt x="588476" y="313379"/>
                    <a:pt x="502341" y="175825"/>
                    <a:pt x="479908" y="0"/>
                  </a:cubicBezTo>
                  <a:cubicBezTo>
                    <a:pt x="463950" y="125312"/>
                    <a:pt x="415552" y="231178"/>
                    <a:pt x="349250" y="294716"/>
                  </a:cubicBezTo>
                  <a:cubicBezTo>
                    <a:pt x="282948" y="231178"/>
                    <a:pt x="234550" y="125475"/>
                    <a:pt x="218592" y="0"/>
                  </a:cubicBezTo>
                  <a:cubicBezTo>
                    <a:pt x="196159" y="175825"/>
                    <a:pt x="110024" y="313379"/>
                    <a:pt x="0" y="349250"/>
                  </a:cubicBezTo>
                  <a:cubicBezTo>
                    <a:pt x="110024" y="385121"/>
                    <a:pt x="196159" y="522675"/>
                    <a:pt x="218592" y="698500"/>
                  </a:cubicBezTo>
                  <a:cubicBezTo>
                    <a:pt x="234550" y="573188"/>
                    <a:pt x="282948" y="467322"/>
                    <a:pt x="349250" y="403784"/>
                  </a:cubicBezTo>
                  <a:cubicBezTo>
                    <a:pt x="415552" y="467322"/>
                    <a:pt x="463950" y="573025"/>
                    <a:pt x="479908" y="698500"/>
                  </a:cubicBezTo>
                  <a:cubicBezTo>
                    <a:pt x="502341" y="522675"/>
                    <a:pt x="588476" y="385121"/>
                    <a:pt x="698500" y="349250"/>
                  </a:cubicBez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44450"/>
              <a:ext cx="546100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28700" y="9554541"/>
            <a:ext cx="5408384" cy="289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lang="en-US" sz="1000" spc="162">
                <a:gradFill flip="none" rotWithShape="1">
                  <a:gsLst>
                    <a:gs pos="0">
                      <a:srgbClr val="9199A1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ROBOTICS FUNDAMENTALS • SESSION 01 / 04 • THURSDAY, 10 SEPT 2026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4F6FD13A-3598-C981-F821-C1A60B83267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8330" y="1047884"/>
            <a:ext cx="7780970" cy="8210416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 rot="5400000">
            <a:off x="9276804" y="758404"/>
            <a:ext cx="1711929" cy="1788014"/>
            <a:chOff x="0" y="0"/>
            <a:chExt cx="571500" cy="5969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5312322">
            <a:off x="15743087" y="7871964"/>
            <a:ext cx="1711929" cy="1788014"/>
            <a:chOff x="0" y="0"/>
            <a:chExt cx="571500" cy="5969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84A09667-EBAA-7E3A-D172-48E19348A705}"/>
              </a:ext>
            </a:extLst>
          </p:cNvPr>
          <p:cNvSpPr/>
          <p:nvPr/>
        </p:nvSpPr>
        <p:spPr>
          <a:xfrm>
            <a:off x="1028700" y="533400"/>
            <a:ext cx="5461000" cy="330200"/>
          </a:xfrm>
          <a:prstGeom prst="roundRect">
            <a:avLst/>
          </a:prstGeom>
          <a:solidFill>
            <a:srgbClr val="0A0A0C"/>
          </a:solidFill>
          <a:ln w="1524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en-US" sz="1000" b="1">
                <a:solidFill>
                  <a:srgbClr val="F59E0B"/>
                </a:solidFill>
                <a:latin typeface="Segoe UI" panose="020B0502040204020203" pitchFamily="34" charset="0"/>
              </a:rPr>
              <a:t>⚡ QUICK CHALLENGE 06 • ELECTRICAL INTEGRITY</a:t>
            </a:r>
            <a:endParaRPr lang="fr-FR" sz="1000" b="1">
              <a:solidFill>
                <a:srgbClr val="F59E0B"/>
              </a:solidFill>
              <a:latin typeface="Segoe UI" panose="020B0502040204020203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B7F7EFE7-9B45-6B5E-0FD8-7E90AD33F6FD}"/>
              </a:ext>
            </a:extLst>
          </p:cNvPr>
          <p:cNvSpPr txBox="1"/>
          <p:nvPr/>
        </p:nvSpPr>
        <p:spPr>
          <a:xfrm>
            <a:off x="1028700" y="1206500"/>
            <a:ext cx="8178800" cy="430887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500" b="1">
                <a:solidFill>
                  <a:srgbClr val="FFFFFF"/>
                </a:solidFill>
                <a:latin typeface="Segoe UI Bold"/>
              </a:rPr>
              <a:t>POWER SURGE &amp; MCU BROWNOUTS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48A0CCC9-F90A-A29E-5172-A7B991DBFDF6}"/>
              </a:ext>
            </a:extLst>
          </p:cNvPr>
          <p:cNvSpPr txBox="1"/>
          <p:nvPr/>
        </p:nvSpPr>
        <p:spPr>
          <a:xfrm>
            <a:off x="1028700" y="1905000"/>
            <a:ext cx="8178800" cy="44627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300">
                <a:solidFill>
                  <a:srgbClr val="D6DADB"/>
                </a:solidFill>
                <a:latin typeface="Segoe UI" panose="020B0502040204020203" pitchFamily="34" charset="0"/>
              </a:rPr>
              <a:t>Your robot crawls smoothly at low speed, but the microcontroller reboots instantly whenever both drive motors accelerate hard. What is happening?</a:t>
            </a:r>
            <a:endParaRPr lang="fr-FR" sz="1300">
              <a:solidFill>
                <a:srgbClr val="D6DADB"/>
              </a:solidFill>
              <a:latin typeface="Segoe UI" panose="020B0502040204020203" pitchFamily="34" charset="0"/>
            </a:endParaRP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304A1283-4733-C33C-3B3C-447F41B05683}"/>
              </a:ext>
            </a:extLst>
          </p:cNvPr>
          <p:cNvSpPr/>
          <p:nvPr/>
        </p:nvSpPr>
        <p:spPr>
          <a:xfrm>
            <a:off x="1028700" y="3365500"/>
            <a:ext cx="4000500" cy="1206500"/>
          </a:xfrm>
          <a:prstGeom prst="roundRect">
            <a:avLst/>
          </a:prstGeom>
          <a:solidFill>
            <a:srgbClr val="1A1D21"/>
          </a:solidFill>
          <a:ln w="15240">
            <a:solidFill>
              <a:srgbClr val="3C42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 algn="ctr"/>
            <a:r>
              <a:rPr lang="en-US" sz="1200" b="1">
                <a:solidFill>
                  <a:srgbClr val="F59E0B"/>
                </a:solidFill>
                <a:latin typeface="Segoe UI" panose="020B0502040204020203" pitchFamily="34" charset="0"/>
              </a:rPr>
              <a:t>[A]</a:t>
            </a:r>
            <a:r>
              <a:rPr lang="en-US" sz="1200">
                <a:solidFill>
                  <a:srgbClr val="FFFFFF"/>
                </a:solidFill>
                <a:latin typeface="Segoe UI" panose="020B0502040204020203" pitchFamily="34" charset="0"/>
              </a:rPr>
              <a:t>  The Python code encountered a syntax error</a:t>
            </a:r>
            <a:endParaRPr lang="fr-FR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0AAC2254-CC0E-51E9-9D4B-FEC9573074D1}"/>
              </a:ext>
            </a:extLst>
          </p:cNvPr>
          <p:cNvSpPr/>
          <p:nvPr/>
        </p:nvSpPr>
        <p:spPr>
          <a:xfrm>
            <a:off x="5207000" y="3365500"/>
            <a:ext cx="4000500" cy="1206500"/>
          </a:xfrm>
          <a:prstGeom prst="roundRect">
            <a:avLst/>
          </a:prstGeom>
          <a:solidFill>
            <a:srgbClr val="1A1D21"/>
          </a:solidFill>
          <a:ln w="15240">
            <a:solidFill>
              <a:srgbClr val="3C42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 algn="ctr"/>
            <a:r>
              <a:rPr lang="en-US" sz="1200" b="1">
                <a:solidFill>
                  <a:srgbClr val="F59E0B"/>
                </a:solidFill>
                <a:latin typeface="Segoe UI" panose="020B0502040204020203" pitchFamily="34" charset="0"/>
              </a:rPr>
              <a:t>[B]</a:t>
            </a:r>
            <a:r>
              <a:rPr lang="en-US" sz="1200">
                <a:solidFill>
                  <a:srgbClr val="FFFFFF"/>
                </a:solidFill>
                <a:latin typeface="Segoe UI" panose="020B0502040204020203" pitchFamily="34" charset="0"/>
              </a:rPr>
              <a:t>  Motor surge current caused battery voltage to sag below the MCU 3.3V logic threshold</a:t>
            </a:r>
            <a:endParaRPr lang="fr-FR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F18BEBA0-45C4-3CF5-15D1-F838F3F8F9FE}"/>
              </a:ext>
            </a:extLst>
          </p:cNvPr>
          <p:cNvSpPr/>
          <p:nvPr/>
        </p:nvSpPr>
        <p:spPr>
          <a:xfrm>
            <a:off x="1028700" y="4762500"/>
            <a:ext cx="4000500" cy="1206500"/>
          </a:xfrm>
          <a:prstGeom prst="roundRect">
            <a:avLst/>
          </a:prstGeom>
          <a:solidFill>
            <a:srgbClr val="1A1D21"/>
          </a:solidFill>
          <a:ln w="15240">
            <a:solidFill>
              <a:srgbClr val="3C42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 algn="ctr"/>
            <a:r>
              <a:rPr lang="en-US" sz="1200" b="1">
                <a:solidFill>
                  <a:srgbClr val="F59E0B"/>
                </a:solidFill>
                <a:latin typeface="Segoe UI" panose="020B0502040204020203" pitchFamily="34" charset="0"/>
              </a:rPr>
              <a:t>[C]</a:t>
            </a:r>
            <a:r>
              <a:rPr lang="en-US" sz="1200">
                <a:solidFill>
                  <a:srgbClr val="FFFFFF"/>
                </a:solidFill>
                <a:latin typeface="Segoe UI" panose="020B0502040204020203" pitchFamily="34" charset="0"/>
              </a:rPr>
              <a:t>  Optical encoders reversed their direction</a:t>
            </a:r>
            <a:endParaRPr lang="fr-FR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D6EE46BD-1FC9-D99F-4506-0E36D284884D}"/>
              </a:ext>
            </a:extLst>
          </p:cNvPr>
          <p:cNvSpPr/>
          <p:nvPr/>
        </p:nvSpPr>
        <p:spPr>
          <a:xfrm>
            <a:off x="5207000" y="4762500"/>
            <a:ext cx="4000500" cy="1206500"/>
          </a:xfrm>
          <a:prstGeom prst="roundRect">
            <a:avLst/>
          </a:prstGeom>
          <a:solidFill>
            <a:srgbClr val="1A1D21"/>
          </a:solidFill>
          <a:ln w="15240">
            <a:solidFill>
              <a:srgbClr val="3C42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 algn="ctr"/>
            <a:r>
              <a:rPr lang="en-US" sz="1200" b="1">
                <a:solidFill>
                  <a:srgbClr val="F59E0B"/>
                </a:solidFill>
                <a:latin typeface="Segoe UI" panose="020B0502040204020203" pitchFamily="34" charset="0"/>
              </a:rPr>
              <a:t>[D]</a:t>
            </a:r>
            <a:r>
              <a:rPr lang="en-US" sz="1200">
                <a:solidFill>
                  <a:srgbClr val="FFFFFF"/>
                </a:solidFill>
                <a:latin typeface="Segoe UI" panose="020B0502040204020203" pitchFamily="34" charset="0"/>
              </a:rPr>
              <a:t>  The ambient room temperature dropped</a:t>
            </a:r>
            <a:endParaRPr lang="fr-FR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ACCD6B67-0558-EC70-B6A9-17D762FD307A}"/>
              </a:ext>
            </a:extLst>
          </p:cNvPr>
          <p:cNvSpPr/>
          <p:nvPr/>
        </p:nvSpPr>
        <p:spPr>
          <a:xfrm>
            <a:off x="1028700" y="6286500"/>
            <a:ext cx="8178800" cy="1397000"/>
          </a:xfrm>
          <a:prstGeom prst="roundRect">
            <a:avLst/>
          </a:prstGeom>
          <a:solidFill>
            <a:srgbClr val="0F2319"/>
          </a:solidFill>
          <a:ln w="254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101600" rIns="203200" rtlCol="0" anchor="ctr"/>
          <a:lstStyle/>
          <a:p>
            <a:pPr algn="ctr"/>
            <a:r>
              <a:rPr lang="en-US" sz="1350" b="1">
                <a:solidFill>
                  <a:srgbClr val="10B981"/>
                </a:solidFill>
                <a:latin typeface="Segoe UI" panose="020B0502040204020203" pitchFamily="34" charset="0"/>
              </a:rPr>
              <a:t>✓ CORRECT ANSWER: [B]
Motors draw high stall current during acceleration, sagging battery voltage. If logic and motors share an unfiltered rail, the MCU suffers a brownout reset. Always use a dedicated DC-DC regulator! [Ref: McGough Ch. 7]</a:t>
            </a:r>
            <a:endParaRPr lang="fr-FR" sz="1350" b="1">
              <a:solidFill>
                <a:srgbClr val="10B98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1387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hecker/>
      </p:transition>
    </mc:Choice>
    <mc:Fallback xmlns="">
      <p:transition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/>
      <p:bldP spid="27" grpId="0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135118" y="1091524"/>
            <a:ext cx="153927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44"/>
              </a:lnSpc>
            </a:pPr>
            <a:r>
              <a:rPr lang="en-US" sz="1200" b="1" spc="-43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JARVIS ROBOTICS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821431" y="1028700"/>
            <a:ext cx="437869" cy="437869"/>
            <a:chOff x="0" y="0"/>
            <a:chExt cx="698500" cy="6985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500" y="349250"/>
                  </a:moveTo>
                  <a:cubicBezTo>
                    <a:pt x="588476" y="313379"/>
                    <a:pt x="502341" y="175825"/>
                    <a:pt x="479908" y="0"/>
                  </a:cubicBezTo>
                  <a:cubicBezTo>
                    <a:pt x="463950" y="125312"/>
                    <a:pt x="415552" y="231178"/>
                    <a:pt x="349250" y="294716"/>
                  </a:cubicBezTo>
                  <a:cubicBezTo>
                    <a:pt x="282948" y="231178"/>
                    <a:pt x="234550" y="125475"/>
                    <a:pt x="218592" y="0"/>
                  </a:cubicBezTo>
                  <a:cubicBezTo>
                    <a:pt x="196159" y="175825"/>
                    <a:pt x="110024" y="313379"/>
                    <a:pt x="0" y="349250"/>
                  </a:cubicBezTo>
                  <a:cubicBezTo>
                    <a:pt x="110024" y="385121"/>
                    <a:pt x="196159" y="522675"/>
                    <a:pt x="218592" y="698500"/>
                  </a:cubicBezTo>
                  <a:cubicBezTo>
                    <a:pt x="234550" y="573188"/>
                    <a:pt x="282948" y="467322"/>
                    <a:pt x="349250" y="403784"/>
                  </a:cubicBezTo>
                  <a:cubicBezTo>
                    <a:pt x="415552" y="467322"/>
                    <a:pt x="463950" y="573025"/>
                    <a:pt x="479908" y="698500"/>
                  </a:cubicBezTo>
                  <a:cubicBezTo>
                    <a:pt x="502341" y="522675"/>
                    <a:pt x="588476" y="385121"/>
                    <a:pt x="698500" y="349250"/>
                  </a:cubicBez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76200" y="44450"/>
              <a:ext cx="546100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8700" y="5461000"/>
            <a:ext cx="5842000" cy="2765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2500" b="1" spc="-168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SOFTWARE INTEGRATION &amp; DIGITAL TWIN
ROS 2 middleware, URDF modeling, and physics-accurate simulation.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365999" y="5460999"/>
            <a:ext cx="4572000" cy="1314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20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• ROS 2 Architecture: Nodes, Topics, Publishers, and Subscribers
• Hardware Abstraction (ros2_control): Decoupling algorithms from physical motors
• URDF / XACRO: Mathematical kinematics and collision tree definition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318999" y="5460999"/>
            <a:ext cx="4953000" cy="1583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20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• Physics Engines: Simulating mass, friction, contacts, and gravity
• Sim-to-Real: Validating control loops in Gazebo before touching hardware
• Sensor Emulation: Generating synthetic depth cameras, LiDAR scans, and IMU data
[Ref: Jeff McGough, Ch. 3 • Simulation Architecture]</a:t>
            </a:r>
          </a:p>
        </p:txBody>
      </p:sp>
      <p:sp>
        <p:nvSpPr>
          <p:cNvPr id="17" name="AutoShape 17"/>
          <p:cNvSpPr/>
          <p:nvPr/>
        </p:nvSpPr>
        <p:spPr>
          <a:xfrm>
            <a:off x="-607719" y="9111523"/>
            <a:ext cx="19254369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18"/>
          <p:cNvSpPr txBox="1"/>
          <p:nvPr/>
        </p:nvSpPr>
        <p:spPr>
          <a:xfrm>
            <a:off x="11850916" y="9554541"/>
            <a:ext cx="5408384" cy="289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00"/>
              </a:lnSpc>
            </a:pPr>
            <a:r>
              <a:rPr lang="en-US" sz="1000" spc="162">
                <a:gradFill flip="none" rotWithShape="1">
                  <a:gsLst>
                    <a:gs pos="0">
                      <a:srgbClr val="9199A1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ROBOTICS FUNDAMENTALS • SESSION 01 / 04 • THURSDAY, 10 SEPT 2026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CF5ED339-9E7A-129F-B707-25FFBF7001F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5280" y="1062949"/>
            <a:ext cx="13427937" cy="3800856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 rot="-5400000">
            <a:off x="13633658" y="3599560"/>
            <a:ext cx="1468820" cy="1534100"/>
            <a:chOff x="0" y="0"/>
            <a:chExt cx="571500" cy="5969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5400000">
            <a:off x="1061340" y="699519"/>
            <a:ext cx="1468820" cy="1534100"/>
            <a:chOff x="0" y="0"/>
            <a:chExt cx="571500" cy="5969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6CA43C05-B433-77BF-28DB-0123BEA38879}"/>
              </a:ext>
            </a:extLst>
          </p:cNvPr>
          <p:cNvSpPr/>
          <p:nvPr/>
        </p:nvSpPr>
        <p:spPr>
          <a:xfrm>
            <a:off x="1028700" y="533400"/>
            <a:ext cx="5461000" cy="330200"/>
          </a:xfrm>
          <a:prstGeom prst="roundRect">
            <a:avLst/>
          </a:prstGeom>
          <a:solidFill>
            <a:srgbClr val="0A0A0C"/>
          </a:solidFill>
          <a:ln w="15240">
            <a:solidFill>
              <a:srgbClr val="D6DA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fr-FR" sz="1000" b="1">
                <a:solidFill>
                  <a:srgbClr val="D6DADB"/>
                </a:solidFill>
                <a:latin typeface="Segoe UI" panose="020B0502040204020203" pitchFamily="34" charset="0"/>
              </a:rPr>
              <a:t>MODULE TRACK • 05 / 06</a:t>
            </a:r>
          </a:p>
        </p:txBody>
      </p:sp>
    </p:spTree>
    <p:extLst>
      <p:ext uri="{BB962C8B-B14F-4D97-AF65-F5344CB8AC3E}">
        <p14:creationId xmlns:p14="http://schemas.microsoft.com/office/powerpoint/2010/main" val="2616852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hecker/>
      </p:transition>
    </mc:Choice>
    <mc:Fallback xmlns="">
      <p:transition>
        <p:checker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213599" y="952500"/>
            <a:ext cx="10033000" cy="619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600"/>
              </a:lnSpc>
            </a:pPr>
            <a:r>
              <a:rPr lang="en-US" sz="2800" b="1" spc="-168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THE ROBOT SOFTWARE STACK</a:t>
            </a:r>
          </a:p>
        </p:txBody>
      </p:sp>
      <p:sp>
        <p:nvSpPr>
          <p:cNvPr id="3" name="AutoShape 3"/>
          <p:cNvSpPr/>
          <p:nvPr/>
        </p:nvSpPr>
        <p:spPr>
          <a:xfrm>
            <a:off x="-607719" y="9111523"/>
            <a:ext cx="19254369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7213600" y="1524000"/>
            <a:ext cx="100330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00"/>
              </a:lnSpc>
            </a:pPr>
            <a:r>
              <a:rPr lang="en-US" sz="1150" spc="162">
                <a:gradFill flip="none" rotWithShape="1">
                  <a:gsLst>
                    <a:gs pos="0">
                      <a:srgbClr val="F59E0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Light"/>
                <a:cs typeface="Pattanakarn Light"/>
                <a:sym typeface="Pattanakarn Light"/>
              </a:rPr>
              <a:t>MODULAR SEPARATION OF EMBEDDED CONCERNS</a:t>
            </a:r>
          </a:p>
        </p:txBody>
      </p:sp>
      <p:grpSp>
        <p:nvGrpSpPr>
          <p:cNvPr id="5" name="Group 5" hidden="1"/>
          <p:cNvGrpSpPr/>
          <p:nvPr/>
        </p:nvGrpSpPr>
        <p:grpSpPr>
          <a:xfrm>
            <a:off x="-2342376" y="-4198081"/>
            <a:ext cx="6121579" cy="10756641"/>
            <a:chOff x="0" y="0"/>
            <a:chExt cx="1612268" cy="2833025"/>
          </a:xfrm>
        </p:grpSpPr>
        <p:sp>
          <p:nvSpPr>
            <p:cNvPr id="6" name="Freeform 6" hidden="1"/>
            <p:cNvSpPr/>
            <p:nvPr/>
          </p:nvSpPr>
          <p:spPr>
            <a:xfrm>
              <a:off x="0" y="0"/>
              <a:ext cx="1612268" cy="2833025"/>
            </a:xfrm>
            <a:custGeom>
              <a:avLst/>
              <a:gdLst/>
              <a:ahLst/>
              <a:cxnLst/>
              <a:rect l="l" t="t" r="r" b="b"/>
              <a:pathLst>
                <a:path w="1612268" h="2833025">
                  <a:moveTo>
                    <a:pt x="0" y="0"/>
                  </a:moveTo>
                  <a:lnTo>
                    <a:pt x="1612268" y="0"/>
                  </a:lnTo>
                  <a:lnTo>
                    <a:pt x="1612268" y="2833025"/>
                  </a:lnTo>
                  <a:lnTo>
                    <a:pt x="0" y="2833025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7" name="TextBox 7" hidden="1"/>
            <p:cNvSpPr txBox="1"/>
            <p:nvPr/>
          </p:nvSpPr>
          <p:spPr>
            <a:xfrm>
              <a:off x="0" y="38100"/>
              <a:ext cx="1612268" cy="2794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213599" y="2412999"/>
            <a:ext cx="4826000" cy="787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25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High-level mission planning, object recognition (YOLO), SLAM mapping, and user web interface.
💡 Example: Deciding to navigate toward a red cup.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13599" y="2032000"/>
            <a:ext cx="4826000" cy="213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400" b="1" spc="-53">
                <a:gradFill flip="none" rotWithShape="1">
                  <a:gsLst>
                    <a:gs pos="0">
                      <a:srgbClr val="38BDF8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Semi-Bold"/>
                <a:cs typeface="Pattanakarn Semi-Bold"/>
                <a:sym typeface="Pattanakarn Semi-Bold"/>
              </a:rPr>
              <a:t>1. AUTONOMY &amp; AI (PYTHON)</a:t>
            </a:r>
          </a:p>
        </p:txBody>
      </p:sp>
      <p:sp>
        <p:nvSpPr>
          <p:cNvPr id="18" name="AutoShape 18"/>
          <p:cNvSpPr/>
          <p:nvPr/>
        </p:nvSpPr>
        <p:spPr>
          <a:xfrm>
            <a:off x="7213600" y="1930400"/>
            <a:ext cx="2531491" cy="0"/>
          </a:xfrm>
          <a:prstGeom prst="line">
            <a:avLst/>
          </a:prstGeom>
          <a:ln w="57150" cap="flat">
            <a:solidFill>
              <a:srgbClr val="FFFFFF">
                <a:alpha val="87843"/>
              </a:srgbClr>
            </a:solidFill>
            <a:prstDash val="lgDash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12445999" y="2412999"/>
            <a:ext cx="4826000" cy="776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25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The message bus: Publish/Subscribe architecture connecting disparate software nodes across network sockets.
💡 Example: Publishing /cmd_vel velocity packets.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445999" y="2032000"/>
            <a:ext cx="4826000" cy="213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400" b="1" spc="-53">
                <a:gradFill flip="none" rotWithShape="1">
                  <a:gsLst>
                    <a:gs pos="0">
                      <a:srgbClr val="38BDF8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Semi-Bold"/>
                <a:cs typeface="Pattanakarn Semi-Bold"/>
                <a:sym typeface="Pattanakarn Semi-Bold"/>
              </a:rPr>
              <a:t>2. MIDDLEWARE (ROS 2)</a:t>
            </a:r>
          </a:p>
        </p:txBody>
      </p:sp>
      <p:sp>
        <p:nvSpPr>
          <p:cNvPr id="21" name="AutoShape 21"/>
          <p:cNvSpPr/>
          <p:nvPr/>
        </p:nvSpPr>
        <p:spPr>
          <a:xfrm>
            <a:off x="12446000" y="1930400"/>
            <a:ext cx="2531491" cy="0"/>
          </a:xfrm>
          <a:prstGeom prst="line">
            <a:avLst/>
          </a:prstGeom>
          <a:ln w="57150" cap="flat">
            <a:solidFill>
              <a:srgbClr val="FFFFFF">
                <a:alpha val="87843"/>
              </a:srgbClr>
            </a:solidFill>
            <a:prstDash val="lgDash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7213600" y="5778499"/>
            <a:ext cx="10033000" cy="517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25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Microsecond motor drivers, PID position loops, encoder interrupt handlers, and safety hardware watchdogs.
💡 Example: Pulsing 20 kHz PWM to motor H-bridges.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213599" y="5397500"/>
            <a:ext cx="10033000" cy="213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400" b="1" spc="-53">
                <a:gradFill flip="none" rotWithShape="1">
                  <a:gsLst>
                    <a:gs pos="0">
                      <a:srgbClr val="38BDF8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Semi-Bold"/>
                <a:cs typeface="Pattanakarn Semi-Bold"/>
                <a:sym typeface="Pattanakarn Semi-Bold"/>
              </a:rPr>
              <a:t>3. HARD REAL-TIME (C/C++)</a:t>
            </a:r>
          </a:p>
        </p:txBody>
      </p:sp>
      <p:sp>
        <p:nvSpPr>
          <p:cNvPr id="24" name="AutoShape 24"/>
          <p:cNvSpPr/>
          <p:nvPr/>
        </p:nvSpPr>
        <p:spPr>
          <a:xfrm>
            <a:off x="7213600" y="5295900"/>
            <a:ext cx="2531491" cy="0"/>
          </a:xfrm>
          <a:prstGeom prst="line">
            <a:avLst/>
          </a:prstGeom>
          <a:ln w="57150" cap="flat">
            <a:solidFill>
              <a:srgbClr val="FFFFFF">
                <a:alpha val="87843"/>
              </a:srgbClr>
            </a:solidFill>
            <a:prstDash val="lgDash"/>
            <a:headEnd type="none" w="sm" len="sm"/>
            <a:tailEnd type="none" w="sm" len="sm"/>
          </a:ln>
        </p:spPr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68C1FA4E-B677-CD86-CAFA-AD4BE48620E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1180240"/>
            <a:ext cx="5023095" cy="792652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718414" y="8008473"/>
            <a:ext cx="1333079" cy="1392327"/>
            <a:chOff x="0" y="0"/>
            <a:chExt cx="571500" cy="5969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10800000">
            <a:off x="5009804" y="908442"/>
            <a:ext cx="1289396" cy="1346702"/>
            <a:chOff x="0" y="0"/>
            <a:chExt cx="571500" cy="5969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5" name="TextBox 15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5DCF8BDB-B855-F1E0-3BD4-BDF358EA0249}"/>
              </a:ext>
            </a:extLst>
          </p:cNvPr>
          <p:cNvSpPr/>
          <p:nvPr/>
        </p:nvSpPr>
        <p:spPr>
          <a:xfrm>
            <a:off x="1028700" y="533400"/>
            <a:ext cx="5461000" cy="330200"/>
          </a:xfrm>
          <a:prstGeom prst="roundRect">
            <a:avLst/>
          </a:prstGeom>
          <a:solidFill>
            <a:srgbClr val="0A0A0C"/>
          </a:solidFill>
          <a:ln w="15240">
            <a:solidFill>
              <a:srgbClr val="D6DA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fr-FR" sz="1000" b="1">
                <a:solidFill>
                  <a:srgbClr val="D6DADB"/>
                </a:solidFill>
                <a:latin typeface="Segoe UI" panose="020B0502040204020203" pitchFamily="34" charset="0"/>
              </a:rPr>
              <a:t>SOFTWARE ARCHITECTURE • STACK LAYERS</a:t>
            </a:r>
          </a:p>
        </p:txBody>
      </p:sp>
      <p:pic>
        <p:nvPicPr>
          <p:cNvPr id="29" name="Graphique 28">
            <a:extLst>
              <a:ext uri="{FF2B5EF4-FFF2-40B4-BE49-F238E27FC236}">
                <a16:creationId xmlns:a16="http://schemas.microsoft.com/office/drawing/2014/main" id="{3CA54D39-8CD1-29E0-54AF-547A884764EA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4000" y="1968500"/>
            <a:ext cx="304800" cy="304800"/>
          </a:xfrm>
          <a:prstGeom prst="rect">
            <a:avLst/>
          </a:prstGeom>
        </p:spPr>
      </p:pic>
      <p:pic>
        <p:nvPicPr>
          <p:cNvPr id="31" name="Graphique 30">
            <a:extLst>
              <a:ext uri="{FF2B5EF4-FFF2-40B4-BE49-F238E27FC236}">
                <a16:creationId xmlns:a16="http://schemas.microsoft.com/office/drawing/2014/main" id="{659157E8-5652-405E-F04D-2D6C52277794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891000" y="1968500"/>
            <a:ext cx="304800" cy="304800"/>
          </a:xfrm>
          <a:prstGeom prst="rect">
            <a:avLst/>
          </a:prstGeom>
        </p:spPr>
      </p:pic>
      <p:pic>
        <p:nvPicPr>
          <p:cNvPr id="33" name="Graphique 32">
            <a:extLst>
              <a:ext uri="{FF2B5EF4-FFF2-40B4-BE49-F238E27FC236}">
                <a16:creationId xmlns:a16="http://schemas.microsoft.com/office/drawing/2014/main" id="{57B2DAD6-9A65-D80F-3DE6-7546476C6DAE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891000" y="53340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186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hecker/>
      </p:transition>
    </mc:Choice>
    <mc:Fallback xmlns="">
      <p:transition>
        <p:checker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213599" y="952500"/>
            <a:ext cx="10033000" cy="619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600"/>
              </a:lnSpc>
            </a:pPr>
            <a:r>
              <a:rPr lang="en-US" sz="2800" b="1" spc="-168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FREE ROBOTICS STARTER KIT</a:t>
            </a:r>
          </a:p>
        </p:txBody>
      </p:sp>
      <p:sp>
        <p:nvSpPr>
          <p:cNvPr id="3" name="AutoShape 3"/>
          <p:cNvSpPr/>
          <p:nvPr/>
        </p:nvSpPr>
        <p:spPr>
          <a:xfrm>
            <a:off x="-607719" y="9111523"/>
            <a:ext cx="19254369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7213600" y="1524000"/>
            <a:ext cx="100330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00"/>
              </a:lnSpc>
            </a:pPr>
            <a:r>
              <a:rPr lang="en-US" sz="1150" spc="162">
                <a:gradFill flip="none" rotWithShape="1">
                  <a:gsLst>
                    <a:gs pos="0">
                      <a:srgbClr val="F59E0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Light"/>
                <a:cs typeface="Pattanakarn Light"/>
                <a:sym typeface="Pattanakarn Light"/>
              </a:rPr>
              <a:t>WORLD-CLASS PROFESSIONAL TOOLS AT ZERO LICENSE COST</a:t>
            </a:r>
          </a:p>
        </p:txBody>
      </p:sp>
      <p:grpSp>
        <p:nvGrpSpPr>
          <p:cNvPr id="5" name="Group 5" hidden="1"/>
          <p:cNvGrpSpPr/>
          <p:nvPr/>
        </p:nvGrpSpPr>
        <p:grpSpPr>
          <a:xfrm>
            <a:off x="-2342376" y="-4198081"/>
            <a:ext cx="6121579" cy="10756641"/>
            <a:chOff x="0" y="0"/>
            <a:chExt cx="1612268" cy="2833025"/>
          </a:xfrm>
        </p:grpSpPr>
        <p:sp>
          <p:nvSpPr>
            <p:cNvPr id="6" name="Freeform 6" hidden="1"/>
            <p:cNvSpPr/>
            <p:nvPr/>
          </p:nvSpPr>
          <p:spPr>
            <a:xfrm>
              <a:off x="0" y="0"/>
              <a:ext cx="1612268" cy="2833025"/>
            </a:xfrm>
            <a:custGeom>
              <a:avLst/>
              <a:gdLst/>
              <a:ahLst/>
              <a:cxnLst/>
              <a:rect l="l" t="t" r="r" b="b"/>
              <a:pathLst>
                <a:path w="1612268" h="2833025">
                  <a:moveTo>
                    <a:pt x="0" y="0"/>
                  </a:moveTo>
                  <a:lnTo>
                    <a:pt x="1612268" y="0"/>
                  </a:lnTo>
                  <a:lnTo>
                    <a:pt x="1612268" y="2833025"/>
                  </a:lnTo>
                  <a:lnTo>
                    <a:pt x="0" y="2833025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7" name="TextBox 7" hidden="1"/>
            <p:cNvSpPr txBox="1"/>
            <p:nvPr/>
          </p:nvSpPr>
          <p:spPr>
            <a:xfrm>
              <a:off x="0" y="38100"/>
              <a:ext cx="1612268" cy="2794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213599" y="2412999"/>
            <a:ext cx="4826000" cy="776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25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Parametric 3D CAD modeling, clearance checks, assembly joint kinematics, and STL export for 3D printing.
(Official Autodesk Fusion 360 tool)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13599" y="2032000"/>
            <a:ext cx="4826000" cy="213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400" b="1" spc="-53">
                <a:gradFill flip="none" rotWithShape="1">
                  <a:gsLst>
                    <a:gs pos="0">
                      <a:srgbClr val="38BDF8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Semi-Bold"/>
                <a:cs typeface="Pattanakarn Semi-Bold"/>
                <a:sym typeface="Pattanakarn Semi-Bold"/>
              </a:rPr>
              <a:t>MECHANICAL: FUSION 360</a:t>
            </a:r>
          </a:p>
        </p:txBody>
      </p:sp>
      <p:sp>
        <p:nvSpPr>
          <p:cNvPr id="18" name="AutoShape 18"/>
          <p:cNvSpPr/>
          <p:nvPr/>
        </p:nvSpPr>
        <p:spPr>
          <a:xfrm>
            <a:off x="7213600" y="1930400"/>
            <a:ext cx="2531491" cy="0"/>
          </a:xfrm>
          <a:prstGeom prst="line">
            <a:avLst/>
          </a:prstGeom>
          <a:ln w="57150" cap="flat">
            <a:solidFill>
              <a:srgbClr val="FFFFFF">
                <a:alpha val="87843"/>
              </a:srgbClr>
            </a:solidFill>
            <a:prstDash val="lgDash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12445999" y="2412999"/>
            <a:ext cx="4826000" cy="776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25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100% free open-source schematic capture and multi-layer PCB layout. Design custom motor driver hats without paywalls.
(Official KiCad EDA tool)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445999" y="2032000"/>
            <a:ext cx="4826000" cy="213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400" b="1" spc="-53">
                <a:gradFill flip="none" rotWithShape="1">
                  <a:gsLst>
                    <a:gs pos="0">
                      <a:srgbClr val="38BDF8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Semi-Bold"/>
                <a:cs typeface="Pattanakarn Semi-Bold"/>
                <a:sym typeface="Pattanakarn Semi-Bold"/>
              </a:rPr>
              <a:t>ELECTRONICS: KiCad EDA</a:t>
            </a:r>
          </a:p>
        </p:txBody>
      </p:sp>
      <p:sp>
        <p:nvSpPr>
          <p:cNvPr id="21" name="AutoShape 21"/>
          <p:cNvSpPr/>
          <p:nvPr/>
        </p:nvSpPr>
        <p:spPr>
          <a:xfrm>
            <a:off x="12446000" y="1930400"/>
            <a:ext cx="2531491" cy="0"/>
          </a:xfrm>
          <a:prstGeom prst="line">
            <a:avLst/>
          </a:prstGeom>
          <a:ln w="57150" cap="flat">
            <a:solidFill>
              <a:srgbClr val="FFFFFF">
                <a:alpha val="87843"/>
              </a:srgbClr>
            </a:solidFill>
            <a:prstDash val="lgDash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7213600" y="5778499"/>
            <a:ext cx="10033000" cy="507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25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Physics simulation environment. Test navigation and obstacle avoidance in virtual 3D worlds without risking broken hardware.
(Official Gazebo &amp; ROS 2)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213599" y="5397500"/>
            <a:ext cx="10033000" cy="213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400" b="1" spc="-53">
                <a:gradFill flip="none" rotWithShape="1">
                  <a:gsLst>
                    <a:gs pos="0">
                      <a:srgbClr val="38BDF8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Semi-Bold"/>
                <a:cs typeface="Pattanakarn Semi-Bold"/>
                <a:sym typeface="Pattanakarn Semi-Bold"/>
              </a:rPr>
              <a:t>SIMULATION: GAZEBO &amp; ROS 2</a:t>
            </a:r>
          </a:p>
        </p:txBody>
      </p:sp>
      <p:sp>
        <p:nvSpPr>
          <p:cNvPr id="24" name="AutoShape 24"/>
          <p:cNvSpPr/>
          <p:nvPr/>
        </p:nvSpPr>
        <p:spPr>
          <a:xfrm>
            <a:off x="7213600" y="5295900"/>
            <a:ext cx="2531491" cy="0"/>
          </a:xfrm>
          <a:prstGeom prst="line">
            <a:avLst/>
          </a:prstGeom>
          <a:ln w="57150" cap="flat">
            <a:solidFill>
              <a:srgbClr val="FFFFFF">
                <a:alpha val="87843"/>
              </a:srgbClr>
            </a:solidFill>
            <a:prstDash val="lgDash"/>
            <a:headEnd type="none" w="sm" len="sm"/>
            <a:tailEnd type="none" w="sm" len="sm"/>
          </a:ln>
        </p:spPr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57128158-D48E-239F-CBE8-DC7D4F85770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1180240"/>
            <a:ext cx="5023095" cy="792652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718414" y="8008473"/>
            <a:ext cx="1333079" cy="1392327"/>
            <a:chOff x="0" y="0"/>
            <a:chExt cx="571500" cy="5969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10800000">
            <a:off x="5009804" y="908442"/>
            <a:ext cx="1289396" cy="1346702"/>
            <a:chOff x="0" y="0"/>
            <a:chExt cx="571500" cy="5969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5" name="TextBox 15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C571F19C-6048-9EBA-FA7F-3AB316606E83}"/>
              </a:ext>
            </a:extLst>
          </p:cNvPr>
          <p:cNvSpPr/>
          <p:nvPr/>
        </p:nvSpPr>
        <p:spPr>
          <a:xfrm>
            <a:off x="1028700" y="533400"/>
            <a:ext cx="5461000" cy="330200"/>
          </a:xfrm>
          <a:prstGeom prst="roundRect">
            <a:avLst/>
          </a:prstGeom>
          <a:solidFill>
            <a:srgbClr val="0A0A0C"/>
          </a:solidFill>
          <a:ln w="15240">
            <a:solidFill>
              <a:srgbClr val="D6DA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fr-FR" sz="1000" b="1">
                <a:solidFill>
                  <a:srgbClr val="D6DADB"/>
                </a:solidFill>
                <a:latin typeface="Segoe UI" panose="020B0502040204020203" pitchFamily="34" charset="0"/>
              </a:rPr>
              <a:t>TOOLCHAIN • OPEN-SOURCE ECOSYSTEM</a:t>
            </a:r>
          </a:p>
        </p:txBody>
      </p:sp>
    </p:spTree>
    <p:extLst>
      <p:ext uri="{BB962C8B-B14F-4D97-AF65-F5344CB8AC3E}">
        <p14:creationId xmlns:p14="http://schemas.microsoft.com/office/powerpoint/2010/main" val="250778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hecker/>
      </p:transition>
    </mc:Choice>
    <mc:Fallback xmlns="">
      <p:transition>
        <p:checker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270000"/>
            <a:ext cx="5270500" cy="625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3000" b="1" spc="-168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SIM-TO-REAL DEVELOPMENT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699" y="2476499"/>
            <a:ext cx="8064500" cy="3203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35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In software, a bug causes a harmless error screen. In robotics, a bug sends a 5 kg steel arm crashing into a concrete floor at 2 m/s!
• Zero Broken Hardware: Crash your robot 10,000 times in Gazebo physics simulation at zero financial cost.
• Parallel Development: Software engineers can develop navigation and manipulation algorithms months before the physical machine is machined.
• Synthetic Sensor Data: Simulate virtual camera feeds, LiDAR rays, and encoder pulses with artificial noise.
💡 Real-World Example: NASA Mars rovers and warehouse AMRs test every autonomy update in digital twins before uploading to real machines.
Takeaway: If your kinematics and control loop don't work in simulation, they will never work in reality.
[Reference: Jeff McGough, Ch. 3 • Software and Simulation]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006600"/>
            <a:ext cx="7032529" cy="207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00" b="1" spc="-53">
                <a:gradFill flip="none" rotWithShape="1">
                  <a:gsLst>
                    <a:gs pos="0">
                      <a:srgbClr val="F59E0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Semi-Bold"/>
                <a:cs typeface="Pattanakarn Semi-Bold"/>
                <a:sym typeface="Pattanakarn Semi-Bold"/>
              </a:rPr>
              <a:t>WHY SIMULATING FIRST SAVES THOUSANDS OF DOLLARS</a:t>
            </a:r>
          </a:p>
        </p:txBody>
      </p:sp>
      <p:sp>
        <p:nvSpPr>
          <p:cNvPr id="5" name="AutoShape 5"/>
          <p:cNvSpPr/>
          <p:nvPr/>
        </p:nvSpPr>
        <p:spPr>
          <a:xfrm>
            <a:off x="1028700" y="1879600"/>
            <a:ext cx="2371381" cy="0"/>
          </a:xfrm>
          <a:prstGeom prst="line">
            <a:avLst/>
          </a:prstGeom>
          <a:ln w="57150" cap="flat">
            <a:solidFill>
              <a:srgbClr val="FFFFFF">
                <a:alpha val="87843"/>
              </a:srgbClr>
            </a:solidFill>
            <a:prstDash val="lgDash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-607719" y="9111523"/>
            <a:ext cx="19254369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12166421" y="1606376"/>
            <a:ext cx="6481934" cy="10756641"/>
            <a:chOff x="0" y="0"/>
            <a:chExt cx="1707176" cy="28330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07176" cy="2833025"/>
            </a:xfrm>
            <a:custGeom>
              <a:avLst/>
              <a:gdLst/>
              <a:ahLst/>
              <a:cxnLst/>
              <a:rect l="l" t="t" r="r" b="b"/>
              <a:pathLst>
                <a:path w="1707176" h="2833025">
                  <a:moveTo>
                    <a:pt x="0" y="0"/>
                  </a:moveTo>
                  <a:lnTo>
                    <a:pt x="1707176" y="0"/>
                  </a:lnTo>
                  <a:lnTo>
                    <a:pt x="1707176" y="2833025"/>
                  </a:lnTo>
                  <a:lnTo>
                    <a:pt x="0" y="2833025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1707176" cy="2794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635129" y="1076888"/>
            <a:ext cx="153927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4"/>
              </a:lnSpc>
            </a:pPr>
            <a:r>
              <a:rPr lang="en-US" sz="1200" b="1" spc="-43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JARVIS ROBOTICS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28700" y="1028700"/>
            <a:ext cx="437869" cy="437869"/>
            <a:chOff x="0" y="0"/>
            <a:chExt cx="698500" cy="6985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500" y="349250"/>
                  </a:moveTo>
                  <a:cubicBezTo>
                    <a:pt x="588476" y="313379"/>
                    <a:pt x="502341" y="175825"/>
                    <a:pt x="479908" y="0"/>
                  </a:cubicBezTo>
                  <a:cubicBezTo>
                    <a:pt x="463950" y="125312"/>
                    <a:pt x="415552" y="231178"/>
                    <a:pt x="349250" y="294716"/>
                  </a:cubicBezTo>
                  <a:cubicBezTo>
                    <a:pt x="282948" y="231178"/>
                    <a:pt x="234550" y="125475"/>
                    <a:pt x="218592" y="0"/>
                  </a:cubicBezTo>
                  <a:cubicBezTo>
                    <a:pt x="196159" y="175825"/>
                    <a:pt x="110024" y="313379"/>
                    <a:pt x="0" y="349250"/>
                  </a:cubicBezTo>
                  <a:cubicBezTo>
                    <a:pt x="110024" y="385121"/>
                    <a:pt x="196159" y="522675"/>
                    <a:pt x="218592" y="698500"/>
                  </a:cubicBezTo>
                  <a:cubicBezTo>
                    <a:pt x="234550" y="573188"/>
                    <a:pt x="282948" y="467322"/>
                    <a:pt x="349250" y="403784"/>
                  </a:cubicBezTo>
                  <a:cubicBezTo>
                    <a:pt x="415552" y="467322"/>
                    <a:pt x="463950" y="573025"/>
                    <a:pt x="479908" y="698500"/>
                  </a:cubicBezTo>
                  <a:cubicBezTo>
                    <a:pt x="502341" y="522675"/>
                    <a:pt x="588476" y="385121"/>
                    <a:pt x="698500" y="349250"/>
                  </a:cubicBez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44450"/>
              <a:ext cx="546100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28700" y="9554541"/>
            <a:ext cx="5408384" cy="289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lang="en-US" sz="1000" spc="162">
                <a:gradFill flip="none" rotWithShape="1">
                  <a:gsLst>
                    <a:gs pos="0">
                      <a:srgbClr val="9199A1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ROBOTICS FUNDAMENTALS • SESSION 01 / 04 • THURSDAY, 10 SEPT 2026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E2AB2A66-C6F3-D698-A859-897608013CC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8330" y="1047884"/>
            <a:ext cx="7780970" cy="8210416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 rot="5400000">
            <a:off x="9276804" y="758404"/>
            <a:ext cx="1711929" cy="1788014"/>
            <a:chOff x="0" y="0"/>
            <a:chExt cx="571500" cy="5969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5312322">
            <a:off x="15743087" y="7871964"/>
            <a:ext cx="1711929" cy="1788014"/>
            <a:chOff x="0" y="0"/>
            <a:chExt cx="571500" cy="5969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B85A96F5-D963-372A-DF40-5A46F4C4A594}"/>
              </a:ext>
            </a:extLst>
          </p:cNvPr>
          <p:cNvSpPr/>
          <p:nvPr/>
        </p:nvSpPr>
        <p:spPr>
          <a:xfrm>
            <a:off x="1028700" y="533400"/>
            <a:ext cx="5461000" cy="330200"/>
          </a:xfrm>
          <a:prstGeom prst="roundRect">
            <a:avLst/>
          </a:prstGeom>
          <a:solidFill>
            <a:srgbClr val="0A0A0C"/>
          </a:solidFill>
          <a:ln w="15240">
            <a:solidFill>
              <a:srgbClr val="D6DA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fr-FR" sz="1000" b="1">
                <a:solidFill>
                  <a:srgbClr val="D6DADB"/>
                </a:solidFill>
                <a:latin typeface="Segoe UI" panose="020B0502040204020203" pitchFamily="34" charset="0"/>
              </a:rPr>
              <a:t>SIMULATION • RISK MITIGATION</a:t>
            </a:r>
          </a:p>
        </p:txBody>
      </p:sp>
    </p:spTree>
    <p:extLst>
      <p:ext uri="{BB962C8B-B14F-4D97-AF65-F5344CB8AC3E}">
        <p14:creationId xmlns:p14="http://schemas.microsoft.com/office/powerpoint/2010/main" val="2980149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hecker/>
      </p:transition>
    </mc:Choice>
    <mc:Fallback xmlns="">
      <p:transition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135118" y="1091524"/>
            <a:ext cx="153927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44"/>
              </a:lnSpc>
            </a:pPr>
            <a:r>
              <a:rPr lang="en-US" sz="1200" b="1" spc="-43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JARVIS ROBOTICS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821431" y="1028700"/>
            <a:ext cx="437869" cy="437869"/>
            <a:chOff x="0" y="0"/>
            <a:chExt cx="698500" cy="6985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500" y="349250"/>
                  </a:moveTo>
                  <a:cubicBezTo>
                    <a:pt x="588476" y="313379"/>
                    <a:pt x="502341" y="175825"/>
                    <a:pt x="479908" y="0"/>
                  </a:cubicBezTo>
                  <a:cubicBezTo>
                    <a:pt x="463950" y="125312"/>
                    <a:pt x="415552" y="231178"/>
                    <a:pt x="349250" y="294716"/>
                  </a:cubicBezTo>
                  <a:cubicBezTo>
                    <a:pt x="282948" y="231178"/>
                    <a:pt x="234550" y="125475"/>
                    <a:pt x="218592" y="0"/>
                  </a:cubicBezTo>
                  <a:cubicBezTo>
                    <a:pt x="196159" y="175825"/>
                    <a:pt x="110024" y="313379"/>
                    <a:pt x="0" y="349250"/>
                  </a:cubicBezTo>
                  <a:cubicBezTo>
                    <a:pt x="110024" y="385121"/>
                    <a:pt x="196159" y="522675"/>
                    <a:pt x="218592" y="698500"/>
                  </a:cubicBezTo>
                  <a:cubicBezTo>
                    <a:pt x="234550" y="573188"/>
                    <a:pt x="282948" y="467322"/>
                    <a:pt x="349250" y="403784"/>
                  </a:cubicBezTo>
                  <a:cubicBezTo>
                    <a:pt x="415552" y="467322"/>
                    <a:pt x="463950" y="573025"/>
                    <a:pt x="479908" y="698500"/>
                  </a:cubicBezTo>
                  <a:cubicBezTo>
                    <a:pt x="502341" y="522675"/>
                    <a:pt x="588476" y="385121"/>
                    <a:pt x="698500" y="349250"/>
                  </a:cubicBez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76200" y="44450"/>
              <a:ext cx="546100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8700" y="5461000"/>
            <a:ext cx="5842000" cy="2765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2500" b="1" spc="-168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REAL-WORLD ENGINEERING &amp; CASES
Debugging, prototyping lessons, and common beginner engineering traps.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365999" y="5460999"/>
            <a:ext cx="4572000" cy="1583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20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• Hardware Debugging: Oscilloscope measurements, ground loops, and vibration analysis
• 'It Worked in CAD!': Accounting for real-world manufacturing tolerances and flex
• Rapid Prototyping: 3D printing vs laser cut acrylic vs CNC machining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318999" y="5460999"/>
            <a:ext cx="4953000" cy="1314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20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• Case Study Analysis: Prototype V1 structural failure → V2 engineered redesign
• Capstone Challenge: Sizing a campus delivery AMR from scratch
• Key Takeaways: The engineering mindset to build functioning robots
[Ref: McGough Ch. 12 &amp; SITAMS 18MEC325 Unit 5]</a:t>
            </a:r>
          </a:p>
        </p:txBody>
      </p:sp>
      <p:sp>
        <p:nvSpPr>
          <p:cNvPr id="17" name="AutoShape 17"/>
          <p:cNvSpPr/>
          <p:nvPr/>
        </p:nvSpPr>
        <p:spPr>
          <a:xfrm>
            <a:off x="-607719" y="9111523"/>
            <a:ext cx="19254369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18"/>
          <p:cNvSpPr txBox="1"/>
          <p:nvPr/>
        </p:nvSpPr>
        <p:spPr>
          <a:xfrm>
            <a:off x="11850916" y="9554541"/>
            <a:ext cx="5408384" cy="289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00"/>
              </a:lnSpc>
            </a:pPr>
            <a:r>
              <a:rPr lang="en-US" sz="1000" spc="162">
                <a:gradFill flip="none" rotWithShape="1">
                  <a:gsLst>
                    <a:gs pos="0">
                      <a:srgbClr val="9199A1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ROBOTICS FUNDAMENTALS • SESSION 01 / 04 • THURSDAY, 10 SEPT 2026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529B0560-978F-E118-8EAA-5DC806DFF2B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5280" y="1062949"/>
            <a:ext cx="13427937" cy="3800856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 rot="-5400000">
            <a:off x="13633658" y="3599560"/>
            <a:ext cx="1468820" cy="1534100"/>
            <a:chOff x="0" y="0"/>
            <a:chExt cx="571500" cy="5969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5400000">
            <a:off x="1061340" y="699519"/>
            <a:ext cx="1468820" cy="1534100"/>
            <a:chOff x="0" y="0"/>
            <a:chExt cx="571500" cy="5969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70264FB8-4A93-7C2D-ADE9-9FB01FFAEA93}"/>
              </a:ext>
            </a:extLst>
          </p:cNvPr>
          <p:cNvSpPr/>
          <p:nvPr/>
        </p:nvSpPr>
        <p:spPr>
          <a:xfrm>
            <a:off x="1028700" y="533400"/>
            <a:ext cx="5461000" cy="330200"/>
          </a:xfrm>
          <a:prstGeom prst="roundRect">
            <a:avLst/>
          </a:prstGeom>
          <a:solidFill>
            <a:srgbClr val="0A0A0C"/>
          </a:solidFill>
          <a:ln w="15240">
            <a:solidFill>
              <a:srgbClr val="D6DA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fr-FR" sz="1000" b="1">
                <a:solidFill>
                  <a:srgbClr val="D6DADB"/>
                </a:solidFill>
                <a:latin typeface="Segoe UI" panose="020B0502040204020203" pitchFamily="34" charset="0"/>
              </a:rPr>
              <a:t>MODULE TRACK • 06 / 06</a:t>
            </a:r>
          </a:p>
        </p:txBody>
      </p:sp>
    </p:spTree>
    <p:extLst>
      <p:ext uri="{BB962C8B-B14F-4D97-AF65-F5344CB8AC3E}">
        <p14:creationId xmlns:p14="http://schemas.microsoft.com/office/powerpoint/2010/main" val="1259358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hecker/>
      </p:transition>
    </mc:Choice>
    <mc:Fallback xmlns="">
      <p:transition>
        <p:checker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>
            <a:off x="-607719" y="9111523"/>
            <a:ext cx="19254369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12166421" y="1606376"/>
            <a:ext cx="6481934" cy="10756641"/>
            <a:chOff x="0" y="0"/>
            <a:chExt cx="1707176" cy="28330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07176" cy="2833025"/>
            </a:xfrm>
            <a:custGeom>
              <a:avLst/>
              <a:gdLst/>
              <a:ahLst/>
              <a:cxnLst/>
              <a:rect l="l" t="t" r="r" b="b"/>
              <a:pathLst>
                <a:path w="1707176" h="2833025">
                  <a:moveTo>
                    <a:pt x="0" y="0"/>
                  </a:moveTo>
                  <a:lnTo>
                    <a:pt x="1707176" y="0"/>
                  </a:lnTo>
                  <a:lnTo>
                    <a:pt x="1707176" y="2833025"/>
                  </a:lnTo>
                  <a:lnTo>
                    <a:pt x="0" y="2833025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1707176" cy="2794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635129" y="1076888"/>
            <a:ext cx="153927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4"/>
              </a:lnSpc>
            </a:pPr>
            <a:r>
              <a:rPr lang="en-US" sz="1200" b="1" spc="-43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JARVIS ROBOTICS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28700" y="1028700"/>
            <a:ext cx="437869" cy="437869"/>
            <a:chOff x="0" y="0"/>
            <a:chExt cx="698500" cy="6985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500" y="349250"/>
                  </a:moveTo>
                  <a:cubicBezTo>
                    <a:pt x="588476" y="313379"/>
                    <a:pt x="502341" y="175825"/>
                    <a:pt x="479908" y="0"/>
                  </a:cubicBezTo>
                  <a:cubicBezTo>
                    <a:pt x="463950" y="125312"/>
                    <a:pt x="415552" y="231178"/>
                    <a:pt x="349250" y="294716"/>
                  </a:cubicBezTo>
                  <a:cubicBezTo>
                    <a:pt x="282948" y="231178"/>
                    <a:pt x="234550" y="125475"/>
                    <a:pt x="218592" y="0"/>
                  </a:cubicBezTo>
                  <a:cubicBezTo>
                    <a:pt x="196159" y="175825"/>
                    <a:pt x="110024" y="313379"/>
                    <a:pt x="0" y="349250"/>
                  </a:cubicBezTo>
                  <a:cubicBezTo>
                    <a:pt x="110024" y="385121"/>
                    <a:pt x="196159" y="522675"/>
                    <a:pt x="218592" y="698500"/>
                  </a:cubicBezTo>
                  <a:cubicBezTo>
                    <a:pt x="234550" y="573188"/>
                    <a:pt x="282948" y="467322"/>
                    <a:pt x="349250" y="403784"/>
                  </a:cubicBezTo>
                  <a:cubicBezTo>
                    <a:pt x="415552" y="467322"/>
                    <a:pt x="463950" y="573025"/>
                    <a:pt x="479908" y="698500"/>
                  </a:cubicBezTo>
                  <a:cubicBezTo>
                    <a:pt x="502341" y="522675"/>
                    <a:pt x="588476" y="385121"/>
                    <a:pt x="698500" y="349250"/>
                  </a:cubicBez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44450"/>
              <a:ext cx="546100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28700" y="9554541"/>
            <a:ext cx="5408384" cy="289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lang="en-US" sz="1000" spc="162">
                <a:gradFill flip="none" rotWithShape="1">
                  <a:gsLst>
                    <a:gs pos="0">
                      <a:srgbClr val="9199A1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ROBOTICS FUNDAMENTALS • SESSION 01 / 04 • THURSDAY, 10 SEPT 2026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A1410AD8-FA16-0219-820A-A220FCED144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8330" y="1047884"/>
            <a:ext cx="7780970" cy="8210416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 rot="5400000">
            <a:off x="9276804" y="758404"/>
            <a:ext cx="1711929" cy="1788014"/>
            <a:chOff x="0" y="0"/>
            <a:chExt cx="571500" cy="5969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5312322">
            <a:off x="15743087" y="7871964"/>
            <a:ext cx="1711929" cy="1788014"/>
            <a:chOff x="0" y="0"/>
            <a:chExt cx="571500" cy="5969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7B314F62-C19F-4237-8843-822AF39E124F}"/>
              </a:ext>
            </a:extLst>
          </p:cNvPr>
          <p:cNvSpPr/>
          <p:nvPr/>
        </p:nvSpPr>
        <p:spPr>
          <a:xfrm>
            <a:off x="1028700" y="533400"/>
            <a:ext cx="5461000" cy="330200"/>
          </a:xfrm>
          <a:prstGeom prst="roundRect">
            <a:avLst/>
          </a:prstGeom>
          <a:solidFill>
            <a:srgbClr val="0A0A0C"/>
          </a:solidFill>
          <a:ln w="1524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en-US" sz="1000" b="1">
                <a:solidFill>
                  <a:srgbClr val="F59E0B"/>
                </a:solidFill>
                <a:latin typeface="Segoe UI" panose="020B0502040204020203" pitchFamily="34" charset="0"/>
              </a:rPr>
              <a:t>⚡ QUICK CHALLENGE 07 • HARDWARE DEBUGGING</a:t>
            </a:r>
            <a:endParaRPr lang="fr-FR" sz="1000" b="1">
              <a:solidFill>
                <a:srgbClr val="F59E0B"/>
              </a:solidFill>
              <a:latin typeface="Segoe UI" panose="020B0502040204020203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08F9B40E-5FA2-8D8D-3B02-F4DAF98007CF}"/>
              </a:ext>
            </a:extLst>
          </p:cNvPr>
          <p:cNvSpPr txBox="1"/>
          <p:nvPr/>
        </p:nvSpPr>
        <p:spPr>
          <a:xfrm>
            <a:off x="1028700" y="1206500"/>
            <a:ext cx="8178800" cy="430887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500" b="1">
                <a:solidFill>
                  <a:srgbClr val="FFFFFF"/>
                </a:solidFill>
                <a:latin typeface="Segoe UI Bold"/>
              </a:rPr>
              <a:t>DIAGNOSING VIOLENT OSCILLATIONS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9888D6CF-AB60-A217-E6B3-3D1021AA94F1}"/>
              </a:ext>
            </a:extLst>
          </p:cNvPr>
          <p:cNvSpPr txBox="1"/>
          <p:nvPr/>
        </p:nvSpPr>
        <p:spPr>
          <a:xfrm>
            <a:off x="1028700" y="1905000"/>
            <a:ext cx="8178800" cy="44627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300">
                <a:solidFill>
                  <a:srgbClr val="D6DADB"/>
                </a:solidFill>
                <a:latin typeface="Segoe UI" panose="020B0502040204020203" pitchFamily="34" charset="0"/>
              </a:rPr>
              <a:t>Your newly assembled robot arm shakes violently when trying to hold still, buzzing loudly at 15 Hz with rapidly heating motors. What is the root cause?</a:t>
            </a:r>
            <a:endParaRPr lang="fr-FR" sz="1300">
              <a:solidFill>
                <a:srgbClr val="D6DADB"/>
              </a:solidFill>
              <a:latin typeface="Segoe UI" panose="020B0502040204020203" pitchFamily="34" charset="0"/>
            </a:endParaRP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95E4B623-EB7B-1060-2CFE-63927AB9B40E}"/>
              </a:ext>
            </a:extLst>
          </p:cNvPr>
          <p:cNvSpPr/>
          <p:nvPr/>
        </p:nvSpPr>
        <p:spPr>
          <a:xfrm>
            <a:off x="1028700" y="3365500"/>
            <a:ext cx="4000500" cy="1206500"/>
          </a:xfrm>
          <a:prstGeom prst="roundRect">
            <a:avLst/>
          </a:prstGeom>
          <a:solidFill>
            <a:srgbClr val="1A1D21"/>
          </a:solidFill>
          <a:ln w="15240">
            <a:solidFill>
              <a:srgbClr val="3C42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 algn="ctr"/>
            <a:r>
              <a:rPr lang="en-US" sz="1200" b="1">
                <a:solidFill>
                  <a:srgbClr val="F59E0B"/>
                </a:solidFill>
                <a:latin typeface="Segoe UI" panose="020B0502040204020203" pitchFamily="34" charset="0"/>
              </a:rPr>
              <a:t>[A]</a:t>
            </a:r>
            <a:r>
              <a:rPr lang="en-US" sz="1200">
                <a:solidFill>
                  <a:srgbClr val="FFFFFF"/>
                </a:solidFill>
                <a:latin typeface="Segoe UI" panose="020B0502040204020203" pitchFamily="34" charset="0"/>
              </a:rPr>
              <a:t>  Gear backlash play combined with excessive PID proportional gain (Kp)</a:t>
            </a:r>
            <a:endParaRPr lang="fr-FR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C13D1748-A19A-347B-BF73-293C7745C974}"/>
              </a:ext>
            </a:extLst>
          </p:cNvPr>
          <p:cNvSpPr/>
          <p:nvPr/>
        </p:nvSpPr>
        <p:spPr>
          <a:xfrm>
            <a:off x="5207000" y="3365500"/>
            <a:ext cx="4000500" cy="1206500"/>
          </a:xfrm>
          <a:prstGeom prst="roundRect">
            <a:avLst/>
          </a:prstGeom>
          <a:solidFill>
            <a:srgbClr val="1A1D21"/>
          </a:solidFill>
          <a:ln w="15240">
            <a:solidFill>
              <a:srgbClr val="3C42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 algn="ctr"/>
            <a:r>
              <a:rPr lang="en-US" sz="1200" b="1">
                <a:solidFill>
                  <a:srgbClr val="F59E0B"/>
                </a:solidFill>
                <a:latin typeface="Segoe UI" panose="020B0502040204020203" pitchFamily="34" charset="0"/>
              </a:rPr>
              <a:t>[B]</a:t>
            </a:r>
            <a:r>
              <a:rPr lang="en-US" sz="1200">
                <a:solidFill>
                  <a:srgbClr val="FFFFFF"/>
                </a:solidFill>
                <a:latin typeface="Segoe UI" panose="020B0502040204020203" pitchFamily="34" charset="0"/>
              </a:rPr>
              <a:t>  The LiPo battery capacity (mAh) is too large</a:t>
            </a:r>
            <a:endParaRPr lang="fr-FR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F6A4F9AB-5AA9-939F-9A46-FE7FB33165FE}"/>
              </a:ext>
            </a:extLst>
          </p:cNvPr>
          <p:cNvSpPr/>
          <p:nvPr/>
        </p:nvSpPr>
        <p:spPr>
          <a:xfrm>
            <a:off x="1028700" y="4762500"/>
            <a:ext cx="4000500" cy="1206500"/>
          </a:xfrm>
          <a:prstGeom prst="roundRect">
            <a:avLst/>
          </a:prstGeom>
          <a:solidFill>
            <a:srgbClr val="1A1D21"/>
          </a:solidFill>
          <a:ln w="15240">
            <a:solidFill>
              <a:srgbClr val="3C42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 algn="ctr"/>
            <a:r>
              <a:rPr lang="en-US" sz="1200" b="1">
                <a:solidFill>
                  <a:srgbClr val="F59E0B"/>
                </a:solidFill>
                <a:latin typeface="Segoe UI" panose="020B0502040204020203" pitchFamily="34" charset="0"/>
              </a:rPr>
              <a:t>[C]</a:t>
            </a:r>
            <a:r>
              <a:rPr lang="en-US" sz="1200">
                <a:solidFill>
                  <a:srgbClr val="FFFFFF"/>
                </a:solidFill>
                <a:latin typeface="Segoe UI" panose="020B0502040204020203" pitchFamily="34" charset="0"/>
              </a:rPr>
              <a:t>  The CAD model was exported in millimeters instead of meters</a:t>
            </a:r>
            <a:endParaRPr lang="fr-FR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B72B1FE6-6522-A306-DC90-580299D493EB}"/>
              </a:ext>
            </a:extLst>
          </p:cNvPr>
          <p:cNvSpPr/>
          <p:nvPr/>
        </p:nvSpPr>
        <p:spPr>
          <a:xfrm>
            <a:off x="5207000" y="4762500"/>
            <a:ext cx="4000500" cy="1206500"/>
          </a:xfrm>
          <a:prstGeom prst="roundRect">
            <a:avLst/>
          </a:prstGeom>
          <a:solidFill>
            <a:srgbClr val="1A1D21"/>
          </a:solidFill>
          <a:ln w="15240">
            <a:solidFill>
              <a:srgbClr val="3C42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 algn="ctr"/>
            <a:r>
              <a:rPr lang="en-US" sz="1200" b="1">
                <a:solidFill>
                  <a:srgbClr val="F59E0B"/>
                </a:solidFill>
                <a:latin typeface="Segoe UI" panose="020B0502040204020203" pitchFamily="34" charset="0"/>
              </a:rPr>
              <a:t>[D]</a:t>
            </a:r>
            <a:r>
              <a:rPr lang="en-US" sz="1200">
                <a:solidFill>
                  <a:srgbClr val="FFFFFF"/>
                </a:solidFill>
                <a:latin typeface="Segoe UI" panose="020B0502040204020203" pitchFamily="34" charset="0"/>
              </a:rPr>
              <a:t>  The ROS 2 topic queue size is set to 10</a:t>
            </a:r>
            <a:endParaRPr lang="fr-FR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1A049AC3-CD77-9F64-E968-076F26444A08}"/>
              </a:ext>
            </a:extLst>
          </p:cNvPr>
          <p:cNvSpPr/>
          <p:nvPr/>
        </p:nvSpPr>
        <p:spPr>
          <a:xfrm>
            <a:off x="1028700" y="6286500"/>
            <a:ext cx="8178800" cy="1397000"/>
          </a:xfrm>
          <a:prstGeom prst="roundRect">
            <a:avLst/>
          </a:prstGeom>
          <a:solidFill>
            <a:srgbClr val="0F2319"/>
          </a:solidFill>
          <a:ln w="254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101600" rIns="203200" rtlCol="0" anchor="ctr"/>
          <a:lstStyle/>
          <a:p>
            <a:pPr algn="ctr"/>
            <a:r>
              <a:rPr lang="en-US" sz="1350" b="1">
                <a:solidFill>
                  <a:srgbClr val="10B981"/>
                </a:solidFill>
                <a:latin typeface="Segoe UI" panose="020B0502040204020203" pitchFamily="34" charset="0"/>
              </a:rPr>
              <a:t>✓ CORRECT ANSWER: [A]
Gear teeth play creates a deadband. If Kp is too aggressive, the motor violently overshoots across the gear gap, strikes the opposite tooth, and enters a limit-cycle oscillation. Lower Kp! [Ref: McGough Ch. 10]</a:t>
            </a:r>
            <a:endParaRPr lang="fr-FR" sz="1350" b="1">
              <a:solidFill>
                <a:srgbClr val="10B98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614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hecker/>
      </p:transition>
    </mc:Choice>
    <mc:Fallback xmlns="">
      <p:transition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/>
      <p:bldP spid="27" grpId="0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270000"/>
            <a:ext cx="5270500" cy="625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3000" b="1" spc="-168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IT WORKED IN CAD!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699" y="2476499"/>
            <a:ext cx="8064500" cy="3210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35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In 3D CAD software, links are infinitely rigid, bearings have zero friction, gears have zero backlash, and fasteners never loosen. Real life is different:
• 1. 3D Print Shrinkage: A 3D-printed hole designed for a 10 mm bearing will print at 9.7 mm due to plastic cooling shrinkage! The bearing will not fit without reaming.
• 2. Wire Harness Stiffness: Wires have mass, bend radius, and stiffness. A tight cable bundle can stall a joint motor mid-swing!
• 3. Fastener Vibration: Real robot vibration shakes nuts loose in minutes. Always use nylon-insert locknuts (Nyloc) or threadlocker (Loctite)!
💡 Real-World Pro Tip: Always design 0.3 mm clearances on 3D prints, and leave dedicated conduits for wire routing.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006600"/>
            <a:ext cx="7032529" cy="207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00" b="1" spc="-53">
                <a:gradFill flip="none" rotWithShape="1">
                  <a:gsLst>
                    <a:gs pos="0">
                      <a:srgbClr val="F59E0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Semi-Bold"/>
                <a:cs typeface="Pattanakarn Semi-Bold"/>
                <a:sym typeface="Pattanakarn Semi-Bold"/>
              </a:rPr>
              <a:t>BRIDGING THE GAP BETWEEN IDEAL 3D MODELS AND PHYSICS</a:t>
            </a:r>
          </a:p>
        </p:txBody>
      </p:sp>
      <p:sp>
        <p:nvSpPr>
          <p:cNvPr id="5" name="AutoShape 5"/>
          <p:cNvSpPr/>
          <p:nvPr/>
        </p:nvSpPr>
        <p:spPr>
          <a:xfrm>
            <a:off x="1028700" y="1879600"/>
            <a:ext cx="2371381" cy="0"/>
          </a:xfrm>
          <a:prstGeom prst="line">
            <a:avLst/>
          </a:prstGeom>
          <a:ln w="57150" cap="flat">
            <a:solidFill>
              <a:srgbClr val="FFFFFF">
                <a:alpha val="87843"/>
              </a:srgbClr>
            </a:solidFill>
            <a:prstDash val="lgDash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-607719" y="9111523"/>
            <a:ext cx="19254369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12166421" y="1606376"/>
            <a:ext cx="6481934" cy="10756641"/>
            <a:chOff x="0" y="0"/>
            <a:chExt cx="1707176" cy="28330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07176" cy="2833025"/>
            </a:xfrm>
            <a:custGeom>
              <a:avLst/>
              <a:gdLst/>
              <a:ahLst/>
              <a:cxnLst/>
              <a:rect l="l" t="t" r="r" b="b"/>
              <a:pathLst>
                <a:path w="1707176" h="2833025">
                  <a:moveTo>
                    <a:pt x="0" y="0"/>
                  </a:moveTo>
                  <a:lnTo>
                    <a:pt x="1707176" y="0"/>
                  </a:lnTo>
                  <a:lnTo>
                    <a:pt x="1707176" y="2833025"/>
                  </a:lnTo>
                  <a:lnTo>
                    <a:pt x="0" y="2833025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1707176" cy="2794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635129" y="1076888"/>
            <a:ext cx="153927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4"/>
              </a:lnSpc>
            </a:pPr>
            <a:r>
              <a:rPr lang="en-US" sz="1200" b="1" spc="-43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JARVIS ROBOTICS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28700" y="1028700"/>
            <a:ext cx="437869" cy="437869"/>
            <a:chOff x="0" y="0"/>
            <a:chExt cx="698500" cy="6985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500" y="349250"/>
                  </a:moveTo>
                  <a:cubicBezTo>
                    <a:pt x="588476" y="313379"/>
                    <a:pt x="502341" y="175825"/>
                    <a:pt x="479908" y="0"/>
                  </a:cubicBezTo>
                  <a:cubicBezTo>
                    <a:pt x="463950" y="125312"/>
                    <a:pt x="415552" y="231178"/>
                    <a:pt x="349250" y="294716"/>
                  </a:cubicBezTo>
                  <a:cubicBezTo>
                    <a:pt x="282948" y="231178"/>
                    <a:pt x="234550" y="125475"/>
                    <a:pt x="218592" y="0"/>
                  </a:cubicBezTo>
                  <a:cubicBezTo>
                    <a:pt x="196159" y="175825"/>
                    <a:pt x="110024" y="313379"/>
                    <a:pt x="0" y="349250"/>
                  </a:cubicBezTo>
                  <a:cubicBezTo>
                    <a:pt x="110024" y="385121"/>
                    <a:pt x="196159" y="522675"/>
                    <a:pt x="218592" y="698500"/>
                  </a:cubicBezTo>
                  <a:cubicBezTo>
                    <a:pt x="234550" y="573188"/>
                    <a:pt x="282948" y="467322"/>
                    <a:pt x="349250" y="403784"/>
                  </a:cubicBezTo>
                  <a:cubicBezTo>
                    <a:pt x="415552" y="467322"/>
                    <a:pt x="463950" y="573025"/>
                    <a:pt x="479908" y="698500"/>
                  </a:cubicBezTo>
                  <a:cubicBezTo>
                    <a:pt x="502341" y="522675"/>
                    <a:pt x="588476" y="385121"/>
                    <a:pt x="698500" y="349250"/>
                  </a:cubicBez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44450"/>
              <a:ext cx="546100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28700" y="9554541"/>
            <a:ext cx="5408384" cy="289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lang="en-US" sz="1000" spc="162">
                <a:gradFill flip="none" rotWithShape="1">
                  <a:gsLst>
                    <a:gs pos="0">
                      <a:srgbClr val="9199A1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ROBOTICS FUNDAMENTALS • SESSION 01 / 04 • THURSDAY, 10 SEPT 2026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21E1949A-CF7A-E83C-E5EF-77CE4D4788C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8330" y="1047884"/>
            <a:ext cx="7780970" cy="8210416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 rot="5400000">
            <a:off x="9276804" y="758404"/>
            <a:ext cx="1711929" cy="1788014"/>
            <a:chOff x="0" y="0"/>
            <a:chExt cx="571500" cy="5969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5312322">
            <a:off x="15743087" y="7871964"/>
            <a:ext cx="1711929" cy="1788014"/>
            <a:chOff x="0" y="0"/>
            <a:chExt cx="571500" cy="5969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1785C39E-B01C-EEAC-0CB4-551699A07691}"/>
              </a:ext>
            </a:extLst>
          </p:cNvPr>
          <p:cNvSpPr/>
          <p:nvPr/>
        </p:nvSpPr>
        <p:spPr>
          <a:xfrm>
            <a:off x="1028700" y="533400"/>
            <a:ext cx="5461000" cy="330200"/>
          </a:xfrm>
          <a:prstGeom prst="roundRect">
            <a:avLst/>
          </a:prstGeom>
          <a:solidFill>
            <a:srgbClr val="0A0A0C"/>
          </a:solidFill>
          <a:ln w="15240">
            <a:solidFill>
              <a:srgbClr val="D6DA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en-US" sz="1000" b="1">
                <a:solidFill>
                  <a:srgbClr val="D6DADB"/>
                </a:solidFill>
                <a:latin typeface="Segoe UI" panose="020B0502040204020203" pitchFamily="34" charset="0"/>
              </a:rPr>
              <a:t>PRACTICAL LESSONS • CAD VS REALITY</a:t>
            </a:r>
            <a:endParaRPr lang="fr-FR" sz="1000" b="1">
              <a:solidFill>
                <a:srgbClr val="D6DADB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875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hecker/>
      </p:transition>
    </mc:Choice>
    <mc:Fallback xmlns="">
      <p:transition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270000"/>
            <a:ext cx="5270500" cy="625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3000" b="1" spc="-168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PROTOTYPE V1 TO V2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699" y="2476499"/>
            <a:ext cx="8064500" cy="3203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35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The Lifecycle of an Engineering Prototype:
• Prototype V1 (The Novice Build - Failed): 3D-printed PLA joints, direct motor drive without gearboxes, single shared 5V power bus. Result: Gripper sagged 15 mm, motors overheated in 4 minutes, and the microcontroller rebooted whenever the gripper closed.
• Prototype V2 (The Engineered Redesign - Succeeded): Upgraded to 6061 aluminum plate chassis, 10:1 planetary gearboxes, split power rails with dual buck converters, and pre-tensioned timing belts.
• Result: Tip deflection dropped to 0.8 mm, continuous run time exceeded 2 hours, and positioning repeatability reached ±0.2 mm!
💡 Key Lesson: Great robots are never built on attempt #1. Engineering is an iterative cycle of building, testing, and improving.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006600"/>
            <a:ext cx="7032529" cy="207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00" b="1" spc="-53">
                <a:gradFill flip="none" rotWithShape="1">
                  <a:gsLst>
                    <a:gs pos="0">
                      <a:srgbClr val="F59E0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Semi-Bold"/>
                <a:cs typeface="Pattanakarn Semi-Bold"/>
                <a:sym typeface="Pattanakarn Semi-Bold"/>
              </a:rPr>
              <a:t>A REAL ENGINEERING POST-MORTEM &amp; REDESIGN</a:t>
            </a:r>
          </a:p>
        </p:txBody>
      </p:sp>
      <p:sp>
        <p:nvSpPr>
          <p:cNvPr id="5" name="AutoShape 5"/>
          <p:cNvSpPr/>
          <p:nvPr/>
        </p:nvSpPr>
        <p:spPr>
          <a:xfrm>
            <a:off x="1028700" y="1879600"/>
            <a:ext cx="2371381" cy="0"/>
          </a:xfrm>
          <a:prstGeom prst="line">
            <a:avLst/>
          </a:prstGeom>
          <a:ln w="57150" cap="flat">
            <a:solidFill>
              <a:srgbClr val="FFFFFF">
                <a:alpha val="87843"/>
              </a:srgbClr>
            </a:solidFill>
            <a:prstDash val="lgDash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-607719" y="9111523"/>
            <a:ext cx="19254369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12166421" y="1606376"/>
            <a:ext cx="6481934" cy="10756641"/>
            <a:chOff x="0" y="0"/>
            <a:chExt cx="1707176" cy="28330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07176" cy="2833025"/>
            </a:xfrm>
            <a:custGeom>
              <a:avLst/>
              <a:gdLst/>
              <a:ahLst/>
              <a:cxnLst/>
              <a:rect l="l" t="t" r="r" b="b"/>
              <a:pathLst>
                <a:path w="1707176" h="2833025">
                  <a:moveTo>
                    <a:pt x="0" y="0"/>
                  </a:moveTo>
                  <a:lnTo>
                    <a:pt x="1707176" y="0"/>
                  </a:lnTo>
                  <a:lnTo>
                    <a:pt x="1707176" y="2833025"/>
                  </a:lnTo>
                  <a:lnTo>
                    <a:pt x="0" y="2833025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1707176" cy="2794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635129" y="1076888"/>
            <a:ext cx="153927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4"/>
              </a:lnSpc>
            </a:pPr>
            <a:r>
              <a:rPr lang="en-US" sz="1200" b="1" spc="-43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JARVIS ROBOTICS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28700" y="1028700"/>
            <a:ext cx="437869" cy="437869"/>
            <a:chOff x="0" y="0"/>
            <a:chExt cx="698500" cy="6985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500" y="349250"/>
                  </a:moveTo>
                  <a:cubicBezTo>
                    <a:pt x="588476" y="313379"/>
                    <a:pt x="502341" y="175825"/>
                    <a:pt x="479908" y="0"/>
                  </a:cubicBezTo>
                  <a:cubicBezTo>
                    <a:pt x="463950" y="125312"/>
                    <a:pt x="415552" y="231178"/>
                    <a:pt x="349250" y="294716"/>
                  </a:cubicBezTo>
                  <a:cubicBezTo>
                    <a:pt x="282948" y="231178"/>
                    <a:pt x="234550" y="125475"/>
                    <a:pt x="218592" y="0"/>
                  </a:cubicBezTo>
                  <a:cubicBezTo>
                    <a:pt x="196159" y="175825"/>
                    <a:pt x="110024" y="313379"/>
                    <a:pt x="0" y="349250"/>
                  </a:cubicBezTo>
                  <a:cubicBezTo>
                    <a:pt x="110024" y="385121"/>
                    <a:pt x="196159" y="522675"/>
                    <a:pt x="218592" y="698500"/>
                  </a:cubicBezTo>
                  <a:cubicBezTo>
                    <a:pt x="234550" y="573188"/>
                    <a:pt x="282948" y="467322"/>
                    <a:pt x="349250" y="403784"/>
                  </a:cubicBezTo>
                  <a:cubicBezTo>
                    <a:pt x="415552" y="467322"/>
                    <a:pt x="463950" y="573025"/>
                    <a:pt x="479908" y="698500"/>
                  </a:cubicBezTo>
                  <a:cubicBezTo>
                    <a:pt x="502341" y="522675"/>
                    <a:pt x="588476" y="385121"/>
                    <a:pt x="698500" y="349250"/>
                  </a:cubicBez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44450"/>
              <a:ext cx="546100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28700" y="9554541"/>
            <a:ext cx="5408384" cy="289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lang="en-US" sz="1000" spc="162">
                <a:gradFill flip="none" rotWithShape="1">
                  <a:gsLst>
                    <a:gs pos="0">
                      <a:srgbClr val="9199A1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ROBOTICS FUNDAMENTALS • SESSION 01 / 04 • THURSDAY, 10 SEPT 2026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40718FFC-5469-018A-75AB-A7DC7845593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8330" y="1047884"/>
            <a:ext cx="7780970" cy="8210416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 rot="5400000">
            <a:off x="9276804" y="758404"/>
            <a:ext cx="1711929" cy="1788014"/>
            <a:chOff x="0" y="0"/>
            <a:chExt cx="571500" cy="5969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5312322">
            <a:off x="15743087" y="7871964"/>
            <a:ext cx="1711929" cy="1788014"/>
            <a:chOff x="0" y="0"/>
            <a:chExt cx="571500" cy="5969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391EBA6B-93AA-69C8-25D7-0DA4C7506652}"/>
              </a:ext>
            </a:extLst>
          </p:cNvPr>
          <p:cNvSpPr/>
          <p:nvPr/>
        </p:nvSpPr>
        <p:spPr>
          <a:xfrm>
            <a:off x="1028700" y="533400"/>
            <a:ext cx="5461000" cy="330200"/>
          </a:xfrm>
          <a:prstGeom prst="roundRect">
            <a:avLst/>
          </a:prstGeom>
          <a:solidFill>
            <a:srgbClr val="0A0A0C"/>
          </a:solidFill>
          <a:ln w="15240">
            <a:solidFill>
              <a:srgbClr val="D6DA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fr-FR" sz="1000" b="1">
                <a:solidFill>
                  <a:srgbClr val="D6DADB"/>
                </a:solidFill>
                <a:latin typeface="Segoe UI" panose="020B0502040204020203" pitchFamily="34" charset="0"/>
              </a:rPr>
              <a:t>CASE STUDY • HARDWARE ITERATION</a:t>
            </a:r>
          </a:p>
        </p:txBody>
      </p:sp>
    </p:spTree>
    <p:extLst>
      <p:ext uri="{BB962C8B-B14F-4D97-AF65-F5344CB8AC3E}">
        <p14:creationId xmlns:p14="http://schemas.microsoft.com/office/powerpoint/2010/main" val="2737740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hecker/>
      </p:transition>
    </mc:Choice>
    <mc:Fallback xmlns="">
      <p:transition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>
            <a:off x="-607719" y="9111523"/>
            <a:ext cx="19254369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12166421" y="1606376"/>
            <a:ext cx="6481934" cy="10756641"/>
            <a:chOff x="0" y="0"/>
            <a:chExt cx="1707176" cy="28330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07176" cy="2833025"/>
            </a:xfrm>
            <a:custGeom>
              <a:avLst/>
              <a:gdLst/>
              <a:ahLst/>
              <a:cxnLst/>
              <a:rect l="l" t="t" r="r" b="b"/>
              <a:pathLst>
                <a:path w="1707176" h="2833025">
                  <a:moveTo>
                    <a:pt x="0" y="0"/>
                  </a:moveTo>
                  <a:lnTo>
                    <a:pt x="1707176" y="0"/>
                  </a:lnTo>
                  <a:lnTo>
                    <a:pt x="1707176" y="2833025"/>
                  </a:lnTo>
                  <a:lnTo>
                    <a:pt x="0" y="2833025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1707176" cy="2794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635129" y="1076888"/>
            <a:ext cx="153927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4"/>
              </a:lnSpc>
            </a:pPr>
            <a:r>
              <a:rPr lang="en-US" sz="1200" b="1" spc="-43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JARVIS ROBOTICS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28700" y="1028700"/>
            <a:ext cx="437869" cy="437869"/>
            <a:chOff x="0" y="0"/>
            <a:chExt cx="698500" cy="6985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500" y="349250"/>
                  </a:moveTo>
                  <a:cubicBezTo>
                    <a:pt x="588476" y="313379"/>
                    <a:pt x="502341" y="175825"/>
                    <a:pt x="479908" y="0"/>
                  </a:cubicBezTo>
                  <a:cubicBezTo>
                    <a:pt x="463950" y="125312"/>
                    <a:pt x="415552" y="231178"/>
                    <a:pt x="349250" y="294716"/>
                  </a:cubicBezTo>
                  <a:cubicBezTo>
                    <a:pt x="282948" y="231178"/>
                    <a:pt x="234550" y="125475"/>
                    <a:pt x="218592" y="0"/>
                  </a:cubicBezTo>
                  <a:cubicBezTo>
                    <a:pt x="196159" y="175825"/>
                    <a:pt x="110024" y="313379"/>
                    <a:pt x="0" y="349250"/>
                  </a:cubicBezTo>
                  <a:cubicBezTo>
                    <a:pt x="110024" y="385121"/>
                    <a:pt x="196159" y="522675"/>
                    <a:pt x="218592" y="698500"/>
                  </a:cubicBezTo>
                  <a:cubicBezTo>
                    <a:pt x="234550" y="573188"/>
                    <a:pt x="282948" y="467322"/>
                    <a:pt x="349250" y="403784"/>
                  </a:cubicBezTo>
                  <a:cubicBezTo>
                    <a:pt x="415552" y="467322"/>
                    <a:pt x="463950" y="573025"/>
                    <a:pt x="479908" y="698500"/>
                  </a:cubicBezTo>
                  <a:cubicBezTo>
                    <a:pt x="502341" y="522675"/>
                    <a:pt x="588476" y="385121"/>
                    <a:pt x="698500" y="349250"/>
                  </a:cubicBez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44450"/>
              <a:ext cx="546100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28700" y="9554541"/>
            <a:ext cx="5408384" cy="289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lang="en-US" sz="1000" spc="162">
                <a:gradFill flip="none" rotWithShape="1">
                  <a:gsLst>
                    <a:gs pos="0">
                      <a:srgbClr val="9199A1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ROBOTICS FUNDAMENTALS • SESSION 01 / 04 • THURSDAY, 10 SEPT 2026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217D8344-61D3-D3F9-A974-8124CD7CE65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8330" y="1047884"/>
            <a:ext cx="7780970" cy="8210416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 rot="5400000">
            <a:off x="9276804" y="758404"/>
            <a:ext cx="1711929" cy="1788014"/>
            <a:chOff x="0" y="0"/>
            <a:chExt cx="571500" cy="5969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5312322">
            <a:off x="15743087" y="7871964"/>
            <a:ext cx="1711929" cy="1788014"/>
            <a:chOff x="0" y="0"/>
            <a:chExt cx="571500" cy="5969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05D671DA-A724-F5B8-F4E5-E210302B12B9}"/>
              </a:ext>
            </a:extLst>
          </p:cNvPr>
          <p:cNvSpPr/>
          <p:nvPr/>
        </p:nvSpPr>
        <p:spPr>
          <a:xfrm>
            <a:off x="1028700" y="533400"/>
            <a:ext cx="5461000" cy="330200"/>
          </a:xfrm>
          <a:prstGeom prst="roundRect">
            <a:avLst/>
          </a:prstGeom>
          <a:solidFill>
            <a:srgbClr val="0A0A0C"/>
          </a:solidFill>
          <a:ln w="1524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en-US" sz="1000" b="1">
                <a:solidFill>
                  <a:srgbClr val="F59E0B"/>
                </a:solidFill>
                <a:latin typeface="Segoe UI" panose="020B0502040204020203" pitchFamily="34" charset="0"/>
              </a:rPr>
              <a:t>⚡ QUICK CHALLENGE 08 • CAPSTONE ARCHITECTURE</a:t>
            </a:r>
            <a:endParaRPr lang="fr-FR" sz="1000" b="1">
              <a:solidFill>
                <a:srgbClr val="F59E0B"/>
              </a:solidFill>
              <a:latin typeface="Segoe UI" panose="020B0502040204020203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B8016B7B-7DFE-B762-340F-0ADC2D01821E}"/>
              </a:ext>
            </a:extLst>
          </p:cNvPr>
          <p:cNvSpPr txBox="1"/>
          <p:nvPr/>
        </p:nvSpPr>
        <p:spPr>
          <a:xfrm>
            <a:off x="1028700" y="1206500"/>
            <a:ext cx="8178800" cy="430887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500" b="1">
                <a:solidFill>
                  <a:srgbClr val="FFFFFF"/>
                </a:solidFill>
                <a:latin typeface="Segoe UI Bold"/>
              </a:rPr>
              <a:t>CAPSTONE DRIVETRAIN SELECTION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4DF0E7BB-8784-0E74-87AD-571E31E7868D}"/>
              </a:ext>
            </a:extLst>
          </p:cNvPr>
          <p:cNvSpPr txBox="1"/>
          <p:nvPr/>
        </p:nvSpPr>
        <p:spPr>
          <a:xfrm>
            <a:off x="1028700" y="1905000"/>
            <a:ext cx="8178800" cy="44627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300">
                <a:solidFill>
                  <a:srgbClr val="D6DADB"/>
                </a:solidFill>
                <a:latin typeface="Segoe UI" panose="020B0502040204020203" pitchFamily="34" charset="0"/>
              </a:rPr>
              <a:t>You are building an outdoor campus delivery rover that must navigate sidewalks, climb 2-inch curb ramps, and run in light rain. Which drivetrain should you choose?</a:t>
            </a:r>
            <a:endParaRPr lang="fr-FR" sz="1300">
              <a:solidFill>
                <a:srgbClr val="D6DADB"/>
              </a:solidFill>
              <a:latin typeface="Segoe UI" panose="020B0502040204020203" pitchFamily="34" charset="0"/>
            </a:endParaRP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F431E461-E1E7-0249-5A15-F760126A722A}"/>
              </a:ext>
            </a:extLst>
          </p:cNvPr>
          <p:cNvSpPr/>
          <p:nvPr/>
        </p:nvSpPr>
        <p:spPr>
          <a:xfrm>
            <a:off x="1028700" y="3365500"/>
            <a:ext cx="4000500" cy="1206500"/>
          </a:xfrm>
          <a:prstGeom prst="roundRect">
            <a:avLst/>
          </a:prstGeom>
          <a:solidFill>
            <a:srgbClr val="1A1D21"/>
          </a:solidFill>
          <a:ln w="15240">
            <a:solidFill>
              <a:srgbClr val="3C42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 algn="ctr"/>
            <a:r>
              <a:rPr lang="fr-FR" sz="1200" b="1">
                <a:solidFill>
                  <a:srgbClr val="F59E0B"/>
                </a:solidFill>
                <a:latin typeface="Segoe UI" panose="020B0502040204020203" pitchFamily="34" charset="0"/>
              </a:rPr>
              <a:t>[A]</a:t>
            </a:r>
            <a:r>
              <a:rPr lang="fr-FR" sz="1200">
                <a:solidFill>
                  <a:srgbClr val="FFFFFF"/>
                </a:solidFill>
                <a:latin typeface="Segoe UI" panose="020B0502040204020203" pitchFamily="34" charset="0"/>
              </a:rPr>
              <a:t>  4-wheel omnidirectional Mecanum drive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2C77B3C0-EFF1-08F1-A1DB-773B611B3745}"/>
              </a:ext>
            </a:extLst>
          </p:cNvPr>
          <p:cNvSpPr/>
          <p:nvPr/>
        </p:nvSpPr>
        <p:spPr>
          <a:xfrm>
            <a:off x="5207000" y="3365500"/>
            <a:ext cx="4000500" cy="1206500"/>
          </a:xfrm>
          <a:prstGeom prst="roundRect">
            <a:avLst/>
          </a:prstGeom>
          <a:solidFill>
            <a:srgbClr val="1A1D21"/>
          </a:solidFill>
          <a:ln w="15240">
            <a:solidFill>
              <a:srgbClr val="3C42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 algn="ctr"/>
            <a:r>
              <a:rPr lang="en-US" sz="1200" b="1">
                <a:solidFill>
                  <a:srgbClr val="F59E0B"/>
                </a:solidFill>
                <a:latin typeface="Segoe UI" panose="020B0502040204020203" pitchFamily="34" charset="0"/>
              </a:rPr>
              <a:t>[B]</a:t>
            </a:r>
            <a:r>
              <a:rPr lang="en-US" sz="1200">
                <a:solidFill>
                  <a:srgbClr val="FFFFFF"/>
                </a:solidFill>
                <a:latin typeface="Segoe UI" panose="020B0502040204020203" pitchFamily="34" charset="0"/>
              </a:rPr>
              <a:t>  Differential drive with large pneumatic rubber tires and rocker suspension</a:t>
            </a:r>
            <a:endParaRPr lang="fr-FR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EAA2F170-9E67-2FF1-69CD-6E3373F1C0FF}"/>
              </a:ext>
            </a:extLst>
          </p:cNvPr>
          <p:cNvSpPr/>
          <p:nvPr/>
        </p:nvSpPr>
        <p:spPr>
          <a:xfrm>
            <a:off x="1028700" y="4762500"/>
            <a:ext cx="4000500" cy="1206500"/>
          </a:xfrm>
          <a:prstGeom prst="roundRect">
            <a:avLst/>
          </a:prstGeom>
          <a:solidFill>
            <a:srgbClr val="1A1D21"/>
          </a:solidFill>
          <a:ln w="15240">
            <a:solidFill>
              <a:srgbClr val="3C42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 algn="ctr"/>
            <a:r>
              <a:rPr lang="en-US" sz="1200" b="1">
                <a:solidFill>
                  <a:srgbClr val="F59E0B"/>
                </a:solidFill>
                <a:latin typeface="Segoe UI" panose="020B0502040204020203" pitchFamily="34" charset="0"/>
              </a:rPr>
              <a:t>[C]</a:t>
            </a:r>
            <a:r>
              <a:rPr lang="en-US" sz="1200">
                <a:solidFill>
                  <a:srgbClr val="FFFFFF"/>
                </a:solidFill>
                <a:latin typeface="Segoe UI" panose="020B0502040204020203" pitchFamily="34" charset="0"/>
              </a:rPr>
              <a:t>  Single-steered caster tricycle drive with hard plastic rollers</a:t>
            </a:r>
            <a:endParaRPr lang="fr-FR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ED55A047-80A7-C073-86E9-20C2BB8FEFC3}"/>
              </a:ext>
            </a:extLst>
          </p:cNvPr>
          <p:cNvSpPr/>
          <p:nvPr/>
        </p:nvSpPr>
        <p:spPr>
          <a:xfrm>
            <a:off x="5207000" y="4762500"/>
            <a:ext cx="4000500" cy="1206500"/>
          </a:xfrm>
          <a:prstGeom prst="roundRect">
            <a:avLst/>
          </a:prstGeom>
          <a:solidFill>
            <a:srgbClr val="1A1D21"/>
          </a:solidFill>
          <a:ln w="15240">
            <a:solidFill>
              <a:srgbClr val="3C42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 algn="ctr"/>
            <a:r>
              <a:rPr lang="fr-FR" sz="1200" b="1">
                <a:solidFill>
                  <a:srgbClr val="F59E0B"/>
                </a:solidFill>
                <a:latin typeface="Segoe UI" panose="020B0502040204020203" pitchFamily="34" charset="0"/>
              </a:rPr>
              <a:t>[D]</a:t>
            </a:r>
            <a:r>
              <a:rPr lang="fr-FR" sz="1200">
                <a:solidFill>
                  <a:srgbClr val="FFFFFF"/>
                </a:solidFill>
                <a:latin typeface="Segoe UI" panose="020B0502040204020203" pitchFamily="34" charset="0"/>
              </a:rPr>
              <a:t>  3-wheel holonomic omni-drive</a:t>
            </a: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E165DBB5-1732-FA7D-0E32-133D66D63816}"/>
              </a:ext>
            </a:extLst>
          </p:cNvPr>
          <p:cNvSpPr/>
          <p:nvPr/>
        </p:nvSpPr>
        <p:spPr>
          <a:xfrm>
            <a:off x="1028700" y="6286500"/>
            <a:ext cx="8178800" cy="1397000"/>
          </a:xfrm>
          <a:prstGeom prst="roundRect">
            <a:avLst/>
          </a:prstGeom>
          <a:solidFill>
            <a:srgbClr val="0F2319"/>
          </a:solidFill>
          <a:ln w="254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101600" rIns="203200" rtlCol="0" anchor="ctr"/>
          <a:lstStyle/>
          <a:p>
            <a:pPr algn="ctr"/>
            <a:r>
              <a:rPr lang="fr-FR" sz="1350" b="1">
                <a:solidFill>
                  <a:srgbClr val="10B981"/>
                </a:solidFill>
                <a:latin typeface="Segoe UI" panose="020B0502040204020203" pitchFamily="34" charset="0"/>
              </a:rPr>
              <a:t>✓ CORRECT ANSWER: [B]
Mecanum and omni wheels slip on wet surfaces, get jammed with outdoor debris, and cannot climb curbs. Large pneumatic tires with differential drive provide superior outdoor traction. [Ref: Angeles Ch. 1 &amp; McGough Ch. 5]</a:t>
            </a:r>
          </a:p>
        </p:txBody>
      </p:sp>
    </p:spTree>
    <p:extLst>
      <p:ext uri="{BB962C8B-B14F-4D97-AF65-F5344CB8AC3E}">
        <p14:creationId xmlns:p14="http://schemas.microsoft.com/office/powerpoint/2010/main" val="2552718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hecker/>
      </p:transition>
    </mc:Choice>
    <mc:Fallback xmlns="">
      <p:transition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/>
      <p:bldP spid="27" grpId="0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920248" y="1076888"/>
            <a:ext cx="1053933" cy="370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4"/>
              </a:lnSpc>
            </a:pPr>
            <a:r>
              <a:rPr lang="en-US" sz="1200" b="1" spc="-43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JARVIS ROBOTICS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313819" y="1028700"/>
            <a:ext cx="437869" cy="437869"/>
            <a:chOff x="0" y="0"/>
            <a:chExt cx="698500" cy="6985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500" y="349250"/>
                  </a:moveTo>
                  <a:cubicBezTo>
                    <a:pt x="588476" y="313379"/>
                    <a:pt x="502341" y="175825"/>
                    <a:pt x="479908" y="0"/>
                  </a:cubicBezTo>
                  <a:cubicBezTo>
                    <a:pt x="463950" y="125312"/>
                    <a:pt x="415552" y="231178"/>
                    <a:pt x="349250" y="294716"/>
                  </a:cubicBezTo>
                  <a:cubicBezTo>
                    <a:pt x="282948" y="231178"/>
                    <a:pt x="234550" y="125475"/>
                    <a:pt x="218592" y="0"/>
                  </a:cubicBezTo>
                  <a:cubicBezTo>
                    <a:pt x="196159" y="175825"/>
                    <a:pt x="110024" y="313379"/>
                    <a:pt x="0" y="349250"/>
                  </a:cubicBezTo>
                  <a:cubicBezTo>
                    <a:pt x="110024" y="385121"/>
                    <a:pt x="196159" y="522675"/>
                    <a:pt x="218592" y="698500"/>
                  </a:cubicBezTo>
                  <a:cubicBezTo>
                    <a:pt x="234550" y="573188"/>
                    <a:pt x="282948" y="467322"/>
                    <a:pt x="349250" y="403784"/>
                  </a:cubicBezTo>
                  <a:cubicBezTo>
                    <a:pt x="415552" y="467322"/>
                    <a:pt x="463950" y="573025"/>
                    <a:pt x="479908" y="698500"/>
                  </a:cubicBezTo>
                  <a:cubicBezTo>
                    <a:pt x="502341" y="522675"/>
                    <a:pt x="588476" y="385121"/>
                    <a:pt x="698500" y="349250"/>
                  </a:cubicBez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76200" y="44450"/>
              <a:ext cx="546100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539999" y="1460500"/>
            <a:ext cx="13208000" cy="625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3000" b="1" spc="-168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COMMON BEGINNER TRAPS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32000" y="2857500"/>
            <a:ext cx="6604000" cy="2937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450" b="1">
                <a:gradFill flip="none" rotWithShape="1">
                  <a:gsLst>
                    <a:gs pos="0">
                      <a:srgbClr val="38BDF8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THE 3 BIGGEST HARDWARE TRAPS
1. Direct Motor Drive: Connecting arms directly to motor output shafts without gearboxes or bearings. Destroys motor bearings from radial bending loads!
2. Sizing Motors by Mass Alone: Forgetting that torque is Force × Distance. A tiny 100g gripper at 1-meter reach demands huge torque!
3. Floating Grounds: Failing to tie all logic, driver, and battery grounds together, causing floating signals and erratic noise.
💡 Real-World Trap: Spending 3 weeks debugging firmware when the issue was an ungrounded battery rail!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39999" y="2133600"/>
            <a:ext cx="13208000" cy="207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 b="1" spc="-53">
                <a:gradFill flip="none" rotWithShape="1">
                  <a:gsLst>
                    <a:gs pos="0">
                      <a:srgbClr val="F59E0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Semi-Bold"/>
                <a:cs typeface="Pattanakarn Semi-Bold"/>
                <a:sym typeface="Pattanakarn Semi-Bold"/>
              </a:rPr>
              <a:t>3 MISTAKES TO AVOID AND HOW TO ENGINEER AROUND THEM</a:t>
            </a:r>
          </a:p>
        </p:txBody>
      </p:sp>
      <p:sp>
        <p:nvSpPr>
          <p:cNvPr id="9" name="AutoShape 9"/>
          <p:cNvSpPr/>
          <p:nvPr/>
        </p:nvSpPr>
        <p:spPr>
          <a:xfrm>
            <a:off x="7958310" y="2032000"/>
            <a:ext cx="2371381" cy="0"/>
          </a:xfrm>
          <a:prstGeom prst="line">
            <a:avLst/>
          </a:prstGeom>
          <a:ln w="57150" cap="flat">
            <a:solidFill>
              <a:srgbClr val="FFFFFF">
                <a:alpha val="87843"/>
              </a:srgbClr>
            </a:solidFill>
            <a:prstDash val="lgDash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9652000" y="2857500"/>
            <a:ext cx="6604000" cy="2672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450" b="1">
                <a:gradFill flip="none" rotWithShape="1">
                  <a:gsLst>
                    <a:gs pos="0">
                      <a:srgbClr val="38BDF8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THE ENGINEERING SOLUTIONS
1. Dual Bearing Support: Always isolate motor shafts from radial bending loads using pillow block or deep-groove ball bearings.
2. 2.5× Safety Factor: Calculate worst-case static torque (τ = F × L) and multiply by 2.5 to overcome joint friction and acceleration inertia.
3. Solid Star Ground: Tie all battery negatives, driver grounds, and MCU ground pins to a single central star-point grounding plane.
💡 Engineering Rule: Hardware reliability begins with solid electrical and mechanical grounding.</a:t>
            </a:r>
          </a:p>
        </p:txBody>
      </p:sp>
      <p:grpSp>
        <p:nvGrpSpPr>
          <p:cNvPr id="11" name="Group 11" hidden="1"/>
          <p:cNvGrpSpPr/>
          <p:nvPr/>
        </p:nvGrpSpPr>
        <p:grpSpPr>
          <a:xfrm>
            <a:off x="14777515" y="2229225"/>
            <a:ext cx="5863909" cy="2348419"/>
            <a:chOff x="0" y="0"/>
            <a:chExt cx="1544404" cy="618514"/>
          </a:xfrm>
        </p:grpSpPr>
        <p:sp>
          <p:nvSpPr>
            <p:cNvPr id="12" name="Freeform 12" hidden="1"/>
            <p:cNvSpPr/>
            <p:nvPr/>
          </p:nvSpPr>
          <p:spPr>
            <a:xfrm>
              <a:off x="0" y="0"/>
              <a:ext cx="1544404" cy="618514"/>
            </a:xfrm>
            <a:custGeom>
              <a:avLst/>
              <a:gdLst/>
              <a:ahLst/>
              <a:cxnLst/>
              <a:rect l="l" t="t" r="r" b="b"/>
              <a:pathLst>
                <a:path w="1544404" h="618514">
                  <a:moveTo>
                    <a:pt x="0" y="0"/>
                  </a:moveTo>
                  <a:lnTo>
                    <a:pt x="1544404" y="0"/>
                  </a:lnTo>
                  <a:lnTo>
                    <a:pt x="1544404" y="618514"/>
                  </a:lnTo>
                  <a:lnTo>
                    <a:pt x="0" y="618514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3" name="TextBox 13" hidden="1"/>
            <p:cNvSpPr txBox="1"/>
            <p:nvPr/>
          </p:nvSpPr>
          <p:spPr>
            <a:xfrm>
              <a:off x="0" y="38100"/>
              <a:ext cx="1544404" cy="5804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4" name="Group 14" hidden="1"/>
          <p:cNvGrpSpPr/>
          <p:nvPr/>
        </p:nvGrpSpPr>
        <p:grpSpPr>
          <a:xfrm>
            <a:off x="-2354965" y="2208445"/>
            <a:ext cx="5863909" cy="2348419"/>
            <a:chOff x="0" y="0"/>
            <a:chExt cx="1544404" cy="618514"/>
          </a:xfrm>
        </p:grpSpPr>
        <p:sp>
          <p:nvSpPr>
            <p:cNvPr id="15" name="Freeform 15" hidden="1"/>
            <p:cNvSpPr/>
            <p:nvPr/>
          </p:nvSpPr>
          <p:spPr>
            <a:xfrm>
              <a:off x="0" y="0"/>
              <a:ext cx="1544404" cy="618514"/>
            </a:xfrm>
            <a:custGeom>
              <a:avLst/>
              <a:gdLst/>
              <a:ahLst/>
              <a:cxnLst/>
              <a:rect l="l" t="t" r="r" b="b"/>
              <a:pathLst>
                <a:path w="1544404" h="618514">
                  <a:moveTo>
                    <a:pt x="0" y="0"/>
                  </a:moveTo>
                  <a:lnTo>
                    <a:pt x="1544404" y="0"/>
                  </a:lnTo>
                  <a:lnTo>
                    <a:pt x="1544404" y="618514"/>
                  </a:lnTo>
                  <a:lnTo>
                    <a:pt x="0" y="618514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6" name="TextBox 16" hidden="1"/>
            <p:cNvSpPr txBox="1"/>
            <p:nvPr/>
          </p:nvSpPr>
          <p:spPr>
            <a:xfrm>
              <a:off x="0" y="38100"/>
              <a:ext cx="1544404" cy="5804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7" name="AutoShape 17"/>
          <p:cNvSpPr/>
          <p:nvPr/>
        </p:nvSpPr>
        <p:spPr>
          <a:xfrm>
            <a:off x="-607719" y="9111523"/>
            <a:ext cx="19254369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18"/>
          <p:cNvSpPr txBox="1"/>
          <p:nvPr/>
        </p:nvSpPr>
        <p:spPr>
          <a:xfrm>
            <a:off x="6440434" y="9554541"/>
            <a:ext cx="5408384" cy="289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US" sz="1000" spc="162">
                <a:gradFill flip="none" rotWithShape="1">
                  <a:gsLst>
                    <a:gs pos="0">
                      <a:srgbClr val="9199A1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ROBOTICS FUNDAMENTALS • SESSION 01 / 04 • THURSDAY, 10 SEPT 2026</a:t>
            </a:r>
          </a:p>
        </p:txBody>
      </p:sp>
      <p:grpSp>
        <p:nvGrpSpPr>
          <p:cNvPr id="19" name="Group 19" hidden="1"/>
          <p:cNvGrpSpPr/>
          <p:nvPr/>
        </p:nvGrpSpPr>
        <p:grpSpPr>
          <a:xfrm rot="5400000">
            <a:off x="-721951" y="1881195"/>
            <a:ext cx="1468820" cy="1534100"/>
            <a:chOff x="0" y="0"/>
            <a:chExt cx="571500" cy="596900"/>
          </a:xfrm>
        </p:grpSpPr>
        <p:sp>
          <p:nvSpPr>
            <p:cNvPr id="20" name="Freeform 20" hidden="1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1" name="TextBox 21" hidden="1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22" name="Group 22" hidden="1"/>
          <p:cNvGrpSpPr/>
          <p:nvPr/>
        </p:nvGrpSpPr>
        <p:grpSpPr>
          <a:xfrm rot="-5400000">
            <a:off x="2256675" y="3391574"/>
            <a:ext cx="1468820" cy="1534100"/>
            <a:chOff x="0" y="0"/>
            <a:chExt cx="571500" cy="596900"/>
          </a:xfrm>
        </p:grpSpPr>
        <p:sp>
          <p:nvSpPr>
            <p:cNvPr id="23" name="Freeform 23" hidden="1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4" name="TextBox 24" hidden="1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25" name="Group 25" hidden="1"/>
          <p:cNvGrpSpPr/>
          <p:nvPr/>
        </p:nvGrpSpPr>
        <p:grpSpPr>
          <a:xfrm rot="5400000">
            <a:off x="14563758" y="1922755"/>
            <a:ext cx="1468820" cy="1534100"/>
            <a:chOff x="0" y="0"/>
            <a:chExt cx="571500" cy="596900"/>
          </a:xfrm>
        </p:grpSpPr>
        <p:sp>
          <p:nvSpPr>
            <p:cNvPr id="26" name="Freeform 26" hidden="1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7" name="TextBox 27" hidden="1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28" name="Group 28" hidden="1"/>
          <p:cNvGrpSpPr/>
          <p:nvPr/>
        </p:nvGrpSpPr>
        <p:grpSpPr>
          <a:xfrm rot="-5400000">
            <a:off x="17542385" y="3433135"/>
            <a:ext cx="1468820" cy="1534100"/>
            <a:chOff x="0" y="0"/>
            <a:chExt cx="571500" cy="596900"/>
          </a:xfrm>
        </p:grpSpPr>
        <p:sp>
          <p:nvSpPr>
            <p:cNvPr id="29" name="Freeform 29" hidden="1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30" name="TextBox 30" hidden="1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6817BB66-2CBB-4680-1502-E34BC16BC3AC}"/>
              </a:ext>
            </a:extLst>
          </p:cNvPr>
          <p:cNvSpPr/>
          <p:nvPr/>
        </p:nvSpPr>
        <p:spPr>
          <a:xfrm>
            <a:off x="1028700" y="533400"/>
            <a:ext cx="5461000" cy="330200"/>
          </a:xfrm>
          <a:prstGeom prst="roundRect">
            <a:avLst/>
          </a:prstGeom>
          <a:solidFill>
            <a:srgbClr val="0A0A0C"/>
          </a:solidFill>
          <a:ln w="15240">
            <a:solidFill>
              <a:srgbClr val="D6DA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en-US" sz="1000" b="1">
                <a:solidFill>
                  <a:srgbClr val="D6DADB"/>
                </a:solidFill>
                <a:latin typeface="Segoe UI" panose="020B0502040204020203" pitchFamily="34" charset="0"/>
              </a:rPr>
              <a:t>BEST PRACTICES • PITFALLS TO AVOID</a:t>
            </a:r>
            <a:endParaRPr lang="fr-FR" sz="1000" b="1">
              <a:solidFill>
                <a:srgbClr val="D6DADB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9529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hecker/>
      </p:transition>
    </mc:Choice>
    <mc:Fallback xmlns="">
      <p:transition>
        <p:checker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206500"/>
            <a:ext cx="5270500" cy="611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2500" b="1" spc="-168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COURSE REFERENCES &amp; LITERATURE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699" y="2311399"/>
            <a:ext cx="8064500" cy="4005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15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1. Prof. Jorge Angeles — 4th Edition (Springer, 610 pp.)
   "Fundamentals of Robotic Mechanical Systems: Theory, Methods, and Algorithms"
   • Core Reference: Kinematic chains, forward/inverse matrix transforms, Jacobians &amp; trajectory.
2. Prof. Jorge Angeles — 2nd Edition (Springer-Verlag, Ref: 252.pdf)
   "Fundamentals of Robotic Mechanical Systems: Theory, Methods, and Algorithms"
   • Core Reference: Rigid-body rotations, degree-of-freedom theory, gear ratios &amp; cantilever torque.
3. Prof. K. Santhosh Priya — SITAMS Autonomous (2025, 197 pp.)
   "Automation and Robotics (18MEC325 Course Lecture Notes)"
   • Core Reference: Industrial manipulator anatomy, SCARA/Articulated joints &amp; actuators.
4. Prof. Jeff McGough — Release 1.4 (SDSMT, 582 pp.)
   "Robotics: Concepts, Simulation and System Integration"
   • Core Reference: Embodied AI loops, H-bridge motor drivers, Gazebo digital twins &amp; sim-to-real.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930400"/>
            <a:ext cx="7032529" cy="205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100" b="1" spc="-53">
                <a:gradFill flip="none" rotWithShape="1">
                  <a:gsLst>
                    <a:gs pos="0">
                      <a:srgbClr val="F59E0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Semi-Bold"/>
                <a:cs typeface="Pattanakarn Semi-Bold"/>
                <a:sym typeface="Pattanakarn Semi-Bold"/>
              </a:rPr>
              <a:t>4 CURATED FOUNDATIONAL TEXTS SUPPORTING THIS WORKSHOP</a:t>
            </a:r>
          </a:p>
        </p:txBody>
      </p:sp>
      <p:sp>
        <p:nvSpPr>
          <p:cNvPr id="5" name="AutoShape 5"/>
          <p:cNvSpPr/>
          <p:nvPr/>
        </p:nvSpPr>
        <p:spPr>
          <a:xfrm>
            <a:off x="1028700" y="1803400"/>
            <a:ext cx="2371381" cy="0"/>
          </a:xfrm>
          <a:prstGeom prst="line">
            <a:avLst/>
          </a:prstGeom>
          <a:ln w="57150" cap="flat">
            <a:solidFill>
              <a:srgbClr val="FFFFFF">
                <a:alpha val="87843"/>
              </a:srgbClr>
            </a:solidFill>
            <a:prstDash val="lgDash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-607719" y="9111523"/>
            <a:ext cx="19254369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12166421" y="1606376"/>
            <a:ext cx="6481934" cy="10756641"/>
            <a:chOff x="0" y="0"/>
            <a:chExt cx="1707176" cy="28330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07176" cy="2833025"/>
            </a:xfrm>
            <a:custGeom>
              <a:avLst/>
              <a:gdLst/>
              <a:ahLst/>
              <a:cxnLst/>
              <a:rect l="l" t="t" r="r" b="b"/>
              <a:pathLst>
                <a:path w="1707176" h="2833025">
                  <a:moveTo>
                    <a:pt x="0" y="0"/>
                  </a:moveTo>
                  <a:lnTo>
                    <a:pt x="1707176" y="0"/>
                  </a:lnTo>
                  <a:lnTo>
                    <a:pt x="1707176" y="2833025"/>
                  </a:lnTo>
                  <a:lnTo>
                    <a:pt x="0" y="2833025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1707176" cy="2794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635129" y="1076888"/>
            <a:ext cx="153927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4"/>
              </a:lnSpc>
            </a:pPr>
            <a:r>
              <a:rPr lang="en-US" sz="1200" b="1" spc="-43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JARVIS ROBOTICS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28700" y="1028700"/>
            <a:ext cx="437869" cy="437869"/>
            <a:chOff x="0" y="0"/>
            <a:chExt cx="698500" cy="6985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500" y="349250"/>
                  </a:moveTo>
                  <a:cubicBezTo>
                    <a:pt x="588476" y="313379"/>
                    <a:pt x="502341" y="175825"/>
                    <a:pt x="479908" y="0"/>
                  </a:cubicBezTo>
                  <a:cubicBezTo>
                    <a:pt x="463950" y="125312"/>
                    <a:pt x="415552" y="231178"/>
                    <a:pt x="349250" y="294716"/>
                  </a:cubicBezTo>
                  <a:cubicBezTo>
                    <a:pt x="282948" y="231178"/>
                    <a:pt x="234550" y="125475"/>
                    <a:pt x="218592" y="0"/>
                  </a:cubicBezTo>
                  <a:cubicBezTo>
                    <a:pt x="196159" y="175825"/>
                    <a:pt x="110024" y="313379"/>
                    <a:pt x="0" y="349250"/>
                  </a:cubicBezTo>
                  <a:cubicBezTo>
                    <a:pt x="110024" y="385121"/>
                    <a:pt x="196159" y="522675"/>
                    <a:pt x="218592" y="698500"/>
                  </a:cubicBezTo>
                  <a:cubicBezTo>
                    <a:pt x="234550" y="573188"/>
                    <a:pt x="282948" y="467322"/>
                    <a:pt x="349250" y="403784"/>
                  </a:cubicBezTo>
                  <a:cubicBezTo>
                    <a:pt x="415552" y="467322"/>
                    <a:pt x="463950" y="573025"/>
                    <a:pt x="479908" y="698500"/>
                  </a:cubicBezTo>
                  <a:cubicBezTo>
                    <a:pt x="502341" y="522675"/>
                    <a:pt x="588476" y="385121"/>
                    <a:pt x="698500" y="349250"/>
                  </a:cubicBez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44450"/>
              <a:ext cx="546100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28700" y="9554541"/>
            <a:ext cx="5408384" cy="289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lang="en-US" sz="1000" spc="162">
                <a:gradFill flip="none" rotWithShape="1">
                  <a:gsLst>
                    <a:gs pos="0">
                      <a:srgbClr val="9199A1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ROBOTICS FUNDAMENTALS • SESSION 01 / 04 • THURSDAY, 10 SEPT 2026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022504EF-65FA-F935-67C3-A12B4F02C4C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8330" y="1047884"/>
            <a:ext cx="7780970" cy="8210416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 rot="5400000">
            <a:off x="9276804" y="758404"/>
            <a:ext cx="1711929" cy="1788014"/>
            <a:chOff x="0" y="0"/>
            <a:chExt cx="571500" cy="5969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5312322">
            <a:off x="15743087" y="7871964"/>
            <a:ext cx="1711929" cy="1788014"/>
            <a:chOff x="0" y="0"/>
            <a:chExt cx="571500" cy="5969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192285D5-BDEF-F84D-0B02-0AC3FB51929B}"/>
              </a:ext>
            </a:extLst>
          </p:cNvPr>
          <p:cNvSpPr/>
          <p:nvPr/>
        </p:nvSpPr>
        <p:spPr>
          <a:xfrm>
            <a:off x="1028700" y="533400"/>
            <a:ext cx="5461000" cy="330200"/>
          </a:xfrm>
          <a:prstGeom prst="roundRect">
            <a:avLst/>
          </a:prstGeom>
          <a:solidFill>
            <a:srgbClr val="0A0A0C"/>
          </a:solidFill>
          <a:ln w="1524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fr-FR" sz="1000" b="1">
                <a:solidFill>
                  <a:srgbClr val="F59E0B"/>
                </a:solidFill>
                <a:latin typeface="Segoe UI" panose="020B0502040204020203" pitchFamily="34" charset="0"/>
              </a:rPr>
              <a:t>⚡ ACADEMIC REFERENCES &amp; RECOMMENDED LITERATURE</a:t>
            </a:r>
          </a:p>
        </p:txBody>
      </p:sp>
    </p:spTree>
    <p:extLst>
      <p:ext uri="{BB962C8B-B14F-4D97-AF65-F5344CB8AC3E}">
        <p14:creationId xmlns:p14="http://schemas.microsoft.com/office/powerpoint/2010/main" val="1319571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hecker/>
      </p:transition>
    </mc:Choice>
    <mc:Fallback xmlns="">
      <p:transition>
        <p:checker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213599" y="952500"/>
            <a:ext cx="10033000" cy="619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600"/>
              </a:lnSpc>
            </a:pPr>
            <a:r>
              <a:rPr lang="en-US" sz="2800" b="1" spc="-168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KEY TAKEAWAYS</a:t>
            </a:r>
          </a:p>
        </p:txBody>
      </p:sp>
      <p:sp>
        <p:nvSpPr>
          <p:cNvPr id="3" name="AutoShape 3"/>
          <p:cNvSpPr/>
          <p:nvPr/>
        </p:nvSpPr>
        <p:spPr>
          <a:xfrm>
            <a:off x="-607719" y="9111523"/>
            <a:ext cx="19254369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7213600" y="1524000"/>
            <a:ext cx="100330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00"/>
              </a:lnSpc>
            </a:pPr>
            <a:r>
              <a:rPr lang="en-US" sz="1150" spc="162">
                <a:gradFill flip="none" rotWithShape="1">
                  <a:gsLst>
                    <a:gs pos="0">
                      <a:srgbClr val="F59E0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Light"/>
                <a:cs typeface="Pattanakarn Light"/>
                <a:sym typeface="Pattanakarn Light"/>
              </a:rPr>
              <a:t>THE 3 GOLDEN RULES OF ROBOTICS ENGINEERING</a:t>
            </a:r>
          </a:p>
        </p:txBody>
      </p:sp>
      <p:grpSp>
        <p:nvGrpSpPr>
          <p:cNvPr id="5" name="Group 5" hidden="1"/>
          <p:cNvGrpSpPr/>
          <p:nvPr/>
        </p:nvGrpSpPr>
        <p:grpSpPr>
          <a:xfrm>
            <a:off x="-2342376" y="-4198081"/>
            <a:ext cx="6121579" cy="10756641"/>
            <a:chOff x="0" y="0"/>
            <a:chExt cx="1612268" cy="2833025"/>
          </a:xfrm>
        </p:grpSpPr>
        <p:sp>
          <p:nvSpPr>
            <p:cNvPr id="6" name="Freeform 6" hidden="1"/>
            <p:cNvSpPr/>
            <p:nvPr/>
          </p:nvSpPr>
          <p:spPr>
            <a:xfrm>
              <a:off x="0" y="0"/>
              <a:ext cx="1612268" cy="2833025"/>
            </a:xfrm>
            <a:custGeom>
              <a:avLst/>
              <a:gdLst/>
              <a:ahLst/>
              <a:cxnLst/>
              <a:rect l="l" t="t" r="r" b="b"/>
              <a:pathLst>
                <a:path w="1612268" h="2833025">
                  <a:moveTo>
                    <a:pt x="0" y="0"/>
                  </a:moveTo>
                  <a:lnTo>
                    <a:pt x="1612268" y="0"/>
                  </a:lnTo>
                  <a:lnTo>
                    <a:pt x="1612268" y="2833025"/>
                  </a:lnTo>
                  <a:lnTo>
                    <a:pt x="0" y="2833025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7" name="TextBox 7" hidden="1"/>
            <p:cNvSpPr txBox="1"/>
            <p:nvPr/>
          </p:nvSpPr>
          <p:spPr>
            <a:xfrm>
              <a:off x="0" y="38100"/>
              <a:ext cx="1612268" cy="2794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213599" y="2412999"/>
            <a:ext cx="4826000" cy="776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25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Always calculate τ = F × L at maximum horizontal reach with a 2.5× safety margin before purchasing any motors.
💡 Never size by motor mass alone!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13599" y="2032000"/>
            <a:ext cx="4826000" cy="213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400" b="1" spc="-53">
                <a:gradFill flip="none" rotWithShape="1">
                  <a:gsLst>
                    <a:gs pos="0">
                      <a:srgbClr val="38BDF8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Semi-Bold"/>
                <a:cs typeface="Pattanakarn Semi-Bold"/>
                <a:sym typeface="Pattanakarn Semi-Bold"/>
              </a:rPr>
              <a:t>1. TORQUE GOVERNS ALL</a:t>
            </a:r>
          </a:p>
        </p:txBody>
      </p:sp>
      <p:sp>
        <p:nvSpPr>
          <p:cNvPr id="18" name="AutoShape 18"/>
          <p:cNvSpPr/>
          <p:nvPr/>
        </p:nvSpPr>
        <p:spPr>
          <a:xfrm>
            <a:off x="7213600" y="1930400"/>
            <a:ext cx="2531491" cy="0"/>
          </a:xfrm>
          <a:prstGeom prst="line">
            <a:avLst/>
          </a:prstGeom>
          <a:ln w="57150" cap="flat">
            <a:solidFill>
              <a:srgbClr val="FFFFFF">
                <a:alpha val="87843"/>
              </a:srgbClr>
            </a:solidFill>
            <a:prstDash val="lgDash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12445999" y="2412999"/>
            <a:ext cx="4826000" cy="776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25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Stiffness scales with height cubed (h³). A large hollow aluminum tube is 8× stiffer than a heavy solid steel rod.
💡 Optimize profile shape first!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445999" y="2032000"/>
            <a:ext cx="4826000" cy="213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400" b="1" spc="-53">
                <a:gradFill flip="none" rotWithShape="1">
                  <a:gsLst>
                    <a:gs pos="0">
                      <a:srgbClr val="38BDF8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Semi-Bold"/>
                <a:cs typeface="Pattanakarn Semi-Bold"/>
                <a:sym typeface="Pattanakarn Semi-Bold"/>
              </a:rPr>
              <a:t>2. GEOMETRY BEATS ALLOY</a:t>
            </a:r>
          </a:p>
        </p:txBody>
      </p:sp>
      <p:sp>
        <p:nvSpPr>
          <p:cNvPr id="21" name="AutoShape 21"/>
          <p:cNvSpPr/>
          <p:nvPr/>
        </p:nvSpPr>
        <p:spPr>
          <a:xfrm>
            <a:off x="12446000" y="1930400"/>
            <a:ext cx="2531491" cy="0"/>
          </a:xfrm>
          <a:prstGeom prst="line">
            <a:avLst/>
          </a:prstGeom>
          <a:ln w="57150" cap="flat">
            <a:solidFill>
              <a:srgbClr val="FFFFFF">
                <a:alpha val="87843"/>
              </a:srgbClr>
            </a:solidFill>
            <a:prstDash val="lgDash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7213600" y="5778499"/>
            <a:ext cx="10033000" cy="517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250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Feed real sensor data back to microcontrollers. Open-loop robots fail in changing real-world conditions.
💡 Close the loop with encoders &amp; PID!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213599" y="5397500"/>
            <a:ext cx="10033000" cy="213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400" b="1" spc="-53">
                <a:gradFill flip="none" rotWithShape="1">
                  <a:gsLst>
                    <a:gs pos="0">
                      <a:srgbClr val="38BDF8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Semi-Bold"/>
                <a:cs typeface="Pattanakarn Semi-Bold"/>
                <a:sym typeface="Pattanakarn Semi-Bold"/>
              </a:rPr>
              <a:t>3. CLOSED-LOOP IS MANDATORY</a:t>
            </a:r>
          </a:p>
        </p:txBody>
      </p:sp>
      <p:sp>
        <p:nvSpPr>
          <p:cNvPr id="24" name="AutoShape 24"/>
          <p:cNvSpPr/>
          <p:nvPr/>
        </p:nvSpPr>
        <p:spPr>
          <a:xfrm>
            <a:off x="7213600" y="5295900"/>
            <a:ext cx="2531491" cy="0"/>
          </a:xfrm>
          <a:prstGeom prst="line">
            <a:avLst/>
          </a:prstGeom>
          <a:ln w="57150" cap="flat">
            <a:solidFill>
              <a:srgbClr val="FFFFFF">
                <a:alpha val="87843"/>
              </a:srgbClr>
            </a:solidFill>
            <a:prstDash val="lgDash"/>
            <a:headEnd type="none" w="sm" len="sm"/>
            <a:tailEnd type="none" w="sm" len="sm"/>
          </a:ln>
        </p:spPr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9441CFDB-48CC-1B62-408F-A1F8A8C5CA6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1180240"/>
            <a:ext cx="5023095" cy="792652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718414" y="8008473"/>
            <a:ext cx="1333079" cy="1392327"/>
            <a:chOff x="0" y="0"/>
            <a:chExt cx="571500" cy="5969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10800000">
            <a:off x="5009804" y="908442"/>
            <a:ext cx="1289396" cy="1346702"/>
            <a:chOff x="0" y="0"/>
            <a:chExt cx="571500" cy="5969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5" name="TextBox 15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0B686237-859A-1207-5AC5-CAC123C71C08}"/>
              </a:ext>
            </a:extLst>
          </p:cNvPr>
          <p:cNvSpPr/>
          <p:nvPr/>
        </p:nvSpPr>
        <p:spPr>
          <a:xfrm>
            <a:off x="1028700" y="533400"/>
            <a:ext cx="5461000" cy="330200"/>
          </a:xfrm>
          <a:prstGeom prst="roundRect">
            <a:avLst/>
          </a:prstGeom>
          <a:solidFill>
            <a:srgbClr val="0A0A0C"/>
          </a:solidFill>
          <a:ln w="15240">
            <a:solidFill>
              <a:srgbClr val="D6DA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en-US" sz="1000" b="1">
                <a:solidFill>
                  <a:srgbClr val="D6DADB"/>
                </a:solidFill>
                <a:latin typeface="Segoe UI" panose="020B0502040204020203" pitchFamily="34" charset="0"/>
              </a:rPr>
              <a:t>SUMMARY • SESSION 01 ACTION PLAN</a:t>
            </a:r>
            <a:endParaRPr lang="fr-FR" sz="1000" b="1">
              <a:solidFill>
                <a:srgbClr val="D6DADB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660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hecker/>
      </p:transition>
    </mc:Choice>
    <mc:Fallback xmlns="">
      <p:transition>
        <p:checker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607719" y="9111523"/>
            <a:ext cx="19254369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-431979" y="-234821"/>
            <a:ext cx="4284262" cy="10756641"/>
            <a:chOff x="0" y="0"/>
            <a:chExt cx="1128365" cy="28330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28365" cy="2833025"/>
            </a:xfrm>
            <a:custGeom>
              <a:avLst/>
              <a:gdLst/>
              <a:ahLst/>
              <a:cxnLst/>
              <a:rect l="l" t="t" r="r" b="b"/>
              <a:pathLst>
                <a:path w="1128365" h="2833025">
                  <a:moveTo>
                    <a:pt x="0" y="0"/>
                  </a:moveTo>
                  <a:lnTo>
                    <a:pt x="1128365" y="0"/>
                  </a:lnTo>
                  <a:lnTo>
                    <a:pt x="1128365" y="2833025"/>
                  </a:lnTo>
                  <a:lnTo>
                    <a:pt x="0" y="2833025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38100"/>
              <a:ext cx="1128365" cy="2794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907037" y="6715965"/>
            <a:ext cx="3352263" cy="604690"/>
            <a:chOff x="0" y="0"/>
            <a:chExt cx="1131541" cy="20411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31541" cy="204110"/>
            </a:xfrm>
            <a:custGeom>
              <a:avLst/>
              <a:gdLst/>
              <a:ahLst/>
              <a:cxnLst/>
              <a:rect l="l" t="t" r="r" b="b"/>
              <a:pathLst>
                <a:path w="1131541" h="204110">
                  <a:moveTo>
                    <a:pt x="0" y="0"/>
                  </a:moveTo>
                  <a:lnTo>
                    <a:pt x="1131541" y="0"/>
                  </a:lnTo>
                  <a:lnTo>
                    <a:pt x="1131541" y="204110"/>
                  </a:lnTo>
                  <a:lnTo>
                    <a:pt x="0" y="204110"/>
                  </a:lnTo>
                  <a:close/>
                </a:path>
              </a:pathLst>
            </a:custGeom>
            <a:solidFill>
              <a:srgbClr val="ECEEE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38100"/>
              <a:ext cx="1131541" cy="1660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6550792" y="6780380"/>
            <a:ext cx="630826" cy="475860"/>
            <a:chOff x="0" y="0"/>
            <a:chExt cx="189277" cy="14278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89277" cy="142780"/>
            </a:xfrm>
            <a:custGeom>
              <a:avLst/>
              <a:gdLst/>
              <a:ahLst/>
              <a:cxnLst/>
              <a:rect l="l" t="t" r="r" b="b"/>
              <a:pathLst>
                <a:path w="189277" h="142780">
                  <a:moveTo>
                    <a:pt x="0" y="0"/>
                  </a:moveTo>
                  <a:lnTo>
                    <a:pt x="189277" y="0"/>
                  </a:lnTo>
                  <a:lnTo>
                    <a:pt x="189277" y="142780"/>
                  </a:lnTo>
                  <a:lnTo>
                    <a:pt x="0" y="142780"/>
                  </a:lnTo>
                  <a:close/>
                </a:path>
              </a:pathLst>
            </a:custGeom>
            <a:gradFill rotWithShape="1">
              <a:gsLst>
                <a:gs pos="0">
                  <a:srgbClr val="0C1112">
                    <a:alpha val="100000"/>
                  </a:srgbClr>
                </a:gs>
                <a:gs pos="100000">
                  <a:srgbClr val="515455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0" y="38100"/>
              <a:ext cx="189277" cy="1046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674396" y="6927637"/>
            <a:ext cx="383619" cy="181347"/>
          </a:xfrm>
          <a:custGeom>
            <a:avLst/>
            <a:gdLst/>
            <a:ahLst/>
            <a:cxnLst/>
            <a:rect l="l" t="t" r="r" b="b"/>
            <a:pathLst>
              <a:path w="383619" h="181347">
                <a:moveTo>
                  <a:pt x="0" y="0"/>
                </a:moveTo>
                <a:lnTo>
                  <a:pt x="383619" y="0"/>
                </a:lnTo>
                <a:lnTo>
                  <a:pt x="383619" y="181347"/>
                </a:lnTo>
                <a:lnTo>
                  <a:pt x="0" y="1813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4960934" y="1905000"/>
            <a:ext cx="12298366" cy="3392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587"/>
              </a:lnSpc>
            </a:pPr>
            <a:r>
              <a:rPr lang="en-US" sz="4000" b="1" spc="-437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lack" panose="020B0A02040204020203" pitchFamily="34" charset="0"/>
                <a:ea typeface="Pattanakarn Bold"/>
                <a:cs typeface="Pattanakarn Bold"/>
                <a:sym typeface="Pattanakarn Bold"/>
              </a:rPr>
              <a:t>DEFINE • DESIGN • BUILD
TEST • BREAK • IMPROVE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578378" y="5333999"/>
            <a:ext cx="8680922" cy="517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76"/>
              </a:lnSpc>
            </a:pPr>
            <a:r>
              <a:rPr lang="en-US" sz="1600" b="1" spc="-62">
                <a:gradFill flip="none" rotWithShape="1">
                  <a:gsLst>
                    <a:gs pos="0">
                      <a:srgbClr val="D6DADB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Medium"/>
                <a:cs typeface="Pattanakarn Medium"/>
                <a:sym typeface="Pattanakarn Medium"/>
              </a:rPr>
              <a:t>THAT'S ROBOTICS.
See you next Thursday for Session 02: Sensors &amp; Perception!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162650" y="6858000"/>
            <a:ext cx="2182510" cy="191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300" b="1" spc="-49">
                <a:solidFill>
                  <a:srgbClr val="111315"/>
                </a:solidFill>
                <a:latin typeface="Segoe UI Bold"/>
                <a:ea typeface="Pattanakarn Medium"/>
                <a:cs typeface="Pattanakarn Medium"/>
                <a:sym typeface="Pattanakarn Medium"/>
              </a:rPr>
              <a:t>SESSION 01 COMPLETE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850916" y="9554541"/>
            <a:ext cx="5408384" cy="289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00"/>
              </a:lnSpc>
            </a:pPr>
            <a:r>
              <a:rPr lang="en-US" sz="1000" spc="162">
                <a:gradFill flip="none" rotWithShape="1">
                  <a:gsLst>
                    <a:gs pos="0">
                      <a:srgbClr val="9199A1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ROBOTICS FUNDAMENTALS • SESSION 01 / 04 • THURSDAY, 10 SEPT 2026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299200" y="9554541"/>
            <a:ext cx="5408384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lang="en-US" sz="1000" spc="162">
                <a:gradFill flip="none" rotWithShape="1">
                  <a:gsLst>
                    <a:gs pos="0">
                      <a:srgbClr val="9199A1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" panose="020B0502040204020203" pitchFamily="34" charset="0"/>
                <a:ea typeface="Pattanakarn Light"/>
                <a:cs typeface="Pattanakarn Light"/>
                <a:sym typeface="Pattanakarn Light"/>
              </a:rPr>
              <a:t>10.09.2026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135118" y="1091524"/>
            <a:ext cx="153927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44"/>
              </a:lnSpc>
            </a:pPr>
            <a:r>
              <a:rPr lang="en-US" sz="1200" b="1" spc="-43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Segoe UI Bold"/>
                <a:ea typeface="Pattanakarn Bold"/>
                <a:cs typeface="Pattanakarn Bold"/>
                <a:sym typeface="Pattanakarn Bold"/>
              </a:rPr>
              <a:t>JARVIS ROBOTICS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6821431" y="1028700"/>
            <a:ext cx="437869" cy="437869"/>
            <a:chOff x="0" y="0"/>
            <a:chExt cx="698500" cy="6985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500" y="349250"/>
                  </a:moveTo>
                  <a:cubicBezTo>
                    <a:pt x="588476" y="313379"/>
                    <a:pt x="502341" y="175825"/>
                    <a:pt x="479908" y="0"/>
                  </a:cubicBezTo>
                  <a:cubicBezTo>
                    <a:pt x="463950" y="125312"/>
                    <a:pt x="415552" y="231178"/>
                    <a:pt x="349250" y="294716"/>
                  </a:cubicBezTo>
                  <a:cubicBezTo>
                    <a:pt x="282948" y="231178"/>
                    <a:pt x="234550" y="125475"/>
                    <a:pt x="218592" y="0"/>
                  </a:cubicBezTo>
                  <a:cubicBezTo>
                    <a:pt x="196159" y="175825"/>
                    <a:pt x="110024" y="313379"/>
                    <a:pt x="0" y="349250"/>
                  </a:cubicBezTo>
                  <a:cubicBezTo>
                    <a:pt x="110024" y="385121"/>
                    <a:pt x="196159" y="522675"/>
                    <a:pt x="218592" y="698500"/>
                  </a:cubicBezTo>
                  <a:cubicBezTo>
                    <a:pt x="234550" y="573188"/>
                    <a:pt x="282948" y="467322"/>
                    <a:pt x="349250" y="403784"/>
                  </a:cubicBezTo>
                  <a:cubicBezTo>
                    <a:pt x="415552" y="467322"/>
                    <a:pt x="463950" y="573025"/>
                    <a:pt x="479908" y="698500"/>
                  </a:cubicBezTo>
                  <a:cubicBezTo>
                    <a:pt x="502341" y="522675"/>
                    <a:pt x="588476" y="385121"/>
                    <a:pt x="698500" y="349250"/>
                  </a:cubicBez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9" name="TextBox 29"/>
            <p:cNvSpPr txBox="1"/>
            <p:nvPr/>
          </p:nvSpPr>
          <p:spPr>
            <a:xfrm>
              <a:off x="76200" y="44450"/>
              <a:ext cx="546100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pic>
        <p:nvPicPr>
          <p:cNvPr id="31" name="Image 30">
            <a:extLst>
              <a:ext uri="{FF2B5EF4-FFF2-40B4-BE49-F238E27FC236}">
                <a16:creationId xmlns:a16="http://schemas.microsoft.com/office/drawing/2014/main" id="{616CF475-5CDA-AA5E-CB46-14B2695D5B4B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1180240"/>
            <a:ext cx="7282978" cy="792652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718414" y="7612786"/>
            <a:ext cx="1711929" cy="1788014"/>
            <a:chOff x="0" y="0"/>
            <a:chExt cx="571500" cy="5969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10800000">
            <a:off x="6866450" y="1028700"/>
            <a:ext cx="1711929" cy="1788014"/>
            <a:chOff x="0" y="0"/>
            <a:chExt cx="571500" cy="5969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gradFill rotWithShape="1">
              <a:gsLst>
                <a:gs pos="0">
                  <a:srgbClr val="D6DAD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203200"/>
              <a:ext cx="285750" cy="3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3477F508-A89E-2019-341A-693B53EBEF24}"/>
              </a:ext>
            </a:extLst>
          </p:cNvPr>
          <p:cNvSpPr/>
          <p:nvPr/>
        </p:nvSpPr>
        <p:spPr>
          <a:xfrm>
            <a:off x="1028700" y="533400"/>
            <a:ext cx="5461000" cy="330200"/>
          </a:xfrm>
          <a:prstGeom prst="roundRect">
            <a:avLst/>
          </a:prstGeom>
          <a:solidFill>
            <a:srgbClr val="0A0A0C"/>
          </a:solidFill>
          <a:ln w="15240">
            <a:solidFill>
              <a:srgbClr val="D6DA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fr-FR" sz="1000" b="1">
                <a:solidFill>
                  <a:srgbClr val="D6DADB"/>
                </a:solidFill>
                <a:latin typeface="Segoe UI" panose="020B0502040204020203" pitchFamily="34" charset="0"/>
              </a:rPr>
              <a:t>SESSION FINALE • 01 / 04 COMPLETE</a:t>
            </a:r>
          </a:p>
        </p:txBody>
      </p:sp>
    </p:spTree>
    <p:extLst>
      <p:ext uri="{BB962C8B-B14F-4D97-AF65-F5344CB8AC3E}">
        <p14:creationId xmlns:p14="http://schemas.microsoft.com/office/powerpoint/2010/main" val="4085199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hecker/>
      </p:transition>
    </mc:Choice>
    <mc:Fallback xmlns="">
      <p:transition>
        <p:checker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9833</Words>
  <Application>Microsoft Office PowerPoint</Application>
  <PresentationFormat>Personnalisé</PresentationFormat>
  <Paragraphs>426</Paragraphs>
  <Slides>45</Slides>
  <Notes>45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45</vt:i4>
      </vt:variant>
    </vt:vector>
  </HeadingPairs>
  <TitlesOfParts>
    <vt:vector size="52" baseType="lpstr">
      <vt:lpstr>Calibri</vt:lpstr>
      <vt:lpstr>Aptos</vt:lpstr>
      <vt:lpstr>Segoe UI</vt:lpstr>
      <vt:lpstr>Segoe UI Bold</vt:lpstr>
      <vt:lpstr>Segoe UI Black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Modern Bold Robotics Presentation</dc:title>
  <cp:lastModifiedBy>MOUHAMED  BOUGHRARA</cp:lastModifiedBy>
  <cp:revision>4</cp:revision>
  <dcterms:created xsi:type="dcterms:W3CDTF">2006-08-16T00:00:00Z</dcterms:created>
  <dcterms:modified xsi:type="dcterms:W3CDTF">2026-09-07T22:44:05Z</dcterms:modified>
  <dc:identifier>DAHUYDXgS2c</dc:identifier>
</cp:coreProperties>
</file>