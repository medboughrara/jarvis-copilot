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86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5DE759-CF54-4F02-ACD5-9E881CDE80DA}" type="datetimeFigureOut">
              <a:rPr lang="fr-FR" smtClean="0"/>
              <a:t>07/09/2026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E8DA36-1541-42D0-ACD7-385EBB0BDBEF}" type="slidenum">
              <a:rPr lang="fr-FR" smtClean="0"/>
              <a:t>‹N°›</a:t>
            </a:fld>
            <a:endParaRPr lang="fr-FR"/>
          </a:p>
        </p:txBody>
      </p:sp>
    </p:spTree>
    <p:extLst>
      <p:ext uri="{BB962C8B-B14F-4D97-AF65-F5344CB8AC3E}">
        <p14:creationId xmlns:p14="http://schemas.microsoft.com/office/powerpoint/2010/main" val="31237332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Welcome &amp; Icebreaker:
   - "Good evening everyone and welcome! Whether you are a student, hobbyist, or aspiring engineer, tonight we break down robotics from the ground up."
   - "No dry university calculus tonight. We are focusing on intuition: how robots move, how parts connect, and why they fail."
2. Audience Check:
   - "Type in the chat: Have you built a robot before, or is this your very first workshop?"
3. Transition:
   - "Let's start with a simple question that surprises almost everyone."</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1</a:t>
            </a:fld>
            <a:endParaRPr lang="fr-FR"/>
          </a:p>
        </p:txBody>
      </p:sp>
    </p:spTree>
    <p:extLst>
      <p:ext uri="{BB962C8B-B14F-4D97-AF65-F5344CB8AC3E}">
        <p14:creationId xmlns:p14="http://schemas.microsoft.com/office/powerpoint/2010/main" val="709427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Interaction:
   - "Type A, B, C, or D in chat! Which part is the most critical?"
2. The Big Reveal:
   - "Almost every beginner votes Software (C).
   - But think about it: if your muscles are strong and your brain is smart, but your bones are made of cooked spaghetti, can you write your name with a pen?
   - In robotics, all 4 layers must work in harmony. You are building an integrated system."
3. Transition:
   - "Let's formalize this into the Four Pillars of Robotics."</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2</a:t>
            </a:fld>
            <a:endParaRPr lang="fr-FR"/>
          </a:p>
        </p:txBody>
      </p:sp>
    </p:spTree>
    <p:extLst>
      <p:ext uri="{BB962C8B-B14F-4D97-AF65-F5344CB8AC3E}">
        <p14:creationId xmlns:p14="http://schemas.microsoft.com/office/powerpoint/2010/main" val="1761781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Simplifying the 4 Pillars:
   - "Notice the subtitles: Skeleton, Nerves, Reflexes, and Mind."
   - "When people say 'I want to learn robotics', they usually mean only Software. But real robotics magic happens at the boundaries."
2. Anecdote:
   - "If a robot shakes violently, is it bad code (Control)? A loose screw (Mechanics)? Or noisy power cables (Electronics)? Usually all three!"
3. Transition:
   - "How do these four pillars talk to each other in real time?"</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3</a:t>
            </a:fld>
            <a:endParaRPr lang="fr-FR"/>
          </a:p>
        </p:txBody>
      </p:sp>
    </p:spTree>
    <p:extLst>
      <p:ext uri="{BB962C8B-B14F-4D97-AF65-F5344CB8AC3E}">
        <p14:creationId xmlns:p14="http://schemas.microsoft.com/office/powerpoint/2010/main" val="1923307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Intuition:
   - "Think about catching a ball. Your eyes see the ball (Sense), your brain calculates where your hand needs to go (Decide), and your arm moves (Act)."
   - "Every robot runs this exact loop continuously."
2. Transition:
   - "Before you buy a single screw, what 3 questions must you answer?"</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4</a:t>
            </a:fld>
            <a:endParaRPr lang="fr-FR"/>
          </a:p>
        </p:txBody>
      </p:sp>
    </p:spTree>
    <p:extLst>
      <p:ext uri="{BB962C8B-B14F-4D97-AF65-F5344CB8AC3E}">
        <p14:creationId xmlns:p14="http://schemas.microsoft.com/office/powerpoint/2010/main" val="2264352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Beginner Rule:
   - "Notice what is NOT on this slide: 'Which code language should I learn?'"
   - "Start with the physics: Reach, Load, and Limits. That defines your robot."
2. Transition:
   - "Now, what happens if you take away the robot's senses? Let's see."</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5</a:t>
            </a:fld>
            <a:endParaRPr lang="fr-FR"/>
          </a:p>
        </p:txBody>
      </p:sp>
    </p:spTree>
    <p:extLst>
      <p:ext uri="{BB962C8B-B14F-4D97-AF65-F5344CB8AC3E}">
        <p14:creationId xmlns:p14="http://schemas.microsoft.com/office/powerpoint/2010/main" val="26231289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The Human Analogy:
   - "Ask the audience: Have you ever tried walking across your dark bedroom at night? You count your steps (open loop), but you usually bump your knee."
   - "With sensors (eyes open), you constantly steer around obstacles. That's closed-loop control!"
2. Transition:
   - "Now let's start Part 01: The Mechanical Skeleton of the robot."</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6</a:t>
            </a:fld>
            <a:endParaRPr lang="fr-FR"/>
          </a:p>
        </p:txBody>
      </p:sp>
    </p:spTree>
    <p:extLst>
      <p:ext uri="{BB962C8B-B14F-4D97-AF65-F5344CB8AC3E}">
        <p14:creationId xmlns:p14="http://schemas.microsoft.com/office/powerpoint/2010/main" val="40365485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Section Intro:
   - "Welcome to Part 1. We start with the mechanical skeleton: links, joints, and freedom of motion."</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7</a:t>
            </a:fld>
            <a:endParaRPr lang="fr-FR"/>
          </a:p>
        </p:txBody>
      </p:sp>
    </p:spTree>
    <p:extLst>
      <p:ext uri="{BB962C8B-B14F-4D97-AF65-F5344CB8AC3E}">
        <p14:creationId xmlns:p14="http://schemas.microsoft.com/office/powerpoint/2010/main" val="3070899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Point to your own arm:
   - "Your bicep bone is a link. Your elbow is a joint. Your forearm is another link."
2. Transition:
   - "What kinds of joints exist in real robots? There are basically just TWO!"</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8</a:t>
            </a:fld>
            <a:endParaRPr lang="fr-FR"/>
          </a:p>
        </p:txBody>
      </p:sp>
    </p:spTree>
    <p:extLst>
      <p:ext uri="{BB962C8B-B14F-4D97-AF65-F5344CB8AC3E}">
        <p14:creationId xmlns:p14="http://schemas.microsoft.com/office/powerpoint/2010/main" val="6858527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Simplicity:
   - "Don't overcomplicate joints. You either spin (Revolute) or you slide (Prismatic)."
2. Question:
   - "What joint does your 3D printer use? Prismatic (slides on rods)."
3. Transition:
   - "How many independent directions can a robot move? That's called DOF."</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9</a:t>
            </a:fld>
            <a:endParaRPr lang="fr-FR"/>
          </a:p>
        </p:txBody>
      </p:sp>
    </p:spTree>
    <p:extLst>
      <p:ext uri="{BB962C8B-B14F-4D97-AF65-F5344CB8AC3E}">
        <p14:creationId xmlns:p14="http://schemas.microsoft.com/office/powerpoint/2010/main" val="5140428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Physical Demonstration:
   - "Show your hand: moving in space is 6 DOF. 3 positions (X,Y,Z) and 3 tilts (Roll, Pitch, Yaw)."
2. Transition:
   - "Should we just add 10 or 12 DOF to every robot? Let's find out."</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10</a:t>
            </a:fld>
            <a:endParaRPr lang="fr-FR"/>
          </a:p>
        </p:txBody>
      </p:sp>
    </p:spTree>
    <p:extLst>
      <p:ext uri="{BB962C8B-B14F-4D97-AF65-F5344CB8AC3E}">
        <p14:creationId xmlns:p14="http://schemas.microsoft.com/office/powerpoint/2010/main" val="1736091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Beginner Trap:
   - "Beginners always want 7 or 8 axes. Then they realize their base motor is struggling just to lift the other 6 motors!"
2. Transition:
   - "Why is 6 the magic number for factory arms?"</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11</a:t>
            </a:fld>
            <a:endParaRPr lang="fr-FR"/>
          </a:p>
        </p:txBody>
      </p:sp>
    </p:spTree>
    <p:extLst>
      <p:ext uri="{BB962C8B-B14F-4D97-AF65-F5344CB8AC3E}">
        <p14:creationId xmlns:p14="http://schemas.microsoft.com/office/powerpoint/2010/main" val="40995852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Real Robot Visual:
   - "Look at the real industrial KUKA arm on the right. Notice how the first three joints are big and heavy (they position the arm)."
   - "The last three joints at the wrist are compact (they only tilt and rotate the tool)."
2. Transition:
   - "Let's test your eye on a real robot schematic!"</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12</a:t>
            </a:fld>
            <a:endParaRPr lang="fr-FR"/>
          </a:p>
        </p:txBody>
      </p:sp>
    </p:spTree>
    <p:extLst>
      <p:ext uri="{BB962C8B-B14F-4D97-AF65-F5344CB8AC3E}">
        <p14:creationId xmlns:p14="http://schemas.microsoft.com/office/powerpoint/2010/main" val="30917770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Quick Chat Exercise:
   - "Drop in chat: Which joint carries the most load? (Base J1!)."
   - "Where do cables break most often? (Wrist J5!)."
2. Transition:
   - "Now let's examine what powers these joints: Part 02: Actuators and Motors."</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13</a:t>
            </a:fld>
            <a:endParaRPr lang="fr-FR"/>
          </a:p>
        </p:txBody>
      </p:sp>
    </p:spTree>
    <p:extLst>
      <p:ext uri="{BB962C8B-B14F-4D97-AF65-F5344CB8AC3E}">
        <p14:creationId xmlns:p14="http://schemas.microsoft.com/office/powerpoint/2010/main" val="18600610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Section Intro:
   - "Part 2: Actuators. How do we turn battery power into controlled mechanical motion?"</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14</a:t>
            </a:fld>
            <a:endParaRPr lang="fr-FR"/>
          </a:p>
        </p:txBody>
      </p:sp>
    </p:spTree>
    <p:extLst>
      <p:ext uri="{BB962C8B-B14F-4D97-AF65-F5344CB8AC3E}">
        <p14:creationId xmlns:p14="http://schemas.microsoft.com/office/powerpoint/2010/main" val="20091145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Beginner Motor Guide:
   - "RC Servo: Good for learning with an Arduino."
   - "Stepper: Perfect for 3D printers and CNCs."
   - "Brushless (BLDC): What Boston Dynamics and modern quadrupeds use."
2. Transition:
   - "What gives a motor the strength to lift something? The word is TORQUE."</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15</a:t>
            </a:fld>
            <a:endParaRPr lang="fr-FR"/>
          </a:p>
        </p:txBody>
      </p:sp>
    </p:spTree>
    <p:extLst>
      <p:ext uri="{BB962C8B-B14F-4D97-AF65-F5344CB8AC3E}">
        <p14:creationId xmlns:p14="http://schemas.microsoft.com/office/powerpoint/2010/main" val="37991377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Physical Demonstration:
   - "Hold your water bottle close. Easy. Hold it outstretched. Hard. That is Torque."
2. Safety Margin:
   - "Always double the motor torque you calculate on paper."
3. Transition:
   - "What other motor specifications matter? Let's check."</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16</a:t>
            </a:fld>
            <a:endParaRPr lang="fr-FR"/>
          </a:p>
        </p:txBody>
      </p:sp>
    </p:spTree>
    <p:extLst>
      <p:ext uri="{BB962C8B-B14F-4D97-AF65-F5344CB8AC3E}">
        <p14:creationId xmlns:p14="http://schemas.microsoft.com/office/powerpoint/2010/main" val="1303914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Walkthrough:
   - "Don't just ask 'Is it strong?' Ask: How fast? How repeatable? And how much loose play?"
2. Transition:
   - "Let's clear up the biggest confusion in robotics: Accuracy vs Repeatability."</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17</a:t>
            </a:fld>
            <a:endParaRPr lang="fr-FR"/>
          </a:p>
        </p:txBody>
      </p:sp>
    </p:spTree>
    <p:extLst>
      <p:ext uri="{BB962C8B-B14F-4D97-AF65-F5344CB8AC3E}">
        <p14:creationId xmlns:p14="http://schemas.microsoft.com/office/powerpoint/2010/main" val="11613590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Target Metaphor:
   - "Look at Target 2: The arrows are clustered tightly, but 2 inches to the right."
   - "Is that bad? NO! In code, you just subtract 2 inches! High repeatability means predictability."
2. Transition:
   - "Now let's look at the mechanical problem that ruins repeatability: Backlash."</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18</a:t>
            </a:fld>
            <a:endParaRPr lang="fr-FR"/>
          </a:p>
        </p:txBody>
      </p:sp>
    </p:spTree>
    <p:extLst>
      <p:ext uri="{BB962C8B-B14F-4D97-AF65-F5344CB8AC3E}">
        <p14:creationId xmlns:p14="http://schemas.microsoft.com/office/powerpoint/2010/main" val="180253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Steering Wheel Analogy:
   - "Everyone understands steering wheel play. That's backlash."
2. Inside Joke:
   - "Mechanical lag: the hardware equivalent of 'I'll respond later'."
3. Transition:
   - "Now let's do a quick motor selection puzzle."</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19</a:t>
            </a:fld>
            <a:endParaRPr lang="fr-FR"/>
          </a:p>
        </p:txBody>
      </p:sp>
    </p:spTree>
    <p:extLst>
      <p:ext uri="{BB962C8B-B14F-4D97-AF65-F5344CB8AC3E}">
        <p14:creationId xmlns:p14="http://schemas.microsoft.com/office/powerpoint/2010/main" val="37001168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Vote in chat:
   - "A, B, or C?"
2. The Reveal:
   - "Don't fall in love with motor specs. Fall in love with your project requirements."
3. Transition:
   - "Now let's build Part 03: Mechanical Design and Structural Stiffness."</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20</a:t>
            </a:fld>
            <a:endParaRPr lang="fr-FR"/>
          </a:p>
        </p:txBody>
      </p:sp>
    </p:spTree>
    <p:extLst>
      <p:ext uri="{BB962C8B-B14F-4D97-AF65-F5344CB8AC3E}">
        <p14:creationId xmlns:p14="http://schemas.microsoft.com/office/powerpoint/2010/main" val="24814861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Welcome to Part 3:
   - "Welcome to Part 03! We've talked about motors, gears, and encoders. Now let's answer a fundamental question: What actually holds the robot together under heavy loads?"
2. The Core Philosophy:
   - "A common beginner mistake is thinking the motor is the robot. But if your mechanical skeleton flexes or twists, even the most expensive motor won't put your gripper where you want it."
3. Transition:
   - "Let's trace where the force actually flows through the physical robot."</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21</a:t>
            </a:fld>
            <a:endParaRPr lang="fr-FR"/>
          </a:p>
        </p:txBody>
      </p:sp>
    </p:spTree>
    <p:extLst>
      <p:ext uri="{BB962C8B-B14F-4D97-AF65-F5344CB8AC3E}">
        <p14:creationId xmlns:p14="http://schemas.microsoft.com/office/powerpoint/2010/main" val="6821910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Golden Workshop Rule:
   - "Never, ever mount an arm link directly onto a bare motor output shaft. Motor internal bearings are tiny and meant only to keep the rotor centered."
2. The Human Analogy:
   - "Use the arm analogy: Muscles create pull, but bones carry weight. If you tried to carry groceries with muscles alone and no bones, you'd fail instantly."
3. Transition:
   - "What happens when your structure isn't stiff enough? You experience the infamous Diving Board Effect!"</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22</a:t>
            </a:fld>
            <a:endParaRPr lang="fr-FR"/>
          </a:p>
        </p:txBody>
      </p:sp>
    </p:spTree>
    <p:extLst>
      <p:ext uri="{BB962C8B-B14F-4D97-AF65-F5344CB8AC3E}">
        <p14:creationId xmlns:p14="http://schemas.microsoft.com/office/powerpoint/2010/main" val="9465080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Emphasize the L³ Surpise:
   - "Look at that formula. You don't need to do tensor calculus. Just remember one thing: L is CUBED."
   - "Every beginner says: 'My arm works great at 30 cm, let me just double it to 60 cm to reach further!' And suddenly their robot shakes uncontrollably."
2. The Tube Secret:
   - "Ask the audience: Why are bicycle frames hollow tubes instead of solid steel bars? Because hollow tubes maximize stiffness with minimum weight."
3. Transition:
   - "Speaking of materials, what should you build your robot out of?"</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23</a:t>
            </a:fld>
            <a:endParaRPr lang="fr-FR"/>
          </a:p>
        </p:txBody>
      </p:sp>
    </p:spTree>
    <p:extLst>
      <p:ext uri="{BB962C8B-B14F-4D97-AF65-F5344CB8AC3E}">
        <p14:creationId xmlns:p14="http://schemas.microsoft.com/office/powerpoint/2010/main" val="5849313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Practical 3D Printing Advice:
   - "3D printing is wonderful for iterating on Friday night. But do NOT print long arm structural beams in PLA. After 2 weeks under belt tension, PLA will permanently deform."
2. The Winner for 90% of Robotics:
   - "Aluminum 6061-T6. Stiff, cheap, conducts heat away from hot motors, and easy to drill with handheld tools."
3. Transition:
   - "Every design choice has a trade-off. Let's look at the classic Engineering Triangle."</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24</a:t>
            </a:fld>
            <a:endParaRPr lang="fr-FR"/>
          </a:p>
        </p:txBody>
      </p:sp>
    </p:spTree>
    <p:extLst>
      <p:ext uri="{BB962C8B-B14F-4D97-AF65-F5344CB8AC3E}">
        <p14:creationId xmlns:p14="http://schemas.microsoft.com/office/powerpoint/2010/main" val="22381995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The Real Discussion:
   - "Every client and beginner comes in saying: 'I want an industrial surgical robot made of carbon fiber for under 200 dollars.' That robot does not exist."
2. The Challenge:
   - "If you need low cost and light weight (like an educational drone), you must accept lower precision."
   - "If you need sub-millimeter precision and low cost (like a 3D printer), you must accept heavy steel rails that move slowly."
3. Transition:
   - "Let's see this trade-off in action: what happens when we double arm reach?"</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25</a:t>
            </a:fld>
            <a:endParaRPr lang="fr-FR"/>
          </a:p>
        </p:txBody>
      </p:sp>
    </p:spTree>
    <p:extLst>
      <p:ext uri="{BB962C8B-B14F-4D97-AF65-F5344CB8AC3E}">
        <p14:creationId xmlns:p14="http://schemas.microsoft.com/office/powerpoint/2010/main" val="17362423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Dramatic Comparison:
   - "Look at that comparison: Same 1 kg payload. But Arm B needs twice the motor torque, quadruples rotational inertia, and flexes EIGHT times more!"
2. The Tuning Fork Effect:
   - "When Arm B reaches its destination and stops, it doesn't just stop. It rings and wobbles like a guitar string for 1.5 seconds. You have to wait for the vibration to die before you can grip anything."
3. Transition:
   - "Now put your engineering hats on! Let's do our first breakout design sprint."</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26</a:t>
            </a:fld>
            <a:endParaRPr lang="fr-FR"/>
          </a:p>
        </p:txBody>
      </p:sp>
    </p:spTree>
    <p:extLst>
      <p:ext uri="{BB962C8B-B14F-4D97-AF65-F5344CB8AC3E}">
        <p14:creationId xmlns:p14="http://schemas.microsoft.com/office/powerpoint/2010/main" val="24598275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Breakout Interaction:
   - "We are pausing for 3 minutes! Read the specs on the left: 2 kg payload at 60 cm reach for 400 euros. What material and motor do you choose?"
2. Call Out Chat Responses:
   - "Alex says: 3D printed arm! Alex, look at Trap 1: 60 cm of PLA holding 2 kg will bend like a banana!"
   - "Sarah says: Aluminum tube with geared stepper! Ding ding ding! Sarah wins the engineering contract."
3. Transition:
   - "Now that our arm has strong bones and motors, what feeds them? Welcome to Part 04: Power &amp; Electrical Systems."</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27</a:t>
            </a:fld>
            <a:endParaRPr lang="fr-FR"/>
          </a:p>
        </p:txBody>
      </p:sp>
    </p:spTree>
    <p:extLst>
      <p:ext uri="{BB962C8B-B14F-4D97-AF65-F5344CB8AC3E}">
        <p14:creationId xmlns:p14="http://schemas.microsoft.com/office/powerpoint/2010/main" val="8867573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Intro to Electrical Systems:
   - "Part 4: Power and Electricity. A robot without stable electrical power is nothing more than an expensive paperweight."
2. The Big Surprise:
   - "Power issues cause over 60% of mysterious robot bugs during competitions. The robot reboots randomly, sensors freeze, or wheels twitch. Today we demystify why."
3. Transition:
   - "Let's start with the most intuitive way to understand electricity: The Water Pipe Analogy."</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28</a:t>
            </a:fld>
            <a:endParaRPr lang="fr-FR"/>
          </a:p>
        </p:txBody>
      </p:sp>
    </p:spTree>
    <p:extLst>
      <p:ext uri="{BB962C8B-B14F-4D97-AF65-F5344CB8AC3E}">
        <p14:creationId xmlns:p14="http://schemas.microsoft.com/office/powerpoint/2010/main" val="19142568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Simplify V and I:
   - "If you remember only one sentence from this slide: Voltage gives your motor SPEED, and Current gives your motor TORQUE."
2. The Heating Risk:
   - "When a motor works extra hard to lift a heavy load, it draws more Amps. More Amps means more heat in your motor drivers and wires. This is why proper wire gauge is critical."
3. Transition:
   - "Now let's see what happens when we scale from 1 motor to 4 motors on a mobile robot chassis."</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29</a:t>
            </a:fld>
            <a:endParaRPr lang="fr-FR"/>
          </a:p>
        </p:txBody>
      </p:sp>
    </p:spTree>
    <p:extLst>
      <p:ext uri="{BB962C8B-B14F-4D97-AF65-F5344CB8AC3E}">
        <p14:creationId xmlns:p14="http://schemas.microsoft.com/office/powerpoint/2010/main" val="21011307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The Real Story:
   - "Every robotics competition has at least three teams sitting on the floor scratching their heads because their robot boots up on the workbench, but as soon as they place it on the floor and accelerate, it immediately resets."
2. The Short Circuit Secret:
   - "Why? Because before a motor begins spinning, back-EMF is zero. The motor coils are basically just a copper wire connecting positive to ground! That startup current spike is massive."
3. Transition:
   - "How do we size a battery so our robot actually lasts through a mission?"</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30</a:t>
            </a:fld>
            <a:endParaRPr lang="fr-FR"/>
          </a:p>
        </p:txBody>
      </p:sp>
    </p:spTree>
    <p:extLst>
      <p:ext uri="{BB962C8B-B14F-4D97-AF65-F5344CB8AC3E}">
        <p14:creationId xmlns:p14="http://schemas.microsoft.com/office/powerpoint/2010/main" val="19031086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The Battery Lesson:
   - "Sales brochure says: '2 hours of runtime!' Engineering lab test: 45 minutes before safety shutoff."
2. Depth of Discharge:
   - "Never design a robot that drains its battery to 0%. Lithium batteries die permanently if overdischarged. Protect your investment by setting your cut-off threshold at 20% remaining capacity."
3. Transition:
   - "What happens when your battery voltage drops while the motors are running? The famous Brownout!"</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31</a:t>
            </a:fld>
            <a:endParaRPr lang="fr-FR"/>
          </a:p>
        </p:txBody>
      </p:sp>
    </p:spTree>
    <p:extLst>
      <p:ext uri="{BB962C8B-B14F-4D97-AF65-F5344CB8AC3E}">
        <p14:creationId xmlns:p14="http://schemas.microsoft.com/office/powerpoint/2010/main" val="9446345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Explain Brownout:
   - "A brownout is not a blown fuse. It's when voltage drops just low enough for 2 milliseconds that the microprocessor thinks the power was unplugged."
2. The Fix:
   - "Never power a Raspberry Pi or Arduino directly from the same 5V line driving your high-power motors without a good regulator and filter capacitors."
3. Transition:
   - "Now that our robot has strong bones, strong motors, and stable power... what controls the whole machine? Welcome to Part 05: Software, Tools &amp; Simulation."</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32</a:t>
            </a:fld>
            <a:endParaRPr lang="fr-FR"/>
          </a:p>
        </p:txBody>
      </p:sp>
    </p:spTree>
    <p:extLst>
      <p:ext uri="{BB962C8B-B14F-4D97-AF65-F5344CB8AC3E}">
        <p14:creationId xmlns:p14="http://schemas.microsoft.com/office/powerpoint/2010/main" val="7111154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Intro to Software:
   - "Part 5: Software &amp; Tools. When beginners hear 'robotics software', they often imagine one giant Python file doing everything. Today, we look at the layered architecture used by real robotics companies."
2. Key Philosophy:
   - "Separation of concerns. Low-level motor pulses belong in microcontrollers; high-level path planning belongs in ROS 2."
3. Transition:
   - "Let's look at the layers of a robot's brain from the ground up."</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33</a:t>
            </a:fld>
            <a:endParaRPr lang="fr-FR"/>
          </a:p>
        </p:txBody>
      </p:sp>
    </p:spTree>
    <p:extLst>
      <p:ext uri="{BB962C8B-B14F-4D97-AF65-F5344CB8AC3E}">
        <p14:creationId xmlns:p14="http://schemas.microsoft.com/office/powerpoint/2010/main" val="24942312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Explain Separation:
   - "Notice the hierarchy: Fast real-time reflexes at the bottom (microcontrollers in C/C++), and intelligent planning at the top (Linux/ROS 2/Python)."
2. Student Mistake:
   - "Beginners often try to do everything in one Python script on a laptop connected over serial. If Python has a garbage-collection pause for 50 milliseconds, your balancing robot tips over!"
3. Transition:
   - "What free software tools should you use to start building today?"</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34</a:t>
            </a:fld>
            <a:endParaRPr lang="fr-FR"/>
          </a:p>
        </p:txBody>
      </p:sp>
    </p:spTree>
    <p:extLst>
      <p:ext uri="{BB962C8B-B14F-4D97-AF65-F5344CB8AC3E}">
        <p14:creationId xmlns:p14="http://schemas.microsoft.com/office/powerpoint/2010/main" val="25931747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Empowering the Audience:
   - "You don't need a $10,000 corporate SolidWorks or MATLAB license to build an incredible robot. KiCad, Fusion Hobbyist, Webots, and ROS 2 are all free."
2. The Learning Order:
   - "Start with CAD and 3D printing. Then learn microcontroller C++ (ESP32). Then graduate to ROS 2 on Ubuntu Linux."
3. Transition:
   - "Be careful not to mix up what each tool actually does!"</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35</a:t>
            </a:fld>
            <a:endParaRPr lang="fr-FR"/>
          </a:p>
        </p:txBody>
      </p:sp>
    </p:spTree>
    <p:extLst>
      <p:ext uri="{BB962C8B-B14F-4D97-AF65-F5344CB8AC3E}">
        <p14:creationId xmlns:p14="http://schemas.microsoft.com/office/powerpoint/2010/main" val="4571393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The Sim-to-Real Gap:
   - "In simulation, your robot can drive perfectly for 100 hours. You deploy it on the physical floor, and within 30 seconds a wire catches in a wheel."
2. Hardware First:
   - "Always remember: Software cannot magically overcome bad physics. If your arm is too weak to lift the payload, no amount of AI or ROS code will save it."
3. Transition:
   - "Now we arrive at the grand finale: Part 06: From Idea to Working Robot!"</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36</a:t>
            </a:fld>
            <a:endParaRPr lang="fr-FR"/>
          </a:p>
        </p:txBody>
      </p:sp>
    </p:spTree>
    <p:extLst>
      <p:ext uri="{BB962C8B-B14F-4D97-AF65-F5344CB8AC3E}">
        <p14:creationId xmlns:p14="http://schemas.microsoft.com/office/powerpoint/2010/main" val="15753284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Welcome to Part 6:
   - "Part 6: From Idea to Working Robot. This is where theory meets reality, and where true robotics engineers are made."
2. Mindset Shift:
   - "In school, you are taught that failure is an 'F'. In robotics engineering, failure is step 5 of the design process. If you don't break things, you aren't learning."
3. Transition:
   - "Let's look at the real 6-step engineering cycle."</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37</a:t>
            </a:fld>
            <a:endParaRPr lang="fr-FR"/>
          </a:p>
        </p:txBody>
      </p:sp>
    </p:spTree>
    <p:extLst>
      <p:ext uri="{BB962C8B-B14F-4D97-AF65-F5344CB8AC3E}">
        <p14:creationId xmlns:p14="http://schemas.microsoft.com/office/powerpoint/2010/main" val="5573299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Normalizing Failure:
   - "I want everyone in this room to hear this: Elite robotics engineers fail constantly. The difference between a beginner and an expert is that an expert fails faster."
2. The 48-Hour Loop:
   - "Build, test, break, analyze, redesign. If you can complete that loop in 48 hours, you will out-innovate teams that spend 6 months writing theoretical papers."
3. Transition:
   - "Let's look at the classic meme that every single engineer experiences in real life."</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38</a:t>
            </a:fld>
            <a:endParaRPr lang="fr-FR"/>
          </a:p>
        </p:txBody>
      </p:sp>
    </p:spTree>
    <p:extLst>
      <p:ext uri="{BB962C8B-B14F-4D97-AF65-F5344CB8AC3E}">
        <p14:creationId xmlns:p14="http://schemas.microsoft.com/office/powerpoint/2010/main" val="39496646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Laugh and Learn:
   - "Look at this slide! On the left: Pristine Autodesk Fusion 360 rendering. Ambient temperature: 20.000°C. Zero friction. Infinite rigidity."
   - "On the right: Physical reality. 3D print layer lines, zip ties holding wiring harnesses, hot glue, and loose M3 screws."
2. Takeaway:
   - "Leave room for cables! The number one thing beginners forget in CAD is cables. Wires have volume and bend radius."
3. Transition:
   - "Here is a real physical case study showing an actual failure and fix."</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39</a:t>
            </a:fld>
            <a:endParaRPr lang="fr-FR"/>
          </a:p>
        </p:txBody>
      </p:sp>
    </p:spTree>
    <p:extLst>
      <p:ext uri="{BB962C8B-B14F-4D97-AF65-F5344CB8AC3E}">
        <p14:creationId xmlns:p14="http://schemas.microsoft.com/office/powerpoint/2010/main" val="35761419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Walk Through the Real Story:
   - "Look at the diagram on the left: V1 was built entirely out of printed plastic. It looked awesome on Twitter. But as soon as it picked up a real 2 kg weight, SNAP! The gear teeth sheared right off."
2. The Engineering Fix:
   - "Did the team give up? No. They kept the printed electronics enclosure, but replaced the high-stress joint with an aluminum plate and steel gears."
3. Transition:
   - "Now it's time for our grand capstone challenge. You are the engineering leads!"</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40</a:t>
            </a:fld>
            <a:endParaRPr lang="fr-FR"/>
          </a:p>
        </p:txBody>
      </p:sp>
    </p:spTree>
    <p:extLst>
      <p:ext uri="{BB962C8B-B14F-4D97-AF65-F5344CB8AC3E}">
        <p14:creationId xmlns:p14="http://schemas.microsoft.com/office/powerpoint/2010/main" val="33835538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Team Setup:
   - "You are the chief engineers of a new campus robotics venture. The university gave you €300 per robot."
   - Give the audience 2 minutes to drop their specs in the chat.
2. Moderate Chat:
   - "I see Differential Drive with 2 geared DC motors and 12V 10Ah battery. Very clean, very cost effective!"
3. The Dramatic Cliffhanger:
   - "Everyone feels confident. The robot drives smoothly on flat hallway linoleum... and then the client calls with one tiny change."</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41</a:t>
            </a:fld>
            <a:endParaRPr lang="fr-FR"/>
          </a:p>
        </p:txBody>
      </p:sp>
    </p:spTree>
    <p:extLst>
      <p:ext uri="{BB962C8B-B14F-4D97-AF65-F5344CB8AC3E}">
        <p14:creationId xmlns:p14="http://schemas.microsoft.com/office/powerpoint/2010/main" val="18438971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The Lesson of the 15° Ramp:
   - "A 15-degree ramp looks gentle to human legs. But to an electric vehicle, sine of 15° is 26% of your entire vehicle weight acting directly against motion!"
2. Systemic Ripples:
   - "Notice how one simple change in the environment completely broke our motor sizing, battery runtime, wheel tread material, and chassis center-of-gravity balance."
   - "This is why robotics is an integrated discipline."
3. Transition:
   - "To ensure you avoid these pitfalls, let's review the 10 Golden Rules of Robotics."</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42</a:t>
            </a:fld>
            <a:endParaRPr lang="fr-FR"/>
          </a:p>
        </p:txBody>
      </p:sp>
    </p:spTree>
    <p:extLst>
      <p:ext uri="{BB962C8B-B14F-4D97-AF65-F5344CB8AC3E}">
        <p14:creationId xmlns:p14="http://schemas.microsoft.com/office/powerpoint/2010/main" val="36360516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The 10 Commandments:
   - "Take a screenshot of this slide. Print it out and tape it above your workbench."
2. The Bottom Line:
   - "These 10 rules will save you hundreds of dollars in burned motors and months of wasted debugging."
3. Transition:
   - "And with that, we conclude Session 01 with our guiding motto."</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43</a:t>
            </a:fld>
            <a:endParaRPr lang="fr-FR"/>
          </a:p>
        </p:txBody>
      </p:sp>
    </p:spTree>
    <p:extLst>
      <p:ext uri="{BB962C8B-B14F-4D97-AF65-F5344CB8AC3E}">
        <p14:creationId xmlns:p14="http://schemas.microsoft.com/office/powerpoint/2010/main" val="60884888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PRESENTER NOTES:
1. Closing Statement:
   - "Define. Design. Calculate. Build. Test. Break. Improve. That is the journey of robotics."
2. Teaser for Session 02:
   - "Next week in Session 02, we give our robot eyes and ears: LiDAR, depth cameras, sensor fusion, and Kalman filtering."
3. Open Q&amp;A:
   - "I'll now open the floor for Q&amp;A. Type your questions in chat or unmute your mic!"</a:t>
            </a:r>
            <a:endParaRPr lang="fr-FR"/>
          </a:p>
        </p:txBody>
      </p:sp>
      <p:sp>
        <p:nvSpPr>
          <p:cNvPr id="4" name="Espace réservé du numéro de diapositive 3"/>
          <p:cNvSpPr>
            <a:spLocks noGrp="1"/>
          </p:cNvSpPr>
          <p:nvPr>
            <p:ph type="sldNum" sz="quarter" idx="5"/>
          </p:nvPr>
        </p:nvSpPr>
        <p:spPr/>
        <p:txBody>
          <a:bodyPr/>
          <a:lstStyle/>
          <a:p>
            <a:fld id="{0CE8DA36-1541-42D0-ACD7-385EBB0BDBEF}" type="slidenum">
              <a:rPr lang="fr-FR" smtClean="0"/>
              <a:t>44</a:t>
            </a:fld>
            <a:endParaRPr lang="fr-FR"/>
          </a:p>
        </p:txBody>
      </p:sp>
    </p:spTree>
    <p:extLst>
      <p:ext uri="{BB962C8B-B14F-4D97-AF65-F5344CB8AC3E}">
        <p14:creationId xmlns:p14="http://schemas.microsoft.com/office/powerpoint/2010/main" val="4134975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129F5E-4C67-E37A-D8C1-339AB84016D1}"/>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5C1D20C9-651E-DA23-2062-63969F52EB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DE3E1D79-0556-3869-1332-1674A6E3827E}"/>
              </a:ext>
            </a:extLst>
          </p:cNvPr>
          <p:cNvSpPr>
            <a:spLocks noGrp="1"/>
          </p:cNvSpPr>
          <p:nvPr>
            <p:ph type="dt" sz="half" idx="10"/>
          </p:nvPr>
        </p:nvSpPr>
        <p:spPr/>
        <p:txBody>
          <a:bodyPr/>
          <a:lstStyle/>
          <a:p>
            <a:fld id="{9788FC3C-152B-4D76-AA9F-3776DEA6211B}" type="datetimeFigureOut">
              <a:rPr lang="fr-FR" smtClean="0"/>
              <a:t>07/09/2026</a:t>
            </a:fld>
            <a:endParaRPr lang="fr-FR"/>
          </a:p>
        </p:txBody>
      </p:sp>
      <p:sp>
        <p:nvSpPr>
          <p:cNvPr id="5" name="Espace réservé du pied de page 4">
            <a:extLst>
              <a:ext uri="{FF2B5EF4-FFF2-40B4-BE49-F238E27FC236}">
                <a16:creationId xmlns:a16="http://schemas.microsoft.com/office/drawing/2014/main" id="{C5EF6CF5-CE65-51ED-E108-8F45FFB454F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E9C3E66-0D82-D538-1B72-DC80D1607858}"/>
              </a:ext>
            </a:extLst>
          </p:cNvPr>
          <p:cNvSpPr>
            <a:spLocks noGrp="1"/>
          </p:cNvSpPr>
          <p:nvPr>
            <p:ph type="sldNum" sz="quarter" idx="12"/>
          </p:nvPr>
        </p:nvSpPr>
        <p:spPr/>
        <p:txBody>
          <a:bodyPr/>
          <a:lstStyle/>
          <a:p>
            <a:fld id="{CA66CD1A-E68E-469F-AFAE-F69466E75D8E}" type="slidenum">
              <a:rPr lang="fr-FR" smtClean="0"/>
              <a:t>‹N°›</a:t>
            </a:fld>
            <a:endParaRPr lang="fr-FR"/>
          </a:p>
        </p:txBody>
      </p:sp>
    </p:spTree>
    <p:extLst>
      <p:ext uri="{BB962C8B-B14F-4D97-AF65-F5344CB8AC3E}">
        <p14:creationId xmlns:p14="http://schemas.microsoft.com/office/powerpoint/2010/main" val="2870883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E22B68-B5D3-F250-5210-4EE3B866342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2BB5FBE-8719-6BD0-BB7E-8358FD1D8B63}"/>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BA97AF1-9CCB-133E-22FD-C7255DCCB51C}"/>
              </a:ext>
            </a:extLst>
          </p:cNvPr>
          <p:cNvSpPr>
            <a:spLocks noGrp="1"/>
          </p:cNvSpPr>
          <p:nvPr>
            <p:ph type="dt" sz="half" idx="10"/>
          </p:nvPr>
        </p:nvSpPr>
        <p:spPr/>
        <p:txBody>
          <a:bodyPr/>
          <a:lstStyle/>
          <a:p>
            <a:fld id="{9788FC3C-152B-4D76-AA9F-3776DEA6211B}" type="datetimeFigureOut">
              <a:rPr lang="fr-FR" smtClean="0"/>
              <a:t>07/09/2026</a:t>
            </a:fld>
            <a:endParaRPr lang="fr-FR"/>
          </a:p>
        </p:txBody>
      </p:sp>
      <p:sp>
        <p:nvSpPr>
          <p:cNvPr id="5" name="Espace réservé du pied de page 4">
            <a:extLst>
              <a:ext uri="{FF2B5EF4-FFF2-40B4-BE49-F238E27FC236}">
                <a16:creationId xmlns:a16="http://schemas.microsoft.com/office/drawing/2014/main" id="{9E7508B7-65C8-09D0-EFC1-5DFFBA29B6F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D5EA5A7-9007-1272-62D5-FBB3B188CBF1}"/>
              </a:ext>
            </a:extLst>
          </p:cNvPr>
          <p:cNvSpPr>
            <a:spLocks noGrp="1"/>
          </p:cNvSpPr>
          <p:nvPr>
            <p:ph type="sldNum" sz="quarter" idx="12"/>
          </p:nvPr>
        </p:nvSpPr>
        <p:spPr/>
        <p:txBody>
          <a:bodyPr/>
          <a:lstStyle/>
          <a:p>
            <a:fld id="{CA66CD1A-E68E-469F-AFAE-F69466E75D8E}" type="slidenum">
              <a:rPr lang="fr-FR" smtClean="0"/>
              <a:t>‹N°›</a:t>
            </a:fld>
            <a:endParaRPr lang="fr-FR"/>
          </a:p>
        </p:txBody>
      </p:sp>
    </p:spTree>
    <p:extLst>
      <p:ext uri="{BB962C8B-B14F-4D97-AF65-F5344CB8AC3E}">
        <p14:creationId xmlns:p14="http://schemas.microsoft.com/office/powerpoint/2010/main" val="1963147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331C33-8385-3D82-EFA9-1297AC0A2BF4}"/>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BCE09ED9-89A8-6AF9-1D6D-A3FC8C09F99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7BCA0907-9EE3-2437-B64D-41BCF6ADC52A}"/>
              </a:ext>
            </a:extLst>
          </p:cNvPr>
          <p:cNvSpPr>
            <a:spLocks noGrp="1"/>
          </p:cNvSpPr>
          <p:nvPr>
            <p:ph type="dt" sz="half" idx="10"/>
          </p:nvPr>
        </p:nvSpPr>
        <p:spPr/>
        <p:txBody>
          <a:bodyPr/>
          <a:lstStyle/>
          <a:p>
            <a:fld id="{9788FC3C-152B-4D76-AA9F-3776DEA6211B}" type="datetimeFigureOut">
              <a:rPr lang="fr-FR" smtClean="0"/>
              <a:t>07/09/2026</a:t>
            </a:fld>
            <a:endParaRPr lang="fr-FR"/>
          </a:p>
        </p:txBody>
      </p:sp>
      <p:sp>
        <p:nvSpPr>
          <p:cNvPr id="5" name="Espace réservé du pied de page 4">
            <a:extLst>
              <a:ext uri="{FF2B5EF4-FFF2-40B4-BE49-F238E27FC236}">
                <a16:creationId xmlns:a16="http://schemas.microsoft.com/office/drawing/2014/main" id="{E6C2AF25-319E-4075-C025-C46DCA67186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5723AD7-A3EC-AF7A-7F30-6001574CDB4A}"/>
              </a:ext>
            </a:extLst>
          </p:cNvPr>
          <p:cNvSpPr>
            <a:spLocks noGrp="1"/>
          </p:cNvSpPr>
          <p:nvPr>
            <p:ph type="sldNum" sz="quarter" idx="12"/>
          </p:nvPr>
        </p:nvSpPr>
        <p:spPr/>
        <p:txBody>
          <a:bodyPr/>
          <a:lstStyle/>
          <a:p>
            <a:fld id="{CA66CD1A-E68E-469F-AFAE-F69466E75D8E}" type="slidenum">
              <a:rPr lang="fr-FR" smtClean="0"/>
              <a:t>‹N°›</a:t>
            </a:fld>
            <a:endParaRPr lang="fr-FR"/>
          </a:p>
        </p:txBody>
      </p:sp>
    </p:spTree>
    <p:extLst>
      <p:ext uri="{BB962C8B-B14F-4D97-AF65-F5344CB8AC3E}">
        <p14:creationId xmlns:p14="http://schemas.microsoft.com/office/powerpoint/2010/main" val="2287586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0B8F5D-F2E2-9A78-D7C5-0D578AFE73E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208CC5F-FB16-635D-0B86-16EC95903BA0}"/>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A7B40FE-3C54-5390-578E-2A5F0330F26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FFB56D25-76B3-7E28-78FB-6D1F9A722EB5}"/>
              </a:ext>
            </a:extLst>
          </p:cNvPr>
          <p:cNvSpPr>
            <a:spLocks noGrp="1"/>
          </p:cNvSpPr>
          <p:nvPr>
            <p:ph type="dt" sz="half" idx="10"/>
          </p:nvPr>
        </p:nvSpPr>
        <p:spPr/>
        <p:txBody>
          <a:bodyPr/>
          <a:lstStyle/>
          <a:p>
            <a:fld id="{9788FC3C-152B-4D76-AA9F-3776DEA6211B}" type="datetimeFigureOut">
              <a:rPr lang="fr-FR" smtClean="0"/>
              <a:t>07/09/2026</a:t>
            </a:fld>
            <a:endParaRPr lang="fr-FR"/>
          </a:p>
        </p:txBody>
      </p:sp>
      <p:sp>
        <p:nvSpPr>
          <p:cNvPr id="6" name="Espace réservé du pied de page 5">
            <a:extLst>
              <a:ext uri="{FF2B5EF4-FFF2-40B4-BE49-F238E27FC236}">
                <a16:creationId xmlns:a16="http://schemas.microsoft.com/office/drawing/2014/main" id="{B0FA6E50-8168-FDBD-1768-B2CA8CE1CEA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EDCCF38-C7F8-EBC4-8667-CCCC74CD3A48}"/>
              </a:ext>
            </a:extLst>
          </p:cNvPr>
          <p:cNvSpPr>
            <a:spLocks noGrp="1"/>
          </p:cNvSpPr>
          <p:nvPr>
            <p:ph type="sldNum" sz="quarter" idx="12"/>
          </p:nvPr>
        </p:nvSpPr>
        <p:spPr/>
        <p:txBody>
          <a:bodyPr/>
          <a:lstStyle/>
          <a:p>
            <a:fld id="{CA66CD1A-E68E-469F-AFAE-F69466E75D8E}" type="slidenum">
              <a:rPr lang="fr-FR" smtClean="0"/>
              <a:t>‹N°›</a:t>
            </a:fld>
            <a:endParaRPr lang="fr-FR"/>
          </a:p>
        </p:txBody>
      </p:sp>
    </p:spTree>
    <p:extLst>
      <p:ext uri="{BB962C8B-B14F-4D97-AF65-F5344CB8AC3E}">
        <p14:creationId xmlns:p14="http://schemas.microsoft.com/office/powerpoint/2010/main" val="3459050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F4FF7E-3062-0032-33F3-B65D25C65F9D}"/>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53827BCA-1433-81A7-BBF2-70122E2F02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33F6606-0B9A-31DE-60A3-6482A0986C9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3B7AAA5A-983C-5EE1-83CD-CFCD607C9E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8462214-D1A7-E92B-145C-2752D70E0291}"/>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7F3AF2E0-B007-B90A-EBCC-9D8143C3830A}"/>
              </a:ext>
            </a:extLst>
          </p:cNvPr>
          <p:cNvSpPr>
            <a:spLocks noGrp="1"/>
          </p:cNvSpPr>
          <p:nvPr>
            <p:ph type="dt" sz="half" idx="10"/>
          </p:nvPr>
        </p:nvSpPr>
        <p:spPr/>
        <p:txBody>
          <a:bodyPr/>
          <a:lstStyle/>
          <a:p>
            <a:fld id="{9788FC3C-152B-4D76-AA9F-3776DEA6211B}" type="datetimeFigureOut">
              <a:rPr lang="fr-FR" smtClean="0"/>
              <a:t>07/09/2026</a:t>
            </a:fld>
            <a:endParaRPr lang="fr-FR"/>
          </a:p>
        </p:txBody>
      </p:sp>
      <p:sp>
        <p:nvSpPr>
          <p:cNvPr id="8" name="Espace réservé du pied de page 7">
            <a:extLst>
              <a:ext uri="{FF2B5EF4-FFF2-40B4-BE49-F238E27FC236}">
                <a16:creationId xmlns:a16="http://schemas.microsoft.com/office/drawing/2014/main" id="{F7C8ACB8-C63B-EEE4-B57D-B987F47A3E32}"/>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C1EA0A0-1848-5A27-58DB-0635B9BF443E}"/>
              </a:ext>
            </a:extLst>
          </p:cNvPr>
          <p:cNvSpPr>
            <a:spLocks noGrp="1"/>
          </p:cNvSpPr>
          <p:nvPr>
            <p:ph type="sldNum" sz="quarter" idx="12"/>
          </p:nvPr>
        </p:nvSpPr>
        <p:spPr/>
        <p:txBody>
          <a:bodyPr/>
          <a:lstStyle/>
          <a:p>
            <a:fld id="{CA66CD1A-E68E-469F-AFAE-F69466E75D8E}" type="slidenum">
              <a:rPr lang="fr-FR" smtClean="0"/>
              <a:t>‹N°›</a:t>
            </a:fld>
            <a:endParaRPr lang="fr-FR"/>
          </a:p>
        </p:txBody>
      </p:sp>
    </p:spTree>
    <p:extLst>
      <p:ext uri="{BB962C8B-B14F-4D97-AF65-F5344CB8AC3E}">
        <p14:creationId xmlns:p14="http://schemas.microsoft.com/office/powerpoint/2010/main" val="916716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0FD58F-C999-8EF4-715F-2D8238925195}"/>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9871452E-6A9E-504B-CDDA-BC193E9E5BB3}"/>
              </a:ext>
            </a:extLst>
          </p:cNvPr>
          <p:cNvSpPr>
            <a:spLocks noGrp="1"/>
          </p:cNvSpPr>
          <p:nvPr>
            <p:ph type="dt" sz="half" idx="10"/>
          </p:nvPr>
        </p:nvSpPr>
        <p:spPr/>
        <p:txBody>
          <a:bodyPr/>
          <a:lstStyle/>
          <a:p>
            <a:fld id="{9788FC3C-152B-4D76-AA9F-3776DEA6211B}" type="datetimeFigureOut">
              <a:rPr lang="fr-FR" smtClean="0"/>
              <a:t>07/09/2026</a:t>
            </a:fld>
            <a:endParaRPr lang="fr-FR"/>
          </a:p>
        </p:txBody>
      </p:sp>
      <p:sp>
        <p:nvSpPr>
          <p:cNvPr id="4" name="Espace réservé du pied de page 3">
            <a:extLst>
              <a:ext uri="{FF2B5EF4-FFF2-40B4-BE49-F238E27FC236}">
                <a16:creationId xmlns:a16="http://schemas.microsoft.com/office/drawing/2014/main" id="{AA61DEB5-5C1B-12F0-96CC-E8F44A7A4429}"/>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55B77513-8597-8FF9-8E14-2F254401100C}"/>
              </a:ext>
            </a:extLst>
          </p:cNvPr>
          <p:cNvSpPr>
            <a:spLocks noGrp="1"/>
          </p:cNvSpPr>
          <p:nvPr>
            <p:ph type="sldNum" sz="quarter" idx="12"/>
          </p:nvPr>
        </p:nvSpPr>
        <p:spPr/>
        <p:txBody>
          <a:bodyPr/>
          <a:lstStyle/>
          <a:p>
            <a:fld id="{CA66CD1A-E68E-469F-AFAE-F69466E75D8E}" type="slidenum">
              <a:rPr lang="fr-FR" smtClean="0"/>
              <a:t>‹N°›</a:t>
            </a:fld>
            <a:endParaRPr lang="fr-FR"/>
          </a:p>
        </p:txBody>
      </p:sp>
    </p:spTree>
    <p:extLst>
      <p:ext uri="{BB962C8B-B14F-4D97-AF65-F5344CB8AC3E}">
        <p14:creationId xmlns:p14="http://schemas.microsoft.com/office/powerpoint/2010/main" val="2617700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B827055-625F-6271-0C4D-A0B2D5007BF7}"/>
              </a:ext>
            </a:extLst>
          </p:cNvPr>
          <p:cNvSpPr>
            <a:spLocks noGrp="1"/>
          </p:cNvSpPr>
          <p:nvPr>
            <p:ph type="dt" sz="half" idx="10"/>
          </p:nvPr>
        </p:nvSpPr>
        <p:spPr/>
        <p:txBody>
          <a:bodyPr/>
          <a:lstStyle/>
          <a:p>
            <a:fld id="{9788FC3C-152B-4D76-AA9F-3776DEA6211B}" type="datetimeFigureOut">
              <a:rPr lang="fr-FR" smtClean="0"/>
              <a:t>07/09/2026</a:t>
            </a:fld>
            <a:endParaRPr lang="fr-FR"/>
          </a:p>
        </p:txBody>
      </p:sp>
      <p:sp>
        <p:nvSpPr>
          <p:cNvPr id="3" name="Espace réservé du pied de page 2">
            <a:extLst>
              <a:ext uri="{FF2B5EF4-FFF2-40B4-BE49-F238E27FC236}">
                <a16:creationId xmlns:a16="http://schemas.microsoft.com/office/drawing/2014/main" id="{F1C87977-5E96-9F6A-9BAA-B124FEBBCF0B}"/>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12863394-AC23-9F34-A65B-0926F2F7C27F}"/>
              </a:ext>
            </a:extLst>
          </p:cNvPr>
          <p:cNvSpPr>
            <a:spLocks noGrp="1"/>
          </p:cNvSpPr>
          <p:nvPr>
            <p:ph type="sldNum" sz="quarter" idx="12"/>
          </p:nvPr>
        </p:nvSpPr>
        <p:spPr/>
        <p:txBody>
          <a:bodyPr/>
          <a:lstStyle/>
          <a:p>
            <a:fld id="{CA66CD1A-E68E-469F-AFAE-F69466E75D8E}" type="slidenum">
              <a:rPr lang="fr-FR" smtClean="0"/>
              <a:t>‹N°›</a:t>
            </a:fld>
            <a:endParaRPr lang="fr-FR"/>
          </a:p>
        </p:txBody>
      </p:sp>
    </p:spTree>
    <p:extLst>
      <p:ext uri="{BB962C8B-B14F-4D97-AF65-F5344CB8AC3E}">
        <p14:creationId xmlns:p14="http://schemas.microsoft.com/office/powerpoint/2010/main" val="2408253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93D414-00B8-1119-4083-5B64712AACE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0337D1F6-177C-270C-2148-54E74C9EF0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1B87CB1-9295-6073-0FAB-5254B9088D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C68EE54-A77C-BF1A-9255-BE0408C4FCE4}"/>
              </a:ext>
            </a:extLst>
          </p:cNvPr>
          <p:cNvSpPr>
            <a:spLocks noGrp="1"/>
          </p:cNvSpPr>
          <p:nvPr>
            <p:ph type="dt" sz="half" idx="10"/>
          </p:nvPr>
        </p:nvSpPr>
        <p:spPr/>
        <p:txBody>
          <a:bodyPr/>
          <a:lstStyle/>
          <a:p>
            <a:fld id="{9788FC3C-152B-4D76-AA9F-3776DEA6211B}" type="datetimeFigureOut">
              <a:rPr lang="fr-FR" smtClean="0"/>
              <a:t>07/09/2026</a:t>
            </a:fld>
            <a:endParaRPr lang="fr-FR"/>
          </a:p>
        </p:txBody>
      </p:sp>
      <p:sp>
        <p:nvSpPr>
          <p:cNvPr id="6" name="Espace réservé du pied de page 5">
            <a:extLst>
              <a:ext uri="{FF2B5EF4-FFF2-40B4-BE49-F238E27FC236}">
                <a16:creationId xmlns:a16="http://schemas.microsoft.com/office/drawing/2014/main" id="{3ED09452-78C7-ADF0-9AD6-87727408001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5BBB654-A8C5-A115-85DE-ADB6065212FD}"/>
              </a:ext>
            </a:extLst>
          </p:cNvPr>
          <p:cNvSpPr>
            <a:spLocks noGrp="1"/>
          </p:cNvSpPr>
          <p:nvPr>
            <p:ph type="sldNum" sz="quarter" idx="12"/>
          </p:nvPr>
        </p:nvSpPr>
        <p:spPr/>
        <p:txBody>
          <a:bodyPr/>
          <a:lstStyle/>
          <a:p>
            <a:fld id="{CA66CD1A-E68E-469F-AFAE-F69466E75D8E}" type="slidenum">
              <a:rPr lang="fr-FR" smtClean="0"/>
              <a:t>‹N°›</a:t>
            </a:fld>
            <a:endParaRPr lang="fr-FR"/>
          </a:p>
        </p:txBody>
      </p:sp>
    </p:spTree>
    <p:extLst>
      <p:ext uri="{BB962C8B-B14F-4D97-AF65-F5344CB8AC3E}">
        <p14:creationId xmlns:p14="http://schemas.microsoft.com/office/powerpoint/2010/main" val="4057161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AC956A-47E7-070A-DC01-DDAA28A3B6F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CDE4015F-E203-FAC3-3A8B-C6349756C8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BE165F97-B687-8484-FFC1-C1E16C928C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EAB5D7E-1A06-7B3E-ECF1-2633FEE53A5F}"/>
              </a:ext>
            </a:extLst>
          </p:cNvPr>
          <p:cNvSpPr>
            <a:spLocks noGrp="1"/>
          </p:cNvSpPr>
          <p:nvPr>
            <p:ph type="dt" sz="half" idx="10"/>
          </p:nvPr>
        </p:nvSpPr>
        <p:spPr/>
        <p:txBody>
          <a:bodyPr/>
          <a:lstStyle/>
          <a:p>
            <a:fld id="{9788FC3C-152B-4D76-AA9F-3776DEA6211B}" type="datetimeFigureOut">
              <a:rPr lang="fr-FR" smtClean="0"/>
              <a:t>07/09/2026</a:t>
            </a:fld>
            <a:endParaRPr lang="fr-FR"/>
          </a:p>
        </p:txBody>
      </p:sp>
      <p:sp>
        <p:nvSpPr>
          <p:cNvPr id="6" name="Espace réservé du pied de page 5">
            <a:extLst>
              <a:ext uri="{FF2B5EF4-FFF2-40B4-BE49-F238E27FC236}">
                <a16:creationId xmlns:a16="http://schemas.microsoft.com/office/drawing/2014/main" id="{8227D177-2422-A4F5-47D5-992DBFC5EF7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D51464C-E261-FDC8-BFDF-82966A9A2C56}"/>
              </a:ext>
            </a:extLst>
          </p:cNvPr>
          <p:cNvSpPr>
            <a:spLocks noGrp="1"/>
          </p:cNvSpPr>
          <p:nvPr>
            <p:ph type="sldNum" sz="quarter" idx="12"/>
          </p:nvPr>
        </p:nvSpPr>
        <p:spPr/>
        <p:txBody>
          <a:bodyPr/>
          <a:lstStyle/>
          <a:p>
            <a:fld id="{CA66CD1A-E68E-469F-AFAE-F69466E75D8E}" type="slidenum">
              <a:rPr lang="fr-FR" smtClean="0"/>
              <a:t>‹N°›</a:t>
            </a:fld>
            <a:endParaRPr lang="fr-FR"/>
          </a:p>
        </p:txBody>
      </p:sp>
    </p:spTree>
    <p:extLst>
      <p:ext uri="{BB962C8B-B14F-4D97-AF65-F5344CB8AC3E}">
        <p14:creationId xmlns:p14="http://schemas.microsoft.com/office/powerpoint/2010/main" val="785369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AB50CD-F4C9-9806-5FC9-22D251AB734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78FC2D55-3359-B048-EF6E-59E5FDAA484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91C3DF1-27FB-570F-43E0-EAAB3E5905B0}"/>
              </a:ext>
            </a:extLst>
          </p:cNvPr>
          <p:cNvSpPr>
            <a:spLocks noGrp="1"/>
          </p:cNvSpPr>
          <p:nvPr>
            <p:ph type="dt" sz="half" idx="10"/>
          </p:nvPr>
        </p:nvSpPr>
        <p:spPr/>
        <p:txBody>
          <a:bodyPr/>
          <a:lstStyle/>
          <a:p>
            <a:fld id="{9788FC3C-152B-4D76-AA9F-3776DEA6211B}" type="datetimeFigureOut">
              <a:rPr lang="fr-FR" smtClean="0"/>
              <a:t>07/09/2026</a:t>
            </a:fld>
            <a:endParaRPr lang="fr-FR"/>
          </a:p>
        </p:txBody>
      </p:sp>
      <p:sp>
        <p:nvSpPr>
          <p:cNvPr id="5" name="Espace réservé du pied de page 4">
            <a:extLst>
              <a:ext uri="{FF2B5EF4-FFF2-40B4-BE49-F238E27FC236}">
                <a16:creationId xmlns:a16="http://schemas.microsoft.com/office/drawing/2014/main" id="{12C29772-FC11-DEE4-E1DE-0755940E2D9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9CAC22E-3858-6CBC-CA35-3589F04305AA}"/>
              </a:ext>
            </a:extLst>
          </p:cNvPr>
          <p:cNvSpPr>
            <a:spLocks noGrp="1"/>
          </p:cNvSpPr>
          <p:nvPr>
            <p:ph type="sldNum" sz="quarter" idx="12"/>
          </p:nvPr>
        </p:nvSpPr>
        <p:spPr/>
        <p:txBody>
          <a:bodyPr/>
          <a:lstStyle/>
          <a:p>
            <a:fld id="{CA66CD1A-E68E-469F-AFAE-F69466E75D8E}" type="slidenum">
              <a:rPr lang="fr-FR" smtClean="0"/>
              <a:t>‹N°›</a:t>
            </a:fld>
            <a:endParaRPr lang="fr-FR"/>
          </a:p>
        </p:txBody>
      </p:sp>
    </p:spTree>
    <p:extLst>
      <p:ext uri="{BB962C8B-B14F-4D97-AF65-F5344CB8AC3E}">
        <p14:creationId xmlns:p14="http://schemas.microsoft.com/office/powerpoint/2010/main" val="1989933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924D1067-3BFF-5F61-DE5A-9DE70C881993}"/>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1C82D4A-21C6-AF02-A2A8-DB3B6101CDBD}"/>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FBD7069-95BE-ED10-A778-DC8E6A409653}"/>
              </a:ext>
            </a:extLst>
          </p:cNvPr>
          <p:cNvSpPr>
            <a:spLocks noGrp="1"/>
          </p:cNvSpPr>
          <p:nvPr>
            <p:ph type="dt" sz="half" idx="10"/>
          </p:nvPr>
        </p:nvSpPr>
        <p:spPr/>
        <p:txBody>
          <a:bodyPr/>
          <a:lstStyle/>
          <a:p>
            <a:fld id="{9788FC3C-152B-4D76-AA9F-3776DEA6211B}" type="datetimeFigureOut">
              <a:rPr lang="fr-FR" smtClean="0"/>
              <a:t>07/09/2026</a:t>
            </a:fld>
            <a:endParaRPr lang="fr-FR"/>
          </a:p>
        </p:txBody>
      </p:sp>
      <p:sp>
        <p:nvSpPr>
          <p:cNvPr id="5" name="Espace réservé du pied de page 4">
            <a:extLst>
              <a:ext uri="{FF2B5EF4-FFF2-40B4-BE49-F238E27FC236}">
                <a16:creationId xmlns:a16="http://schemas.microsoft.com/office/drawing/2014/main" id="{FC3735B4-C842-8A4A-F8BA-AC29E2DA0A7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927BF9F-4068-953A-9232-040ACF704629}"/>
              </a:ext>
            </a:extLst>
          </p:cNvPr>
          <p:cNvSpPr>
            <a:spLocks noGrp="1"/>
          </p:cNvSpPr>
          <p:nvPr>
            <p:ph type="sldNum" sz="quarter" idx="12"/>
          </p:nvPr>
        </p:nvSpPr>
        <p:spPr/>
        <p:txBody>
          <a:bodyPr/>
          <a:lstStyle/>
          <a:p>
            <a:fld id="{CA66CD1A-E68E-469F-AFAE-F69466E75D8E}" type="slidenum">
              <a:rPr lang="fr-FR" smtClean="0"/>
              <a:t>‹N°›</a:t>
            </a:fld>
            <a:endParaRPr lang="fr-FR"/>
          </a:p>
        </p:txBody>
      </p:sp>
    </p:spTree>
    <p:extLst>
      <p:ext uri="{BB962C8B-B14F-4D97-AF65-F5344CB8AC3E}">
        <p14:creationId xmlns:p14="http://schemas.microsoft.com/office/powerpoint/2010/main" val="3721421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9EBDD373-998E-B0AD-3922-2D3EB0223D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0B93D0E3-E4F8-B5F5-E8C9-CBDBE85F09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9FBA648-5D43-1D17-4BA9-830DBC062B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88FC3C-152B-4D76-AA9F-3776DEA6211B}" type="datetimeFigureOut">
              <a:rPr lang="fr-FR" smtClean="0"/>
              <a:t>07/09/2026</a:t>
            </a:fld>
            <a:endParaRPr lang="fr-FR"/>
          </a:p>
        </p:txBody>
      </p:sp>
      <p:sp>
        <p:nvSpPr>
          <p:cNvPr id="5" name="Espace réservé du pied de page 4">
            <a:extLst>
              <a:ext uri="{FF2B5EF4-FFF2-40B4-BE49-F238E27FC236}">
                <a16:creationId xmlns:a16="http://schemas.microsoft.com/office/drawing/2014/main" id="{0E6576CE-40A1-47EE-BC42-C569292BDF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91A3BEEB-99AA-1C62-8FE9-0DF9D5F03C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A66CD1A-E68E-469F-AFAE-F69466E75D8E}" type="slidenum">
              <a:rPr lang="fr-FR" smtClean="0"/>
              <a:t>‹N°›</a:t>
            </a:fld>
            <a:endParaRPr lang="fr-FR"/>
          </a:p>
        </p:txBody>
      </p:sp>
    </p:spTree>
    <p:extLst>
      <p:ext uri="{BB962C8B-B14F-4D97-AF65-F5344CB8AC3E}">
        <p14:creationId xmlns:p14="http://schemas.microsoft.com/office/powerpoint/2010/main" val="30943870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02435B0-17D5-2D7D-849E-10513F523C9E}"/>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E0B7634B-3735-082D-9E8D-190B1660AD39}"/>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8C8A8B5A-0670-0E7F-87B9-265FB7C7D37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715000" y="571500"/>
            <a:ext cx="5969000" cy="5715000"/>
          </a:xfrm>
          <a:prstGeom prst="rect">
            <a:avLst/>
          </a:prstGeom>
          <a:ln w="19050">
            <a:solidFill>
              <a:srgbClr val="A855F7"/>
            </a:solidFill>
          </a:ln>
        </p:spPr>
      </p:pic>
      <p:sp>
        <p:nvSpPr>
          <p:cNvPr id="6" name="ZoneTexte 5">
            <a:extLst>
              <a:ext uri="{FF2B5EF4-FFF2-40B4-BE49-F238E27FC236}">
                <a16:creationId xmlns:a16="http://schemas.microsoft.com/office/drawing/2014/main" id="{114906B2-038E-FBCA-C7D5-D4673204CB3B}"/>
              </a:ext>
            </a:extLst>
          </p:cNvPr>
          <p:cNvSpPr txBox="1"/>
          <p:nvPr/>
        </p:nvSpPr>
        <p:spPr>
          <a:xfrm>
            <a:off x="571500" y="1079500"/>
            <a:ext cx="4953000" cy="2354491"/>
          </a:xfrm>
          <a:prstGeom prst="rect">
            <a:avLst/>
          </a:prstGeom>
          <a:noFill/>
        </p:spPr>
        <p:txBody>
          <a:bodyPr vert="horz" wrap="square" rtlCol="0">
            <a:spAutoFit/>
          </a:bodyPr>
          <a:lstStyle/>
          <a:p>
            <a:r>
              <a:rPr lang="fr-FR" sz="1000" b="1">
                <a:solidFill>
                  <a:srgbClr val="F43F5E"/>
                </a:solidFill>
                <a:latin typeface="Segoe UI" panose="020B0502040204020203" pitchFamily="34" charset="0"/>
              </a:rPr>
              <a:t>ROBOTICS SESSION SERIES • SESSION 01 / 04</a:t>
            </a:r>
          </a:p>
          <a:p>
            <a:r>
              <a:rPr lang="fr-FR" sz="3400" b="1">
                <a:solidFill>
                  <a:srgbClr val="FFFFFF"/>
                </a:solidFill>
                <a:latin typeface="Segoe UI Semibold" panose="020B0702040204020203" pitchFamily="34" charset="0"/>
              </a:rPr>
              <a:t>ROBOTICS
FUNDAMENTALS</a:t>
            </a:r>
          </a:p>
          <a:p>
            <a:r>
              <a:rPr lang="fr-FR" sz="1400" b="1">
                <a:solidFill>
                  <a:srgbClr val="38BDF8"/>
                </a:solidFill>
                <a:latin typeface="Segoe UI" panose="020B0502040204020203" pitchFamily="34" charset="0"/>
              </a:rPr>
              <a:t>Mechanical, Electrical Systems &amp; Design</a:t>
            </a:r>
          </a:p>
          <a:p>
            <a:r>
              <a:rPr lang="en-US" sz="1100">
                <a:solidFill>
                  <a:srgbClr val="94A3B8"/>
                </a:solidFill>
                <a:latin typeface="Segoe UI" panose="020B0502040204020203" pitchFamily="34" charset="0"/>
              </a:rPr>
              <a:t>How a robot becomes a real, functioning physical system.</a:t>
            </a:r>
          </a:p>
          <a:p>
            <a:r>
              <a:rPr lang="en-US" sz="1100">
                <a:solidFill>
                  <a:srgbClr val="94A3B8"/>
                </a:solidFill>
                <a:latin typeface="Segoe UI" panose="020B0502040204020203" pitchFamily="34" charset="0"/>
              </a:rPr>
              <a:t>Links • Motors • Power • Structure • Testing</a:t>
            </a:r>
          </a:p>
          <a:p>
            <a:r>
              <a:rPr lang="en-US" sz="1100">
                <a:solidFill>
                  <a:srgbClr val="94A3B8"/>
                </a:solidFill>
                <a:latin typeface="Segoe UI" panose="020B0502040204020203" pitchFamily="34" charset="0"/>
              </a:rPr>
              <a:t>
</a:t>
            </a:r>
            <a:r>
              <a:rPr lang="en-US" sz="1000" b="1">
                <a:solidFill>
                  <a:srgbClr val="FBBF24"/>
                </a:solidFill>
                <a:latin typeface="Segoe UI" panose="020B0502040204020203" pitchFamily="34" charset="0"/>
              </a:rPr>
              <a:t>THURSDAY • 10 SEPTEMBER 2026 • 20:00 GMT+3
ONLINE INTERACTIVE WORKSHOP FOR BEGINNERS &amp; MAKERS</a:t>
            </a:r>
            <a:endParaRPr lang="fr-FR" sz="1000" b="1">
              <a:solidFill>
                <a:srgbClr val="FBBF24"/>
              </a:solidFill>
              <a:latin typeface="Segoe UI" panose="020B0502040204020203" pitchFamily="34" charset="0"/>
            </a:endParaRPr>
          </a:p>
        </p:txBody>
      </p:sp>
    </p:spTree>
    <p:extLst>
      <p:ext uri="{BB962C8B-B14F-4D97-AF65-F5344CB8AC3E}">
        <p14:creationId xmlns:p14="http://schemas.microsoft.com/office/powerpoint/2010/main" val="1590576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DD01964-03A3-B683-2EC0-3AE76E154B3B}"/>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ACB8E5B3-318D-709E-4A2E-0649D714D9D0}"/>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810B280D-C48E-D107-31C1-88EF44330A27}"/>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B258308E-19C3-C7CC-DEF4-892253F95040}"/>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INTERACTIVE POLL  </a:t>
            </a:r>
          </a:p>
        </p:txBody>
      </p:sp>
      <p:sp>
        <p:nvSpPr>
          <p:cNvPr id="6" name="ZoneTexte 5">
            <a:extLst>
              <a:ext uri="{FF2B5EF4-FFF2-40B4-BE49-F238E27FC236}">
                <a16:creationId xmlns:a16="http://schemas.microsoft.com/office/drawing/2014/main" id="{499A4D37-BB34-10DF-9998-C525A8463AFC}"/>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WHAT ACTUALLY MAKES A ROBOT MOVE?</a:t>
            </a:r>
            <a:endParaRPr lang="fr-FR" sz="2200" b="1">
              <a:solidFill>
                <a:srgbClr val="FFFFFF"/>
              </a:solidFill>
              <a:latin typeface="Segoe UI Semibold" panose="020B0702040204020203" pitchFamily="34" charset="0"/>
            </a:endParaRPr>
          </a:p>
        </p:txBody>
      </p:sp>
      <p:sp>
        <p:nvSpPr>
          <p:cNvPr id="7" name="Rectangle : coins arrondis 6">
            <a:extLst>
              <a:ext uri="{FF2B5EF4-FFF2-40B4-BE49-F238E27FC236}">
                <a16:creationId xmlns:a16="http://schemas.microsoft.com/office/drawing/2014/main" id="{18FED730-763B-E828-269A-3C42B2783287}"/>
              </a:ext>
            </a:extLst>
          </p:cNvPr>
          <p:cNvSpPr/>
          <p:nvPr/>
        </p:nvSpPr>
        <p:spPr>
          <a:xfrm>
            <a:off x="508000" y="1206500"/>
            <a:ext cx="5334000" cy="51435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AF83CE0B-C229-DABA-8158-4720F26CC682}"/>
              </a:ext>
            </a:extLst>
          </p:cNvPr>
          <p:cNvSpPr txBox="1"/>
          <p:nvPr/>
        </p:nvSpPr>
        <p:spPr>
          <a:xfrm>
            <a:off x="698500" y="1333500"/>
            <a:ext cx="4953000" cy="3262432"/>
          </a:xfrm>
          <a:prstGeom prst="rect">
            <a:avLst/>
          </a:prstGeom>
          <a:noFill/>
        </p:spPr>
        <p:txBody>
          <a:bodyPr vert="horz" wrap="square" rtlCol="0">
            <a:spAutoFit/>
          </a:bodyPr>
          <a:lstStyle/>
          <a:p>
            <a:r>
              <a:rPr lang="en-US" sz="1500" b="1">
                <a:solidFill>
                  <a:srgbClr val="38BDF8"/>
                </a:solidFill>
                <a:latin typeface="Segoe UI Semibold" panose="020B0702040204020203" pitchFamily="34" charset="0"/>
              </a:rPr>
              <a:t>Think of a Robot Like a Human Body:</a:t>
            </a:r>
          </a:p>
          <a:p>
            <a:r>
              <a:rPr lang="en-US" sz="1500" b="1">
                <a:solidFill>
                  <a:srgbClr val="38BDF8"/>
                </a:solidFill>
                <a:latin typeface="Segoe UI Semibold" panose="020B0702040204020203" pitchFamily="34" charset="0"/>
              </a:rPr>
              <a:t>
</a:t>
            </a:r>
            <a:r>
              <a:rPr lang="en-US" sz="1200" b="1">
                <a:solidFill>
                  <a:srgbClr val="FFFFFF"/>
                </a:solidFill>
                <a:latin typeface="Segoe UI" panose="020B0502040204020203" pitchFamily="34" charset="0"/>
              </a:rPr>
              <a:t>🧠  SOFTWARE — The Brain
</a:t>
            </a:r>
            <a:r>
              <a:rPr lang="en-US" sz="1000" b="1">
                <a:solidFill>
                  <a:srgbClr val="94A3B8"/>
                </a:solidFill>
                <a:latin typeface="Segoe UI" panose="020B0502040204020203" pitchFamily="34" charset="0"/>
              </a:rPr>
              <a:t>    Decides where to reach and plans the path.
</a:t>
            </a:r>
            <a:r>
              <a:rPr lang="en-US" sz="1200" b="1">
                <a:solidFill>
                  <a:srgbClr val="FFFFFF"/>
                </a:solidFill>
                <a:latin typeface="Segoe UI" panose="020B0502040204020203" pitchFamily="34" charset="0"/>
              </a:rPr>
              <a:t>⚡  ELECTRONICS — The Nerves
</a:t>
            </a:r>
            <a:r>
              <a:rPr lang="en-US" sz="1000" b="1">
                <a:solidFill>
                  <a:srgbClr val="94A3B8"/>
                </a:solidFill>
                <a:latin typeface="Segoe UI" panose="020B0502040204020203" pitchFamily="34" charset="0"/>
              </a:rPr>
              <a:t>    Carries high-power signals to where they are needed.
</a:t>
            </a:r>
            <a:r>
              <a:rPr lang="en-US" sz="1200" b="1">
                <a:solidFill>
                  <a:srgbClr val="FFFFFF"/>
                </a:solidFill>
                <a:latin typeface="Segoe UI" panose="020B0502040204020203" pitchFamily="34" charset="0"/>
              </a:rPr>
              <a:t>💪  MOTORS — The Muscles
</a:t>
            </a:r>
            <a:r>
              <a:rPr lang="en-US" sz="1000" b="1">
                <a:solidFill>
                  <a:srgbClr val="94A3B8"/>
                </a:solidFill>
                <a:latin typeface="Segoe UI" panose="020B0502040204020203" pitchFamily="34" charset="0"/>
              </a:rPr>
              <a:t>    Converts electric energy into pulling/turning force.
</a:t>
            </a:r>
            <a:r>
              <a:rPr lang="en-US" sz="1200" b="1">
                <a:solidFill>
                  <a:srgbClr val="FFFFFF"/>
                </a:solidFill>
                <a:latin typeface="Segoe UI" panose="020B0502040204020203" pitchFamily="34" charset="0"/>
              </a:rPr>
              <a:t>🦴  MECHANICS — The Skeleton
</a:t>
            </a:r>
            <a:r>
              <a:rPr lang="en-US" sz="1000" b="1">
                <a:solidFill>
                  <a:srgbClr val="94A3B8"/>
                </a:solidFill>
                <a:latin typeface="Segoe UI" panose="020B0502040204020203" pitchFamily="34" charset="0"/>
              </a:rPr>
              <a:t>    Bones and joints that give the arm reach and stiffness.
</a:t>
            </a:r>
            <a:r>
              <a:rPr lang="en-US" sz="1200" b="1">
                <a:solidFill>
                  <a:srgbClr val="FFFFFF"/>
                </a:solidFill>
                <a:latin typeface="Segoe UI" panose="020B0502040204020203" pitchFamily="34" charset="0"/>
              </a:rPr>
              <a:t>🎯  MOTION — The Action
</a:t>
            </a:r>
            <a:r>
              <a:rPr lang="en-US" sz="1000" b="1">
                <a:solidFill>
                  <a:srgbClr val="94A3B8"/>
                </a:solidFill>
                <a:latin typeface="Segoe UI" panose="020B0502040204020203" pitchFamily="34" charset="0"/>
              </a:rPr>
              <a:t>    The hand finally arrives at the target!
</a:t>
            </a:r>
            <a:endParaRPr lang="fr-FR" sz="1000" b="1">
              <a:solidFill>
                <a:srgbClr val="94A3B8"/>
              </a:solidFill>
              <a:latin typeface="Segoe UI" panose="020B0502040204020203" pitchFamily="34" charset="0"/>
            </a:endParaRPr>
          </a:p>
        </p:txBody>
      </p:sp>
      <p:sp>
        <p:nvSpPr>
          <p:cNvPr id="9" name="Rectangle : coins arrondis 8">
            <a:extLst>
              <a:ext uri="{FF2B5EF4-FFF2-40B4-BE49-F238E27FC236}">
                <a16:creationId xmlns:a16="http://schemas.microsoft.com/office/drawing/2014/main" id="{D08CF4BE-60A5-B4E2-0450-ADAE016D5E1B}"/>
              </a:ext>
            </a:extLst>
          </p:cNvPr>
          <p:cNvSpPr/>
          <p:nvPr/>
        </p:nvSpPr>
        <p:spPr>
          <a:xfrm>
            <a:off x="6223000" y="1206500"/>
            <a:ext cx="5461000" cy="5143500"/>
          </a:xfrm>
          <a:prstGeom prst="roundRect">
            <a:avLst/>
          </a:prstGeom>
          <a:solidFill>
            <a:srgbClr val="18101A"/>
          </a:solidFill>
          <a:ln w="12700">
            <a:solidFill>
              <a:srgbClr val="F43F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A9B65976-184D-B467-1189-601A5CEBF251}"/>
              </a:ext>
            </a:extLst>
          </p:cNvPr>
          <p:cNvSpPr txBox="1"/>
          <p:nvPr/>
        </p:nvSpPr>
        <p:spPr>
          <a:xfrm>
            <a:off x="6477000" y="1460500"/>
            <a:ext cx="4953000" cy="2954655"/>
          </a:xfrm>
          <a:prstGeom prst="rect">
            <a:avLst/>
          </a:prstGeom>
          <a:noFill/>
        </p:spPr>
        <p:txBody>
          <a:bodyPr vert="horz" wrap="square" rtlCol="0">
            <a:spAutoFit/>
          </a:bodyPr>
          <a:lstStyle/>
          <a:p>
            <a:r>
              <a:rPr lang="fr-FR" sz="1600" b="1">
                <a:solidFill>
                  <a:srgbClr val="F43F5E"/>
                </a:solidFill>
                <a:latin typeface="Segoe UI" panose="020B0502040204020203" pitchFamily="34" charset="0"/>
              </a:rPr>
              <a:t>LIVE AUDIENCE POLL</a:t>
            </a:r>
          </a:p>
          <a:p>
            <a:r>
              <a:rPr lang="en-US" sz="1300" b="1">
                <a:solidFill>
                  <a:srgbClr val="FFFFFF"/>
                </a:solidFill>
                <a:latin typeface="Segoe UI" panose="020B0502040204020203" pitchFamily="34" charset="0"/>
              </a:rPr>
              <a:t>Which one is the MOST important for a great robot?</a:t>
            </a:r>
          </a:p>
          <a:p>
            <a:r>
              <a:rPr lang="en-US" sz="1300" b="1">
                <a:solidFill>
                  <a:srgbClr val="FFFFFF"/>
                </a:solidFill>
                <a:latin typeface="Segoe UI" panose="020B0502040204020203" pitchFamily="34" charset="0"/>
              </a:rPr>
              <a:t>
</a:t>
            </a:r>
            <a:r>
              <a:rPr lang="en-US" sz="1200" b="1">
                <a:solidFill>
                  <a:srgbClr val="FBBF24"/>
                </a:solidFill>
                <a:latin typeface="Segoe UI" panose="020B0502040204020203" pitchFamily="34" charset="0"/>
              </a:rPr>
              <a:t>[A — The Motors]
</a:t>
            </a:r>
            <a:r>
              <a:rPr lang="en-US" sz="1000" b="1">
                <a:solidFill>
                  <a:srgbClr val="94A3B8"/>
                </a:solidFill>
                <a:latin typeface="Segoe UI" panose="020B0502040204020203" pitchFamily="34" charset="0"/>
              </a:rPr>
              <a:t>   Super strong &amp; fast muscles
</a:t>
            </a:r>
            <a:r>
              <a:rPr lang="en-US" sz="1200" b="1">
                <a:solidFill>
                  <a:srgbClr val="FBBF24"/>
                </a:solidFill>
                <a:latin typeface="Segoe UI" panose="020B0502040204020203" pitchFamily="34" charset="0"/>
              </a:rPr>
              <a:t>[B — The Electronics]
</a:t>
            </a:r>
            <a:r>
              <a:rPr lang="en-US" sz="1000" b="1">
                <a:solidFill>
                  <a:srgbClr val="94A3B8"/>
                </a:solidFill>
                <a:latin typeface="Segoe UI" panose="020B0502040204020203" pitchFamily="34" charset="0"/>
              </a:rPr>
              <a:t>   Clean power &amp; reliable cables
</a:t>
            </a:r>
            <a:r>
              <a:rPr lang="en-US" sz="1200" b="1">
                <a:solidFill>
                  <a:srgbClr val="FBBF24"/>
                </a:solidFill>
                <a:latin typeface="Segoe UI" panose="020B0502040204020203" pitchFamily="34" charset="0"/>
              </a:rPr>
              <a:t>[C — The Software]
</a:t>
            </a:r>
            <a:r>
              <a:rPr lang="en-US" sz="1000" b="1">
                <a:solidFill>
                  <a:srgbClr val="94A3B8"/>
                </a:solidFill>
                <a:latin typeface="Segoe UI" panose="020B0502040204020203" pitchFamily="34" charset="0"/>
              </a:rPr>
              <a:t>   Smart algorithms &amp; AI
</a:t>
            </a:r>
            <a:r>
              <a:rPr lang="en-US" sz="1200" b="1">
                <a:solidFill>
                  <a:srgbClr val="FBBF24"/>
                </a:solidFill>
                <a:latin typeface="Segoe UI" panose="020B0502040204020203" pitchFamily="34" charset="0"/>
              </a:rPr>
              <a:t>[D — The Mechanical Skeleton]
</a:t>
            </a:r>
            <a:r>
              <a:rPr lang="en-US" sz="1000" b="1">
                <a:solidFill>
                  <a:srgbClr val="94A3B8"/>
                </a:solidFill>
                <a:latin typeface="Segoe UI" panose="020B0502040204020203" pitchFamily="34" charset="0"/>
              </a:rPr>
              <a:t>   Stiff frame &amp; precise joints
</a:t>
            </a:r>
            <a:r>
              <a:rPr lang="en-US" sz="1100" b="1">
                <a:solidFill>
                  <a:srgbClr val="38BDF8"/>
                </a:solidFill>
                <a:latin typeface="Segoe UI" panose="020B0502040204020203" pitchFamily="34" charset="0"/>
              </a:rPr>
              <a:t>👉 Drop your vote (A, B, C, or D) in chat right now!</a:t>
            </a:r>
            <a:endParaRPr lang="fr-FR" sz="1100" b="1">
              <a:solidFill>
                <a:srgbClr val="38BDF8"/>
              </a:solidFill>
              <a:latin typeface="Segoe UI" panose="020B0502040204020203" pitchFamily="34" charset="0"/>
            </a:endParaRPr>
          </a:p>
        </p:txBody>
      </p:sp>
    </p:spTree>
    <p:extLst>
      <p:ext uri="{BB962C8B-B14F-4D97-AF65-F5344CB8AC3E}">
        <p14:creationId xmlns:p14="http://schemas.microsoft.com/office/powerpoint/2010/main" val="2890766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7DA9553-6E9D-8133-AD65-099762B2B675}"/>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535149B2-35B0-F71B-3270-3D766D2CFCF5}"/>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A2213429-5311-AFCF-F40C-5E1896E02AFE}"/>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ZoneTexte 4">
            <a:extLst>
              <a:ext uri="{FF2B5EF4-FFF2-40B4-BE49-F238E27FC236}">
                <a16:creationId xmlns:a16="http://schemas.microsoft.com/office/drawing/2014/main" id="{CA5A3D54-9BCB-FEDC-FC7F-D2F9EAE9E10F}"/>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ROBOTICS = INTEGRATION (The Four Pillars)</a:t>
            </a:r>
            <a:endParaRPr lang="fr-FR" sz="2200" b="1">
              <a:solidFill>
                <a:srgbClr val="FFFFFF"/>
              </a:solidFill>
              <a:latin typeface="Segoe UI Semibold" panose="020B0702040204020203" pitchFamily="34" charset="0"/>
            </a:endParaRPr>
          </a:p>
        </p:txBody>
      </p:sp>
      <p:sp>
        <p:nvSpPr>
          <p:cNvPr id="6" name="Rectangle : coins arrondis 5">
            <a:extLst>
              <a:ext uri="{FF2B5EF4-FFF2-40B4-BE49-F238E27FC236}">
                <a16:creationId xmlns:a16="http://schemas.microsoft.com/office/drawing/2014/main" id="{966C1F23-ED91-1A05-2138-74B5403DD152}"/>
              </a:ext>
            </a:extLst>
          </p:cNvPr>
          <p:cNvSpPr/>
          <p:nvPr/>
        </p:nvSpPr>
        <p:spPr>
          <a:xfrm>
            <a:off x="508000" y="1206500"/>
            <a:ext cx="5334000" cy="24765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6F0293C4-F62D-578A-F82E-34F2FE70AACF}"/>
              </a:ext>
            </a:extLst>
          </p:cNvPr>
          <p:cNvSpPr txBox="1"/>
          <p:nvPr/>
        </p:nvSpPr>
        <p:spPr>
          <a:xfrm>
            <a:off x="711200" y="1384300"/>
            <a:ext cx="4927600" cy="984885"/>
          </a:xfrm>
          <a:prstGeom prst="rect">
            <a:avLst/>
          </a:prstGeom>
          <a:noFill/>
        </p:spPr>
        <p:txBody>
          <a:bodyPr vert="horz" wrap="square" rtlCol="0">
            <a:spAutoFit/>
          </a:bodyPr>
          <a:lstStyle/>
          <a:p>
            <a:r>
              <a:rPr lang="fr-FR" sz="1400" b="1">
                <a:solidFill>
                  <a:srgbClr val="38BDF8"/>
                </a:solidFill>
                <a:latin typeface="Segoe UI Semibold" panose="020B0702040204020203" pitchFamily="34" charset="0"/>
              </a:rPr>
              <a:t>01. MECHANICS</a:t>
            </a:r>
          </a:p>
          <a:p>
            <a:r>
              <a:rPr lang="fr-FR" sz="1100" b="1">
                <a:solidFill>
                  <a:srgbClr val="FFFFFF"/>
                </a:solidFill>
                <a:latin typeface="Segoe UI" panose="020B0502040204020203" pitchFamily="34" charset="0"/>
              </a:rPr>
              <a:t>The Physical Skeleton</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Bones (Links), Hinges (Joints), and Gears. Gives the robot reach, strength, and structural stiffness.</a:t>
            </a:r>
            <a:endParaRPr lang="fr-FR" sz="1000" b="1">
              <a:solidFill>
                <a:srgbClr val="94A3B8"/>
              </a:solidFill>
              <a:latin typeface="Segoe UI" panose="020B0502040204020203" pitchFamily="34" charset="0"/>
            </a:endParaRPr>
          </a:p>
        </p:txBody>
      </p:sp>
      <p:sp>
        <p:nvSpPr>
          <p:cNvPr id="8" name="Rectangle : coins arrondis 7">
            <a:extLst>
              <a:ext uri="{FF2B5EF4-FFF2-40B4-BE49-F238E27FC236}">
                <a16:creationId xmlns:a16="http://schemas.microsoft.com/office/drawing/2014/main" id="{38550AB4-7AD0-5CCA-3FF6-733E05887115}"/>
              </a:ext>
            </a:extLst>
          </p:cNvPr>
          <p:cNvSpPr/>
          <p:nvPr/>
        </p:nvSpPr>
        <p:spPr>
          <a:xfrm>
            <a:off x="6350000" y="1206500"/>
            <a:ext cx="5334000" cy="2476500"/>
          </a:xfrm>
          <a:prstGeom prst="roundRect">
            <a:avLst/>
          </a:prstGeom>
          <a:solidFill>
            <a:srgbClr val="101622"/>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91F154F4-BF6B-CF53-75A4-21E61719C2A8}"/>
              </a:ext>
            </a:extLst>
          </p:cNvPr>
          <p:cNvSpPr txBox="1"/>
          <p:nvPr/>
        </p:nvSpPr>
        <p:spPr>
          <a:xfrm>
            <a:off x="6553200" y="1384300"/>
            <a:ext cx="4927600" cy="984885"/>
          </a:xfrm>
          <a:prstGeom prst="rect">
            <a:avLst/>
          </a:prstGeom>
          <a:noFill/>
        </p:spPr>
        <p:txBody>
          <a:bodyPr vert="horz" wrap="square" rtlCol="0">
            <a:spAutoFit/>
          </a:bodyPr>
          <a:lstStyle/>
          <a:p>
            <a:r>
              <a:rPr lang="fr-FR" sz="1400" b="1">
                <a:solidFill>
                  <a:srgbClr val="FBBF24"/>
                </a:solidFill>
                <a:latin typeface="Segoe UI Semibold" panose="020B0702040204020203" pitchFamily="34" charset="0"/>
              </a:rPr>
              <a:t>02. ELECTRONICS</a:t>
            </a:r>
          </a:p>
          <a:p>
            <a:r>
              <a:rPr lang="fr-FR" sz="1100" b="1">
                <a:solidFill>
                  <a:srgbClr val="FFFFFF"/>
                </a:solidFill>
                <a:latin typeface="Segoe UI" panose="020B0502040204020203" pitchFamily="34" charset="0"/>
              </a:rPr>
              <a:t>The Power &amp; Nerves</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Wires, motor drivers, and batteries. Converts gentle digital commands into heavy physical muscle power.</a:t>
            </a:r>
            <a:endParaRPr lang="fr-FR" sz="1000" b="1">
              <a:solidFill>
                <a:srgbClr val="94A3B8"/>
              </a:solidFill>
              <a:latin typeface="Segoe UI" panose="020B0502040204020203" pitchFamily="34" charset="0"/>
            </a:endParaRPr>
          </a:p>
        </p:txBody>
      </p:sp>
      <p:sp>
        <p:nvSpPr>
          <p:cNvPr id="10" name="Rectangle : coins arrondis 9">
            <a:extLst>
              <a:ext uri="{FF2B5EF4-FFF2-40B4-BE49-F238E27FC236}">
                <a16:creationId xmlns:a16="http://schemas.microsoft.com/office/drawing/2014/main" id="{F1480C76-8ABC-A42F-545F-F58EBAA95DEF}"/>
              </a:ext>
            </a:extLst>
          </p:cNvPr>
          <p:cNvSpPr/>
          <p:nvPr/>
        </p:nvSpPr>
        <p:spPr>
          <a:xfrm>
            <a:off x="508000" y="3873500"/>
            <a:ext cx="5334000" cy="2476500"/>
          </a:xfrm>
          <a:prstGeom prst="roundRect">
            <a:avLst/>
          </a:prstGeom>
          <a:solidFill>
            <a:srgbClr val="101622"/>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70AD6B8B-BE5B-DD44-466E-3170F7A9FF90}"/>
              </a:ext>
            </a:extLst>
          </p:cNvPr>
          <p:cNvSpPr txBox="1"/>
          <p:nvPr/>
        </p:nvSpPr>
        <p:spPr>
          <a:xfrm>
            <a:off x="711200" y="4051300"/>
            <a:ext cx="4927600" cy="984885"/>
          </a:xfrm>
          <a:prstGeom prst="rect">
            <a:avLst/>
          </a:prstGeom>
          <a:noFill/>
        </p:spPr>
        <p:txBody>
          <a:bodyPr vert="horz" wrap="square" rtlCol="0">
            <a:spAutoFit/>
          </a:bodyPr>
          <a:lstStyle/>
          <a:p>
            <a:r>
              <a:rPr lang="fr-FR" sz="1400" b="1">
                <a:solidFill>
                  <a:srgbClr val="34D399"/>
                </a:solidFill>
                <a:latin typeface="Segoe UI Semibold" panose="020B0702040204020203" pitchFamily="34" charset="0"/>
              </a:rPr>
              <a:t>03. CONTROL</a:t>
            </a:r>
          </a:p>
          <a:p>
            <a:r>
              <a:rPr lang="fr-FR" sz="1100" b="1">
                <a:solidFill>
                  <a:srgbClr val="FFFFFF"/>
                </a:solidFill>
                <a:latin typeface="Segoe UI" panose="020B0502040204020203" pitchFamily="34" charset="0"/>
              </a:rPr>
              <a:t>The Reflexes</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The math that keeps the robot stable, corrects errors, and stops it from shaking or oscillating.</a:t>
            </a:r>
            <a:endParaRPr lang="fr-FR" sz="1000" b="1">
              <a:solidFill>
                <a:srgbClr val="94A3B8"/>
              </a:solidFill>
              <a:latin typeface="Segoe UI" panose="020B0502040204020203" pitchFamily="34" charset="0"/>
            </a:endParaRPr>
          </a:p>
        </p:txBody>
      </p:sp>
      <p:sp>
        <p:nvSpPr>
          <p:cNvPr id="12" name="Rectangle : coins arrondis 11">
            <a:extLst>
              <a:ext uri="{FF2B5EF4-FFF2-40B4-BE49-F238E27FC236}">
                <a16:creationId xmlns:a16="http://schemas.microsoft.com/office/drawing/2014/main" id="{65346369-8D57-1CFD-60C2-6D6E48A41D6D}"/>
              </a:ext>
            </a:extLst>
          </p:cNvPr>
          <p:cNvSpPr/>
          <p:nvPr/>
        </p:nvSpPr>
        <p:spPr>
          <a:xfrm>
            <a:off x="6350000" y="3873500"/>
            <a:ext cx="5334000" cy="2476500"/>
          </a:xfrm>
          <a:prstGeom prst="roundRect">
            <a:avLst/>
          </a:prstGeom>
          <a:solidFill>
            <a:srgbClr val="101622"/>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71EA1B05-991F-7ED7-9330-819831DE76CD}"/>
              </a:ext>
            </a:extLst>
          </p:cNvPr>
          <p:cNvSpPr txBox="1"/>
          <p:nvPr/>
        </p:nvSpPr>
        <p:spPr>
          <a:xfrm>
            <a:off x="6553200" y="4051300"/>
            <a:ext cx="4927600" cy="984885"/>
          </a:xfrm>
          <a:prstGeom prst="rect">
            <a:avLst/>
          </a:prstGeom>
          <a:noFill/>
        </p:spPr>
        <p:txBody>
          <a:bodyPr vert="horz" wrap="square" rtlCol="0">
            <a:spAutoFit/>
          </a:bodyPr>
          <a:lstStyle/>
          <a:p>
            <a:r>
              <a:rPr lang="fr-FR" sz="1400" b="1">
                <a:solidFill>
                  <a:srgbClr val="A855F7"/>
                </a:solidFill>
                <a:latin typeface="Segoe UI Semibold" panose="020B0702040204020203" pitchFamily="34" charset="0"/>
              </a:rPr>
              <a:t>04. SOFTWARE</a:t>
            </a:r>
          </a:p>
          <a:p>
            <a:r>
              <a:rPr lang="fr-FR" sz="1100" b="1">
                <a:solidFill>
                  <a:srgbClr val="FFFFFF"/>
                </a:solidFill>
                <a:latin typeface="Segoe UI" panose="020B0502040204020203" pitchFamily="34" charset="0"/>
              </a:rPr>
              <a:t>The Mind</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High-level navigation, reading sensors, and making decisions: 'Where do I go next?'</a:t>
            </a:r>
            <a:endParaRPr lang="fr-FR" sz="1000" b="1">
              <a:solidFill>
                <a:srgbClr val="94A3B8"/>
              </a:solidFill>
              <a:latin typeface="Segoe UI" panose="020B0502040204020203" pitchFamily="34" charset="0"/>
            </a:endParaRPr>
          </a:p>
        </p:txBody>
      </p:sp>
    </p:spTree>
    <p:extLst>
      <p:ext uri="{BB962C8B-B14F-4D97-AF65-F5344CB8AC3E}">
        <p14:creationId xmlns:p14="http://schemas.microsoft.com/office/powerpoint/2010/main" val="1144703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998207-D261-27F8-1E2A-E47E1EA2B991}"/>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8E6B012E-42D7-F3FD-5643-B5BB1D59FE50}"/>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B1F888C6-8AB9-6DA5-67DA-4F3002D812DA}"/>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ZoneTexte 4">
            <a:extLst>
              <a:ext uri="{FF2B5EF4-FFF2-40B4-BE49-F238E27FC236}">
                <a16:creationId xmlns:a16="http://schemas.microsoft.com/office/drawing/2014/main" id="{895A81A4-E5BB-17BA-C7BD-28066B387C60}"/>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THE ROBOTIC SYSTEM: SENSE → DECIDE → ACT</a:t>
            </a:r>
            <a:endParaRPr lang="fr-FR" sz="2200" b="1">
              <a:solidFill>
                <a:srgbClr val="FFFFFF"/>
              </a:solidFill>
              <a:latin typeface="Segoe UI Semibold" panose="020B0702040204020203" pitchFamily="34" charset="0"/>
            </a:endParaRPr>
          </a:p>
        </p:txBody>
      </p:sp>
      <p:pic>
        <p:nvPicPr>
          <p:cNvPr id="7" name="Image 6">
            <a:extLst>
              <a:ext uri="{FF2B5EF4-FFF2-40B4-BE49-F238E27FC236}">
                <a16:creationId xmlns:a16="http://schemas.microsoft.com/office/drawing/2014/main" id="{438DCEAF-5279-2DB2-D173-A70B2771988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1206500"/>
            <a:ext cx="6604000" cy="3683000"/>
          </a:xfrm>
          <a:prstGeom prst="rect">
            <a:avLst/>
          </a:prstGeom>
          <a:ln w="15240">
            <a:solidFill>
              <a:srgbClr val="38BDF8"/>
            </a:solidFill>
          </a:ln>
        </p:spPr>
      </p:pic>
      <p:sp>
        <p:nvSpPr>
          <p:cNvPr id="8" name="Rectangle : coins arrondis 7">
            <a:extLst>
              <a:ext uri="{FF2B5EF4-FFF2-40B4-BE49-F238E27FC236}">
                <a16:creationId xmlns:a16="http://schemas.microsoft.com/office/drawing/2014/main" id="{C8FB72D9-678D-9AB5-82FC-BED2B5111478}"/>
              </a:ext>
            </a:extLst>
          </p:cNvPr>
          <p:cNvSpPr/>
          <p:nvPr/>
        </p:nvSpPr>
        <p:spPr>
          <a:xfrm>
            <a:off x="7366000" y="1206500"/>
            <a:ext cx="4318000" cy="5143500"/>
          </a:xfrm>
          <a:prstGeom prst="roundRect">
            <a:avLst/>
          </a:prstGeom>
          <a:solidFill>
            <a:srgbClr val="101622"/>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90776DEF-66AB-E17F-BA8A-F8B4E6986A66}"/>
              </a:ext>
            </a:extLst>
          </p:cNvPr>
          <p:cNvSpPr txBox="1"/>
          <p:nvPr/>
        </p:nvSpPr>
        <p:spPr>
          <a:xfrm>
            <a:off x="7556500" y="1397000"/>
            <a:ext cx="3937000" cy="2523768"/>
          </a:xfrm>
          <a:prstGeom prst="rect">
            <a:avLst/>
          </a:prstGeom>
          <a:noFill/>
        </p:spPr>
        <p:txBody>
          <a:bodyPr vert="horz" wrap="square" rtlCol="0">
            <a:spAutoFit/>
          </a:bodyPr>
          <a:lstStyle/>
          <a:p>
            <a:r>
              <a:rPr lang="fr-FR" sz="1600" b="1">
                <a:solidFill>
                  <a:srgbClr val="A855F7"/>
                </a:solidFill>
                <a:latin typeface="Segoe UI Semibold" panose="020B0702040204020203" pitchFamily="34" charset="0"/>
              </a:rPr>
              <a:t>How Every Robot Works:</a:t>
            </a:r>
          </a:p>
          <a:p>
            <a:r>
              <a:rPr lang="fr-FR" sz="1600" b="1">
                <a:solidFill>
                  <a:srgbClr val="A855F7"/>
                </a:solidFill>
                <a:latin typeface="Segoe UI Semibold" panose="020B0702040204020203" pitchFamily="34" charset="0"/>
              </a:rPr>
              <a:t>
</a:t>
            </a:r>
            <a:r>
              <a:rPr lang="fr-FR" sz="1200" b="1">
                <a:solidFill>
                  <a:srgbClr val="FFFFFF"/>
                </a:solidFill>
                <a:latin typeface="Segoe UI" panose="020B0502040204020203" pitchFamily="34" charset="0"/>
              </a:rPr>
              <a:t>1. SENSE (The Senses)
</a:t>
            </a:r>
            <a:r>
              <a:rPr lang="en-US" sz="1000" b="1">
                <a:solidFill>
                  <a:srgbClr val="94A3B8"/>
                </a:solidFill>
                <a:latin typeface="Segoe UI" panose="020B0502040204020203" pitchFamily="34" charset="0"/>
              </a:rPr>
              <a:t>Cameras, distance sensors (LiDAR), and joint encoders tell the robot where it is.
</a:t>
            </a:r>
            <a:r>
              <a:rPr lang="en-US" sz="1200" b="1">
                <a:solidFill>
                  <a:srgbClr val="FFFFFF"/>
                </a:solidFill>
                <a:latin typeface="Segoe UI" panose="020B0502040204020203" pitchFamily="34" charset="0"/>
              </a:rPr>
              <a:t>2. DECIDE (The Brain)
</a:t>
            </a:r>
            <a:r>
              <a:rPr lang="en-US" sz="1000" b="1">
                <a:solidFill>
                  <a:srgbClr val="94A3B8"/>
                </a:solidFill>
                <a:latin typeface="Segoe UI" panose="020B0502040204020203" pitchFamily="34" charset="0"/>
              </a:rPr>
              <a:t>A computer compares where the robot IS with where it WANTS TO BE.
</a:t>
            </a:r>
            <a:r>
              <a:rPr lang="en-US" sz="1200" b="1">
                <a:solidFill>
                  <a:srgbClr val="FFFFFF"/>
                </a:solidFill>
                <a:latin typeface="Segoe UI" panose="020B0502040204020203" pitchFamily="34" charset="0"/>
              </a:rPr>
              <a:t>3. ACT (The Muscles)
</a:t>
            </a:r>
            <a:r>
              <a:rPr lang="en-US" sz="1000" b="1">
                <a:solidFill>
                  <a:srgbClr val="94A3B8"/>
                </a:solidFill>
                <a:latin typeface="Segoe UI" panose="020B0502040204020203" pitchFamily="34" charset="0"/>
              </a:rPr>
              <a:t>Motors spin to move the arm or wheels closer to the goal.
</a:t>
            </a:r>
            <a:endParaRPr lang="fr-FR" sz="1000" b="1">
              <a:solidFill>
                <a:srgbClr val="94A3B8"/>
              </a:solidFill>
              <a:latin typeface="Segoe UI" panose="020B0502040204020203" pitchFamily="34" charset="0"/>
            </a:endParaRPr>
          </a:p>
        </p:txBody>
      </p:sp>
      <p:sp>
        <p:nvSpPr>
          <p:cNvPr id="10" name="Rectangle : coins arrondis 9">
            <a:extLst>
              <a:ext uri="{FF2B5EF4-FFF2-40B4-BE49-F238E27FC236}">
                <a16:creationId xmlns:a16="http://schemas.microsoft.com/office/drawing/2014/main" id="{6B95B7B7-DB71-B6EB-A86D-DED3EBABC5D1}"/>
              </a:ext>
            </a:extLst>
          </p:cNvPr>
          <p:cNvSpPr/>
          <p:nvPr/>
        </p:nvSpPr>
        <p:spPr>
          <a:xfrm>
            <a:off x="508000" y="5080000"/>
            <a:ext cx="6604000" cy="1270000"/>
          </a:xfrm>
          <a:prstGeom prst="roundRect">
            <a:avLst/>
          </a:prstGeom>
          <a:solidFill>
            <a:srgbClr val="161410"/>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B9D8F42B-20A7-DC95-3688-F34DEB3FC48A}"/>
              </a:ext>
            </a:extLst>
          </p:cNvPr>
          <p:cNvSpPr txBox="1"/>
          <p:nvPr/>
        </p:nvSpPr>
        <p:spPr>
          <a:xfrm>
            <a:off x="711200" y="5232400"/>
            <a:ext cx="6197600" cy="600164"/>
          </a:xfrm>
          <a:prstGeom prst="rect">
            <a:avLst/>
          </a:prstGeom>
          <a:noFill/>
        </p:spPr>
        <p:txBody>
          <a:bodyPr vert="horz" wrap="square" rtlCol="0">
            <a:spAutoFit/>
          </a:bodyPr>
          <a:lstStyle/>
          <a:p>
            <a:r>
              <a:rPr lang="fr-FR" sz="1300" b="1">
                <a:solidFill>
                  <a:srgbClr val="FBBF24"/>
                </a:solidFill>
                <a:latin typeface="Segoe UI Semibold" panose="020B0702040204020203" pitchFamily="34" charset="0"/>
              </a:rPr>
              <a:t>💡 The Feedback Secret</a:t>
            </a:r>
          </a:p>
          <a:p>
            <a:r>
              <a:rPr lang="en-US" sz="1000">
                <a:solidFill>
                  <a:srgbClr val="E2E8F0"/>
                </a:solidFill>
                <a:latin typeface="Segoe UI" panose="020B0502040204020203" pitchFamily="34" charset="0"/>
              </a:rPr>
              <a:t>This loop runs dozens or hundreds of times every second. If your senses are slow or noisy, the robot reacts too late and stumbles.</a:t>
            </a:r>
            <a:endParaRPr lang="fr-FR"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4279061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20BF74-B9F1-DC49-2AD4-EDF814355B14}"/>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0112ABB7-B485-E033-1D9F-8CBDB9B9641F}"/>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B7BE8184-8054-DD9C-4319-0E850B636372}"/>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ZoneTexte 4">
            <a:extLst>
              <a:ext uri="{FF2B5EF4-FFF2-40B4-BE49-F238E27FC236}">
                <a16:creationId xmlns:a16="http://schemas.microsoft.com/office/drawing/2014/main" id="{225D2064-826A-C230-8F27-C189F665A67C}"/>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BEFORE BUILDING A ROBOT: THREE SIMPLE QUESTIONS</a:t>
            </a:r>
            <a:endParaRPr lang="fr-FR" sz="2200" b="1">
              <a:solidFill>
                <a:srgbClr val="FFFFFF"/>
              </a:solidFill>
              <a:latin typeface="Segoe UI Semibold" panose="020B0702040204020203" pitchFamily="34" charset="0"/>
            </a:endParaRPr>
          </a:p>
        </p:txBody>
      </p:sp>
      <p:sp>
        <p:nvSpPr>
          <p:cNvPr id="6" name="Rectangle : coins arrondis 5">
            <a:extLst>
              <a:ext uri="{FF2B5EF4-FFF2-40B4-BE49-F238E27FC236}">
                <a16:creationId xmlns:a16="http://schemas.microsoft.com/office/drawing/2014/main" id="{F4278460-F5D8-6B85-72F1-B3DDBF1109D2}"/>
              </a:ext>
            </a:extLst>
          </p:cNvPr>
          <p:cNvSpPr/>
          <p:nvPr/>
        </p:nvSpPr>
        <p:spPr>
          <a:xfrm>
            <a:off x="508000" y="1270000"/>
            <a:ext cx="3429000" cy="50165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A6089041-BB59-CB8D-0EA3-581BA539C70D}"/>
              </a:ext>
            </a:extLst>
          </p:cNvPr>
          <p:cNvSpPr txBox="1"/>
          <p:nvPr/>
        </p:nvSpPr>
        <p:spPr>
          <a:xfrm>
            <a:off x="711200" y="1460500"/>
            <a:ext cx="3022600" cy="1708160"/>
          </a:xfrm>
          <a:prstGeom prst="rect">
            <a:avLst/>
          </a:prstGeom>
          <a:noFill/>
        </p:spPr>
        <p:txBody>
          <a:bodyPr vert="horz" wrap="square" rtlCol="0">
            <a:spAutoFit/>
          </a:bodyPr>
          <a:lstStyle/>
          <a:p>
            <a:r>
              <a:rPr lang="fr-FR" sz="3200" b="1">
                <a:solidFill>
                  <a:srgbClr val="38BDF8"/>
                </a:solidFill>
                <a:latin typeface="Segoe UI" panose="020B0502040204020203" pitchFamily="34" charset="0"/>
              </a:rPr>
              <a:t>01</a:t>
            </a:r>
          </a:p>
          <a:p>
            <a:r>
              <a:rPr lang="fr-FR" sz="1300" b="1">
                <a:solidFill>
                  <a:srgbClr val="FFFFFF"/>
                </a:solidFill>
                <a:latin typeface="Segoe UI Semibold" panose="020B0702040204020203" pitchFamily="34" charset="0"/>
              </a:rPr>
              <a:t>WHERE DOES IT REACH?</a:t>
            </a:r>
          </a:p>
          <a:p>
            <a:r>
              <a:rPr lang="fr-FR" sz="1000">
                <a:solidFill>
                  <a:srgbClr val="94A3B8"/>
                </a:solidFill>
                <a:latin typeface="Segoe UI" panose="020B0502040204020203" pitchFamily="34" charset="0"/>
              </a:rPr>
              <a:t>Workspace &amp; Geometry</a:t>
            </a:r>
          </a:p>
          <a:p>
            <a:r>
              <a:rPr lang="fr-FR" sz="1000">
                <a:solidFill>
                  <a:srgbClr val="94A3B8"/>
                </a:solidFill>
                <a:latin typeface="Segoe UI" panose="020B0502040204020203" pitchFamily="34" charset="0"/>
              </a:rPr>
              <a:t>
</a:t>
            </a:r>
            <a:r>
              <a:rPr lang="en-US" sz="1000">
                <a:solidFill>
                  <a:srgbClr val="E2E8F0"/>
                </a:solidFill>
                <a:latin typeface="Segoe UI" panose="020B0502040204020203" pitchFamily="34" charset="0"/>
              </a:rPr>
              <a:t>• How far does the arm need to stretch?</a:t>
            </a:r>
          </a:p>
          <a:p>
            <a:r>
              <a:rPr lang="en-US" sz="1000">
                <a:solidFill>
                  <a:srgbClr val="E2E8F0"/>
                </a:solidFill>
                <a:latin typeface="Segoe UI" panose="020B0502040204020203" pitchFamily="34" charset="0"/>
              </a:rPr>
              <a:t>• Does it only work on a flat table, or reach all 3D space?</a:t>
            </a:r>
          </a:p>
          <a:p>
            <a:r>
              <a:rPr lang="en-US" sz="1000">
                <a:solidFill>
                  <a:srgbClr val="E2E8F0"/>
                </a:solidFill>
                <a:latin typeface="Segoe UI" panose="020B0502040204020203" pitchFamily="34" charset="0"/>
              </a:rPr>
              <a:t>• Fewer joints = simpler, cheaper build!</a:t>
            </a:r>
            <a:endParaRPr lang="fr-FR" sz="1000">
              <a:solidFill>
                <a:srgbClr val="E2E8F0"/>
              </a:solidFill>
              <a:latin typeface="Segoe UI" panose="020B0502040204020203" pitchFamily="34" charset="0"/>
            </a:endParaRPr>
          </a:p>
        </p:txBody>
      </p:sp>
      <p:sp>
        <p:nvSpPr>
          <p:cNvPr id="8" name="Rectangle : coins arrondis 7">
            <a:extLst>
              <a:ext uri="{FF2B5EF4-FFF2-40B4-BE49-F238E27FC236}">
                <a16:creationId xmlns:a16="http://schemas.microsoft.com/office/drawing/2014/main" id="{7C8F7456-356F-6BDC-2FFF-26B333E49E5D}"/>
              </a:ext>
            </a:extLst>
          </p:cNvPr>
          <p:cNvSpPr/>
          <p:nvPr/>
        </p:nvSpPr>
        <p:spPr>
          <a:xfrm>
            <a:off x="4381500" y="1270000"/>
            <a:ext cx="3429000" cy="5016500"/>
          </a:xfrm>
          <a:prstGeom prst="roundRect">
            <a:avLst/>
          </a:prstGeom>
          <a:solidFill>
            <a:srgbClr val="101622"/>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D8986BFC-0637-DBCD-DF83-3219EEB534BD}"/>
              </a:ext>
            </a:extLst>
          </p:cNvPr>
          <p:cNvSpPr txBox="1"/>
          <p:nvPr/>
        </p:nvSpPr>
        <p:spPr>
          <a:xfrm>
            <a:off x="4584700" y="1460500"/>
            <a:ext cx="3022600" cy="1862048"/>
          </a:xfrm>
          <a:prstGeom prst="rect">
            <a:avLst/>
          </a:prstGeom>
          <a:noFill/>
        </p:spPr>
        <p:txBody>
          <a:bodyPr vert="horz" wrap="square" rtlCol="0">
            <a:spAutoFit/>
          </a:bodyPr>
          <a:lstStyle/>
          <a:p>
            <a:r>
              <a:rPr lang="fr-FR" sz="3200" b="1">
                <a:solidFill>
                  <a:srgbClr val="FBBF24"/>
                </a:solidFill>
                <a:latin typeface="Segoe UI" panose="020B0502040204020203" pitchFamily="34" charset="0"/>
              </a:rPr>
              <a:t>02</a:t>
            </a:r>
          </a:p>
          <a:p>
            <a:r>
              <a:rPr lang="en-US" sz="1300" b="1">
                <a:solidFill>
                  <a:srgbClr val="FFFFFF"/>
                </a:solidFill>
                <a:latin typeface="Segoe UI Semibold" panose="020B0702040204020203" pitchFamily="34" charset="0"/>
              </a:rPr>
              <a:t>HOW HEAVY IS THE LOAD?</a:t>
            </a:r>
          </a:p>
          <a:p>
            <a:r>
              <a:rPr lang="fr-FR" sz="1000">
                <a:solidFill>
                  <a:srgbClr val="94A3B8"/>
                </a:solidFill>
                <a:latin typeface="Segoe UI" panose="020B0502040204020203" pitchFamily="34" charset="0"/>
              </a:rPr>
              <a:t>Torque &amp; Strength</a:t>
            </a:r>
          </a:p>
          <a:p>
            <a:r>
              <a:rPr lang="fr-FR" sz="1000">
                <a:solidFill>
                  <a:srgbClr val="94A3B8"/>
                </a:solidFill>
                <a:latin typeface="Segoe UI" panose="020B0502040204020203" pitchFamily="34" charset="0"/>
              </a:rPr>
              <a:t>
</a:t>
            </a:r>
            <a:r>
              <a:rPr lang="en-US" sz="1000">
                <a:solidFill>
                  <a:srgbClr val="E2E8F0"/>
                </a:solidFill>
                <a:latin typeface="Segoe UI" panose="020B0502040204020203" pitchFamily="34" charset="0"/>
              </a:rPr>
              <a:t>• Are you lifting a 10g feather or a 2kg bottle of water?</a:t>
            </a:r>
          </a:p>
          <a:p>
            <a:r>
              <a:rPr lang="en-US" sz="1000">
                <a:solidFill>
                  <a:srgbClr val="E2E8F0"/>
                </a:solidFill>
                <a:latin typeface="Segoe UI" panose="020B0502040204020203" pitchFamily="34" charset="0"/>
              </a:rPr>
              <a:t>• What kind of motor can lift that weight?</a:t>
            </a:r>
          </a:p>
          <a:p>
            <a:r>
              <a:rPr lang="en-US" sz="1000">
                <a:solidFill>
                  <a:srgbClr val="E2E8F0"/>
                </a:solidFill>
                <a:latin typeface="Segoe UI" panose="020B0502040204020203" pitchFamily="34" charset="0"/>
              </a:rPr>
              <a:t>• Don't forget: The arm must also lift its OWN weight!</a:t>
            </a:r>
            <a:endParaRPr lang="fr-FR" sz="1000">
              <a:solidFill>
                <a:srgbClr val="E2E8F0"/>
              </a:solidFill>
              <a:latin typeface="Segoe UI" panose="020B0502040204020203" pitchFamily="34" charset="0"/>
            </a:endParaRPr>
          </a:p>
        </p:txBody>
      </p:sp>
      <p:sp>
        <p:nvSpPr>
          <p:cNvPr id="10" name="Rectangle : coins arrondis 9">
            <a:extLst>
              <a:ext uri="{FF2B5EF4-FFF2-40B4-BE49-F238E27FC236}">
                <a16:creationId xmlns:a16="http://schemas.microsoft.com/office/drawing/2014/main" id="{7012E6F0-F28C-47CC-94AB-22B3AC2D6559}"/>
              </a:ext>
            </a:extLst>
          </p:cNvPr>
          <p:cNvSpPr/>
          <p:nvPr/>
        </p:nvSpPr>
        <p:spPr>
          <a:xfrm>
            <a:off x="8255000" y="1270000"/>
            <a:ext cx="3429000" cy="5016500"/>
          </a:xfrm>
          <a:prstGeom prst="roundRect">
            <a:avLst/>
          </a:prstGeom>
          <a:solidFill>
            <a:srgbClr val="101622"/>
          </a:solidFill>
          <a:ln w="12700">
            <a:solidFill>
              <a:srgbClr val="F43F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D58E57F0-02B6-0CE0-4C17-38373DEA0185}"/>
              </a:ext>
            </a:extLst>
          </p:cNvPr>
          <p:cNvSpPr txBox="1"/>
          <p:nvPr/>
        </p:nvSpPr>
        <p:spPr>
          <a:xfrm>
            <a:off x="8458200" y="1460500"/>
            <a:ext cx="3022600" cy="1554272"/>
          </a:xfrm>
          <a:prstGeom prst="rect">
            <a:avLst/>
          </a:prstGeom>
          <a:noFill/>
        </p:spPr>
        <p:txBody>
          <a:bodyPr vert="horz" wrap="square" rtlCol="0">
            <a:spAutoFit/>
          </a:bodyPr>
          <a:lstStyle/>
          <a:p>
            <a:r>
              <a:rPr lang="fr-FR" sz="3200" b="1">
                <a:solidFill>
                  <a:srgbClr val="F43F5E"/>
                </a:solidFill>
                <a:latin typeface="Segoe UI" panose="020B0502040204020203" pitchFamily="34" charset="0"/>
              </a:rPr>
              <a:t>03</a:t>
            </a:r>
          </a:p>
          <a:p>
            <a:r>
              <a:rPr lang="fr-FR" sz="1300" b="1">
                <a:solidFill>
                  <a:srgbClr val="FFFFFF"/>
                </a:solidFill>
                <a:latin typeface="Segoe UI Semibold" panose="020B0702040204020203" pitchFamily="34" charset="0"/>
              </a:rPr>
              <a:t>WHAT IS STOPPING IT?</a:t>
            </a:r>
          </a:p>
          <a:p>
            <a:r>
              <a:rPr lang="fr-FR" sz="1000">
                <a:solidFill>
                  <a:srgbClr val="94A3B8"/>
                </a:solidFill>
                <a:latin typeface="Segoe UI" panose="020B0502040204020203" pitchFamily="34" charset="0"/>
              </a:rPr>
              <a:t>Real-World Roadblocks</a:t>
            </a:r>
          </a:p>
          <a:p>
            <a:r>
              <a:rPr lang="fr-FR" sz="1000">
                <a:solidFill>
                  <a:srgbClr val="94A3B8"/>
                </a:solidFill>
                <a:latin typeface="Segoe UI" panose="020B0502040204020203" pitchFamily="34" charset="0"/>
              </a:rPr>
              <a:t>
</a:t>
            </a:r>
            <a:r>
              <a:rPr lang="en-US" sz="1000">
                <a:solidFill>
                  <a:srgbClr val="E2E8F0"/>
                </a:solidFill>
                <a:latin typeface="Segoe UI" panose="020B0502040204020203" pitchFamily="34" charset="0"/>
              </a:rPr>
              <a:t>• Will the battery die in 5 minutes?</a:t>
            </a:r>
          </a:p>
          <a:p>
            <a:r>
              <a:rPr lang="en-US" sz="1000">
                <a:solidFill>
                  <a:srgbClr val="E2E8F0"/>
                </a:solidFill>
                <a:latin typeface="Segoe UI" panose="020B0502040204020203" pitchFamily="34" charset="0"/>
              </a:rPr>
              <a:t>• Will the plastic links bend like rubber?</a:t>
            </a:r>
          </a:p>
          <a:p>
            <a:r>
              <a:rPr lang="en-US" sz="1000">
                <a:solidFill>
                  <a:srgbClr val="E2E8F0"/>
                </a:solidFill>
                <a:latin typeface="Segoe UI" panose="020B0502040204020203" pitchFamily="34" charset="0"/>
              </a:rPr>
              <a:t>• Will the gears have loose play (backlash)?</a:t>
            </a:r>
            <a:endParaRPr lang="fr-FR"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2617923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FDDB14-A9ED-8A12-36AE-BA1B965D36DC}"/>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CE1CE8C8-5E5A-D9C1-4F83-A8B163B0307C}"/>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0ADE91BC-62F6-1AF7-9390-E74A0CE19EE0}"/>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A383AD63-63F5-AAC3-21E4-148E661A9DEB}"/>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INTERACTIVE QUESTION  </a:t>
            </a:r>
          </a:p>
        </p:txBody>
      </p:sp>
      <p:sp>
        <p:nvSpPr>
          <p:cNvPr id="6" name="ZoneTexte 5">
            <a:extLst>
              <a:ext uri="{FF2B5EF4-FFF2-40B4-BE49-F238E27FC236}">
                <a16:creationId xmlns:a16="http://schemas.microsoft.com/office/drawing/2014/main" id="{BD91BAB2-3DFF-BEA4-1E41-64064FA162CD}"/>
              </a:ext>
            </a:extLst>
          </p:cNvPr>
          <p:cNvSpPr txBox="1"/>
          <p:nvPr/>
        </p:nvSpPr>
        <p:spPr>
          <a:xfrm>
            <a:off x="508000" y="533400"/>
            <a:ext cx="11176000" cy="338554"/>
          </a:xfrm>
          <a:prstGeom prst="rect">
            <a:avLst/>
          </a:prstGeom>
          <a:noFill/>
        </p:spPr>
        <p:txBody>
          <a:bodyPr vert="horz" lIns="0" tIns="0" rIns="0" bIns="0" rtlCol="0">
            <a:spAutoFit/>
          </a:bodyPr>
          <a:lstStyle/>
          <a:p>
            <a:r>
              <a:rPr lang="fr-FR" sz="2200" b="1">
                <a:solidFill>
                  <a:srgbClr val="FFFFFF"/>
                </a:solidFill>
                <a:latin typeface="Segoe UI Semibold" panose="020B0702040204020203" pitchFamily="34" charset="0"/>
              </a:rPr>
              <a:t>CLOSED LOOP VS. OPEN LOOP</a:t>
            </a:r>
          </a:p>
        </p:txBody>
      </p:sp>
      <p:sp>
        <p:nvSpPr>
          <p:cNvPr id="7" name="Rectangle : coins arrondis 6">
            <a:extLst>
              <a:ext uri="{FF2B5EF4-FFF2-40B4-BE49-F238E27FC236}">
                <a16:creationId xmlns:a16="http://schemas.microsoft.com/office/drawing/2014/main" id="{563F84EE-6056-384D-D58F-222193F1D55A}"/>
              </a:ext>
            </a:extLst>
          </p:cNvPr>
          <p:cNvSpPr/>
          <p:nvPr/>
        </p:nvSpPr>
        <p:spPr>
          <a:xfrm>
            <a:off x="508000" y="1270000"/>
            <a:ext cx="5334000" cy="50165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C418A5C9-E65E-4B9E-99A8-0043D3C02419}"/>
              </a:ext>
            </a:extLst>
          </p:cNvPr>
          <p:cNvSpPr txBox="1"/>
          <p:nvPr/>
        </p:nvSpPr>
        <p:spPr>
          <a:xfrm>
            <a:off x="698500" y="1460500"/>
            <a:ext cx="4953000" cy="1738938"/>
          </a:xfrm>
          <a:prstGeom prst="rect">
            <a:avLst/>
          </a:prstGeom>
          <a:noFill/>
        </p:spPr>
        <p:txBody>
          <a:bodyPr vert="horz" wrap="square" rtlCol="0">
            <a:spAutoFit/>
          </a:bodyPr>
          <a:lstStyle/>
          <a:p>
            <a:r>
              <a:rPr lang="en-US" sz="1500" b="1">
                <a:solidFill>
                  <a:srgbClr val="38BDF8"/>
                </a:solidFill>
                <a:latin typeface="Segoe UI Semibold" panose="020B0702040204020203" pitchFamily="34" charset="0"/>
              </a:rPr>
              <a:t>How Feedback Keeps You On Target</a:t>
            </a:r>
          </a:p>
          <a:p>
            <a:r>
              <a:rPr lang="en-US" sz="1500" b="1">
                <a:solidFill>
                  <a:srgbClr val="38BDF8"/>
                </a:solidFill>
                <a:latin typeface="Segoe UI Semibold" panose="020B0702040204020203" pitchFamily="34" charset="0"/>
              </a:rPr>
              <a:t>
</a:t>
            </a:r>
            <a:r>
              <a:rPr lang="en-US" sz="1100" b="1">
                <a:solidFill>
                  <a:srgbClr val="E2E8F0"/>
                </a:solidFill>
                <a:latin typeface="Segoe UI" panose="020B0502040204020203" pitchFamily="34" charset="0"/>
              </a:rPr>
              <a:t>1. You Command: 'Move arm to 90 degrees.'</a:t>
            </a:r>
          </a:p>
          <a:p>
            <a:r>
              <a:rPr lang="en-US" sz="1100" b="1">
                <a:solidFill>
                  <a:srgbClr val="E2E8F0"/>
                </a:solidFill>
                <a:latin typeface="Segoe UI" panose="020B0502040204020203" pitchFamily="34" charset="0"/>
              </a:rPr>
              <a:t>2. Motor Turns: Starts rotating.</a:t>
            </a:r>
          </a:p>
          <a:p>
            <a:r>
              <a:rPr lang="en-US" sz="1100" b="1">
                <a:solidFill>
                  <a:srgbClr val="E2E8F0"/>
                </a:solidFill>
                <a:latin typeface="Segoe UI" panose="020B0502040204020203" pitchFamily="34" charset="0"/>
              </a:rPr>
              <a:t>3. Sensor Checks: 'We are currently at 88 degrees.'</a:t>
            </a:r>
          </a:p>
          <a:p>
            <a:r>
              <a:rPr lang="en-US" sz="1100" b="1">
                <a:solidFill>
                  <a:srgbClr val="E2E8F0"/>
                </a:solidFill>
                <a:latin typeface="Segoe UI" panose="020B0502040204020203" pitchFamily="34" charset="0"/>
              </a:rPr>
              <a:t>4. Controller Corrects: Pushes a tiny bit more to hit 90° exactly!</a:t>
            </a:r>
          </a:p>
          <a:p>
            <a:r>
              <a:rPr lang="en-US" sz="1100" b="1">
                <a:solidFill>
                  <a:srgbClr val="E2E8F0"/>
                </a:solidFill>
                <a:latin typeface="Segoe UI" panose="020B0502040204020203" pitchFamily="34" charset="0"/>
              </a:rPr>
              <a:t>
This is CLOSED-LOOP: The sensor closes the loop by checking the actual result.</a:t>
            </a:r>
            <a:endParaRPr lang="fr-FR" sz="1100" b="1">
              <a:solidFill>
                <a:srgbClr val="E2E8F0"/>
              </a:solidFill>
              <a:latin typeface="Segoe UI" panose="020B0502040204020203" pitchFamily="34" charset="0"/>
            </a:endParaRPr>
          </a:p>
        </p:txBody>
      </p:sp>
      <p:sp>
        <p:nvSpPr>
          <p:cNvPr id="9" name="Rectangle : coins arrondis 8">
            <a:extLst>
              <a:ext uri="{FF2B5EF4-FFF2-40B4-BE49-F238E27FC236}">
                <a16:creationId xmlns:a16="http://schemas.microsoft.com/office/drawing/2014/main" id="{89866D50-A38F-7E6C-704F-F9F311202168}"/>
              </a:ext>
            </a:extLst>
          </p:cNvPr>
          <p:cNvSpPr/>
          <p:nvPr/>
        </p:nvSpPr>
        <p:spPr>
          <a:xfrm>
            <a:off x="6223000" y="1270000"/>
            <a:ext cx="5461000" cy="5016500"/>
          </a:xfrm>
          <a:prstGeom prst="roundRect">
            <a:avLst/>
          </a:prstGeom>
          <a:solidFill>
            <a:srgbClr val="18101A"/>
          </a:solidFill>
          <a:ln w="12700">
            <a:solidFill>
              <a:srgbClr val="F43F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A58A9B32-11A3-BDA5-B28B-261E64C77B41}"/>
              </a:ext>
            </a:extLst>
          </p:cNvPr>
          <p:cNvSpPr txBox="1"/>
          <p:nvPr/>
        </p:nvSpPr>
        <p:spPr>
          <a:xfrm>
            <a:off x="6477000" y="1460500"/>
            <a:ext cx="4953000" cy="2246769"/>
          </a:xfrm>
          <a:prstGeom prst="rect">
            <a:avLst/>
          </a:prstGeom>
          <a:noFill/>
        </p:spPr>
        <p:txBody>
          <a:bodyPr vert="horz" wrap="square" rtlCol="0">
            <a:spAutoFit/>
          </a:bodyPr>
          <a:lstStyle/>
          <a:p>
            <a:r>
              <a:rPr lang="fr-FR" sz="1500" b="1">
                <a:solidFill>
                  <a:srgbClr val="F43F5E"/>
                </a:solidFill>
                <a:latin typeface="Segoe UI" panose="020B0502040204020203" pitchFamily="34" charset="0"/>
              </a:rPr>
              <a:t>WHAT HAPPENS WITHOUT SENSORS?</a:t>
            </a:r>
          </a:p>
          <a:p>
            <a:r>
              <a:rPr lang="fr-FR" sz="1500" b="1">
                <a:solidFill>
                  <a:srgbClr val="F43F5E"/>
                </a:solidFill>
                <a:latin typeface="Segoe UI" panose="020B0502040204020203" pitchFamily="34" charset="0"/>
              </a:rPr>
              <a:t>
</a:t>
            </a:r>
            <a:r>
              <a:rPr lang="en-US" sz="1100" b="1">
                <a:solidFill>
                  <a:srgbClr val="FFFFFF"/>
                </a:solidFill>
                <a:latin typeface="Segoe UI" panose="020B0502040204020203" pitchFamily="34" charset="0"/>
              </a:rPr>
              <a:t>If you remove the sensor, you are running OPEN-LOOP.</a:t>
            </a:r>
          </a:p>
          <a:p>
            <a:r>
              <a:rPr lang="en-US" sz="1100" b="1">
                <a:solidFill>
                  <a:srgbClr val="FFFFFF"/>
                </a:solidFill>
                <a:latin typeface="Segoe UI" panose="020B0502040204020203" pitchFamily="34" charset="0"/>
              </a:rPr>
              <a:t>
🚶‍♂️ The Human Analogy:</a:t>
            </a:r>
          </a:p>
          <a:p>
            <a:r>
              <a:rPr lang="en-US" sz="1100" b="1">
                <a:solidFill>
                  <a:srgbClr val="FFFFFF"/>
                </a:solidFill>
                <a:latin typeface="Segoe UI" panose="020B0502040204020203" pitchFamily="34" charset="0"/>
              </a:rPr>
              <a:t>• Closed Loop = Walking to your door with eyes wide open.</a:t>
            </a:r>
          </a:p>
          <a:p>
            <a:r>
              <a:rPr lang="en-US" sz="1100" b="1">
                <a:solidFill>
                  <a:srgbClr val="FFFFFF"/>
                </a:solidFill>
                <a:latin typeface="Segoe UI" panose="020B0502040204020203" pitchFamily="34" charset="0"/>
              </a:rPr>
              <a:t>• Open Loop = Closing your eyes, taking 10 steps, and HOPING you don't hit a wall!</a:t>
            </a:r>
          </a:p>
          <a:p>
            <a:r>
              <a:rPr lang="en-US" sz="1100" b="1">
                <a:solidFill>
                  <a:srgbClr val="FFFFFF"/>
                </a:solidFill>
                <a:latin typeface="Segoe UI" panose="020B0502040204020203" pitchFamily="34" charset="0"/>
              </a:rPr>
              <a:t>
💡 Inside Joke:</a:t>
            </a:r>
          </a:p>
          <a:p>
            <a:r>
              <a:rPr lang="en-US" sz="1100" b="1">
                <a:solidFill>
                  <a:srgbClr val="FFFFFF"/>
                </a:solidFill>
                <a:latin typeface="Segoe UI" panose="020B0502040204020203" pitchFamily="34" charset="0"/>
              </a:rPr>
              <a:t>'Hope is not a control strategy.' If your robot doesn't measure its position, errors build up until it crashes.</a:t>
            </a:r>
            <a:endParaRPr lang="fr-FR" sz="1100" b="1">
              <a:solidFill>
                <a:srgbClr val="FFFFFF"/>
              </a:solidFill>
              <a:latin typeface="Segoe UI" panose="020B0502040204020203" pitchFamily="34" charset="0"/>
            </a:endParaRPr>
          </a:p>
        </p:txBody>
      </p:sp>
    </p:spTree>
    <p:extLst>
      <p:ext uri="{BB962C8B-B14F-4D97-AF65-F5344CB8AC3E}">
        <p14:creationId xmlns:p14="http://schemas.microsoft.com/office/powerpoint/2010/main" val="2923916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EE22E2-CD0E-7FB6-F855-0CF9D828BCFF}"/>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B018D206-1308-3296-0B15-96F8DB095BFB}"/>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379FCA24-316B-1035-E77A-5DC4BCA371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588000" y="635000"/>
            <a:ext cx="6096000" cy="5588000"/>
          </a:xfrm>
          <a:prstGeom prst="rect">
            <a:avLst/>
          </a:prstGeom>
          <a:ln w="19050">
            <a:solidFill>
              <a:srgbClr val="A855F7"/>
            </a:solidFill>
          </a:ln>
        </p:spPr>
      </p:pic>
      <p:sp>
        <p:nvSpPr>
          <p:cNvPr id="6" name="ZoneTexte 5">
            <a:extLst>
              <a:ext uri="{FF2B5EF4-FFF2-40B4-BE49-F238E27FC236}">
                <a16:creationId xmlns:a16="http://schemas.microsoft.com/office/drawing/2014/main" id="{626D2A36-64DA-AAF2-2C57-66E540C134C6}"/>
              </a:ext>
            </a:extLst>
          </p:cNvPr>
          <p:cNvSpPr txBox="1"/>
          <p:nvPr/>
        </p:nvSpPr>
        <p:spPr>
          <a:xfrm>
            <a:off x="762000" y="2032000"/>
            <a:ext cx="4572000" cy="1692771"/>
          </a:xfrm>
          <a:prstGeom prst="rect">
            <a:avLst/>
          </a:prstGeom>
          <a:noFill/>
        </p:spPr>
        <p:txBody>
          <a:bodyPr vert="horz" wrap="square" rtlCol="0">
            <a:spAutoFit/>
          </a:bodyPr>
          <a:lstStyle/>
          <a:p>
            <a:r>
              <a:rPr lang="fr-FR" sz="3600" b="1">
                <a:solidFill>
                  <a:srgbClr val="F43F5E"/>
                </a:solidFill>
                <a:latin typeface="Segoe UI" panose="020B0502040204020203" pitchFamily="34" charset="0"/>
              </a:rPr>
              <a:t>PART 01</a:t>
            </a:r>
          </a:p>
          <a:p>
            <a:r>
              <a:rPr lang="fr-FR" sz="2800" b="1">
                <a:solidFill>
                  <a:srgbClr val="FFFFFF"/>
                </a:solidFill>
                <a:latin typeface="Segoe UI Semibold" panose="020B0702040204020203" pitchFamily="34" charset="0"/>
              </a:rPr>
              <a:t>THE MECHANICAL
SKELETON</a:t>
            </a:r>
          </a:p>
          <a:p>
            <a:r>
              <a:rPr lang="en-US" sz="1200">
                <a:solidFill>
                  <a:srgbClr val="38BDF8"/>
                </a:solidFill>
                <a:latin typeface="Segoe UI" panose="020B0502040204020203" pitchFamily="34" charset="0"/>
              </a:rPr>
              <a:t>Bones (Links) • Hinges (Joints) • Degrees of Freedom</a:t>
            </a:r>
            <a:endParaRPr lang="fr-FR" sz="1200">
              <a:solidFill>
                <a:srgbClr val="38BDF8"/>
              </a:solidFill>
              <a:latin typeface="Segoe UI" panose="020B0502040204020203" pitchFamily="34" charset="0"/>
            </a:endParaRPr>
          </a:p>
        </p:txBody>
      </p:sp>
    </p:spTree>
    <p:extLst>
      <p:ext uri="{BB962C8B-B14F-4D97-AF65-F5344CB8AC3E}">
        <p14:creationId xmlns:p14="http://schemas.microsoft.com/office/powerpoint/2010/main" val="119280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53DE04-33F1-30C8-26A2-4A483A5DE73A}"/>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70FB181D-1B60-6D68-0E53-BDCA3DBDD847}"/>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618C2A03-51D5-7FBD-81A8-3384F99DF7A7}"/>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ZoneTexte 4">
            <a:extLst>
              <a:ext uri="{FF2B5EF4-FFF2-40B4-BE49-F238E27FC236}">
                <a16:creationId xmlns:a16="http://schemas.microsoft.com/office/drawing/2014/main" id="{D96ABED9-0C99-9956-1F79-43B6DF6CFB23}"/>
              </a:ext>
            </a:extLst>
          </p:cNvPr>
          <p:cNvSpPr txBox="1"/>
          <p:nvPr/>
        </p:nvSpPr>
        <p:spPr>
          <a:xfrm>
            <a:off x="508000" y="533400"/>
            <a:ext cx="11176000" cy="338554"/>
          </a:xfrm>
          <a:prstGeom prst="rect">
            <a:avLst/>
          </a:prstGeom>
          <a:noFill/>
        </p:spPr>
        <p:txBody>
          <a:bodyPr vert="horz" lIns="0" tIns="0" rIns="0" bIns="0" rtlCol="0">
            <a:spAutoFit/>
          </a:bodyPr>
          <a:lstStyle/>
          <a:p>
            <a:r>
              <a:rPr lang="fr-FR" sz="2200" b="1">
                <a:solidFill>
                  <a:srgbClr val="FFFFFF"/>
                </a:solidFill>
                <a:latin typeface="Segoe UI Semibold" panose="020B0702040204020203" pitchFamily="34" charset="0"/>
              </a:rPr>
              <a:t>LINKS &amp; JOINTS: SKELETON &amp; HINGES</a:t>
            </a:r>
          </a:p>
        </p:txBody>
      </p:sp>
      <p:sp>
        <p:nvSpPr>
          <p:cNvPr id="6" name="Rectangle : coins arrondis 5">
            <a:extLst>
              <a:ext uri="{FF2B5EF4-FFF2-40B4-BE49-F238E27FC236}">
                <a16:creationId xmlns:a16="http://schemas.microsoft.com/office/drawing/2014/main" id="{1D1DCE55-09BE-471D-EFD4-75CC4644401F}"/>
              </a:ext>
            </a:extLst>
          </p:cNvPr>
          <p:cNvSpPr/>
          <p:nvPr/>
        </p:nvSpPr>
        <p:spPr>
          <a:xfrm>
            <a:off x="508000" y="1270000"/>
            <a:ext cx="5334000" cy="33020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56CA2336-DC90-2553-0522-7904D755B1D8}"/>
              </a:ext>
            </a:extLst>
          </p:cNvPr>
          <p:cNvSpPr txBox="1"/>
          <p:nvPr/>
        </p:nvSpPr>
        <p:spPr>
          <a:xfrm>
            <a:off x="711200" y="1447800"/>
            <a:ext cx="4927600" cy="1107996"/>
          </a:xfrm>
          <a:prstGeom prst="rect">
            <a:avLst/>
          </a:prstGeom>
          <a:noFill/>
        </p:spPr>
        <p:txBody>
          <a:bodyPr vert="horz" wrap="square" rtlCol="0">
            <a:spAutoFit/>
          </a:bodyPr>
          <a:lstStyle/>
          <a:p>
            <a:r>
              <a:rPr lang="fr-FR" sz="1400" b="1">
                <a:solidFill>
                  <a:srgbClr val="38BDF8"/>
                </a:solidFill>
                <a:latin typeface="Segoe UI Semibold" panose="020B0702040204020203" pitchFamily="34" charset="0"/>
              </a:rPr>
              <a:t>THE LINK (The Bone)</a:t>
            </a:r>
          </a:p>
          <a:p>
            <a:r>
              <a:rPr lang="fr-FR" sz="1100" b="1">
                <a:solidFill>
                  <a:srgbClr val="FFFFFF"/>
                </a:solidFill>
                <a:latin typeface="Segoe UI" panose="020B0502040204020203" pitchFamily="34" charset="0"/>
              </a:rPr>
              <a:t>A Rigid Structural Bar</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What it does: Connects two joints and holds its shape under load.</a:t>
            </a:r>
          </a:p>
          <a:p>
            <a:r>
              <a:rPr lang="en-US" sz="1000" b="1">
                <a:solidFill>
                  <a:srgbClr val="94A3B8"/>
                </a:solidFill>
                <a:latin typeface="Segoe UI" panose="020B0502040204020203" pitchFamily="34" charset="0"/>
              </a:rPr>
              <a:t>• Think of it like: Your forearm or your thigh bone.</a:t>
            </a:r>
          </a:p>
          <a:p>
            <a:r>
              <a:rPr lang="en-US" sz="1000" b="1">
                <a:solidFill>
                  <a:srgbClr val="94A3B8"/>
                </a:solidFill>
                <a:latin typeface="Segoe UI" panose="020B0502040204020203" pitchFamily="34" charset="0"/>
              </a:rPr>
              <a:t>• Goal: Stiff and light. If the link bends, your robot loses accuracy!</a:t>
            </a:r>
            <a:endParaRPr lang="fr-FR" sz="1000" b="1">
              <a:solidFill>
                <a:srgbClr val="94A3B8"/>
              </a:solidFill>
              <a:latin typeface="Segoe UI" panose="020B0502040204020203" pitchFamily="34" charset="0"/>
            </a:endParaRPr>
          </a:p>
        </p:txBody>
      </p:sp>
      <p:sp>
        <p:nvSpPr>
          <p:cNvPr id="8" name="Rectangle : coins arrondis 7">
            <a:extLst>
              <a:ext uri="{FF2B5EF4-FFF2-40B4-BE49-F238E27FC236}">
                <a16:creationId xmlns:a16="http://schemas.microsoft.com/office/drawing/2014/main" id="{B8785D7B-5F87-1E7A-806C-09B938142E71}"/>
              </a:ext>
            </a:extLst>
          </p:cNvPr>
          <p:cNvSpPr/>
          <p:nvPr/>
        </p:nvSpPr>
        <p:spPr>
          <a:xfrm>
            <a:off x="6350000" y="1270000"/>
            <a:ext cx="5334000" cy="3302000"/>
          </a:xfrm>
          <a:prstGeom prst="roundRect">
            <a:avLst/>
          </a:prstGeom>
          <a:solidFill>
            <a:srgbClr val="101622"/>
          </a:solidFill>
          <a:ln w="12700">
            <a:solidFill>
              <a:srgbClr val="F43F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F686459B-F16E-E024-6443-06CD818DB4B3}"/>
              </a:ext>
            </a:extLst>
          </p:cNvPr>
          <p:cNvSpPr txBox="1"/>
          <p:nvPr/>
        </p:nvSpPr>
        <p:spPr>
          <a:xfrm>
            <a:off x="6553200" y="1447800"/>
            <a:ext cx="4927600" cy="1107996"/>
          </a:xfrm>
          <a:prstGeom prst="rect">
            <a:avLst/>
          </a:prstGeom>
          <a:noFill/>
        </p:spPr>
        <p:txBody>
          <a:bodyPr vert="horz" wrap="square" rtlCol="0">
            <a:spAutoFit/>
          </a:bodyPr>
          <a:lstStyle/>
          <a:p>
            <a:r>
              <a:rPr lang="fr-FR" sz="1400" b="1">
                <a:solidFill>
                  <a:srgbClr val="F43F5E"/>
                </a:solidFill>
                <a:latin typeface="Segoe UI Semibold" panose="020B0702040204020203" pitchFamily="34" charset="0"/>
              </a:rPr>
              <a:t>THE JOINT (The Hinge)</a:t>
            </a:r>
          </a:p>
          <a:p>
            <a:r>
              <a:rPr lang="fr-FR" sz="1100" b="1">
                <a:solidFill>
                  <a:srgbClr val="FFFFFF"/>
                </a:solidFill>
                <a:latin typeface="Segoe UI" panose="020B0502040204020203" pitchFamily="34" charset="0"/>
              </a:rPr>
              <a:t>Allows Controlled Motion</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What it does: Connects two links and lets them move relative to each other.</a:t>
            </a:r>
          </a:p>
          <a:p>
            <a:r>
              <a:rPr lang="en-US" sz="1000" b="1">
                <a:solidFill>
                  <a:srgbClr val="94A3B8"/>
                </a:solidFill>
                <a:latin typeface="Segoe UI" panose="020B0502040204020203" pitchFamily="34" charset="0"/>
              </a:rPr>
              <a:t>• Think of it like: Your elbow or your knee hinge.</a:t>
            </a:r>
          </a:p>
          <a:p>
            <a:r>
              <a:rPr lang="en-US" sz="1000" b="1">
                <a:solidFill>
                  <a:srgbClr val="94A3B8"/>
                </a:solidFill>
                <a:latin typeface="Segoe UI" panose="020B0502040204020203" pitchFamily="34" charset="0"/>
              </a:rPr>
              <a:t>• Goal: Smooth rotation with zero wobble or loose slop.</a:t>
            </a:r>
            <a:endParaRPr lang="fr-FR" sz="1000" b="1">
              <a:solidFill>
                <a:srgbClr val="94A3B8"/>
              </a:solidFill>
              <a:latin typeface="Segoe UI" panose="020B0502040204020203" pitchFamily="34" charset="0"/>
            </a:endParaRPr>
          </a:p>
        </p:txBody>
      </p:sp>
      <p:sp>
        <p:nvSpPr>
          <p:cNvPr id="10" name="Rectangle : coins arrondis 9">
            <a:extLst>
              <a:ext uri="{FF2B5EF4-FFF2-40B4-BE49-F238E27FC236}">
                <a16:creationId xmlns:a16="http://schemas.microsoft.com/office/drawing/2014/main" id="{53CF0ACF-106C-C91D-7975-2DFA52D9862D}"/>
              </a:ext>
            </a:extLst>
          </p:cNvPr>
          <p:cNvSpPr/>
          <p:nvPr/>
        </p:nvSpPr>
        <p:spPr>
          <a:xfrm>
            <a:off x="508000" y="4953000"/>
            <a:ext cx="11176000" cy="1333500"/>
          </a:xfrm>
          <a:prstGeom prst="roundRect">
            <a:avLst/>
          </a:prstGeom>
          <a:solidFill>
            <a:srgbClr val="161410"/>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4FB3653C-E36D-1FCA-0857-59C2055D35F0}"/>
              </a:ext>
            </a:extLst>
          </p:cNvPr>
          <p:cNvSpPr txBox="1"/>
          <p:nvPr/>
        </p:nvSpPr>
        <p:spPr>
          <a:xfrm>
            <a:off x="711200" y="5105400"/>
            <a:ext cx="10769600" cy="446276"/>
          </a:xfrm>
          <a:prstGeom prst="rect">
            <a:avLst/>
          </a:prstGeom>
          <a:noFill/>
        </p:spPr>
        <p:txBody>
          <a:bodyPr vert="horz" wrap="square" rtlCol="0">
            <a:spAutoFit/>
          </a:bodyPr>
          <a:lstStyle/>
          <a:p>
            <a:r>
              <a:rPr lang="en-US" sz="1300" b="1">
                <a:solidFill>
                  <a:srgbClr val="FBBF24"/>
                </a:solidFill>
                <a:latin typeface="Segoe UI Semibold" panose="020B0702040204020203" pitchFamily="34" charset="0"/>
              </a:rPr>
              <a:t>💡 The Golden Formula: Link + Joint + Link = Mechanism</a:t>
            </a:r>
          </a:p>
          <a:p>
            <a:r>
              <a:rPr lang="en-US" sz="1000">
                <a:solidFill>
                  <a:srgbClr val="E2E8F0"/>
                </a:solidFill>
                <a:latin typeface="Segoe UI" panose="020B0502040204020203" pitchFamily="34" charset="0"/>
              </a:rPr>
              <a:t>A robot arm is just bones and hinges chained together. Every joint needs a motor; every link gives you reach.</a:t>
            </a:r>
            <a:endParaRPr lang="fr-FR"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2457799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F8BD9B-C3B7-4E84-4F50-BF11CE61615F}"/>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A93565FE-6ABD-7623-C062-77C4CB3F6E83}"/>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553AC26A-A7CE-A262-0FA9-8BA55BE4E98C}"/>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ZoneTexte 4">
            <a:extLst>
              <a:ext uri="{FF2B5EF4-FFF2-40B4-BE49-F238E27FC236}">
                <a16:creationId xmlns:a16="http://schemas.microsoft.com/office/drawing/2014/main" id="{6614E6F6-3323-D74D-6323-3757F89EDB9F}"/>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THE TWO FUNDAMENTAL JOINTS: SPIN OR SLIDE?</a:t>
            </a:r>
            <a:endParaRPr lang="fr-FR" sz="2200" b="1">
              <a:solidFill>
                <a:srgbClr val="FFFFFF"/>
              </a:solidFill>
              <a:latin typeface="Segoe UI Semibold" panose="020B0702040204020203" pitchFamily="34" charset="0"/>
            </a:endParaRPr>
          </a:p>
        </p:txBody>
      </p:sp>
      <p:sp>
        <p:nvSpPr>
          <p:cNvPr id="6" name="Rectangle : coins arrondis 5">
            <a:extLst>
              <a:ext uri="{FF2B5EF4-FFF2-40B4-BE49-F238E27FC236}">
                <a16:creationId xmlns:a16="http://schemas.microsoft.com/office/drawing/2014/main" id="{661B3B01-CF56-DD06-640E-8A6A1A110DD4}"/>
              </a:ext>
            </a:extLst>
          </p:cNvPr>
          <p:cNvSpPr/>
          <p:nvPr/>
        </p:nvSpPr>
        <p:spPr>
          <a:xfrm>
            <a:off x="508000" y="1270000"/>
            <a:ext cx="5334000" cy="35560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69487F92-790B-C0AD-4F01-53151A9A9090}"/>
              </a:ext>
            </a:extLst>
          </p:cNvPr>
          <p:cNvSpPr txBox="1"/>
          <p:nvPr/>
        </p:nvSpPr>
        <p:spPr>
          <a:xfrm>
            <a:off x="711200" y="1447800"/>
            <a:ext cx="4927600" cy="1261884"/>
          </a:xfrm>
          <a:prstGeom prst="rect">
            <a:avLst/>
          </a:prstGeom>
          <a:noFill/>
        </p:spPr>
        <p:txBody>
          <a:bodyPr vert="horz" wrap="square" rtlCol="0">
            <a:spAutoFit/>
          </a:bodyPr>
          <a:lstStyle/>
          <a:p>
            <a:r>
              <a:rPr lang="fr-FR" sz="1400" b="1">
                <a:solidFill>
                  <a:srgbClr val="38BDF8"/>
                </a:solidFill>
                <a:latin typeface="Segoe UI Semibold" panose="020B0702040204020203" pitchFamily="34" charset="0"/>
              </a:rPr>
              <a:t>REVOLUTE JOINT (R)</a:t>
            </a:r>
          </a:p>
          <a:p>
            <a:r>
              <a:rPr lang="fr-FR" sz="1100" b="1">
                <a:solidFill>
                  <a:srgbClr val="FFFFFF"/>
                </a:solidFill>
                <a:latin typeface="Segoe UI" panose="020B0502040204020203" pitchFamily="34" charset="0"/>
              </a:rPr>
              <a:t>Pure Rotation (Spinning)</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Motion: Spins around a center pivot (Angle θ).</a:t>
            </a:r>
          </a:p>
          <a:p>
            <a:r>
              <a:rPr lang="en-US" sz="1000" b="1">
                <a:solidFill>
                  <a:srgbClr val="94A3B8"/>
                </a:solidFill>
                <a:latin typeface="Segoe UI" panose="020B0502040204020203" pitchFamily="34" charset="0"/>
              </a:rPr>
              <a:t>• Examples: Door hinge, bicycle wheel, robot shoulder &amp; elbow.</a:t>
            </a:r>
          </a:p>
          <a:p>
            <a:r>
              <a:rPr lang="en-US" sz="1000" b="1">
                <a:solidFill>
                  <a:srgbClr val="94A3B8"/>
                </a:solidFill>
                <a:latin typeface="Segoe UI" panose="020B0502040204020203" pitchFamily="34" charset="0"/>
              </a:rPr>
              <a:t>• Why we love it: Easy to build using standard ball bearings and round motor shafts.</a:t>
            </a:r>
            <a:endParaRPr lang="fr-FR" sz="1000" b="1">
              <a:solidFill>
                <a:srgbClr val="94A3B8"/>
              </a:solidFill>
              <a:latin typeface="Segoe UI" panose="020B0502040204020203" pitchFamily="34" charset="0"/>
            </a:endParaRPr>
          </a:p>
        </p:txBody>
      </p:sp>
      <p:sp>
        <p:nvSpPr>
          <p:cNvPr id="8" name="Rectangle : coins arrondis 7">
            <a:extLst>
              <a:ext uri="{FF2B5EF4-FFF2-40B4-BE49-F238E27FC236}">
                <a16:creationId xmlns:a16="http://schemas.microsoft.com/office/drawing/2014/main" id="{9990B37A-08B6-E8A8-4E51-DD2149D1402E}"/>
              </a:ext>
            </a:extLst>
          </p:cNvPr>
          <p:cNvSpPr/>
          <p:nvPr/>
        </p:nvSpPr>
        <p:spPr>
          <a:xfrm>
            <a:off x="6350000" y="1270000"/>
            <a:ext cx="5334000" cy="3556000"/>
          </a:xfrm>
          <a:prstGeom prst="roundRect">
            <a:avLst/>
          </a:prstGeom>
          <a:solidFill>
            <a:srgbClr val="101622"/>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BCE0B72F-134E-B94E-F1DF-BE66420A0FCC}"/>
              </a:ext>
            </a:extLst>
          </p:cNvPr>
          <p:cNvSpPr txBox="1"/>
          <p:nvPr/>
        </p:nvSpPr>
        <p:spPr>
          <a:xfrm>
            <a:off x="6553200" y="1447800"/>
            <a:ext cx="4927600" cy="1107996"/>
          </a:xfrm>
          <a:prstGeom prst="rect">
            <a:avLst/>
          </a:prstGeom>
          <a:noFill/>
        </p:spPr>
        <p:txBody>
          <a:bodyPr vert="horz" wrap="square" rtlCol="0">
            <a:spAutoFit/>
          </a:bodyPr>
          <a:lstStyle/>
          <a:p>
            <a:r>
              <a:rPr lang="fr-FR" sz="1400" b="1">
                <a:solidFill>
                  <a:srgbClr val="A855F7"/>
                </a:solidFill>
                <a:latin typeface="Segoe UI Semibold" panose="020B0702040204020203" pitchFamily="34" charset="0"/>
              </a:rPr>
              <a:t>PRISMATIC JOINT (P)</a:t>
            </a:r>
          </a:p>
          <a:p>
            <a:r>
              <a:rPr lang="fr-FR" sz="1100" b="1">
                <a:solidFill>
                  <a:srgbClr val="FFFFFF"/>
                </a:solidFill>
                <a:latin typeface="Segoe UI" panose="020B0502040204020203" pitchFamily="34" charset="0"/>
              </a:rPr>
              <a:t>Pure Translation (Sliding)</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Motion: Slides along a straight track (Distance d).</a:t>
            </a:r>
          </a:p>
          <a:p>
            <a:r>
              <a:rPr lang="en-US" sz="1000" b="1">
                <a:solidFill>
                  <a:srgbClr val="94A3B8"/>
                </a:solidFill>
                <a:latin typeface="Segoe UI" panose="020B0502040204020203" pitchFamily="34" charset="0"/>
              </a:rPr>
              <a:t>• Examples: 3D printer gantry, elevator, drawer slides, car jack.</a:t>
            </a:r>
          </a:p>
          <a:p>
            <a:r>
              <a:rPr lang="en-US" sz="1000" b="1">
                <a:solidFill>
                  <a:srgbClr val="94A3B8"/>
                </a:solidFill>
                <a:latin typeface="Segoe UI" panose="020B0502040204020203" pitchFamily="34" charset="0"/>
              </a:rPr>
              <a:t>• Why we use it: Perfect for straight-line plunging or sliding motions.</a:t>
            </a:r>
            <a:endParaRPr lang="fr-FR" sz="1000" b="1">
              <a:solidFill>
                <a:srgbClr val="94A3B8"/>
              </a:solidFill>
              <a:latin typeface="Segoe UI" panose="020B0502040204020203" pitchFamily="34" charset="0"/>
            </a:endParaRPr>
          </a:p>
        </p:txBody>
      </p:sp>
      <p:sp>
        <p:nvSpPr>
          <p:cNvPr id="10" name="Rectangle : coins arrondis 9">
            <a:extLst>
              <a:ext uri="{FF2B5EF4-FFF2-40B4-BE49-F238E27FC236}">
                <a16:creationId xmlns:a16="http://schemas.microsoft.com/office/drawing/2014/main" id="{E767BCD8-E8BD-AF40-E6DE-4A602A2623BD}"/>
              </a:ext>
            </a:extLst>
          </p:cNvPr>
          <p:cNvSpPr/>
          <p:nvPr/>
        </p:nvSpPr>
        <p:spPr>
          <a:xfrm>
            <a:off x="508000" y="5143500"/>
            <a:ext cx="11176000" cy="1143000"/>
          </a:xfrm>
          <a:prstGeom prst="roundRect">
            <a:avLst/>
          </a:prstGeom>
          <a:solidFill>
            <a:srgbClr val="101622"/>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AB4E3D6C-A64A-CED1-A6A6-F79006136044}"/>
              </a:ext>
            </a:extLst>
          </p:cNvPr>
          <p:cNvSpPr txBox="1"/>
          <p:nvPr/>
        </p:nvSpPr>
        <p:spPr>
          <a:xfrm>
            <a:off x="698500" y="5270500"/>
            <a:ext cx="10795000" cy="461665"/>
          </a:xfrm>
          <a:prstGeom prst="rect">
            <a:avLst/>
          </a:prstGeom>
          <a:noFill/>
        </p:spPr>
        <p:txBody>
          <a:bodyPr vert="horz" wrap="square" rtlCol="0">
            <a:spAutoFit/>
          </a:bodyPr>
          <a:lstStyle/>
          <a:p>
            <a:r>
              <a:rPr lang="en-US" sz="1300" b="1">
                <a:solidFill>
                  <a:srgbClr val="34D399"/>
                </a:solidFill>
                <a:latin typeface="Segoe UI Semibold" panose="020B0702040204020203" pitchFamily="34" charset="0"/>
              </a:rPr>
              <a:t>Almost EVERY robot in the world is built from just Revolute (R) and Prismatic (P) joints!</a:t>
            </a:r>
          </a:p>
          <a:p>
            <a:r>
              <a:rPr lang="en-US" sz="1100" b="1">
                <a:solidFill>
                  <a:srgbClr val="FFFFFF"/>
                </a:solidFill>
                <a:latin typeface="Segoe UI" panose="020B0502040204020203" pitchFamily="34" charset="0"/>
              </a:rPr>
              <a:t>A 3D printer is 3 Prismatic joints (X, Y, Z). A classic factory arm is 6 Revolute joints (6R). That's it!</a:t>
            </a:r>
            <a:endParaRPr lang="fr-FR" sz="1100" b="1">
              <a:solidFill>
                <a:srgbClr val="FFFFFF"/>
              </a:solidFill>
              <a:latin typeface="Segoe UI" panose="020B0502040204020203" pitchFamily="34" charset="0"/>
            </a:endParaRPr>
          </a:p>
        </p:txBody>
      </p:sp>
    </p:spTree>
    <p:extLst>
      <p:ext uri="{BB962C8B-B14F-4D97-AF65-F5344CB8AC3E}">
        <p14:creationId xmlns:p14="http://schemas.microsoft.com/office/powerpoint/2010/main" val="1875270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F096DD-71D8-1DEC-F6D9-FBED3B8B2271}"/>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1F6F3A62-5AA7-EE36-6DB6-E824EE20EB41}"/>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4AF9CAE8-2F0F-01A8-58F5-F77D7636E8CF}"/>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ZoneTexte 4">
            <a:extLst>
              <a:ext uri="{FF2B5EF4-FFF2-40B4-BE49-F238E27FC236}">
                <a16:creationId xmlns:a16="http://schemas.microsoft.com/office/drawing/2014/main" id="{665F3385-2A79-FC6F-E4B4-EDDCAD464AC8}"/>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WHAT IS DOF? (DEGREES OF FREEDOM)</a:t>
            </a:r>
            <a:endParaRPr lang="fr-FR" sz="2200" b="1">
              <a:solidFill>
                <a:srgbClr val="FFFFFF"/>
              </a:solidFill>
              <a:latin typeface="Segoe UI Semibold" panose="020B0702040204020203" pitchFamily="34" charset="0"/>
            </a:endParaRPr>
          </a:p>
        </p:txBody>
      </p:sp>
      <p:sp>
        <p:nvSpPr>
          <p:cNvPr id="6" name="Rectangle : coins arrondis 5">
            <a:extLst>
              <a:ext uri="{FF2B5EF4-FFF2-40B4-BE49-F238E27FC236}">
                <a16:creationId xmlns:a16="http://schemas.microsoft.com/office/drawing/2014/main" id="{8D4DB7B8-87FB-F86D-BC7E-5DA228A1B435}"/>
              </a:ext>
            </a:extLst>
          </p:cNvPr>
          <p:cNvSpPr/>
          <p:nvPr/>
        </p:nvSpPr>
        <p:spPr>
          <a:xfrm>
            <a:off x="508000" y="1270000"/>
            <a:ext cx="3429000" cy="50165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E6C80115-0FAD-0C5E-564A-69B8E92D118E}"/>
              </a:ext>
            </a:extLst>
          </p:cNvPr>
          <p:cNvSpPr txBox="1"/>
          <p:nvPr/>
        </p:nvSpPr>
        <p:spPr>
          <a:xfrm>
            <a:off x="711200" y="1460500"/>
            <a:ext cx="3022600" cy="1384995"/>
          </a:xfrm>
          <a:prstGeom prst="rect">
            <a:avLst/>
          </a:prstGeom>
          <a:noFill/>
        </p:spPr>
        <p:txBody>
          <a:bodyPr vert="horz" wrap="square" rtlCol="0">
            <a:spAutoFit/>
          </a:bodyPr>
          <a:lstStyle/>
          <a:p>
            <a:r>
              <a:rPr lang="fr-FR" sz="2400" b="1">
                <a:solidFill>
                  <a:srgbClr val="38BDF8"/>
                </a:solidFill>
                <a:latin typeface="Segoe UI Semibold" panose="020B0702040204020203" pitchFamily="34" charset="0"/>
              </a:rPr>
              <a:t>1 DOF</a:t>
            </a:r>
          </a:p>
          <a:p>
            <a:r>
              <a:rPr lang="fr-FR" sz="1200" b="1">
                <a:solidFill>
                  <a:srgbClr val="FFFFFF"/>
                </a:solidFill>
                <a:latin typeface="Segoe UI" panose="020B0502040204020203" pitchFamily="34" charset="0"/>
              </a:rPr>
              <a:t>One Way to Move</a:t>
            </a:r>
          </a:p>
          <a:p>
            <a:r>
              <a:rPr lang="fr-FR" sz="1200" b="1">
                <a:solidFill>
                  <a:srgbClr val="FFFFFF"/>
                </a:solidFill>
                <a:latin typeface="Segoe UI" panose="020B0502040204020203" pitchFamily="34" charset="0"/>
              </a:rPr>
              <a:t>
</a:t>
            </a:r>
            <a:r>
              <a:rPr lang="en-US" sz="1100" b="1">
                <a:solidFill>
                  <a:srgbClr val="94A3B8"/>
                </a:solidFill>
                <a:latin typeface="Segoe UI" panose="020B0502040204020203" pitchFamily="34" charset="0"/>
              </a:rPr>
              <a:t>A door hinge or train on a track. Can only go forward/backward along one coordinate.</a:t>
            </a:r>
            <a:endParaRPr lang="fr-FR" sz="1100" b="1">
              <a:solidFill>
                <a:srgbClr val="94A3B8"/>
              </a:solidFill>
              <a:latin typeface="Segoe UI" panose="020B0502040204020203" pitchFamily="34" charset="0"/>
            </a:endParaRPr>
          </a:p>
        </p:txBody>
      </p:sp>
      <p:sp>
        <p:nvSpPr>
          <p:cNvPr id="8" name="Rectangle : coins arrondis 7">
            <a:extLst>
              <a:ext uri="{FF2B5EF4-FFF2-40B4-BE49-F238E27FC236}">
                <a16:creationId xmlns:a16="http://schemas.microsoft.com/office/drawing/2014/main" id="{858265F3-ACF4-5FC9-EBD6-65668510EA80}"/>
              </a:ext>
            </a:extLst>
          </p:cNvPr>
          <p:cNvSpPr/>
          <p:nvPr/>
        </p:nvSpPr>
        <p:spPr>
          <a:xfrm>
            <a:off x="4381500" y="1270000"/>
            <a:ext cx="3429000" cy="5016500"/>
          </a:xfrm>
          <a:prstGeom prst="roundRect">
            <a:avLst/>
          </a:prstGeom>
          <a:solidFill>
            <a:srgbClr val="101622"/>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19FB2650-D02B-7BD8-AC2B-AE05ABB1FB7B}"/>
              </a:ext>
            </a:extLst>
          </p:cNvPr>
          <p:cNvSpPr txBox="1"/>
          <p:nvPr/>
        </p:nvSpPr>
        <p:spPr>
          <a:xfrm>
            <a:off x="4584700" y="1460500"/>
            <a:ext cx="3022600" cy="1169551"/>
          </a:xfrm>
          <a:prstGeom prst="rect">
            <a:avLst/>
          </a:prstGeom>
          <a:noFill/>
        </p:spPr>
        <p:txBody>
          <a:bodyPr vert="horz" wrap="square" rtlCol="0">
            <a:spAutoFit/>
          </a:bodyPr>
          <a:lstStyle/>
          <a:p>
            <a:r>
              <a:rPr lang="fr-FR" sz="2400" b="1">
                <a:solidFill>
                  <a:srgbClr val="FBBF24"/>
                </a:solidFill>
                <a:latin typeface="Segoe UI Semibold" panose="020B0702040204020203" pitchFamily="34" charset="0"/>
              </a:rPr>
              <a:t>2 DOF</a:t>
            </a:r>
          </a:p>
          <a:p>
            <a:r>
              <a:rPr lang="fr-FR" sz="1200" b="1">
                <a:solidFill>
                  <a:srgbClr val="FFFFFF"/>
                </a:solidFill>
                <a:latin typeface="Segoe UI" panose="020B0502040204020203" pitchFamily="34" charset="0"/>
              </a:rPr>
              <a:t>Two Ways to Move</a:t>
            </a:r>
          </a:p>
          <a:p>
            <a:r>
              <a:rPr lang="fr-FR" sz="1200" b="1">
                <a:solidFill>
                  <a:srgbClr val="FFFFFF"/>
                </a:solidFill>
                <a:latin typeface="Segoe UI" panose="020B0502040204020203" pitchFamily="34" charset="0"/>
              </a:rPr>
              <a:t>
</a:t>
            </a:r>
            <a:r>
              <a:rPr lang="en-US" sz="1100" b="1">
                <a:solidFill>
                  <a:srgbClr val="94A3B8"/>
                </a:solidFill>
                <a:latin typeface="Segoe UI" panose="020B0502040204020203" pitchFamily="34" charset="0"/>
              </a:rPr>
              <a:t>A mouse on a mousepad, or a toy drawing on paper (X and Y coordinates).</a:t>
            </a:r>
            <a:endParaRPr lang="fr-FR" sz="1100" b="1">
              <a:solidFill>
                <a:srgbClr val="94A3B8"/>
              </a:solidFill>
              <a:latin typeface="Segoe UI" panose="020B0502040204020203" pitchFamily="34" charset="0"/>
            </a:endParaRPr>
          </a:p>
        </p:txBody>
      </p:sp>
      <p:sp>
        <p:nvSpPr>
          <p:cNvPr id="10" name="Rectangle : coins arrondis 9">
            <a:extLst>
              <a:ext uri="{FF2B5EF4-FFF2-40B4-BE49-F238E27FC236}">
                <a16:creationId xmlns:a16="http://schemas.microsoft.com/office/drawing/2014/main" id="{AD92B717-F518-7E18-9BD3-0E2967ED01AD}"/>
              </a:ext>
            </a:extLst>
          </p:cNvPr>
          <p:cNvSpPr/>
          <p:nvPr/>
        </p:nvSpPr>
        <p:spPr>
          <a:xfrm>
            <a:off x="8255000" y="1270000"/>
            <a:ext cx="3429000" cy="5016500"/>
          </a:xfrm>
          <a:prstGeom prst="roundRect">
            <a:avLst/>
          </a:prstGeom>
          <a:solidFill>
            <a:srgbClr val="101622"/>
          </a:solidFill>
          <a:ln w="12700">
            <a:solidFill>
              <a:srgbClr val="F43F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892F61CB-6114-DB84-71E4-BCCB41969DE7}"/>
              </a:ext>
            </a:extLst>
          </p:cNvPr>
          <p:cNvSpPr txBox="1"/>
          <p:nvPr/>
        </p:nvSpPr>
        <p:spPr>
          <a:xfrm>
            <a:off x="8458200" y="1460500"/>
            <a:ext cx="3022600" cy="1384995"/>
          </a:xfrm>
          <a:prstGeom prst="rect">
            <a:avLst/>
          </a:prstGeom>
          <a:noFill/>
        </p:spPr>
        <p:txBody>
          <a:bodyPr vert="horz" wrap="square" rtlCol="0">
            <a:spAutoFit/>
          </a:bodyPr>
          <a:lstStyle/>
          <a:p>
            <a:r>
              <a:rPr lang="fr-FR" sz="2400" b="1">
                <a:solidFill>
                  <a:srgbClr val="F43F5E"/>
                </a:solidFill>
                <a:latin typeface="Segoe UI Semibold" panose="020B0702040204020203" pitchFamily="34" charset="0"/>
              </a:rPr>
              <a:t>6 DOF</a:t>
            </a:r>
          </a:p>
          <a:p>
            <a:r>
              <a:rPr lang="fr-FR" sz="1200" b="1">
                <a:solidFill>
                  <a:srgbClr val="FFFFFF"/>
                </a:solidFill>
                <a:latin typeface="Segoe UI" panose="020B0502040204020203" pitchFamily="34" charset="0"/>
              </a:rPr>
              <a:t>Full 3D Freedom!</a:t>
            </a:r>
          </a:p>
          <a:p>
            <a:r>
              <a:rPr lang="fr-FR" sz="1200" b="1">
                <a:solidFill>
                  <a:srgbClr val="FFFFFF"/>
                </a:solidFill>
                <a:latin typeface="Segoe UI" panose="020B0502040204020203" pitchFamily="34" charset="0"/>
              </a:rPr>
              <a:t>
</a:t>
            </a:r>
            <a:r>
              <a:rPr lang="en-US" sz="1100" b="1">
                <a:solidFill>
                  <a:srgbClr val="94A3B8"/>
                </a:solidFill>
                <a:latin typeface="Segoe UI" panose="020B0502040204020203" pitchFamily="34" charset="0"/>
              </a:rPr>
              <a:t>Your hand in free space. You can move Up/Down, Left/Right, Forward/Back AND tilt Pitch, Roll, Yaw.</a:t>
            </a:r>
            <a:endParaRPr lang="fr-FR" sz="1100" b="1">
              <a:solidFill>
                <a:srgbClr val="94A3B8"/>
              </a:solidFill>
              <a:latin typeface="Segoe UI" panose="020B0502040204020203" pitchFamily="34" charset="0"/>
            </a:endParaRPr>
          </a:p>
        </p:txBody>
      </p:sp>
    </p:spTree>
    <p:extLst>
      <p:ext uri="{BB962C8B-B14F-4D97-AF65-F5344CB8AC3E}">
        <p14:creationId xmlns:p14="http://schemas.microsoft.com/office/powerpoint/2010/main" val="1548605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DC21E0-E961-F918-4936-98F6AC3B7851}"/>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F66BB904-1965-C77C-E34A-DA1F52B6F917}"/>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AB2F8408-63A9-7FB0-589D-8DB9341F64B5}"/>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4D87F015-57A0-8D20-AD22-F0EE68F2D32F}"/>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DESIGN TRADE-OFF  </a:t>
            </a:r>
          </a:p>
        </p:txBody>
      </p:sp>
      <p:sp>
        <p:nvSpPr>
          <p:cNvPr id="6" name="ZoneTexte 5">
            <a:extLst>
              <a:ext uri="{FF2B5EF4-FFF2-40B4-BE49-F238E27FC236}">
                <a16:creationId xmlns:a16="http://schemas.microsoft.com/office/drawing/2014/main" id="{6A027BE0-C51C-386C-4AE8-7009F9ACF6E1}"/>
              </a:ext>
            </a:extLst>
          </p:cNvPr>
          <p:cNvSpPr txBox="1"/>
          <p:nvPr/>
        </p:nvSpPr>
        <p:spPr>
          <a:xfrm>
            <a:off x="508000" y="533400"/>
            <a:ext cx="11176000" cy="338554"/>
          </a:xfrm>
          <a:prstGeom prst="rect">
            <a:avLst/>
          </a:prstGeom>
          <a:noFill/>
        </p:spPr>
        <p:txBody>
          <a:bodyPr vert="horz" lIns="0" tIns="0" rIns="0" bIns="0" rtlCol="0">
            <a:spAutoFit/>
          </a:bodyPr>
          <a:lstStyle/>
          <a:p>
            <a:r>
              <a:rPr lang="fr-FR" sz="2200" b="1">
                <a:solidFill>
                  <a:srgbClr val="FFFFFF"/>
                </a:solidFill>
                <a:latin typeface="Segoe UI Semibold" panose="020B0702040204020203" pitchFamily="34" charset="0"/>
              </a:rPr>
              <a:t>MORE DOF ≠ AUTOMATICALLY BETTER</a:t>
            </a:r>
          </a:p>
        </p:txBody>
      </p:sp>
      <p:sp>
        <p:nvSpPr>
          <p:cNvPr id="7" name="Rectangle : coins arrondis 6">
            <a:extLst>
              <a:ext uri="{FF2B5EF4-FFF2-40B4-BE49-F238E27FC236}">
                <a16:creationId xmlns:a16="http://schemas.microsoft.com/office/drawing/2014/main" id="{462FB723-00F2-6067-21E7-F48074678952}"/>
              </a:ext>
            </a:extLst>
          </p:cNvPr>
          <p:cNvSpPr/>
          <p:nvPr/>
        </p:nvSpPr>
        <p:spPr>
          <a:xfrm>
            <a:off x="508000" y="1270000"/>
            <a:ext cx="5334000" cy="3302000"/>
          </a:xfrm>
          <a:prstGeom prst="roundRect">
            <a:avLst/>
          </a:prstGeom>
          <a:solidFill>
            <a:srgbClr val="101622"/>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B5D4EC69-9064-A190-0660-E3E9229B5426}"/>
              </a:ext>
            </a:extLst>
          </p:cNvPr>
          <p:cNvSpPr txBox="1"/>
          <p:nvPr/>
        </p:nvSpPr>
        <p:spPr>
          <a:xfrm>
            <a:off x="711200" y="1447800"/>
            <a:ext cx="4927600" cy="1107996"/>
          </a:xfrm>
          <a:prstGeom prst="rect">
            <a:avLst/>
          </a:prstGeom>
          <a:noFill/>
        </p:spPr>
        <p:txBody>
          <a:bodyPr vert="horz" wrap="square" rtlCol="0">
            <a:spAutoFit/>
          </a:bodyPr>
          <a:lstStyle/>
          <a:p>
            <a:r>
              <a:rPr lang="fr-FR" sz="1400" b="1">
                <a:solidFill>
                  <a:srgbClr val="34D399"/>
                </a:solidFill>
                <a:latin typeface="Segoe UI Semibold" panose="020B0702040204020203" pitchFamily="34" charset="0"/>
              </a:rPr>
              <a:t>THE GOOD STUFF (+)</a:t>
            </a:r>
          </a:p>
          <a:p>
            <a:r>
              <a:rPr lang="fr-FR" sz="1100" b="1">
                <a:solidFill>
                  <a:srgbClr val="FFFFFF"/>
                </a:solidFill>
                <a:latin typeface="Segoe UI" panose="020B0502040204020203" pitchFamily="34" charset="0"/>
              </a:rPr>
              <a:t>Why Add More Joints?</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Reach Around Obstacles: You can weave your arm around a barrier.</a:t>
            </a:r>
          </a:p>
          <a:p>
            <a:r>
              <a:rPr lang="en-US" sz="1000" b="1">
                <a:solidFill>
                  <a:srgbClr val="94A3B8"/>
                </a:solidFill>
                <a:latin typeface="Segoe UI" panose="020B0502040204020203" pitchFamily="34" charset="0"/>
              </a:rPr>
              <a:t>• Human-Like Motion: Smoother gestures and flexible tool angles.</a:t>
            </a:r>
          </a:p>
          <a:p>
            <a:r>
              <a:rPr lang="en-US" sz="1000" b="1">
                <a:solidFill>
                  <a:srgbClr val="94A3B8"/>
                </a:solidFill>
                <a:latin typeface="Segoe UI" panose="020B0502040204020203" pitchFamily="34" charset="0"/>
              </a:rPr>
              <a:t>• Redundancy: If one joint reaches its limit, others can take over.</a:t>
            </a:r>
            <a:endParaRPr lang="fr-FR" sz="1000" b="1">
              <a:solidFill>
                <a:srgbClr val="94A3B8"/>
              </a:solidFill>
              <a:latin typeface="Segoe UI" panose="020B0502040204020203" pitchFamily="34" charset="0"/>
            </a:endParaRPr>
          </a:p>
        </p:txBody>
      </p:sp>
      <p:sp>
        <p:nvSpPr>
          <p:cNvPr id="9" name="Rectangle : coins arrondis 8">
            <a:extLst>
              <a:ext uri="{FF2B5EF4-FFF2-40B4-BE49-F238E27FC236}">
                <a16:creationId xmlns:a16="http://schemas.microsoft.com/office/drawing/2014/main" id="{B9CA5DC9-E5AE-3632-51C1-DA0A4C3424A9}"/>
              </a:ext>
            </a:extLst>
          </p:cNvPr>
          <p:cNvSpPr/>
          <p:nvPr/>
        </p:nvSpPr>
        <p:spPr>
          <a:xfrm>
            <a:off x="6350000" y="1270000"/>
            <a:ext cx="5334000" cy="3302000"/>
          </a:xfrm>
          <a:prstGeom prst="roundRect">
            <a:avLst/>
          </a:prstGeom>
          <a:solidFill>
            <a:srgbClr val="101622"/>
          </a:solidFill>
          <a:ln w="12700">
            <a:solidFill>
              <a:srgbClr val="F43F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084F9771-6FE9-04CD-3F19-AF286D77079E}"/>
              </a:ext>
            </a:extLst>
          </p:cNvPr>
          <p:cNvSpPr txBox="1"/>
          <p:nvPr/>
        </p:nvSpPr>
        <p:spPr>
          <a:xfrm>
            <a:off x="6553200" y="1447800"/>
            <a:ext cx="4927600" cy="1107996"/>
          </a:xfrm>
          <a:prstGeom prst="rect">
            <a:avLst/>
          </a:prstGeom>
          <a:noFill/>
        </p:spPr>
        <p:txBody>
          <a:bodyPr vert="horz" wrap="square" rtlCol="0">
            <a:spAutoFit/>
          </a:bodyPr>
          <a:lstStyle/>
          <a:p>
            <a:r>
              <a:rPr lang="fr-FR" sz="1400" b="1">
                <a:solidFill>
                  <a:srgbClr val="F43F5E"/>
                </a:solidFill>
                <a:latin typeface="Segoe UI Semibold" panose="020B0702040204020203" pitchFamily="34" charset="0"/>
              </a:rPr>
              <a:t>THE PENALTIES (−)</a:t>
            </a:r>
          </a:p>
          <a:p>
            <a:r>
              <a:rPr lang="en-US" sz="1100" b="1">
                <a:solidFill>
                  <a:srgbClr val="FFFFFF"/>
                </a:solidFill>
                <a:latin typeface="Segoe UI" panose="020B0502040204020203" pitchFamily="34" charset="0"/>
              </a:rPr>
              <a:t>The Cost of Extra Joints</a:t>
            </a:r>
          </a:p>
          <a:p>
            <a:r>
              <a:rPr lang="en-US"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Heavy: Every extra motor adds weight that the base motors must carry!</a:t>
            </a:r>
          </a:p>
          <a:p>
            <a:r>
              <a:rPr lang="en-US" sz="1000" b="1">
                <a:solidFill>
                  <a:srgbClr val="94A3B8"/>
                </a:solidFill>
                <a:latin typeface="Segoe UI" panose="020B0502040204020203" pitchFamily="34" charset="0"/>
              </a:rPr>
              <a:t>• Expensive: More motors, drivers, and precision gears.</a:t>
            </a:r>
          </a:p>
          <a:p>
            <a:r>
              <a:rPr lang="en-US" sz="1000" b="1">
                <a:solidFill>
                  <a:srgbClr val="94A3B8"/>
                </a:solidFill>
                <a:latin typeface="Segoe UI" panose="020B0502040204020203" pitchFamily="34" charset="0"/>
              </a:rPr>
              <a:t>• More Cables to Break: Extra wires flexing and fatiguing.</a:t>
            </a:r>
            <a:endParaRPr lang="fr-FR" sz="1000" b="1">
              <a:solidFill>
                <a:srgbClr val="94A3B8"/>
              </a:solidFill>
              <a:latin typeface="Segoe UI" panose="020B0502040204020203" pitchFamily="34" charset="0"/>
            </a:endParaRPr>
          </a:p>
        </p:txBody>
      </p:sp>
      <p:sp>
        <p:nvSpPr>
          <p:cNvPr id="11" name="Rectangle : coins arrondis 10">
            <a:extLst>
              <a:ext uri="{FF2B5EF4-FFF2-40B4-BE49-F238E27FC236}">
                <a16:creationId xmlns:a16="http://schemas.microsoft.com/office/drawing/2014/main" id="{0E6FADB8-5012-2F72-5F0D-8BB164B0FF0C}"/>
              </a:ext>
            </a:extLst>
          </p:cNvPr>
          <p:cNvSpPr/>
          <p:nvPr/>
        </p:nvSpPr>
        <p:spPr>
          <a:xfrm>
            <a:off x="508000" y="4953000"/>
            <a:ext cx="11176000" cy="1333500"/>
          </a:xfrm>
          <a:prstGeom prst="roundRect">
            <a:avLst/>
          </a:prstGeom>
          <a:solidFill>
            <a:srgbClr val="161410"/>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4F93DA20-7FDE-7805-919F-602CF81E5862}"/>
              </a:ext>
            </a:extLst>
          </p:cNvPr>
          <p:cNvSpPr txBox="1"/>
          <p:nvPr/>
        </p:nvSpPr>
        <p:spPr>
          <a:xfrm>
            <a:off x="711200" y="5105400"/>
            <a:ext cx="10769600" cy="600164"/>
          </a:xfrm>
          <a:prstGeom prst="rect">
            <a:avLst/>
          </a:prstGeom>
          <a:noFill/>
        </p:spPr>
        <p:txBody>
          <a:bodyPr vert="horz" wrap="square" rtlCol="0">
            <a:spAutoFit/>
          </a:bodyPr>
          <a:lstStyle/>
          <a:p>
            <a:r>
              <a:rPr lang="en-US" sz="1300" b="1">
                <a:solidFill>
                  <a:srgbClr val="FBBF24"/>
                </a:solidFill>
                <a:latin typeface="Segoe UI Semibold" panose="020B0702040204020203" pitchFamily="34" charset="0"/>
              </a:rPr>
              <a:t>💡 Engineering Joke &amp; Golden Rule</a:t>
            </a:r>
          </a:p>
          <a:p>
            <a:r>
              <a:rPr lang="en-US" sz="1000">
                <a:solidFill>
                  <a:srgbClr val="E2E8F0"/>
                </a:solidFill>
                <a:latin typeface="Segoe UI" panose="020B0502040204020203" pitchFamily="34" charset="0"/>
              </a:rPr>
              <a:t>"More DOF = More capability... and more ways to fail!"</a:t>
            </a:r>
          </a:p>
          <a:p>
            <a:r>
              <a:rPr lang="en-US" sz="1000">
                <a:solidFill>
                  <a:srgbClr val="E2E8F0"/>
                </a:solidFill>
                <a:latin typeface="Segoe UI" panose="020B0502040204020203" pitchFamily="34" charset="0"/>
              </a:rPr>
              <a:t>Golden Rule: Use the MINIMUM degrees of freedom needed to do the job well.</a:t>
            </a:r>
            <a:endParaRPr lang="fr-FR"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1568202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B6EA2F-A275-88F9-615D-F02136E9F9A2}"/>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0B085C0A-ACBA-6F18-6278-C990ADC58F6B}"/>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A4751EFF-88EA-5A8C-F00F-765016F98DAF}"/>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ZoneTexte 4">
            <a:extLst>
              <a:ext uri="{FF2B5EF4-FFF2-40B4-BE49-F238E27FC236}">
                <a16:creationId xmlns:a16="http://schemas.microsoft.com/office/drawing/2014/main" id="{FBC25569-DDAF-FB9D-0B99-6AB095B3B5F6}"/>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REAL ROBOT ANATOMY: WHY 6 AXES?</a:t>
            </a:r>
            <a:endParaRPr lang="fr-FR" sz="2200" b="1">
              <a:solidFill>
                <a:srgbClr val="FFFFFF"/>
              </a:solidFill>
              <a:latin typeface="Segoe UI Semibold" panose="020B0702040204020203" pitchFamily="34" charset="0"/>
            </a:endParaRPr>
          </a:p>
        </p:txBody>
      </p:sp>
      <p:pic>
        <p:nvPicPr>
          <p:cNvPr id="7" name="Image 6">
            <a:extLst>
              <a:ext uri="{FF2B5EF4-FFF2-40B4-BE49-F238E27FC236}">
                <a16:creationId xmlns:a16="http://schemas.microsoft.com/office/drawing/2014/main" id="{47A59905-6EE7-BE16-75BB-7EC87779BC0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0" y="1206500"/>
            <a:ext cx="5588000" cy="5143500"/>
          </a:xfrm>
          <a:prstGeom prst="rect">
            <a:avLst/>
          </a:prstGeom>
          <a:ln w="15240">
            <a:solidFill>
              <a:srgbClr val="38BDF8"/>
            </a:solidFill>
          </a:ln>
        </p:spPr>
      </p:pic>
      <p:sp>
        <p:nvSpPr>
          <p:cNvPr id="8" name="Rectangle : coins arrondis 7">
            <a:extLst>
              <a:ext uri="{FF2B5EF4-FFF2-40B4-BE49-F238E27FC236}">
                <a16:creationId xmlns:a16="http://schemas.microsoft.com/office/drawing/2014/main" id="{BE2B6BE9-4602-EFCE-9D1A-CAE3847806C2}"/>
              </a:ext>
            </a:extLst>
          </p:cNvPr>
          <p:cNvSpPr/>
          <p:nvPr/>
        </p:nvSpPr>
        <p:spPr>
          <a:xfrm>
            <a:off x="508000" y="1206500"/>
            <a:ext cx="5334000" cy="51435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286B7A51-302A-833E-4108-29B6C57120EF}"/>
              </a:ext>
            </a:extLst>
          </p:cNvPr>
          <p:cNvSpPr txBox="1"/>
          <p:nvPr/>
        </p:nvSpPr>
        <p:spPr>
          <a:xfrm>
            <a:off x="698500" y="1397000"/>
            <a:ext cx="4953000" cy="2277547"/>
          </a:xfrm>
          <a:prstGeom prst="rect">
            <a:avLst/>
          </a:prstGeom>
          <a:noFill/>
        </p:spPr>
        <p:txBody>
          <a:bodyPr vert="horz" wrap="square" rtlCol="0">
            <a:spAutoFit/>
          </a:bodyPr>
          <a:lstStyle/>
          <a:p>
            <a:r>
              <a:rPr lang="en-US" sz="1600" b="1">
                <a:solidFill>
                  <a:srgbClr val="38BDF8"/>
                </a:solidFill>
                <a:latin typeface="Segoe UI Semibold" panose="020B0702040204020203" pitchFamily="34" charset="0"/>
              </a:rPr>
              <a:t>Why 6 is the Magic Number:</a:t>
            </a:r>
          </a:p>
          <a:p>
            <a:r>
              <a:rPr lang="en-US" sz="1600" b="1">
                <a:solidFill>
                  <a:srgbClr val="38BDF8"/>
                </a:solidFill>
                <a:latin typeface="Segoe UI Semibold" panose="020B0702040204020203" pitchFamily="34" charset="0"/>
              </a:rPr>
              <a:t>
</a:t>
            </a:r>
            <a:r>
              <a:rPr lang="en-US" sz="1100" b="1">
                <a:solidFill>
                  <a:srgbClr val="E2E8F0"/>
                </a:solidFill>
                <a:latin typeface="Segoe UI" panose="020B0502040204020203" pitchFamily="34" charset="0"/>
              </a:rPr>
              <a:t>📍 3 Axes to POSITION the tool (X, Y, Z)</a:t>
            </a:r>
          </a:p>
          <a:p>
            <a:r>
              <a:rPr lang="en-US" sz="1100" b="1">
                <a:solidFill>
                  <a:srgbClr val="E2E8F0"/>
                </a:solidFill>
                <a:latin typeface="Segoe UI" panose="020B0502040204020203" pitchFamily="34" charset="0"/>
              </a:rPr>
              <a:t>   • Joint 1 (Waist), Joint 2 (Shoulder), Joint 3 (Elbow)</a:t>
            </a:r>
          </a:p>
          <a:p>
            <a:r>
              <a:rPr lang="en-US" sz="1100" b="1">
                <a:solidFill>
                  <a:srgbClr val="E2E8F0"/>
                </a:solidFill>
                <a:latin typeface="Segoe UI" panose="020B0502040204020203" pitchFamily="34" charset="0"/>
              </a:rPr>
              <a:t>   • Gets the tool to any point in 3D space.</a:t>
            </a:r>
          </a:p>
          <a:p>
            <a:r>
              <a:rPr lang="en-US" sz="1100" b="1">
                <a:solidFill>
                  <a:srgbClr val="E2E8F0"/>
                </a:solidFill>
                <a:latin typeface="Segoe UI" panose="020B0502040204020203" pitchFamily="34" charset="0"/>
              </a:rPr>
              <a:t>
🔄 3 Axes to ORIENT the tool (Roll, Pitch, Yaw)</a:t>
            </a:r>
          </a:p>
          <a:p>
            <a:r>
              <a:rPr lang="en-US" sz="1100" b="1">
                <a:solidFill>
                  <a:srgbClr val="E2E8F0"/>
                </a:solidFill>
                <a:latin typeface="Segoe UI" panose="020B0502040204020203" pitchFamily="34" charset="0"/>
              </a:rPr>
              <a:t>   • Joint 4 (Wrist roll), Joint 5 (Wrist bend), Joint 6 (Tool spin)</a:t>
            </a:r>
          </a:p>
          <a:p>
            <a:r>
              <a:rPr lang="en-US" sz="1100" b="1">
                <a:solidFill>
                  <a:srgbClr val="E2E8F0"/>
                </a:solidFill>
                <a:latin typeface="Segoe UI" panose="020B0502040204020203" pitchFamily="34" charset="0"/>
              </a:rPr>
              <a:t>   • Points the screwdriver or welder in any direction.</a:t>
            </a:r>
          </a:p>
          <a:p>
            <a:r>
              <a:rPr lang="en-US" sz="1100" b="1">
                <a:solidFill>
                  <a:srgbClr val="E2E8F0"/>
                </a:solidFill>
                <a:latin typeface="Segoe UI" panose="020B0502040204020203" pitchFamily="34" charset="0"/>
              </a:rPr>
              <a:t>
3 Position + 3 Orientation = 6 DOF.</a:t>
            </a:r>
          </a:p>
          <a:p>
            <a:r>
              <a:rPr lang="en-US" sz="1100" b="1">
                <a:solidFill>
                  <a:srgbClr val="E2E8F0"/>
                </a:solidFill>
                <a:latin typeface="Segoe UI" panose="020B0502040204020203" pitchFamily="34" charset="0"/>
              </a:rPr>
              <a:t>This lets a robot reach any point from any angle!</a:t>
            </a:r>
            <a:endParaRPr lang="fr-FR" sz="1100" b="1">
              <a:solidFill>
                <a:srgbClr val="E2E8F0"/>
              </a:solidFill>
              <a:latin typeface="Segoe UI" panose="020B0502040204020203" pitchFamily="34" charset="0"/>
            </a:endParaRPr>
          </a:p>
        </p:txBody>
      </p:sp>
    </p:spTree>
    <p:extLst>
      <p:ext uri="{BB962C8B-B14F-4D97-AF65-F5344CB8AC3E}">
        <p14:creationId xmlns:p14="http://schemas.microsoft.com/office/powerpoint/2010/main" val="2230134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18D1FA-6282-918D-FB57-4902C0E48B3F}"/>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65690680-E851-C89F-DFFA-96EF305BB217}"/>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784C5032-0A2F-F5B6-8775-24773F58C55F}"/>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86CC1A52-4B83-015D-5301-D0065B9B0079}"/>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YOUR TURN  </a:t>
            </a:r>
          </a:p>
        </p:txBody>
      </p:sp>
      <p:sp>
        <p:nvSpPr>
          <p:cNvPr id="6" name="ZoneTexte 5">
            <a:extLst>
              <a:ext uri="{FF2B5EF4-FFF2-40B4-BE49-F238E27FC236}">
                <a16:creationId xmlns:a16="http://schemas.microsoft.com/office/drawing/2014/main" id="{2B7EF96D-AE36-216E-64C4-5417FE068283}"/>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YOUR TURN: AUDIT THIS ROBOTIC ARM</a:t>
            </a:r>
            <a:endParaRPr lang="fr-FR" sz="2200" b="1">
              <a:solidFill>
                <a:srgbClr val="FFFFFF"/>
              </a:solidFill>
              <a:latin typeface="Segoe UI Semibold" panose="020B0702040204020203" pitchFamily="34" charset="0"/>
            </a:endParaRPr>
          </a:p>
        </p:txBody>
      </p:sp>
      <p:pic>
        <p:nvPicPr>
          <p:cNvPr id="8" name="Image 7">
            <a:extLst>
              <a:ext uri="{FF2B5EF4-FFF2-40B4-BE49-F238E27FC236}">
                <a16:creationId xmlns:a16="http://schemas.microsoft.com/office/drawing/2014/main" id="{2DE41922-AE3A-2CAD-F48C-432C4C20AB9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1206500"/>
            <a:ext cx="5842000" cy="5143500"/>
          </a:xfrm>
          <a:prstGeom prst="rect">
            <a:avLst/>
          </a:prstGeom>
          <a:ln w="15240">
            <a:solidFill>
              <a:srgbClr val="F43F5E"/>
            </a:solidFill>
          </a:ln>
        </p:spPr>
      </p:pic>
      <p:sp>
        <p:nvSpPr>
          <p:cNvPr id="9" name="Rectangle : coins arrondis 8">
            <a:extLst>
              <a:ext uri="{FF2B5EF4-FFF2-40B4-BE49-F238E27FC236}">
                <a16:creationId xmlns:a16="http://schemas.microsoft.com/office/drawing/2014/main" id="{6C07AC59-91F0-F5CC-69E8-88E87757C8F5}"/>
              </a:ext>
            </a:extLst>
          </p:cNvPr>
          <p:cNvSpPr/>
          <p:nvPr/>
        </p:nvSpPr>
        <p:spPr>
          <a:xfrm>
            <a:off x="6604000" y="1206500"/>
            <a:ext cx="5080000" cy="5143500"/>
          </a:xfrm>
          <a:prstGeom prst="roundRect">
            <a:avLst/>
          </a:prstGeom>
          <a:solidFill>
            <a:srgbClr val="18101A"/>
          </a:solidFill>
          <a:ln w="12700">
            <a:solidFill>
              <a:srgbClr val="F43F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ED31B53D-CCA9-9CD3-98F5-4137AEDAABB1}"/>
              </a:ext>
            </a:extLst>
          </p:cNvPr>
          <p:cNvSpPr txBox="1"/>
          <p:nvPr/>
        </p:nvSpPr>
        <p:spPr>
          <a:xfrm>
            <a:off x="6858000" y="1397000"/>
            <a:ext cx="4572000" cy="2108269"/>
          </a:xfrm>
          <a:prstGeom prst="rect">
            <a:avLst/>
          </a:prstGeom>
          <a:noFill/>
        </p:spPr>
        <p:txBody>
          <a:bodyPr vert="horz" wrap="square" rtlCol="0">
            <a:spAutoFit/>
          </a:bodyPr>
          <a:lstStyle/>
          <a:p>
            <a:r>
              <a:rPr lang="fr-FR" sz="1600" b="1">
                <a:solidFill>
                  <a:srgbClr val="F43F5E"/>
                </a:solidFill>
                <a:latin typeface="Segoe UI Semibold" panose="020B0702040204020203" pitchFamily="34" charset="0"/>
              </a:rPr>
              <a:t>BE THE QUALITY INSPECTOR</a:t>
            </a:r>
          </a:p>
          <a:p>
            <a:r>
              <a:rPr lang="fr-FR" sz="1600" b="1">
                <a:solidFill>
                  <a:srgbClr val="F43F5E"/>
                </a:solidFill>
                <a:latin typeface="Segoe UI Semibold" panose="020B0702040204020203" pitchFamily="34" charset="0"/>
              </a:rPr>
              <a:t>
</a:t>
            </a:r>
            <a:r>
              <a:rPr lang="en-US" sz="1100" b="1">
                <a:solidFill>
                  <a:srgbClr val="FFFFFF"/>
                </a:solidFill>
                <a:latin typeface="Segoe UI" panose="020B0502040204020203" pitchFamily="34" charset="0"/>
              </a:rPr>
              <a:t>Look at the schematic on the left and drop answers in chat:</a:t>
            </a:r>
          </a:p>
          <a:p>
            <a:r>
              <a:rPr lang="en-US" sz="1100" b="1">
                <a:solidFill>
                  <a:srgbClr val="FFFFFF"/>
                </a:solidFill>
                <a:latin typeface="Segoe UI" panose="020B0502040204020203" pitchFamily="34" charset="0"/>
              </a:rPr>
              <a:t>
1. Can you count the 6 rotation axes (J1 to J6)?</a:t>
            </a:r>
          </a:p>
          <a:p>
            <a:r>
              <a:rPr lang="en-US" sz="1100" b="1">
                <a:solidFill>
                  <a:srgbClr val="FFFFFF"/>
                </a:solidFill>
                <a:latin typeface="Segoe UI" panose="020B0502040204020203" pitchFamily="34" charset="0"/>
              </a:rPr>
              <a:t>2. Which joint carries the most weight? (Hint: Base or Wrist?)</a:t>
            </a:r>
          </a:p>
          <a:p>
            <a:r>
              <a:rPr lang="en-US" sz="1100" b="1">
                <a:solidFill>
                  <a:srgbClr val="FFFFFF"/>
                </a:solidFill>
                <a:latin typeface="Segoe UI" panose="020B0502040204020203" pitchFamily="34" charset="0"/>
              </a:rPr>
              <a:t>3. Where is the most vulnerable cable flex point?</a:t>
            </a:r>
          </a:p>
          <a:p>
            <a:r>
              <a:rPr lang="en-US" sz="1100" b="1">
                <a:solidFill>
                  <a:srgbClr val="FFFFFF"/>
                </a:solidFill>
                <a:latin typeface="Segoe UI" panose="020B0502040204020203" pitchFamily="34" charset="0"/>
              </a:rPr>
              <a:t>
💡 Quality Hint:</a:t>
            </a:r>
          </a:p>
          <a:p>
            <a:r>
              <a:rPr lang="en-US" sz="1100" b="1">
                <a:solidFill>
                  <a:srgbClr val="FFFFFF"/>
                </a:solidFill>
                <a:latin typeface="Segoe UI" panose="020B0502040204020203" pitchFamily="34" charset="0"/>
              </a:rPr>
              <a:t>Joint J1 at the base holds the entire arm. Joint J5/J6 flexes the wiring harness millions of times until wires fatigue!</a:t>
            </a:r>
            <a:endParaRPr lang="fr-FR" sz="1100" b="1">
              <a:solidFill>
                <a:srgbClr val="FFFFFF"/>
              </a:solidFill>
              <a:latin typeface="Segoe UI" panose="020B0502040204020203" pitchFamily="34" charset="0"/>
            </a:endParaRPr>
          </a:p>
        </p:txBody>
      </p:sp>
    </p:spTree>
    <p:extLst>
      <p:ext uri="{BB962C8B-B14F-4D97-AF65-F5344CB8AC3E}">
        <p14:creationId xmlns:p14="http://schemas.microsoft.com/office/powerpoint/2010/main" val="701002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60287A-B731-29EE-706A-58EB7B0FCA72}"/>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524C717D-2462-C28C-6FC4-72EDAF4E597D}"/>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126DB0D7-0014-7737-8F4B-6514356961E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588000" y="635000"/>
            <a:ext cx="6096000" cy="5588000"/>
          </a:xfrm>
          <a:prstGeom prst="rect">
            <a:avLst/>
          </a:prstGeom>
          <a:ln w="19050">
            <a:solidFill>
              <a:srgbClr val="A855F7"/>
            </a:solidFill>
          </a:ln>
        </p:spPr>
      </p:pic>
      <p:sp>
        <p:nvSpPr>
          <p:cNvPr id="6" name="ZoneTexte 5">
            <a:extLst>
              <a:ext uri="{FF2B5EF4-FFF2-40B4-BE49-F238E27FC236}">
                <a16:creationId xmlns:a16="http://schemas.microsoft.com/office/drawing/2014/main" id="{74C8EDFE-AE04-CA63-BCD4-C225185980D2}"/>
              </a:ext>
            </a:extLst>
          </p:cNvPr>
          <p:cNvSpPr txBox="1"/>
          <p:nvPr/>
        </p:nvSpPr>
        <p:spPr>
          <a:xfrm>
            <a:off x="762000" y="2032000"/>
            <a:ext cx="4572000" cy="1692771"/>
          </a:xfrm>
          <a:prstGeom prst="rect">
            <a:avLst/>
          </a:prstGeom>
          <a:noFill/>
        </p:spPr>
        <p:txBody>
          <a:bodyPr vert="horz" wrap="square" rtlCol="0">
            <a:spAutoFit/>
          </a:bodyPr>
          <a:lstStyle/>
          <a:p>
            <a:r>
              <a:rPr lang="fr-FR" sz="3600" b="1">
                <a:solidFill>
                  <a:srgbClr val="F43F5E"/>
                </a:solidFill>
                <a:latin typeface="Segoe UI" panose="020B0502040204020203" pitchFamily="34" charset="0"/>
              </a:rPr>
              <a:t>PART 02</a:t>
            </a:r>
          </a:p>
          <a:p>
            <a:r>
              <a:rPr lang="en-US" sz="2800" b="1">
                <a:solidFill>
                  <a:srgbClr val="FFFFFF"/>
                </a:solidFill>
                <a:latin typeface="Segoe UI Semibold" panose="020B0702040204020203" pitchFamily="34" charset="0"/>
              </a:rPr>
              <a:t>ACTUATORS &amp; MOTORS
THE ROBOT'S MUSCLES</a:t>
            </a:r>
          </a:p>
          <a:p>
            <a:r>
              <a:rPr lang="en-US" sz="1200">
                <a:solidFill>
                  <a:srgbClr val="38BDF8"/>
                </a:solidFill>
                <a:latin typeface="Segoe UI" panose="020B0502040204020203" pitchFamily="34" charset="0"/>
              </a:rPr>
              <a:t>Motors • Torque • Gears • Speed • Precision</a:t>
            </a:r>
            <a:endParaRPr lang="fr-FR" sz="1200">
              <a:solidFill>
                <a:srgbClr val="38BDF8"/>
              </a:solidFill>
              <a:latin typeface="Segoe UI" panose="020B0502040204020203" pitchFamily="34" charset="0"/>
            </a:endParaRPr>
          </a:p>
        </p:txBody>
      </p:sp>
    </p:spTree>
    <p:extLst>
      <p:ext uri="{BB962C8B-B14F-4D97-AF65-F5344CB8AC3E}">
        <p14:creationId xmlns:p14="http://schemas.microsoft.com/office/powerpoint/2010/main" val="2330755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FC244F-3FBA-47CC-4CAA-EABCD978B000}"/>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568E5320-EBE1-80EC-288E-18830E020829}"/>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97072A71-47D8-5519-60E4-7E2A9869F0A7}"/>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ZoneTexte 4">
            <a:extLst>
              <a:ext uri="{FF2B5EF4-FFF2-40B4-BE49-F238E27FC236}">
                <a16:creationId xmlns:a16="http://schemas.microsoft.com/office/drawing/2014/main" id="{9585EE4D-29F0-18D9-B06B-2E4812A0390D}"/>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WHICH MOTOR SHOULD YOU CHOOSE?</a:t>
            </a:r>
            <a:endParaRPr lang="fr-FR" sz="2200" b="1">
              <a:solidFill>
                <a:srgbClr val="FFFFFF"/>
              </a:solidFill>
              <a:latin typeface="Segoe UI Semibold" panose="020B0702040204020203" pitchFamily="34" charset="0"/>
            </a:endParaRPr>
          </a:p>
        </p:txBody>
      </p:sp>
      <p:sp>
        <p:nvSpPr>
          <p:cNvPr id="6" name="Rectangle : coins arrondis 5">
            <a:extLst>
              <a:ext uri="{FF2B5EF4-FFF2-40B4-BE49-F238E27FC236}">
                <a16:creationId xmlns:a16="http://schemas.microsoft.com/office/drawing/2014/main" id="{9F9F53B9-AFC0-EBBC-D688-4741FAF93460}"/>
              </a:ext>
            </a:extLst>
          </p:cNvPr>
          <p:cNvSpPr/>
          <p:nvPr/>
        </p:nvSpPr>
        <p:spPr>
          <a:xfrm>
            <a:off x="508000" y="1270000"/>
            <a:ext cx="2032000" cy="5016500"/>
          </a:xfrm>
          <a:prstGeom prst="roundRect">
            <a:avLst/>
          </a:prstGeom>
          <a:solidFill>
            <a:srgbClr val="101622"/>
          </a:solidFill>
          <a:ln w="12700">
            <a:solidFill>
              <a:srgbClr val="94A3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0624C9D0-8EE0-4909-EE80-4B945073A341}"/>
              </a:ext>
            </a:extLst>
          </p:cNvPr>
          <p:cNvSpPr txBox="1"/>
          <p:nvPr/>
        </p:nvSpPr>
        <p:spPr>
          <a:xfrm>
            <a:off x="711200" y="1447800"/>
            <a:ext cx="1625600" cy="1569660"/>
          </a:xfrm>
          <a:prstGeom prst="rect">
            <a:avLst/>
          </a:prstGeom>
          <a:noFill/>
        </p:spPr>
        <p:txBody>
          <a:bodyPr vert="horz" wrap="square" rtlCol="0">
            <a:spAutoFit/>
          </a:bodyPr>
          <a:lstStyle/>
          <a:p>
            <a:r>
              <a:rPr lang="fr-FR" sz="1400" b="1">
                <a:solidFill>
                  <a:srgbClr val="94A3B8"/>
                </a:solidFill>
                <a:latin typeface="Segoe UI Semibold" panose="020B0702040204020203" pitchFamily="34" charset="0"/>
              </a:rPr>
              <a:t>DC BRUSHED</a:t>
            </a:r>
          </a:p>
          <a:p>
            <a:r>
              <a:rPr lang="fr-FR" sz="1100" b="1">
                <a:solidFill>
                  <a:srgbClr val="FFFFFF"/>
                </a:solidFill>
                <a:latin typeface="Segoe UI" panose="020B0502040204020203" pitchFamily="34" charset="0"/>
              </a:rPr>
              <a:t>Wheels &amp; Fans</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Cheap &amp; simple (2 wires)</a:t>
            </a:r>
          </a:p>
          <a:p>
            <a:r>
              <a:rPr lang="en-US" sz="1000" b="1">
                <a:solidFill>
                  <a:srgbClr val="94A3B8"/>
                </a:solidFill>
                <a:latin typeface="Segoe UI" panose="020B0502040204020203" pitchFamily="34" charset="0"/>
              </a:rPr>
              <a:t>• Spins fast, but low torque</a:t>
            </a:r>
          </a:p>
          <a:p>
            <a:r>
              <a:rPr lang="en-US" sz="1000" b="1">
                <a:solidFill>
                  <a:srgbClr val="94A3B8"/>
                </a:solidFill>
                <a:latin typeface="Segoe UI" panose="020B0502040204020203" pitchFamily="34" charset="0"/>
              </a:rPr>
              <a:t>• No built-in position feedback</a:t>
            </a:r>
            <a:endParaRPr lang="fr-FR" sz="1000" b="1">
              <a:solidFill>
                <a:srgbClr val="94A3B8"/>
              </a:solidFill>
              <a:latin typeface="Segoe UI" panose="020B0502040204020203" pitchFamily="34" charset="0"/>
            </a:endParaRPr>
          </a:p>
        </p:txBody>
      </p:sp>
      <p:sp>
        <p:nvSpPr>
          <p:cNvPr id="8" name="Rectangle : coins arrondis 7">
            <a:extLst>
              <a:ext uri="{FF2B5EF4-FFF2-40B4-BE49-F238E27FC236}">
                <a16:creationId xmlns:a16="http://schemas.microsoft.com/office/drawing/2014/main" id="{67EC2696-E94C-BEC8-81FC-CECB7C9BBCDD}"/>
              </a:ext>
            </a:extLst>
          </p:cNvPr>
          <p:cNvSpPr/>
          <p:nvPr/>
        </p:nvSpPr>
        <p:spPr>
          <a:xfrm>
            <a:off x="2794000" y="1270000"/>
            <a:ext cx="2032000" cy="5016500"/>
          </a:xfrm>
          <a:prstGeom prst="roundRect">
            <a:avLst/>
          </a:prstGeom>
          <a:solidFill>
            <a:srgbClr val="101622"/>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E3801433-3DB3-DC52-6CCD-120C19E0C3DB}"/>
              </a:ext>
            </a:extLst>
          </p:cNvPr>
          <p:cNvSpPr txBox="1"/>
          <p:nvPr/>
        </p:nvSpPr>
        <p:spPr>
          <a:xfrm>
            <a:off x="2997200" y="1447800"/>
            <a:ext cx="1625600" cy="1569660"/>
          </a:xfrm>
          <a:prstGeom prst="rect">
            <a:avLst/>
          </a:prstGeom>
          <a:noFill/>
        </p:spPr>
        <p:txBody>
          <a:bodyPr vert="horz" wrap="square" rtlCol="0">
            <a:spAutoFit/>
          </a:bodyPr>
          <a:lstStyle/>
          <a:p>
            <a:r>
              <a:rPr lang="fr-FR" sz="1400" b="1">
                <a:solidFill>
                  <a:srgbClr val="FBBF24"/>
                </a:solidFill>
                <a:latin typeface="Segoe UI Semibold" panose="020B0702040204020203" pitchFamily="34" charset="0"/>
              </a:rPr>
              <a:t>RC SERVO</a:t>
            </a:r>
          </a:p>
          <a:p>
            <a:r>
              <a:rPr lang="fr-FR" sz="1100" b="1">
                <a:solidFill>
                  <a:srgbClr val="FFFFFF"/>
                </a:solidFill>
                <a:latin typeface="Segoe UI" panose="020B0502040204020203" pitchFamily="34" charset="0"/>
              </a:rPr>
              <a:t>Budget Starters</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Easy Arduino plug-and-play</a:t>
            </a:r>
          </a:p>
          <a:p>
            <a:r>
              <a:rPr lang="en-US" sz="1000" b="1">
                <a:solidFill>
                  <a:srgbClr val="94A3B8"/>
                </a:solidFill>
                <a:latin typeface="Segoe UI" panose="020B0502040204020203" pitchFamily="34" charset="0"/>
              </a:rPr>
              <a:t>• Holds an angle (0-180°)</a:t>
            </a:r>
          </a:p>
          <a:p>
            <a:r>
              <a:rPr lang="en-US" sz="1000" b="1">
                <a:solidFill>
                  <a:srgbClr val="94A3B8"/>
                </a:solidFill>
                <a:latin typeface="Segoe UI" panose="020B0502040204020203" pitchFamily="34" charset="0"/>
              </a:rPr>
              <a:t>• Plastic gears strip easily!</a:t>
            </a:r>
            <a:endParaRPr lang="fr-FR" sz="1000" b="1">
              <a:solidFill>
                <a:srgbClr val="94A3B8"/>
              </a:solidFill>
              <a:latin typeface="Segoe UI" panose="020B0502040204020203" pitchFamily="34" charset="0"/>
            </a:endParaRPr>
          </a:p>
        </p:txBody>
      </p:sp>
      <p:sp>
        <p:nvSpPr>
          <p:cNvPr id="10" name="Rectangle : coins arrondis 9">
            <a:extLst>
              <a:ext uri="{FF2B5EF4-FFF2-40B4-BE49-F238E27FC236}">
                <a16:creationId xmlns:a16="http://schemas.microsoft.com/office/drawing/2014/main" id="{3A30D441-4AA6-3AB7-C862-6E02631CB9AD}"/>
              </a:ext>
            </a:extLst>
          </p:cNvPr>
          <p:cNvSpPr/>
          <p:nvPr/>
        </p:nvSpPr>
        <p:spPr>
          <a:xfrm>
            <a:off x="5080000" y="1270000"/>
            <a:ext cx="2032000" cy="50165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AB9BF451-F727-DF95-DDA9-8FA682AD450A}"/>
              </a:ext>
            </a:extLst>
          </p:cNvPr>
          <p:cNvSpPr txBox="1"/>
          <p:nvPr/>
        </p:nvSpPr>
        <p:spPr>
          <a:xfrm>
            <a:off x="5283200" y="1447800"/>
            <a:ext cx="1625600" cy="1415772"/>
          </a:xfrm>
          <a:prstGeom prst="rect">
            <a:avLst/>
          </a:prstGeom>
          <a:noFill/>
        </p:spPr>
        <p:txBody>
          <a:bodyPr vert="horz" wrap="square" rtlCol="0">
            <a:spAutoFit/>
          </a:bodyPr>
          <a:lstStyle/>
          <a:p>
            <a:r>
              <a:rPr lang="fr-FR" sz="1400" b="1">
                <a:solidFill>
                  <a:srgbClr val="38BDF8"/>
                </a:solidFill>
                <a:latin typeface="Segoe UI Semibold" panose="020B0702040204020203" pitchFamily="34" charset="0"/>
              </a:rPr>
              <a:t>STEPPER</a:t>
            </a:r>
          </a:p>
          <a:p>
            <a:r>
              <a:rPr lang="fr-FR" sz="1100" b="1">
                <a:solidFill>
                  <a:srgbClr val="FFFFFF"/>
                </a:solidFill>
                <a:latin typeface="Segoe UI" panose="020B0502040204020203" pitchFamily="34" charset="0"/>
              </a:rPr>
              <a:t>3D Printers</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Moves in tiny exact steps</a:t>
            </a:r>
          </a:p>
          <a:p>
            <a:r>
              <a:rPr lang="en-US" sz="1000" b="1">
                <a:solidFill>
                  <a:srgbClr val="94A3B8"/>
                </a:solidFill>
                <a:latin typeface="Segoe UI" panose="020B0502040204020203" pitchFamily="34" charset="0"/>
              </a:rPr>
              <a:t>• Great holding strength</a:t>
            </a:r>
          </a:p>
          <a:p>
            <a:r>
              <a:rPr lang="en-US" sz="1000" b="1">
                <a:solidFill>
                  <a:srgbClr val="94A3B8"/>
                </a:solidFill>
                <a:latin typeface="Segoe UI" panose="020B0502040204020203" pitchFamily="34" charset="0"/>
              </a:rPr>
              <a:t>• Skips if overloaded</a:t>
            </a:r>
            <a:endParaRPr lang="fr-FR" sz="1000" b="1">
              <a:solidFill>
                <a:srgbClr val="94A3B8"/>
              </a:solidFill>
              <a:latin typeface="Segoe UI" panose="020B0502040204020203" pitchFamily="34" charset="0"/>
            </a:endParaRPr>
          </a:p>
        </p:txBody>
      </p:sp>
      <p:sp>
        <p:nvSpPr>
          <p:cNvPr id="12" name="Rectangle : coins arrondis 11">
            <a:extLst>
              <a:ext uri="{FF2B5EF4-FFF2-40B4-BE49-F238E27FC236}">
                <a16:creationId xmlns:a16="http://schemas.microsoft.com/office/drawing/2014/main" id="{98C72843-3AF0-6600-D11E-A93FB2C475EA}"/>
              </a:ext>
            </a:extLst>
          </p:cNvPr>
          <p:cNvSpPr/>
          <p:nvPr/>
        </p:nvSpPr>
        <p:spPr>
          <a:xfrm>
            <a:off x="7366000" y="1270000"/>
            <a:ext cx="2032000" cy="5016500"/>
          </a:xfrm>
          <a:prstGeom prst="roundRect">
            <a:avLst/>
          </a:prstGeom>
          <a:solidFill>
            <a:srgbClr val="101622"/>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239BDD94-EB67-66C9-870A-F9461DF03630}"/>
              </a:ext>
            </a:extLst>
          </p:cNvPr>
          <p:cNvSpPr txBox="1"/>
          <p:nvPr/>
        </p:nvSpPr>
        <p:spPr>
          <a:xfrm>
            <a:off x="7569200" y="1447800"/>
            <a:ext cx="1625600" cy="1785104"/>
          </a:xfrm>
          <a:prstGeom prst="rect">
            <a:avLst/>
          </a:prstGeom>
          <a:noFill/>
        </p:spPr>
        <p:txBody>
          <a:bodyPr vert="horz" wrap="square" rtlCol="0">
            <a:spAutoFit/>
          </a:bodyPr>
          <a:lstStyle/>
          <a:p>
            <a:r>
              <a:rPr lang="fr-FR" sz="1400" b="1">
                <a:solidFill>
                  <a:srgbClr val="A855F7"/>
                </a:solidFill>
                <a:latin typeface="Segoe UI Semibold" panose="020B0702040204020203" pitchFamily="34" charset="0"/>
              </a:rPr>
              <a:t>BRUSHLESS (BLDC)</a:t>
            </a:r>
          </a:p>
          <a:p>
            <a:r>
              <a:rPr lang="fr-FR" sz="1100" b="1">
                <a:solidFill>
                  <a:srgbClr val="FFFFFF"/>
                </a:solidFill>
                <a:latin typeface="Segoe UI" panose="020B0502040204020203" pitchFamily="34" charset="0"/>
              </a:rPr>
              <a:t>Drones &amp; Arms</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Extreme power density</a:t>
            </a:r>
          </a:p>
          <a:p>
            <a:r>
              <a:rPr lang="en-US" sz="1000" b="1">
                <a:solidFill>
                  <a:srgbClr val="94A3B8"/>
                </a:solidFill>
                <a:latin typeface="Segoe UI" panose="020B0502040204020203" pitchFamily="34" charset="0"/>
              </a:rPr>
              <a:t>• High efficiency &amp; speed</a:t>
            </a:r>
          </a:p>
          <a:p>
            <a:r>
              <a:rPr lang="en-US" sz="1000" b="1">
                <a:solidFill>
                  <a:srgbClr val="94A3B8"/>
                </a:solidFill>
                <a:latin typeface="Segoe UI" panose="020B0502040204020203" pitchFamily="34" charset="0"/>
              </a:rPr>
              <a:t>• Needs smart motor driver</a:t>
            </a:r>
            <a:endParaRPr lang="fr-FR" sz="1000" b="1">
              <a:solidFill>
                <a:srgbClr val="94A3B8"/>
              </a:solidFill>
              <a:latin typeface="Segoe UI" panose="020B0502040204020203" pitchFamily="34" charset="0"/>
            </a:endParaRPr>
          </a:p>
        </p:txBody>
      </p:sp>
      <p:sp>
        <p:nvSpPr>
          <p:cNvPr id="14" name="Rectangle : coins arrondis 13">
            <a:extLst>
              <a:ext uri="{FF2B5EF4-FFF2-40B4-BE49-F238E27FC236}">
                <a16:creationId xmlns:a16="http://schemas.microsoft.com/office/drawing/2014/main" id="{9008E79E-7CD2-D7B1-DD01-1859DAC2C79E}"/>
              </a:ext>
            </a:extLst>
          </p:cNvPr>
          <p:cNvSpPr/>
          <p:nvPr/>
        </p:nvSpPr>
        <p:spPr>
          <a:xfrm>
            <a:off x="9652000" y="1270000"/>
            <a:ext cx="2032000" cy="5016500"/>
          </a:xfrm>
          <a:prstGeom prst="roundRect">
            <a:avLst/>
          </a:prstGeom>
          <a:solidFill>
            <a:srgbClr val="101622"/>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A2C166AC-712C-DD27-7DA4-CE3C437B9D80}"/>
              </a:ext>
            </a:extLst>
          </p:cNvPr>
          <p:cNvSpPr txBox="1"/>
          <p:nvPr/>
        </p:nvSpPr>
        <p:spPr>
          <a:xfrm>
            <a:off x="9855200" y="1447800"/>
            <a:ext cx="1625600" cy="1323439"/>
          </a:xfrm>
          <a:prstGeom prst="rect">
            <a:avLst/>
          </a:prstGeom>
          <a:noFill/>
        </p:spPr>
        <p:txBody>
          <a:bodyPr vert="horz" wrap="square" rtlCol="0">
            <a:spAutoFit/>
          </a:bodyPr>
          <a:lstStyle/>
          <a:p>
            <a:r>
              <a:rPr lang="fr-FR" sz="1400" b="1">
                <a:solidFill>
                  <a:srgbClr val="34D399"/>
                </a:solidFill>
                <a:latin typeface="Segoe UI Semibold" panose="020B0702040204020203" pitchFamily="34" charset="0"/>
              </a:rPr>
              <a:t>LINEAR ACTUATOR</a:t>
            </a:r>
          </a:p>
          <a:p>
            <a:r>
              <a:rPr lang="fr-FR" sz="1100" b="1">
                <a:solidFill>
                  <a:srgbClr val="FFFFFF"/>
                </a:solidFill>
                <a:latin typeface="Segoe UI" panose="020B0502040204020203" pitchFamily="34" charset="0"/>
              </a:rPr>
              <a:t>Heavy Lifting</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Massive pushing force</a:t>
            </a:r>
          </a:p>
          <a:p>
            <a:r>
              <a:rPr lang="en-US" sz="1000" b="1">
                <a:solidFill>
                  <a:srgbClr val="94A3B8"/>
                </a:solidFill>
                <a:latin typeface="Segoe UI" panose="020B0502040204020203" pitchFamily="34" charset="0"/>
              </a:rPr>
              <a:t>• Doesn't back-drive</a:t>
            </a:r>
          </a:p>
          <a:p>
            <a:r>
              <a:rPr lang="en-US" sz="1000" b="1">
                <a:solidFill>
                  <a:srgbClr val="94A3B8"/>
                </a:solidFill>
                <a:latin typeface="Segoe UI" panose="020B0502040204020203" pitchFamily="34" charset="0"/>
              </a:rPr>
              <a:t>• Slower linear speed</a:t>
            </a:r>
            <a:endParaRPr lang="fr-FR" sz="1000" b="1">
              <a:solidFill>
                <a:srgbClr val="94A3B8"/>
              </a:solidFill>
              <a:latin typeface="Segoe UI" panose="020B0502040204020203" pitchFamily="34" charset="0"/>
            </a:endParaRPr>
          </a:p>
        </p:txBody>
      </p:sp>
    </p:spTree>
    <p:extLst>
      <p:ext uri="{BB962C8B-B14F-4D97-AF65-F5344CB8AC3E}">
        <p14:creationId xmlns:p14="http://schemas.microsoft.com/office/powerpoint/2010/main" val="3394426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6E93E0-3004-FC92-11CE-F835EB8178AE}"/>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52B8D7B7-E26E-993D-8905-31155EE49763}"/>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A801ACD-EED6-AB14-E65C-B643AC7F5B63}"/>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C58948CA-0904-55E7-E097-8478564BE452}"/>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INTUITIVE MATH  </a:t>
            </a:r>
          </a:p>
        </p:txBody>
      </p:sp>
      <p:sp>
        <p:nvSpPr>
          <p:cNvPr id="6" name="ZoneTexte 5">
            <a:extLst>
              <a:ext uri="{FF2B5EF4-FFF2-40B4-BE49-F238E27FC236}">
                <a16:creationId xmlns:a16="http://schemas.microsoft.com/office/drawing/2014/main" id="{32273EA2-335E-DB95-EC72-1ABC17867038}"/>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TORQUE: THE SHOPPING BAG PRINCIPLE</a:t>
            </a:r>
            <a:endParaRPr lang="fr-FR" sz="2200" b="1">
              <a:solidFill>
                <a:srgbClr val="FFFFFF"/>
              </a:solidFill>
              <a:latin typeface="Segoe UI Semibold" panose="020B0702040204020203" pitchFamily="34" charset="0"/>
            </a:endParaRPr>
          </a:p>
        </p:txBody>
      </p:sp>
      <p:sp>
        <p:nvSpPr>
          <p:cNvPr id="7" name="Rectangle : coins arrondis 6">
            <a:extLst>
              <a:ext uri="{FF2B5EF4-FFF2-40B4-BE49-F238E27FC236}">
                <a16:creationId xmlns:a16="http://schemas.microsoft.com/office/drawing/2014/main" id="{47213993-2CEF-AEF5-23C7-48711D3B7A1E}"/>
              </a:ext>
            </a:extLst>
          </p:cNvPr>
          <p:cNvSpPr/>
          <p:nvPr/>
        </p:nvSpPr>
        <p:spPr>
          <a:xfrm>
            <a:off x="508000" y="1270000"/>
            <a:ext cx="5334000" cy="1397000"/>
          </a:xfrm>
          <a:prstGeom prst="roundRect">
            <a:avLst/>
          </a:prstGeom>
          <a:solidFill>
            <a:srgbClr val="161020"/>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3FA54428-A03F-EBF1-1D08-C06D7325141A}"/>
              </a:ext>
            </a:extLst>
          </p:cNvPr>
          <p:cNvSpPr txBox="1"/>
          <p:nvPr/>
        </p:nvSpPr>
        <p:spPr>
          <a:xfrm>
            <a:off x="711200" y="1397000"/>
            <a:ext cx="4927600" cy="553998"/>
          </a:xfrm>
          <a:prstGeom prst="rect">
            <a:avLst/>
          </a:prstGeom>
          <a:noFill/>
        </p:spPr>
        <p:txBody>
          <a:bodyPr vert="horz" wrap="square" rtlCol="0">
            <a:spAutoFit/>
          </a:bodyPr>
          <a:lstStyle/>
          <a:p>
            <a:r>
              <a:rPr lang="fr-FR" sz="2000" b="1">
                <a:solidFill>
                  <a:srgbClr val="A855F7"/>
                </a:solidFill>
                <a:latin typeface="Segoe UI Semibold" panose="020B0702040204020203" pitchFamily="34" charset="0"/>
              </a:rPr>
              <a:t>Torque = Force × Distance</a:t>
            </a:r>
          </a:p>
          <a:p>
            <a:r>
              <a:rPr lang="en-US" sz="1000">
                <a:solidFill>
                  <a:srgbClr val="94A3B8"/>
                </a:solidFill>
                <a:latin typeface="Segoe UI" panose="020B0502040204020203" pitchFamily="34" charset="0"/>
              </a:rPr>
              <a:t>τ = F × r  (Force in Newtons, Distance in meters)</a:t>
            </a:r>
            <a:endParaRPr lang="fr-FR" sz="1000">
              <a:solidFill>
                <a:srgbClr val="94A3B8"/>
              </a:solidFill>
              <a:latin typeface="Segoe UI" panose="020B0502040204020203" pitchFamily="34" charset="0"/>
            </a:endParaRPr>
          </a:p>
        </p:txBody>
      </p:sp>
      <p:sp>
        <p:nvSpPr>
          <p:cNvPr id="9" name="Rectangle : coins arrondis 8">
            <a:extLst>
              <a:ext uri="{FF2B5EF4-FFF2-40B4-BE49-F238E27FC236}">
                <a16:creationId xmlns:a16="http://schemas.microsoft.com/office/drawing/2014/main" id="{F679566A-D016-2318-4B7D-EC5A69C4911E}"/>
              </a:ext>
            </a:extLst>
          </p:cNvPr>
          <p:cNvSpPr/>
          <p:nvPr/>
        </p:nvSpPr>
        <p:spPr>
          <a:xfrm>
            <a:off x="508000" y="2857500"/>
            <a:ext cx="5334000" cy="1968500"/>
          </a:xfrm>
          <a:prstGeom prst="roundRect">
            <a:avLst/>
          </a:prstGeom>
          <a:solidFill>
            <a:srgbClr val="161410"/>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5345C3EF-3292-8E0B-6F8D-788931BA1798}"/>
              </a:ext>
            </a:extLst>
          </p:cNvPr>
          <p:cNvSpPr txBox="1"/>
          <p:nvPr/>
        </p:nvSpPr>
        <p:spPr>
          <a:xfrm>
            <a:off x="711200" y="3009900"/>
            <a:ext cx="4927600" cy="1061829"/>
          </a:xfrm>
          <a:prstGeom prst="rect">
            <a:avLst/>
          </a:prstGeom>
          <a:noFill/>
        </p:spPr>
        <p:txBody>
          <a:bodyPr vert="horz" wrap="square" rtlCol="0">
            <a:spAutoFit/>
          </a:bodyPr>
          <a:lstStyle/>
          <a:p>
            <a:r>
              <a:rPr lang="en-US" sz="1300" b="1">
                <a:solidFill>
                  <a:srgbClr val="FBBF24"/>
                </a:solidFill>
                <a:latin typeface="Segoe UI Semibold" panose="020B0702040204020203" pitchFamily="34" charset="0"/>
              </a:rPr>
              <a:t>💡 The Heavy Shopping Bag Test</a:t>
            </a:r>
          </a:p>
          <a:p>
            <a:r>
              <a:rPr lang="en-US" sz="1000">
                <a:solidFill>
                  <a:srgbClr val="E2E8F0"/>
                </a:solidFill>
                <a:latin typeface="Segoe UI" panose="020B0502040204020203" pitchFamily="34" charset="0"/>
              </a:rPr>
              <a:t>Hold a 2 kg bag against your hip: It feels easy.</a:t>
            </a:r>
          </a:p>
          <a:p>
            <a:r>
              <a:rPr lang="en-US" sz="1000">
                <a:solidFill>
                  <a:srgbClr val="E2E8F0"/>
                </a:solidFill>
                <a:latin typeface="Segoe UI" panose="020B0502040204020203" pitchFamily="34" charset="0"/>
              </a:rPr>
              <a:t>Now hold that exact same bag straight out in front of you: Your shoulder burns within seconds!</a:t>
            </a:r>
          </a:p>
          <a:p>
            <a:r>
              <a:rPr lang="en-US" sz="1000">
                <a:solidFill>
                  <a:srgbClr val="E2E8F0"/>
                </a:solidFill>
                <a:latin typeface="Segoe UI" panose="020B0502040204020203" pitchFamily="34" charset="0"/>
              </a:rPr>
              <a:t>The weight didn't change... the DISTANCE changed! Distance multiplies the rotational effort.</a:t>
            </a:r>
            <a:endParaRPr lang="fr-FR" sz="1000">
              <a:solidFill>
                <a:srgbClr val="E2E8F0"/>
              </a:solidFill>
              <a:latin typeface="Segoe UI" panose="020B0502040204020203" pitchFamily="34" charset="0"/>
            </a:endParaRPr>
          </a:p>
        </p:txBody>
      </p:sp>
      <p:sp>
        <p:nvSpPr>
          <p:cNvPr id="11" name="Rectangle : coins arrondis 10">
            <a:extLst>
              <a:ext uri="{FF2B5EF4-FFF2-40B4-BE49-F238E27FC236}">
                <a16:creationId xmlns:a16="http://schemas.microsoft.com/office/drawing/2014/main" id="{2C9A9427-DE0E-A679-C5A1-BF77FFCCEE54}"/>
              </a:ext>
            </a:extLst>
          </p:cNvPr>
          <p:cNvSpPr/>
          <p:nvPr/>
        </p:nvSpPr>
        <p:spPr>
          <a:xfrm>
            <a:off x="508000" y="5016500"/>
            <a:ext cx="5334000" cy="12700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660ECD23-515C-00FF-D243-4466FA2BA38D}"/>
              </a:ext>
            </a:extLst>
          </p:cNvPr>
          <p:cNvSpPr txBox="1"/>
          <p:nvPr/>
        </p:nvSpPr>
        <p:spPr>
          <a:xfrm>
            <a:off x="698500" y="5143500"/>
            <a:ext cx="4953000" cy="600164"/>
          </a:xfrm>
          <a:prstGeom prst="rect">
            <a:avLst/>
          </a:prstGeom>
          <a:noFill/>
        </p:spPr>
        <p:txBody>
          <a:bodyPr vert="horz" wrap="square" rtlCol="0">
            <a:spAutoFit/>
          </a:bodyPr>
          <a:lstStyle/>
          <a:p>
            <a:r>
              <a:rPr lang="fr-FR" sz="1300">
                <a:solidFill>
                  <a:srgbClr val="38BDF8"/>
                </a:solidFill>
                <a:latin typeface="Segoe UI Semibold" panose="020B0702040204020203" pitchFamily="34" charset="0"/>
              </a:rPr>
              <a:t>Quick Example Calculation:</a:t>
            </a:r>
          </a:p>
          <a:p>
            <a:r>
              <a:rPr lang="fr-FR" sz="1000">
                <a:solidFill>
                  <a:srgbClr val="FFFFFF"/>
                </a:solidFill>
                <a:latin typeface="Segoe UI" panose="020B0502040204020203" pitchFamily="34" charset="0"/>
              </a:rPr>
              <a:t>1 kg payload (~10 N) at 20 cm reach (0.2 m) = 2.0 N·m torque.</a:t>
            </a:r>
          </a:p>
          <a:p>
            <a:r>
              <a:rPr lang="fr-FR" sz="1000">
                <a:solidFill>
                  <a:srgbClr val="FFFFFF"/>
                </a:solidFill>
                <a:latin typeface="Segoe UI" panose="020B0502040204020203" pitchFamily="34" charset="0"/>
              </a:rPr>
              <a:t>At 40 cm reach (0.4 m) = 4.0 N·m torque (Doubled!)</a:t>
            </a:r>
          </a:p>
        </p:txBody>
      </p:sp>
      <p:sp>
        <p:nvSpPr>
          <p:cNvPr id="13" name="Rectangle : coins arrondis 12">
            <a:extLst>
              <a:ext uri="{FF2B5EF4-FFF2-40B4-BE49-F238E27FC236}">
                <a16:creationId xmlns:a16="http://schemas.microsoft.com/office/drawing/2014/main" id="{9229D76D-F608-A467-F73C-B34C4A5F8BE4}"/>
              </a:ext>
            </a:extLst>
          </p:cNvPr>
          <p:cNvSpPr/>
          <p:nvPr/>
        </p:nvSpPr>
        <p:spPr>
          <a:xfrm>
            <a:off x="6223000" y="1270000"/>
            <a:ext cx="5461000" cy="5016500"/>
          </a:xfrm>
          <a:prstGeom prst="roundRect">
            <a:avLst/>
          </a:prstGeom>
          <a:solidFill>
            <a:srgbClr val="18101A"/>
          </a:solidFill>
          <a:ln w="12700">
            <a:solidFill>
              <a:srgbClr val="F43F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453602F9-C375-CAB7-B2E0-011A4C0398E0}"/>
              </a:ext>
            </a:extLst>
          </p:cNvPr>
          <p:cNvSpPr txBox="1"/>
          <p:nvPr/>
        </p:nvSpPr>
        <p:spPr>
          <a:xfrm>
            <a:off x="6477000" y="1460500"/>
            <a:ext cx="4953000" cy="2446824"/>
          </a:xfrm>
          <a:prstGeom prst="rect">
            <a:avLst/>
          </a:prstGeom>
          <a:noFill/>
        </p:spPr>
        <p:txBody>
          <a:bodyPr vert="horz" wrap="square" rtlCol="0">
            <a:spAutoFit/>
          </a:bodyPr>
          <a:lstStyle/>
          <a:p>
            <a:r>
              <a:rPr lang="en-US" sz="1600" b="1">
                <a:solidFill>
                  <a:srgbClr val="F43F5E"/>
                </a:solidFill>
                <a:latin typeface="Segoe UI Semibold" panose="020B0702040204020203" pitchFamily="34" charset="0"/>
              </a:rPr>
              <a:t>THE 2× SAFETY FACTOR RULE</a:t>
            </a:r>
          </a:p>
          <a:p>
            <a:r>
              <a:rPr lang="en-US" sz="1600" b="1">
                <a:solidFill>
                  <a:srgbClr val="F43F5E"/>
                </a:solidFill>
                <a:latin typeface="Segoe UI Semibold" panose="020B0702040204020203" pitchFamily="34" charset="0"/>
              </a:rPr>
              <a:t>
</a:t>
            </a:r>
            <a:r>
              <a:rPr lang="en-US" sz="1100" b="1">
                <a:solidFill>
                  <a:srgbClr val="FFFFFF"/>
                </a:solidFill>
                <a:latin typeface="Segoe UI" panose="020B0502040204020203" pitchFamily="34" charset="0"/>
              </a:rPr>
              <a:t>Beginner Mistake:</a:t>
            </a:r>
          </a:p>
          <a:p>
            <a:r>
              <a:rPr lang="en-US" sz="1100" b="1">
                <a:solidFill>
                  <a:srgbClr val="FFFFFF"/>
                </a:solidFill>
                <a:latin typeface="Segoe UI" panose="020B0502040204020203" pitchFamily="34" charset="0"/>
              </a:rPr>
              <a:t>'My math says I need 2 N·m, so I bought a 2 N·m motor.'</a:t>
            </a:r>
          </a:p>
          <a:p>
            <a:r>
              <a:rPr lang="en-US" sz="1100" b="1">
                <a:solidFill>
                  <a:srgbClr val="FFFFFF"/>
                </a:solidFill>
                <a:latin typeface="Segoe UI" panose="020B0502040204020203" pitchFamily="34" charset="0"/>
              </a:rPr>
              <a:t>
🚨 Why that motor will stall:</a:t>
            </a:r>
          </a:p>
          <a:p>
            <a:r>
              <a:rPr lang="en-US" sz="1100" b="1">
                <a:solidFill>
                  <a:srgbClr val="FFFFFF"/>
                </a:solidFill>
                <a:latin typeface="Segoe UI" panose="020B0502040204020203" pitchFamily="34" charset="0"/>
              </a:rPr>
              <a:t>1. The Arm Weighs Something! The aluminum links and motors have mass.</a:t>
            </a:r>
          </a:p>
          <a:p>
            <a:r>
              <a:rPr lang="en-US" sz="1100" b="1">
                <a:solidFill>
                  <a:srgbClr val="FFFFFF"/>
                </a:solidFill>
                <a:latin typeface="Segoe UI" panose="020B0502040204020203" pitchFamily="34" charset="0"/>
              </a:rPr>
              <a:t>2. Acceleration Takes Extra Force: Starting from a dead stop needs sudden peak torque.</a:t>
            </a:r>
          </a:p>
          <a:p>
            <a:r>
              <a:rPr lang="en-US" sz="1100" b="1">
                <a:solidFill>
                  <a:srgbClr val="FFFFFF"/>
                </a:solidFill>
                <a:latin typeface="Segoe UI" panose="020B0502040204020203" pitchFamily="34" charset="0"/>
              </a:rPr>
              <a:t>3. Bearing Friction: Real joints have friction.</a:t>
            </a:r>
          </a:p>
          <a:p>
            <a:r>
              <a:rPr lang="en-US" sz="1100" b="1">
                <a:solidFill>
                  <a:srgbClr val="FFFFFF"/>
                </a:solidFill>
                <a:latin typeface="Segoe UI" panose="020B0502040204020203" pitchFamily="34" charset="0"/>
              </a:rPr>
              <a:t>
👉 Golden Rule: Always multiply your static torque by at least 2.0×!</a:t>
            </a:r>
            <a:endParaRPr lang="fr-FR" sz="1100" b="1">
              <a:solidFill>
                <a:srgbClr val="FFFFFF"/>
              </a:solidFill>
              <a:latin typeface="Segoe UI" panose="020B0502040204020203" pitchFamily="34" charset="0"/>
            </a:endParaRPr>
          </a:p>
        </p:txBody>
      </p:sp>
    </p:spTree>
    <p:extLst>
      <p:ext uri="{BB962C8B-B14F-4D97-AF65-F5344CB8AC3E}">
        <p14:creationId xmlns:p14="http://schemas.microsoft.com/office/powerpoint/2010/main" val="21779417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B20388-45AB-EBCA-1BCE-7918A8CE2ED8}"/>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F3A85D09-6544-1AB9-913E-FF1CB96D48C7}"/>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4920A4F3-8A84-F1B1-017F-29C4412ABC89}"/>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ZoneTexte 4">
            <a:extLst>
              <a:ext uri="{FF2B5EF4-FFF2-40B4-BE49-F238E27FC236}">
                <a16:creationId xmlns:a16="http://schemas.microsoft.com/office/drawing/2014/main" id="{1CFDB487-24D2-86D2-67ED-268E7AF8B480}"/>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A MOTOR IS MORE THAN JUST TORQUE</a:t>
            </a:r>
            <a:endParaRPr lang="fr-FR" sz="2200" b="1">
              <a:solidFill>
                <a:srgbClr val="FFFFFF"/>
              </a:solidFill>
              <a:latin typeface="Segoe UI Semibold" panose="020B0702040204020203" pitchFamily="34" charset="0"/>
            </a:endParaRPr>
          </a:p>
        </p:txBody>
      </p:sp>
      <p:sp>
        <p:nvSpPr>
          <p:cNvPr id="6" name="Rectangle : coins arrondis 5">
            <a:extLst>
              <a:ext uri="{FF2B5EF4-FFF2-40B4-BE49-F238E27FC236}">
                <a16:creationId xmlns:a16="http://schemas.microsoft.com/office/drawing/2014/main" id="{335DB7BF-B630-2669-23AE-BFBA1F45881F}"/>
              </a:ext>
            </a:extLst>
          </p:cNvPr>
          <p:cNvSpPr/>
          <p:nvPr/>
        </p:nvSpPr>
        <p:spPr>
          <a:xfrm>
            <a:off x="508000" y="1270000"/>
            <a:ext cx="11176000" cy="889000"/>
          </a:xfrm>
          <a:prstGeom prst="roundRect">
            <a:avLst/>
          </a:prstGeom>
          <a:solidFill>
            <a:srgbClr val="101622"/>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48D8081C-3C21-C18E-6DA1-5F550E81C11E}"/>
              </a:ext>
            </a:extLst>
          </p:cNvPr>
          <p:cNvSpPr txBox="1"/>
          <p:nvPr/>
        </p:nvSpPr>
        <p:spPr>
          <a:xfrm>
            <a:off x="698500" y="1397000"/>
            <a:ext cx="10795000" cy="477054"/>
          </a:xfrm>
          <a:prstGeom prst="rect">
            <a:avLst/>
          </a:prstGeom>
          <a:noFill/>
        </p:spPr>
        <p:txBody>
          <a:bodyPr vert="horz" wrap="square" rtlCol="0">
            <a:spAutoFit/>
          </a:bodyPr>
          <a:lstStyle/>
          <a:p>
            <a:r>
              <a:rPr lang="fr-FR" sz="1500" b="1">
                <a:solidFill>
                  <a:srgbClr val="FBBF24"/>
                </a:solidFill>
                <a:latin typeface="Segoe UI Semibold" panose="020B0702040204020203" pitchFamily="34" charset="0"/>
              </a:rPr>
              <a:t>TORQUE  </a:t>
            </a:r>
            <a:r>
              <a:rPr lang="en-US" sz="1200" b="1">
                <a:solidFill>
                  <a:srgbClr val="FFFFFF"/>
                </a:solidFill>
                <a:latin typeface="Segoe UI" panose="020B0502040204020203" pitchFamily="34" charset="0"/>
              </a:rPr>
              <a:t>—  How heavy can it lift?</a:t>
            </a:r>
          </a:p>
          <a:p>
            <a:r>
              <a:rPr lang="en-US" sz="1000" b="1">
                <a:solidFill>
                  <a:srgbClr val="94A3B8"/>
                </a:solidFill>
                <a:latin typeface="Segoe UI" panose="020B0502040204020203" pitchFamily="34" charset="0"/>
              </a:rPr>
              <a:t>Stall torque vs continuous torque. Running at stall burns out coils!</a:t>
            </a:r>
            <a:endParaRPr lang="fr-FR" sz="1000" b="1">
              <a:solidFill>
                <a:srgbClr val="94A3B8"/>
              </a:solidFill>
              <a:latin typeface="Segoe UI" panose="020B0502040204020203" pitchFamily="34" charset="0"/>
            </a:endParaRPr>
          </a:p>
        </p:txBody>
      </p:sp>
      <p:sp>
        <p:nvSpPr>
          <p:cNvPr id="8" name="Rectangle : coins arrondis 7">
            <a:extLst>
              <a:ext uri="{FF2B5EF4-FFF2-40B4-BE49-F238E27FC236}">
                <a16:creationId xmlns:a16="http://schemas.microsoft.com/office/drawing/2014/main" id="{95D9759B-6BF7-C8A0-3727-C89E789EFDE4}"/>
              </a:ext>
            </a:extLst>
          </p:cNvPr>
          <p:cNvSpPr/>
          <p:nvPr/>
        </p:nvSpPr>
        <p:spPr>
          <a:xfrm>
            <a:off x="508000" y="2286000"/>
            <a:ext cx="11176000" cy="8890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FC051CE3-E78E-BE3E-BCD1-FA757B511715}"/>
              </a:ext>
            </a:extLst>
          </p:cNvPr>
          <p:cNvSpPr txBox="1"/>
          <p:nvPr/>
        </p:nvSpPr>
        <p:spPr>
          <a:xfrm>
            <a:off x="698500" y="2413000"/>
            <a:ext cx="10795000" cy="477054"/>
          </a:xfrm>
          <a:prstGeom prst="rect">
            <a:avLst/>
          </a:prstGeom>
          <a:noFill/>
        </p:spPr>
        <p:txBody>
          <a:bodyPr vert="horz" wrap="square" rtlCol="0">
            <a:spAutoFit/>
          </a:bodyPr>
          <a:lstStyle/>
          <a:p>
            <a:r>
              <a:rPr lang="fr-FR" sz="1500" b="1">
                <a:solidFill>
                  <a:srgbClr val="38BDF8"/>
                </a:solidFill>
                <a:latin typeface="Segoe UI Semibold" panose="020B0702040204020203" pitchFamily="34" charset="0"/>
              </a:rPr>
              <a:t>SPEED  </a:t>
            </a:r>
            <a:r>
              <a:rPr lang="en-US" sz="1200" b="1">
                <a:solidFill>
                  <a:srgbClr val="FFFFFF"/>
                </a:solidFill>
                <a:latin typeface="Segoe UI" panose="020B0502040204020203" pitchFamily="34" charset="0"/>
              </a:rPr>
              <a:t>—  How fast can it get there?</a:t>
            </a:r>
          </a:p>
          <a:p>
            <a:r>
              <a:rPr lang="en-US" sz="1000" b="1">
                <a:solidFill>
                  <a:srgbClr val="94A3B8"/>
                </a:solidFill>
                <a:latin typeface="Segoe UI" panose="020B0502040204020203" pitchFamily="34" charset="0"/>
              </a:rPr>
              <a:t>Measured in RPM (revolutions per minute). Gearboxes make it stronger but slower.</a:t>
            </a:r>
            <a:endParaRPr lang="fr-FR" sz="1000" b="1">
              <a:solidFill>
                <a:srgbClr val="94A3B8"/>
              </a:solidFill>
              <a:latin typeface="Segoe UI" panose="020B0502040204020203" pitchFamily="34" charset="0"/>
            </a:endParaRPr>
          </a:p>
        </p:txBody>
      </p:sp>
      <p:sp>
        <p:nvSpPr>
          <p:cNvPr id="10" name="Rectangle : coins arrondis 9">
            <a:extLst>
              <a:ext uri="{FF2B5EF4-FFF2-40B4-BE49-F238E27FC236}">
                <a16:creationId xmlns:a16="http://schemas.microsoft.com/office/drawing/2014/main" id="{9BA7188B-CDEF-169E-2EB7-DB67D16A5D64}"/>
              </a:ext>
            </a:extLst>
          </p:cNvPr>
          <p:cNvSpPr/>
          <p:nvPr/>
        </p:nvSpPr>
        <p:spPr>
          <a:xfrm>
            <a:off x="508000" y="3302000"/>
            <a:ext cx="11176000" cy="889000"/>
          </a:xfrm>
          <a:prstGeom prst="roundRect">
            <a:avLst/>
          </a:prstGeom>
          <a:solidFill>
            <a:srgbClr val="101622"/>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9BEF6FDF-670A-F02D-CC34-0F4D493A8F5E}"/>
              </a:ext>
            </a:extLst>
          </p:cNvPr>
          <p:cNvSpPr txBox="1"/>
          <p:nvPr/>
        </p:nvSpPr>
        <p:spPr>
          <a:xfrm>
            <a:off x="698500" y="3429000"/>
            <a:ext cx="10795000" cy="477054"/>
          </a:xfrm>
          <a:prstGeom prst="rect">
            <a:avLst/>
          </a:prstGeom>
          <a:noFill/>
        </p:spPr>
        <p:txBody>
          <a:bodyPr vert="horz" wrap="square" rtlCol="0">
            <a:spAutoFit/>
          </a:bodyPr>
          <a:lstStyle/>
          <a:p>
            <a:r>
              <a:rPr lang="fr-FR" sz="1500" b="1">
                <a:solidFill>
                  <a:srgbClr val="A855F7"/>
                </a:solidFill>
                <a:latin typeface="Segoe UI Semibold" panose="020B0702040204020203" pitchFamily="34" charset="0"/>
              </a:rPr>
              <a:t>RESOLUTION  </a:t>
            </a:r>
            <a:r>
              <a:rPr lang="en-US" sz="1200" b="1">
                <a:solidFill>
                  <a:srgbClr val="FFFFFF"/>
                </a:solidFill>
                <a:latin typeface="Segoe UI" panose="020B0502040204020203" pitchFamily="34" charset="0"/>
              </a:rPr>
              <a:t>—  How tiny is its smallest step?</a:t>
            </a:r>
          </a:p>
          <a:p>
            <a:r>
              <a:rPr lang="en-US" sz="1000" b="1">
                <a:solidFill>
                  <a:srgbClr val="94A3B8"/>
                </a:solidFill>
                <a:latin typeface="Segoe UI" panose="020B0502040204020203" pitchFamily="34" charset="0"/>
              </a:rPr>
              <a:t>Number of encoder ticks per turn. Like pixels on a high-res screen.</a:t>
            </a:r>
            <a:endParaRPr lang="fr-FR" sz="1000" b="1">
              <a:solidFill>
                <a:srgbClr val="94A3B8"/>
              </a:solidFill>
              <a:latin typeface="Segoe UI" panose="020B0502040204020203" pitchFamily="34" charset="0"/>
            </a:endParaRPr>
          </a:p>
        </p:txBody>
      </p:sp>
      <p:sp>
        <p:nvSpPr>
          <p:cNvPr id="12" name="Rectangle : coins arrondis 11">
            <a:extLst>
              <a:ext uri="{FF2B5EF4-FFF2-40B4-BE49-F238E27FC236}">
                <a16:creationId xmlns:a16="http://schemas.microsoft.com/office/drawing/2014/main" id="{80CFBE5B-BF71-072A-5132-457F97CD81B5}"/>
              </a:ext>
            </a:extLst>
          </p:cNvPr>
          <p:cNvSpPr/>
          <p:nvPr/>
        </p:nvSpPr>
        <p:spPr>
          <a:xfrm>
            <a:off x="508000" y="4318000"/>
            <a:ext cx="11176000" cy="889000"/>
          </a:xfrm>
          <a:prstGeom prst="roundRect">
            <a:avLst/>
          </a:prstGeom>
          <a:solidFill>
            <a:srgbClr val="101622"/>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C7649DA0-654B-8B7B-6413-A488216BB538}"/>
              </a:ext>
            </a:extLst>
          </p:cNvPr>
          <p:cNvSpPr txBox="1"/>
          <p:nvPr/>
        </p:nvSpPr>
        <p:spPr>
          <a:xfrm>
            <a:off x="698500" y="4445000"/>
            <a:ext cx="10795000" cy="477054"/>
          </a:xfrm>
          <a:prstGeom prst="rect">
            <a:avLst/>
          </a:prstGeom>
          <a:noFill/>
        </p:spPr>
        <p:txBody>
          <a:bodyPr vert="horz" wrap="square" rtlCol="0">
            <a:spAutoFit/>
          </a:bodyPr>
          <a:lstStyle/>
          <a:p>
            <a:r>
              <a:rPr lang="fr-FR" sz="1500" b="1">
                <a:solidFill>
                  <a:srgbClr val="34D399"/>
                </a:solidFill>
                <a:latin typeface="Segoe UI Semibold" panose="020B0702040204020203" pitchFamily="34" charset="0"/>
              </a:rPr>
              <a:t>REPEATABILITY  </a:t>
            </a:r>
            <a:r>
              <a:rPr lang="en-US" sz="1200" b="1">
                <a:solidFill>
                  <a:srgbClr val="FFFFFF"/>
                </a:solidFill>
                <a:latin typeface="Segoe UI" panose="020B0502040204020203" pitchFamily="34" charset="0"/>
              </a:rPr>
              <a:t>—  Can it hit the same spot twice?</a:t>
            </a:r>
          </a:p>
          <a:p>
            <a:r>
              <a:rPr lang="en-US" sz="1000" b="1">
                <a:solidFill>
                  <a:srgbClr val="94A3B8"/>
                </a:solidFill>
                <a:latin typeface="Segoe UI" panose="020B0502040204020203" pitchFamily="34" charset="0"/>
              </a:rPr>
              <a:t>Returning to the exact same position over and over.</a:t>
            </a:r>
            <a:endParaRPr lang="fr-FR" sz="1000" b="1">
              <a:solidFill>
                <a:srgbClr val="94A3B8"/>
              </a:solidFill>
              <a:latin typeface="Segoe UI" panose="020B0502040204020203" pitchFamily="34" charset="0"/>
            </a:endParaRPr>
          </a:p>
        </p:txBody>
      </p:sp>
      <p:sp>
        <p:nvSpPr>
          <p:cNvPr id="14" name="Rectangle : coins arrondis 13">
            <a:extLst>
              <a:ext uri="{FF2B5EF4-FFF2-40B4-BE49-F238E27FC236}">
                <a16:creationId xmlns:a16="http://schemas.microsoft.com/office/drawing/2014/main" id="{52C69C2D-25D6-1686-2F1B-B8D5546CBB6A}"/>
              </a:ext>
            </a:extLst>
          </p:cNvPr>
          <p:cNvSpPr/>
          <p:nvPr/>
        </p:nvSpPr>
        <p:spPr>
          <a:xfrm>
            <a:off x="508000" y="5524500"/>
            <a:ext cx="11176000" cy="825500"/>
          </a:xfrm>
          <a:prstGeom prst="roundRect">
            <a:avLst/>
          </a:prstGeom>
          <a:solidFill>
            <a:srgbClr val="101622"/>
          </a:solidFill>
          <a:ln w="12700">
            <a:solidFill>
              <a:srgbClr val="F43F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8D510C1F-CEA3-D86E-5741-C370C09F86C6}"/>
              </a:ext>
            </a:extLst>
          </p:cNvPr>
          <p:cNvSpPr txBox="1"/>
          <p:nvPr/>
        </p:nvSpPr>
        <p:spPr>
          <a:xfrm>
            <a:off x="698500" y="5613400"/>
            <a:ext cx="10795000" cy="276999"/>
          </a:xfrm>
          <a:prstGeom prst="rect">
            <a:avLst/>
          </a:prstGeom>
          <a:noFill/>
        </p:spPr>
        <p:txBody>
          <a:bodyPr vert="horz" rtlCol="0">
            <a:spAutoFit/>
          </a:bodyPr>
          <a:lstStyle/>
          <a:p>
            <a:r>
              <a:rPr lang="en-US" sz="1200" b="1">
                <a:solidFill>
                  <a:srgbClr val="F43F5E"/>
                </a:solidFill>
                <a:latin typeface="Segoe UI Semibold" panose="020B0702040204020203" pitchFamily="34" charset="0"/>
              </a:rPr>
              <a:t>⚠️ And then there is BACKLASH (mechanical play in the gears) which can ruin everything!</a:t>
            </a:r>
            <a:endParaRPr lang="fr-FR" sz="1200" b="1">
              <a:solidFill>
                <a:srgbClr val="F43F5E"/>
              </a:solidFill>
              <a:latin typeface="Segoe UI Semibold" panose="020B0702040204020203" pitchFamily="34" charset="0"/>
            </a:endParaRPr>
          </a:p>
        </p:txBody>
      </p:sp>
    </p:spTree>
    <p:extLst>
      <p:ext uri="{BB962C8B-B14F-4D97-AF65-F5344CB8AC3E}">
        <p14:creationId xmlns:p14="http://schemas.microsoft.com/office/powerpoint/2010/main" val="685914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F531F3-A135-45AE-7A79-100D9370D96E}"/>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15957822-AC3A-B678-EA60-3926FEDFFECB}"/>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CCB8D691-4827-A4C5-788F-99185DAF8A81}"/>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ZoneTexte 4">
            <a:extLst>
              <a:ext uri="{FF2B5EF4-FFF2-40B4-BE49-F238E27FC236}">
                <a16:creationId xmlns:a16="http://schemas.microsoft.com/office/drawing/2014/main" id="{D3416305-FC8D-4775-9063-25B8725BBFED}"/>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ACCURACY VS. REPEATABILITY: THE ARCHER METAPHOR</a:t>
            </a:r>
            <a:endParaRPr lang="fr-FR" sz="2200" b="1">
              <a:solidFill>
                <a:srgbClr val="FFFFFF"/>
              </a:solidFill>
              <a:latin typeface="Segoe UI Semibold" panose="020B0702040204020203" pitchFamily="34" charset="0"/>
            </a:endParaRPr>
          </a:p>
        </p:txBody>
      </p:sp>
      <p:pic>
        <p:nvPicPr>
          <p:cNvPr id="7" name="Image 6">
            <a:extLst>
              <a:ext uri="{FF2B5EF4-FFF2-40B4-BE49-F238E27FC236}">
                <a16:creationId xmlns:a16="http://schemas.microsoft.com/office/drawing/2014/main" id="{FE3673BD-4193-3C69-957A-25A54326798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1206500"/>
            <a:ext cx="11176000" cy="3937000"/>
          </a:xfrm>
          <a:prstGeom prst="rect">
            <a:avLst/>
          </a:prstGeom>
          <a:ln w="15240">
            <a:solidFill>
              <a:srgbClr val="A855F7"/>
            </a:solidFill>
          </a:ln>
        </p:spPr>
      </p:pic>
      <p:sp>
        <p:nvSpPr>
          <p:cNvPr id="8" name="Rectangle : coins arrondis 7">
            <a:extLst>
              <a:ext uri="{FF2B5EF4-FFF2-40B4-BE49-F238E27FC236}">
                <a16:creationId xmlns:a16="http://schemas.microsoft.com/office/drawing/2014/main" id="{AE330184-80D1-B2D7-F3AC-188F1ACDCC4F}"/>
              </a:ext>
            </a:extLst>
          </p:cNvPr>
          <p:cNvSpPr/>
          <p:nvPr/>
        </p:nvSpPr>
        <p:spPr>
          <a:xfrm>
            <a:off x="508000" y="5334000"/>
            <a:ext cx="11176000" cy="1016000"/>
          </a:xfrm>
          <a:prstGeom prst="roundRect">
            <a:avLst/>
          </a:prstGeom>
          <a:solidFill>
            <a:srgbClr val="101622"/>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2E96EB53-08E5-EE9F-095B-879EE939D68C}"/>
              </a:ext>
            </a:extLst>
          </p:cNvPr>
          <p:cNvSpPr txBox="1"/>
          <p:nvPr/>
        </p:nvSpPr>
        <p:spPr>
          <a:xfrm>
            <a:off x="698500" y="5435600"/>
            <a:ext cx="10795000" cy="646331"/>
          </a:xfrm>
          <a:prstGeom prst="rect">
            <a:avLst/>
          </a:prstGeom>
          <a:noFill/>
        </p:spPr>
        <p:txBody>
          <a:bodyPr vert="horz" wrap="square" rtlCol="0">
            <a:spAutoFit/>
          </a:bodyPr>
          <a:lstStyle/>
          <a:p>
            <a:r>
              <a:rPr lang="en-US" sz="1300" b="1">
                <a:solidFill>
                  <a:srgbClr val="FBBF24"/>
                </a:solidFill>
                <a:latin typeface="Segoe UI Semibold" panose="020B0702040204020203" pitchFamily="34" charset="0"/>
              </a:rPr>
              <a:t>🎯 THE ROBOTICS SECRET:</a:t>
            </a:r>
          </a:p>
          <a:p>
            <a:r>
              <a:rPr lang="en-US" sz="1300" b="1">
                <a:solidFill>
                  <a:srgbClr val="FBBF24"/>
                </a:solidFill>
                <a:latin typeface="Segoe UI Semibold" panose="020B0702040204020203" pitchFamily="34" charset="0"/>
              </a:rPr>
              <a:t>In robotics, REPEATABILITY is what you pay for!</a:t>
            </a:r>
          </a:p>
          <a:p>
            <a:r>
              <a:rPr lang="en-US" sz="1000" b="1">
                <a:solidFill>
                  <a:srgbClr val="FFFFFF"/>
                </a:solidFill>
                <a:latin typeface="Segoe UI" panose="020B0502040204020203" pitchFamily="34" charset="0"/>
              </a:rPr>
              <a:t>Why? Because if your robot hits the exact same spot every time (Target 2), you can easily fix the offset in code! But if it's random (Target 1), no software can save you.</a:t>
            </a:r>
            <a:endParaRPr lang="fr-FR" sz="1000" b="1">
              <a:solidFill>
                <a:srgbClr val="FFFFFF"/>
              </a:solidFill>
              <a:latin typeface="Segoe UI" panose="020B0502040204020203" pitchFamily="34" charset="0"/>
            </a:endParaRPr>
          </a:p>
        </p:txBody>
      </p:sp>
    </p:spTree>
    <p:extLst>
      <p:ext uri="{BB962C8B-B14F-4D97-AF65-F5344CB8AC3E}">
        <p14:creationId xmlns:p14="http://schemas.microsoft.com/office/powerpoint/2010/main" val="2054896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F91B46-B35C-8F7F-0975-D664EECC6F6D}"/>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37AF9203-868B-D8FB-1DB6-0914E93152D9}"/>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52CC813C-9D59-F6EF-5180-DDE21C3DB10C}"/>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D46A2FEF-9FE3-C04F-924A-EFA1881988B6}"/>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INTERACTIVE  </a:t>
            </a:r>
          </a:p>
        </p:txBody>
      </p:sp>
      <p:sp>
        <p:nvSpPr>
          <p:cNvPr id="6" name="ZoneTexte 5">
            <a:extLst>
              <a:ext uri="{FF2B5EF4-FFF2-40B4-BE49-F238E27FC236}">
                <a16:creationId xmlns:a16="http://schemas.microsoft.com/office/drawing/2014/main" id="{52334081-06FB-C2D5-D328-83ECD3681462}"/>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BACKLASH: MECHANICAL SLOP IN GEARS</a:t>
            </a:r>
            <a:endParaRPr lang="fr-FR" sz="2200" b="1">
              <a:solidFill>
                <a:srgbClr val="FFFFFF"/>
              </a:solidFill>
              <a:latin typeface="Segoe UI Semibold" panose="020B0702040204020203" pitchFamily="34" charset="0"/>
            </a:endParaRPr>
          </a:p>
        </p:txBody>
      </p:sp>
      <p:pic>
        <p:nvPicPr>
          <p:cNvPr id="8" name="Image 7">
            <a:extLst>
              <a:ext uri="{FF2B5EF4-FFF2-40B4-BE49-F238E27FC236}">
                <a16:creationId xmlns:a16="http://schemas.microsoft.com/office/drawing/2014/main" id="{3A178E39-1357-42E4-48C7-45E971323C0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1206500"/>
            <a:ext cx="6350000" cy="3683000"/>
          </a:xfrm>
          <a:prstGeom prst="rect">
            <a:avLst/>
          </a:prstGeom>
          <a:ln w="15240">
            <a:solidFill>
              <a:srgbClr val="F43F5E"/>
            </a:solidFill>
          </a:ln>
        </p:spPr>
      </p:pic>
      <p:sp>
        <p:nvSpPr>
          <p:cNvPr id="9" name="Rectangle : coins arrondis 8">
            <a:extLst>
              <a:ext uri="{FF2B5EF4-FFF2-40B4-BE49-F238E27FC236}">
                <a16:creationId xmlns:a16="http://schemas.microsoft.com/office/drawing/2014/main" id="{0A8989F3-54C2-6C56-C83D-01FB5A38794D}"/>
              </a:ext>
            </a:extLst>
          </p:cNvPr>
          <p:cNvSpPr/>
          <p:nvPr/>
        </p:nvSpPr>
        <p:spPr>
          <a:xfrm>
            <a:off x="7112000" y="1206500"/>
            <a:ext cx="4572000" cy="3683000"/>
          </a:xfrm>
          <a:prstGeom prst="roundRect">
            <a:avLst/>
          </a:prstGeom>
          <a:solidFill>
            <a:srgbClr val="101824"/>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545B5935-924A-C29A-AAFF-5A5C6444D422}"/>
              </a:ext>
            </a:extLst>
          </p:cNvPr>
          <p:cNvSpPr txBox="1"/>
          <p:nvPr/>
        </p:nvSpPr>
        <p:spPr>
          <a:xfrm>
            <a:off x="7302500" y="1397000"/>
            <a:ext cx="4191000" cy="1631216"/>
          </a:xfrm>
          <a:prstGeom prst="rect">
            <a:avLst/>
          </a:prstGeom>
          <a:noFill/>
        </p:spPr>
        <p:txBody>
          <a:bodyPr vert="horz" wrap="square" rtlCol="0">
            <a:spAutoFit/>
          </a:bodyPr>
          <a:lstStyle/>
          <a:p>
            <a:r>
              <a:rPr lang="fr-FR" sz="1500" b="1">
                <a:solidFill>
                  <a:srgbClr val="38BDF8"/>
                </a:solidFill>
                <a:latin typeface="Segoe UI Semibold" panose="020B0702040204020203" pitchFamily="34" charset="0"/>
              </a:rPr>
              <a:t>THE STEERING WHEEL ANALOGY</a:t>
            </a:r>
          </a:p>
          <a:p>
            <a:r>
              <a:rPr lang="fr-FR" sz="1500" b="1">
                <a:solidFill>
                  <a:srgbClr val="38BDF8"/>
                </a:solidFill>
                <a:latin typeface="Segoe UI Semibold" panose="020B0702040204020203" pitchFamily="34" charset="0"/>
              </a:rPr>
              <a:t>
</a:t>
            </a:r>
            <a:r>
              <a:rPr lang="en-US" sz="1000" b="1">
                <a:solidFill>
                  <a:srgbClr val="FFFFFF"/>
                </a:solidFill>
                <a:latin typeface="Segoe UI" panose="020B0502040204020203" pitchFamily="34" charset="0"/>
              </a:rPr>
              <a:t>Have you ever driven an old car with a loose steering wheel?</a:t>
            </a:r>
          </a:p>
          <a:p>
            <a:r>
              <a:rPr lang="en-US" sz="1000" b="1">
                <a:solidFill>
                  <a:srgbClr val="FFFFFF"/>
                </a:solidFill>
                <a:latin typeface="Segoe UI" panose="020B0502040204020203" pitchFamily="34" charset="0"/>
              </a:rPr>
              <a:t>You can wiggle the wheel 2 inches before the car starts turning!</a:t>
            </a:r>
          </a:p>
          <a:p>
            <a:r>
              <a:rPr lang="en-US" sz="1000" b="1">
                <a:solidFill>
                  <a:srgbClr val="FFFFFF"/>
                </a:solidFill>
                <a:latin typeface="Segoe UI" panose="020B0502040204020203" pitchFamily="34" charset="0"/>
              </a:rPr>
              <a:t>
That is BACKLASH: the clearance gap between gear teeth.</a:t>
            </a:r>
          </a:p>
          <a:p>
            <a:r>
              <a:rPr lang="en-US" sz="1000" b="1">
                <a:solidFill>
                  <a:srgbClr val="FFFFFF"/>
                </a:solidFill>
                <a:latin typeface="Segoe UI" panose="020B0502040204020203" pitchFamily="34" charset="0"/>
              </a:rPr>
              <a:t>
❓ Question: If your motor reverses 0.1°, does the arm move?</a:t>
            </a:r>
          </a:p>
          <a:p>
            <a:r>
              <a:rPr lang="en-US" sz="1000" b="1">
                <a:solidFill>
                  <a:srgbClr val="FFFFFF"/>
                </a:solidFill>
                <a:latin typeface="Segoe UI" panose="020B0502040204020203" pitchFamily="34" charset="0"/>
              </a:rPr>
              <a:t>👉 NO! The motor spins across the gap while the arm sits still!</a:t>
            </a:r>
            <a:endParaRPr lang="fr-FR" sz="1000" b="1">
              <a:solidFill>
                <a:srgbClr val="FFFFFF"/>
              </a:solidFill>
              <a:latin typeface="Segoe UI" panose="020B0502040204020203" pitchFamily="34" charset="0"/>
            </a:endParaRPr>
          </a:p>
        </p:txBody>
      </p:sp>
      <p:sp>
        <p:nvSpPr>
          <p:cNvPr id="11" name="Rectangle : coins arrondis 10">
            <a:extLst>
              <a:ext uri="{FF2B5EF4-FFF2-40B4-BE49-F238E27FC236}">
                <a16:creationId xmlns:a16="http://schemas.microsoft.com/office/drawing/2014/main" id="{FF4A0FBA-DA08-AFAB-3AAF-83F0B3492CBB}"/>
              </a:ext>
            </a:extLst>
          </p:cNvPr>
          <p:cNvSpPr/>
          <p:nvPr/>
        </p:nvSpPr>
        <p:spPr>
          <a:xfrm>
            <a:off x="508000" y="5080000"/>
            <a:ext cx="11176000" cy="1270000"/>
          </a:xfrm>
          <a:prstGeom prst="roundRect">
            <a:avLst/>
          </a:prstGeom>
          <a:solidFill>
            <a:srgbClr val="161410"/>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174BD376-E5EC-D41D-D2CE-D21B49956EAB}"/>
              </a:ext>
            </a:extLst>
          </p:cNvPr>
          <p:cNvSpPr txBox="1"/>
          <p:nvPr/>
        </p:nvSpPr>
        <p:spPr>
          <a:xfrm>
            <a:off x="711200" y="5232400"/>
            <a:ext cx="10769600" cy="600164"/>
          </a:xfrm>
          <a:prstGeom prst="rect">
            <a:avLst/>
          </a:prstGeom>
          <a:noFill/>
        </p:spPr>
        <p:txBody>
          <a:bodyPr vert="horz" wrap="square" rtlCol="0">
            <a:spAutoFit/>
          </a:bodyPr>
          <a:lstStyle/>
          <a:p>
            <a:r>
              <a:rPr lang="fr-FR" sz="1300" b="1">
                <a:solidFill>
                  <a:srgbClr val="FBBF24"/>
                </a:solidFill>
                <a:latin typeface="Segoe UI Semibold" panose="020B0702040204020203" pitchFamily="34" charset="0"/>
              </a:rPr>
              <a:t>💡 Engineering Joke &amp; Fix</a:t>
            </a:r>
          </a:p>
          <a:p>
            <a:r>
              <a:rPr lang="en-US" sz="1000">
                <a:solidFill>
                  <a:srgbClr val="E2E8F0"/>
                </a:solidFill>
                <a:latin typeface="Segoe UI" panose="020B0502040204020203" pitchFamily="34" charset="0"/>
              </a:rPr>
              <a:t>"Backlash is mechanical lag: the hardware equivalent of 'I'll respond later.'"</a:t>
            </a:r>
          </a:p>
          <a:p>
            <a:r>
              <a:rPr lang="en-US" sz="1000">
                <a:solidFill>
                  <a:srgbClr val="E2E8F0"/>
                </a:solidFill>
                <a:latin typeface="Segoe UI" panose="020B0502040204020203" pitchFamily="34" charset="0"/>
              </a:rPr>
              <a:t>How do factory robots eliminate it? They use zero-backlash Strain Wave (Harmonic) gears or belt drives!</a:t>
            </a:r>
            <a:endParaRPr lang="fr-FR"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27745972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7ABA4E8-A147-4887-364F-8942ED0354C1}"/>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31C6CB8F-2262-1B9E-1B62-DAFDBC3F91B0}"/>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C00B5648-8797-11E5-EB52-B0F86C0D47AA}"/>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E3A7DFF8-F6EB-8457-A90F-FBA5C333B4D6}"/>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TRICK QUESTION  </a:t>
            </a:r>
          </a:p>
        </p:txBody>
      </p:sp>
      <p:sp>
        <p:nvSpPr>
          <p:cNvPr id="6" name="ZoneTexte 5">
            <a:extLst>
              <a:ext uri="{FF2B5EF4-FFF2-40B4-BE49-F238E27FC236}">
                <a16:creationId xmlns:a16="http://schemas.microsoft.com/office/drawing/2014/main" id="{B5352165-B251-1EF3-1298-0964DB72AFA1}"/>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WHICH MOTOR WOULD YOU CHOOSE?</a:t>
            </a:r>
            <a:endParaRPr lang="fr-FR" sz="2200" b="1">
              <a:solidFill>
                <a:srgbClr val="FFFFFF"/>
              </a:solidFill>
              <a:latin typeface="Segoe UI Semibold" panose="020B0702040204020203" pitchFamily="34" charset="0"/>
            </a:endParaRPr>
          </a:p>
        </p:txBody>
      </p:sp>
      <p:sp>
        <p:nvSpPr>
          <p:cNvPr id="7" name="Rectangle : coins arrondis 6">
            <a:extLst>
              <a:ext uri="{FF2B5EF4-FFF2-40B4-BE49-F238E27FC236}">
                <a16:creationId xmlns:a16="http://schemas.microsoft.com/office/drawing/2014/main" id="{5985BC72-94E5-53BC-C2A6-C521EE91C174}"/>
              </a:ext>
            </a:extLst>
          </p:cNvPr>
          <p:cNvSpPr/>
          <p:nvPr/>
        </p:nvSpPr>
        <p:spPr>
          <a:xfrm>
            <a:off x="508000" y="1270000"/>
            <a:ext cx="3429000" cy="24130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BE7C0B8B-AAC5-4752-92C1-DE30200AE6EE}"/>
              </a:ext>
            </a:extLst>
          </p:cNvPr>
          <p:cNvSpPr txBox="1"/>
          <p:nvPr/>
        </p:nvSpPr>
        <p:spPr>
          <a:xfrm>
            <a:off x="698500" y="1460500"/>
            <a:ext cx="3048000" cy="1015663"/>
          </a:xfrm>
          <a:prstGeom prst="rect">
            <a:avLst/>
          </a:prstGeom>
          <a:noFill/>
        </p:spPr>
        <p:txBody>
          <a:bodyPr vert="horz" wrap="square" rtlCol="0">
            <a:spAutoFit/>
          </a:bodyPr>
          <a:lstStyle/>
          <a:p>
            <a:r>
              <a:rPr lang="fr-FR" b="1">
                <a:solidFill>
                  <a:srgbClr val="38BDF8"/>
                </a:solidFill>
                <a:latin typeface="Segoe UI Semibold" panose="020B0702040204020203" pitchFamily="34" charset="0"/>
              </a:rPr>
              <a:t>MOTOR A</a:t>
            </a:r>
          </a:p>
          <a:p>
            <a:r>
              <a:rPr lang="fr-FR" sz="1400">
                <a:solidFill>
                  <a:srgbClr val="FFFFFF"/>
                </a:solidFill>
                <a:latin typeface="Segoe UI" panose="020B0502040204020203" pitchFamily="34" charset="0"/>
              </a:rPr>
              <a:t>• Torque: 2.0 N·m</a:t>
            </a:r>
          </a:p>
          <a:p>
            <a:r>
              <a:rPr lang="fr-FR" sz="1400">
                <a:solidFill>
                  <a:srgbClr val="FFFFFF"/>
                </a:solidFill>
                <a:latin typeface="Segoe UI" panose="020B0502040204020203" pitchFamily="34" charset="0"/>
              </a:rPr>
              <a:t>• Speed: 300 RPM</a:t>
            </a:r>
          </a:p>
          <a:p>
            <a:r>
              <a:rPr lang="fr-FR" sz="1400">
                <a:solidFill>
                  <a:srgbClr val="FFFFFF"/>
                </a:solidFill>
                <a:latin typeface="Segoe UI" panose="020B0502040204020203" pitchFamily="34" charset="0"/>
              </a:rPr>
              <a:t>• Price: €20</a:t>
            </a:r>
          </a:p>
        </p:txBody>
      </p:sp>
      <p:sp>
        <p:nvSpPr>
          <p:cNvPr id="9" name="Rectangle : coins arrondis 8">
            <a:extLst>
              <a:ext uri="{FF2B5EF4-FFF2-40B4-BE49-F238E27FC236}">
                <a16:creationId xmlns:a16="http://schemas.microsoft.com/office/drawing/2014/main" id="{EA3CD9B9-BC44-DD53-EAB4-6990255C614D}"/>
              </a:ext>
            </a:extLst>
          </p:cNvPr>
          <p:cNvSpPr/>
          <p:nvPr/>
        </p:nvSpPr>
        <p:spPr>
          <a:xfrm>
            <a:off x="4381500" y="1270000"/>
            <a:ext cx="3429000" cy="2413000"/>
          </a:xfrm>
          <a:prstGeom prst="roundRect">
            <a:avLst/>
          </a:prstGeom>
          <a:solidFill>
            <a:srgbClr val="101622"/>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20478FDB-CC3E-B8E7-11F9-49BE9821376B}"/>
              </a:ext>
            </a:extLst>
          </p:cNvPr>
          <p:cNvSpPr txBox="1"/>
          <p:nvPr/>
        </p:nvSpPr>
        <p:spPr>
          <a:xfrm>
            <a:off x="4572000" y="1460500"/>
            <a:ext cx="3048000" cy="1015663"/>
          </a:xfrm>
          <a:prstGeom prst="rect">
            <a:avLst/>
          </a:prstGeom>
          <a:noFill/>
        </p:spPr>
        <p:txBody>
          <a:bodyPr vert="horz" wrap="square" rtlCol="0">
            <a:spAutoFit/>
          </a:bodyPr>
          <a:lstStyle/>
          <a:p>
            <a:r>
              <a:rPr lang="fr-FR" b="1">
                <a:solidFill>
                  <a:srgbClr val="FBBF24"/>
                </a:solidFill>
                <a:latin typeface="Segoe UI Semibold" panose="020B0702040204020203" pitchFamily="34" charset="0"/>
              </a:rPr>
              <a:t>MOTOR B</a:t>
            </a:r>
          </a:p>
          <a:p>
            <a:r>
              <a:rPr lang="fr-FR" sz="1400">
                <a:solidFill>
                  <a:srgbClr val="FFFFFF"/>
                </a:solidFill>
                <a:latin typeface="Segoe UI" panose="020B0502040204020203" pitchFamily="34" charset="0"/>
              </a:rPr>
              <a:t>• Torque: 8.0 N·m</a:t>
            </a:r>
          </a:p>
          <a:p>
            <a:r>
              <a:rPr lang="fr-FR" sz="1400">
                <a:solidFill>
                  <a:srgbClr val="FFFFFF"/>
                </a:solidFill>
                <a:latin typeface="Segoe UI" panose="020B0502040204020203" pitchFamily="34" charset="0"/>
              </a:rPr>
              <a:t>• Speed: 50 RPM</a:t>
            </a:r>
          </a:p>
          <a:p>
            <a:r>
              <a:rPr lang="fr-FR" sz="1400">
                <a:solidFill>
                  <a:srgbClr val="FFFFFF"/>
                </a:solidFill>
                <a:latin typeface="Segoe UI" panose="020B0502040204020203" pitchFamily="34" charset="0"/>
              </a:rPr>
              <a:t>• Price: €80</a:t>
            </a:r>
          </a:p>
        </p:txBody>
      </p:sp>
      <p:sp>
        <p:nvSpPr>
          <p:cNvPr id="11" name="Rectangle : coins arrondis 10">
            <a:extLst>
              <a:ext uri="{FF2B5EF4-FFF2-40B4-BE49-F238E27FC236}">
                <a16:creationId xmlns:a16="http://schemas.microsoft.com/office/drawing/2014/main" id="{055F8425-F8D4-373E-5D78-B3405A97B39C}"/>
              </a:ext>
            </a:extLst>
          </p:cNvPr>
          <p:cNvSpPr/>
          <p:nvPr/>
        </p:nvSpPr>
        <p:spPr>
          <a:xfrm>
            <a:off x="8255000" y="1270000"/>
            <a:ext cx="3429000" cy="2413000"/>
          </a:xfrm>
          <a:prstGeom prst="roundRect">
            <a:avLst/>
          </a:prstGeom>
          <a:solidFill>
            <a:srgbClr val="101622"/>
          </a:solidFill>
          <a:ln w="12700">
            <a:solidFill>
              <a:srgbClr val="F43F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6C545DF2-7400-F08E-8D1C-B92B1FA00258}"/>
              </a:ext>
            </a:extLst>
          </p:cNvPr>
          <p:cNvSpPr txBox="1"/>
          <p:nvPr/>
        </p:nvSpPr>
        <p:spPr>
          <a:xfrm>
            <a:off x="8445500" y="1460500"/>
            <a:ext cx="3048000" cy="1015663"/>
          </a:xfrm>
          <a:prstGeom prst="rect">
            <a:avLst/>
          </a:prstGeom>
          <a:noFill/>
        </p:spPr>
        <p:txBody>
          <a:bodyPr vert="horz" wrap="square" rtlCol="0">
            <a:spAutoFit/>
          </a:bodyPr>
          <a:lstStyle/>
          <a:p>
            <a:r>
              <a:rPr lang="fr-FR" b="1">
                <a:solidFill>
                  <a:srgbClr val="F43F5E"/>
                </a:solidFill>
                <a:latin typeface="Segoe UI Semibold" panose="020B0702040204020203" pitchFamily="34" charset="0"/>
              </a:rPr>
              <a:t>MOTOR C</a:t>
            </a:r>
          </a:p>
          <a:p>
            <a:r>
              <a:rPr lang="fr-FR" sz="1400">
                <a:solidFill>
                  <a:srgbClr val="FFFFFF"/>
                </a:solidFill>
                <a:latin typeface="Segoe UI" panose="020B0502040204020203" pitchFamily="34" charset="0"/>
              </a:rPr>
              <a:t>• Torque: 4.0 N·m</a:t>
            </a:r>
          </a:p>
          <a:p>
            <a:r>
              <a:rPr lang="fr-FR" sz="1400">
                <a:solidFill>
                  <a:srgbClr val="FFFFFF"/>
                </a:solidFill>
                <a:latin typeface="Segoe UI" panose="020B0502040204020203" pitchFamily="34" charset="0"/>
              </a:rPr>
              <a:t>• Speed: 1000 RPM</a:t>
            </a:r>
          </a:p>
          <a:p>
            <a:r>
              <a:rPr lang="fr-FR" sz="1400">
                <a:solidFill>
                  <a:srgbClr val="FFFFFF"/>
                </a:solidFill>
                <a:latin typeface="Segoe UI" panose="020B0502040204020203" pitchFamily="34" charset="0"/>
              </a:rPr>
              <a:t>• Price: €60</a:t>
            </a:r>
          </a:p>
        </p:txBody>
      </p:sp>
      <p:sp>
        <p:nvSpPr>
          <p:cNvPr id="13" name="Rectangle : coins arrondis 12">
            <a:extLst>
              <a:ext uri="{FF2B5EF4-FFF2-40B4-BE49-F238E27FC236}">
                <a16:creationId xmlns:a16="http://schemas.microsoft.com/office/drawing/2014/main" id="{A151E5C6-D465-BA3C-BA68-9C50FA523BAB}"/>
              </a:ext>
            </a:extLst>
          </p:cNvPr>
          <p:cNvSpPr/>
          <p:nvPr/>
        </p:nvSpPr>
        <p:spPr>
          <a:xfrm>
            <a:off x="508000" y="3937000"/>
            <a:ext cx="11176000" cy="2413000"/>
          </a:xfrm>
          <a:prstGeom prst="roundRect">
            <a:avLst/>
          </a:prstGeom>
          <a:solidFill>
            <a:srgbClr val="1C1014"/>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D2CE10D9-AC32-B12D-545A-3E2064B76CFD}"/>
              </a:ext>
            </a:extLst>
          </p:cNvPr>
          <p:cNvSpPr txBox="1"/>
          <p:nvPr/>
        </p:nvSpPr>
        <p:spPr>
          <a:xfrm>
            <a:off x="762000" y="4064000"/>
            <a:ext cx="10668000" cy="1569660"/>
          </a:xfrm>
          <a:prstGeom prst="rect">
            <a:avLst/>
          </a:prstGeom>
          <a:noFill/>
        </p:spPr>
        <p:txBody>
          <a:bodyPr vert="horz" wrap="square" rtlCol="0">
            <a:spAutoFit/>
          </a:bodyPr>
          <a:lstStyle/>
          <a:p>
            <a:r>
              <a:rPr lang="en-US" sz="1500" b="1">
                <a:solidFill>
                  <a:srgbClr val="F59E0B"/>
                </a:solidFill>
                <a:latin typeface="Segoe UI Semibold" panose="020B0702040204020203" pitchFamily="34" charset="0"/>
              </a:rPr>
              <a:t>TRICK QUESTION! None of them until you know your task!</a:t>
            </a:r>
          </a:p>
          <a:p>
            <a:r>
              <a:rPr lang="en-US" sz="1500" b="1">
                <a:solidFill>
                  <a:srgbClr val="F59E0B"/>
                </a:solidFill>
                <a:latin typeface="Segoe UI Semibold" panose="020B0702040204020203" pitchFamily="34" charset="0"/>
              </a:rPr>
              <a:t>
</a:t>
            </a:r>
            <a:r>
              <a:rPr lang="en-US" sz="1100" b="1">
                <a:solidFill>
                  <a:srgbClr val="FFFFFF"/>
                </a:solidFill>
                <a:latin typeface="Segoe UI" panose="020B0502040204020203" pitchFamily="34" charset="0"/>
              </a:rPr>
              <a:t>Before buying a motor, you must answer:</a:t>
            </a:r>
          </a:p>
          <a:p>
            <a:r>
              <a:rPr lang="en-US" sz="1100" b="1">
                <a:solidFill>
                  <a:srgbClr val="FFFFFF"/>
                </a:solidFill>
                <a:latin typeface="Segoe UI" panose="020B0502040204020203" pitchFamily="34" charset="0"/>
              </a:rPr>
              <a:t>1. How heavy is the load? (If you need 5 N·m, Motor A is useless!)</a:t>
            </a:r>
          </a:p>
          <a:p>
            <a:r>
              <a:rPr lang="en-US" sz="1100" b="1">
                <a:solidFill>
                  <a:srgbClr val="FFFFFF"/>
                </a:solidFill>
                <a:latin typeface="Segoe UI" panose="020B0502040204020203" pitchFamily="34" charset="0"/>
              </a:rPr>
              <a:t>2. How fast must it move? (If you are building a high-speed fan, Motor B is too slow!)</a:t>
            </a:r>
          </a:p>
          <a:p>
            <a:r>
              <a:rPr lang="en-US" sz="1100" b="1">
                <a:solidFill>
                  <a:srgbClr val="FFFFFF"/>
                </a:solidFill>
                <a:latin typeface="Segoe UI" panose="020B0502040204020203" pitchFamily="34" charset="0"/>
              </a:rPr>
              <a:t>3. What voltage battery do you have?</a:t>
            </a:r>
          </a:p>
          <a:p>
            <a:r>
              <a:rPr lang="en-US" sz="1100" b="1">
                <a:solidFill>
                  <a:srgbClr val="FFFFFF"/>
                </a:solidFill>
                <a:latin typeface="Segoe UI" panose="020B0502040204020203" pitchFamily="34" charset="0"/>
              </a:rPr>
              <a:t>
👉 Lesson: Define the load first, then buy the motor!</a:t>
            </a:r>
            <a:endParaRPr lang="fr-FR" sz="1100" b="1">
              <a:solidFill>
                <a:srgbClr val="FFFFFF"/>
              </a:solidFill>
              <a:latin typeface="Segoe UI" panose="020B0502040204020203" pitchFamily="34" charset="0"/>
            </a:endParaRPr>
          </a:p>
        </p:txBody>
      </p:sp>
    </p:spTree>
    <p:extLst>
      <p:ext uri="{BB962C8B-B14F-4D97-AF65-F5344CB8AC3E}">
        <p14:creationId xmlns:p14="http://schemas.microsoft.com/office/powerpoint/2010/main" val="30263769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03F325D-818D-D54A-A2A0-736CABF99A90}"/>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D3EB0002-3880-B9DA-D9EF-41A87C6BDD82}"/>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349CF041-2125-DAC8-0FA8-B020774D6BD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969000" y="698500"/>
            <a:ext cx="5715000" cy="5461000"/>
          </a:xfrm>
          <a:prstGeom prst="rect">
            <a:avLst/>
          </a:prstGeom>
          <a:ln w="19050">
            <a:solidFill>
              <a:srgbClr val="A855F7"/>
            </a:solidFill>
          </a:ln>
        </p:spPr>
      </p:pic>
      <p:sp>
        <p:nvSpPr>
          <p:cNvPr id="6" name="ZoneTexte 5">
            <a:extLst>
              <a:ext uri="{FF2B5EF4-FFF2-40B4-BE49-F238E27FC236}">
                <a16:creationId xmlns:a16="http://schemas.microsoft.com/office/drawing/2014/main" id="{88F6E2B0-CB23-88F9-691C-22F22667027E}"/>
              </a:ext>
            </a:extLst>
          </p:cNvPr>
          <p:cNvSpPr txBox="1"/>
          <p:nvPr/>
        </p:nvSpPr>
        <p:spPr>
          <a:xfrm>
            <a:off x="635000" y="1778000"/>
            <a:ext cx="5080000" cy="1415772"/>
          </a:xfrm>
          <a:prstGeom prst="rect">
            <a:avLst/>
          </a:prstGeom>
          <a:noFill/>
        </p:spPr>
        <p:txBody>
          <a:bodyPr vert="horz" wrap="square" rtlCol="0">
            <a:spAutoFit/>
          </a:bodyPr>
          <a:lstStyle/>
          <a:p>
            <a:r>
              <a:rPr lang="fr-FR" sz="1300" b="1">
                <a:solidFill>
                  <a:srgbClr val="38BDF8"/>
                </a:solidFill>
                <a:latin typeface="Segoe UI" panose="020B0502040204020203" pitchFamily="34" charset="0"/>
              </a:rPr>
              <a:t>PART 03 • MECHANICAL SYSTEMS</a:t>
            </a:r>
          </a:p>
          <a:p>
            <a:r>
              <a:rPr lang="fr-FR" sz="3000" b="1">
                <a:solidFill>
                  <a:srgbClr val="FFFFFF"/>
                </a:solidFill>
                <a:latin typeface="Segoe UI Semibold" panose="020B0702040204020203" pitchFamily="34" charset="0"/>
              </a:rPr>
              <a:t>MECHANICAL DESIGN
&amp; RIGID STRUCTURES</a:t>
            </a:r>
          </a:p>
          <a:p>
            <a:r>
              <a:rPr lang="en-US" sz="1300">
                <a:solidFill>
                  <a:srgbClr val="E2E8F0"/>
                </a:solidFill>
                <a:latin typeface="Segoe UI" panose="020B0502040204020203" pitchFamily="34" charset="0"/>
              </a:rPr>
              <a:t>The Robot's Skeleton • Stiffness • Materials • Real-World Trade-Offs</a:t>
            </a:r>
            <a:endParaRPr lang="fr-FR" sz="1300">
              <a:solidFill>
                <a:srgbClr val="E2E8F0"/>
              </a:solidFill>
              <a:latin typeface="Segoe UI" panose="020B0502040204020203" pitchFamily="34" charset="0"/>
            </a:endParaRPr>
          </a:p>
        </p:txBody>
      </p:sp>
    </p:spTree>
    <p:extLst>
      <p:ext uri="{BB962C8B-B14F-4D97-AF65-F5344CB8AC3E}">
        <p14:creationId xmlns:p14="http://schemas.microsoft.com/office/powerpoint/2010/main" val="3624225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D35EB3-B361-0FCC-0B43-A82EE312A5A9}"/>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A804C863-47D6-C9CD-2656-FAC19CC8DDF0}"/>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E7DDF74E-5F0C-429D-EF64-7B960A28137F}"/>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0325D1FF-BA50-A34C-9223-97BD11EF5A21}"/>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CORE CONCEPT  </a:t>
            </a:r>
          </a:p>
        </p:txBody>
      </p:sp>
      <p:sp>
        <p:nvSpPr>
          <p:cNvPr id="6" name="ZoneTexte 5">
            <a:extLst>
              <a:ext uri="{FF2B5EF4-FFF2-40B4-BE49-F238E27FC236}">
                <a16:creationId xmlns:a16="http://schemas.microsoft.com/office/drawing/2014/main" id="{656BF308-5A2C-17BC-2337-72E930EE2295}"/>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THE LOAD PATH: WHERE DOES THE FORCE REALLY GO?</a:t>
            </a:r>
            <a:endParaRPr lang="fr-FR" sz="2200" b="1">
              <a:solidFill>
                <a:srgbClr val="FFFFFF"/>
              </a:solidFill>
              <a:latin typeface="Segoe UI Semibold" panose="020B0702040204020203" pitchFamily="34" charset="0"/>
            </a:endParaRPr>
          </a:p>
        </p:txBody>
      </p:sp>
      <p:sp>
        <p:nvSpPr>
          <p:cNvPr id="7" name="Rectangle : coins arrondis 6">
            <a:extLst>
              <a:ext uri="{FF2B5EF4-FFF2-40B4-BE49-F238E27FC236}">
                <a16:creationId xmlns:a16="http://schemas.microsoft.com/office/drawing/2014/main" id="{7B2D180E-E8EA-7CD3-2B7D-0C387DAEA8A8}"/>
              </a:ext>
            </a:extLst>
          </p:cNvPr>
          <p:cNvSpPr/>
          <p:nvPr/>
        </p:nvSpPr>
        <p:spPr>
          <a:xfrm>
            <a:off x="508000" y="1079500"/>
            <a:ext cx="11176000" cy="762000"/>
          </a:xfrm>
          <a:prstGeom prst="roundRect">
            <a:avLst/>
          </a:prstGeom>
          <a:solidFill>
            <a:srgbClr val="101A28"/>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1FC58C3B-5ED4-1E1B-B890-E34796202426}"/>
              </a:ext>
            </a:extLst>
          </p:cNvPr>
          <p:cNvSpPr txBox="1"/>
          <p:nvPr/>
        </p:nvSpPr>
        <p:spPr>
          <a:xfrm>
            <a:off x="698500" y="1206500"/>
            <a:ext cx="10795000" cy="446276"/>
          </a:xfrm>
          <a:prstGeom prst="rect">
            <a:avLst/>
          </a:prstGeom>
          <a:noFill/>
        </p:spPr>
        <p:txBody>
          <a:bodyPr vert="horz" wrap="square" rtlCol="0">
            <a:spAutoFit/>
          </a:bodyPr>
          <a:lstStyle/>
          <a:p>
            <a:r>
              <a:rPr lang="fr-FR" sz="1000" b="1">
                <a:solidFill>
                  <a:srgbClr val="38BDF8"/>
                </a:solidFill>
                <a:latin typeface="Segoe UI" panose="020B0502040204020203" pitchFamily="34" charset="0"/>
              </a:rPr>
              <a:t>THE PHYSICAL FORCE CHAIN:</a:t>
            </a:r>
          </a:p>
          <a:p>
            <a:r>
              <a:rPr lang="fr-FR" sz="1300" b="1">
                <a:solidFill>
                  <a:srgbClr val="FFFFFF"/>
                </a:solidFill>
                <a:latin typeface="Segoe UI Semibold" panose="020B0702040204020203" pitchFamily="34" charset="0"/>
              </a:rPr>
              <a:t>MOTOR ROTOR  ➜  GEARS  ➜  BEARINGS  ➜  ARM LINKS  ➜  GRIPPER  ➜  OBJECT</a:t>
            </a:r>
          </a:p>
        </p:txBody>
      </p:sp>
      <p:sp>
        <p:nvSpPr>
          <p:cNvPr id="9" name="Rectangle : coins arrondis 8">
            <a:extLst>
              <a:ext uri="{FF2B5EF4-FFF2-40B4-BE49-F238E27FC236}">
                <a16:creationId xmlns:a16="http://schemas.microsoft.com/office/drawing/2014/main" id="{7E7F97CB-8CB5-BCDF-04FE-4C42CEF28BFF}"/>
              </a:ext>
            </a:extLst>
          </p:cNvPr>
          <p:cNvSpPr/>
          <p:nvPr/>
        </p:nvSpPr>
        <p:spPr>
          <a:xfrm>
            <a:off x="508000" y="2032000"/>
            <a:ext cx="3429000" cy="2667000"/>
          </a:xfrm>
          <a:prstGeom prst="roundRect">
            <a:avLst/>
          </a:prstGeom>
          <a:solidFill>
            <a:srgbClr val="101622"/>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05F71CCA-5339-15E0-CA8E-B83F2448C02A}"/>
              </a:ext>
            </a:extLst>
          </p:cNvPr>
          <p:cNvSpPr txBox="1"/>
          <p:nvPr/>
        </p:nvSpPr>
        <p:spPr>
          <a:xfrm>
            <a:off x="711200" y="2209800"/>
            <a:ext cx="3022600" cy="1261884"/>
          </a:xfrm>
          <a:prstGeom prst="rect">
            <a:avLst/>
          </a:prstGeom>
          <a:noFill/>
        </p:spPr>
        <p:txBody>
          <a:bodyPr vert="horz" wrap="square" rtlCol="0">
            <a:spAutoFit/>
          </a:bodyPr>
          <a:lstStyle/>
          <a:p>
            <a:r>
              <a:rPr lang="fr-FR" sz="1400" b="1">
                <a:solidFill>
                  <a:srgbClr val="A855F7"/>
                </a:solidFill>
                <a:latin typeface="Segoe UI Semibold" panose="020B0702040204020203" pitchFamily="34" charset="0"/>
              </a:rPr>
              <a:t>01. THE MOTOR</a:t>
            </a:r>
          </a:p>
          <a:p>
            <a:r>
              <a:rPr lang="fr-FR" sz="1100" b="1">
                <a:solidFill>
                  <a:srgbClr val="FFFFFF"/>
                </a:solidFill>
                <a:latin typeface="Segoe UI" panose="020B0502040204020203" pitchFamily="34" charset="0"/>
              </a:rPr>
              <a:t>Torque Only!</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Generates spinning force (torque). It is NOT designed to support bending forces or side weight! Never mount an arm directly to a bare motor shaft.</a:t>
            </a:r>
            <a:endParaRPr lang="fr-FR" sz="1000" b="1">
              <a:solidFill>
                <a:srgbClr val="94A3B8"/>
              </a:solidFill>
              <a:latin typeface="Segoe UI" panose="020B0502040204020203" pitchFamily="34" charset="0"/>
            </a:endParaRPr>
          </a:p>
        </p:txBody>
      </p:sp>
      <p:sp>
        <p:nvSpPr>
          <p:cNvPr id="11" name="Rectangle : coins arrondis 10">
            <a:extLst>
              <a:ext uri="{FF2B5EF4-FFF2-40B4-BE49-F238E27FC236}">
                <a16:creationId xmlns:a16="http://schemas.microsoft.com/office/drawing/2014/main" id="{E3F9A90B-8C06-6CCA-BC61-855724D803D0}"/>
              </a:ext>
            </a:extLst>
          </p:cNvPr>
          <p:cNvSpPr/>
          <p:nvPr/>
        </p:nvSpPr>
        <p:spPr>
          <a:xfrm>
            <a:off x="4381500" y="2032000"/>
            <a:ext cx="3429000" cy="2667000"/>
          </a:xfrm>
          <a:prstGeom prst="roundRect">
            <a:avLst/>
          </a:prstGeom>
          <a:solidFill>
            <a:srgbClr val="101622"/>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5DF949B4-F0EF-8F23-FF8B-6A29D3FF3BD2}"/>
              </a:ext>
            </a:extLst>
          </p:cNvPr>
          <p:cNvSpPr txBox="1"/>
          <p:nvPr/>
        </p:nvSpPr>
        <p:spPr>
          <a:xfrm>
            <a:off x="4584700" y="2209800"/>
            <a:ext cx="3022600" cy="1107996"/>
          </a:xfrm>
          <a:prstGeom prst="rect">
            <a:avLst/>
          </a:prstGeom>
          <a:noFill/>
        </p:spPr>
        <p:txBody>
          <a:bodyPr vert="horz" wrap="square" rtlCol="0">
            <a:spAutoFit/>
          </a:bodyPr>
          <a:lstStyle/>
          <a:p>
            <a:r>
              <a:rPr lang="fr-FR" sz="1400" b="1">
                <a:solidFill>
                  <a:srgbClr val="FBBF24"/>
                </a:solidFill>
                <a:latin typeface="Segoe UI Semibold" panose="020B0702040204020203" pitchFamily="34" charset="0"/>
              </a:rPr>
              <a:t>02. THE BEARINGS</a:t>
            </a:r>
          </a:p>
          <a:p>
            <a:r>
              <a:rPr lang="fr-FR" sz="1100" b="1">
                <a:solidFill>
                  <a:srgbClr val="FFFFFF"/>
                </a:solidFill>
                <a:latin typeface="Segoe UI" panose="020B0502040204020203" pitchFamily="34" charset="0"/>
              </a:rPr>
              <a:t>The Unsung Heroes</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Bearings absorb heavy radial bending loads so the motor shaft doesn't snap. They keep joints spinning smoothly under severe leverage.</a:t>
            </a:r>
            <a:endParaRPr lang="fr-FR" sz="1000" b="1">
              <a:solidFill>
                <a:srgbClr val="94A3B8"/>
              </a:solidFill>
              <a:latin typeface="Segoe UI" panose="020B0502040204020203" pitchFamily="34" charset="0"/>
            </a:endParaRPr>
          </a:p>
        </p:txBody>
      </p:sp>
      <p:sp>
        <p:nvSpPr>
          <p:cNvPr id="13" name="Rectangle : coins arrondis 12">
            <a:extLst>
              <a:ext uri="{FF2B5EF4-FFF2-40B4-BE49-F238E27FC236}">
                <a16:creationId xmlns:a16="http://schemas.microsoft.com/office/drawing/2014/main" id="{59AD927D-E3A3-1E21-34DA-E89BD2E76EC5}"/>
              </a:ext>
            </a:extLst>
          </p:cNvPr>
          <p:cNvSpPr/>
          <p:nvPr/>
        </p:nvSpPr>
        <p:spPr>
          <a:xfrm>
            <a:off x="8255000" y="2032000"/>
            <a:ext cx="3429000" cy="26670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E312D309-9661-D44C-11E1-2F56E428C655}"/>
              </a:ext>
            </a:extLst>
          </p:cNvPr>
          <p:cNvSpPr txBox="1"/>
          <p:nvPr/>
        </p:nvSpPr>
        <p:spPr>
          <a:xfrm>
            <a:off x="8458200" y="2209800"/>
            <a:ext cx="3022600" cy="1107996"/>
          </a:xfrm>
          <a:prstGeom prst="rect">
            <a:avLst/>
          </a:prstGeom>
          <a:noFill/>
        </p:spPr>
        <p:txBody>
          <a:bodyPr vert="horz" wrap="square" rtlCol="0">
            <a:spAutoFit/>
          </a:bodyPr>
          <a:lstStyle/>
          <a:p>
            <a:r>
              <a:rPr lang="fr-FR" sz="1400" b="1">
                <a:solidFill>
                  <a:srgbClr val="38BDF8"/>
                </a:solidFill>
                <a:latin typeface="Segoe UI Semibold" panose="020B0702040204020203" pitchFamily="34" charset="0"/>
              </a:rPr>
              <a:t>03. THE STRUCTURE</a:t>
            </a:r>
          </a:p>
          <a:p>
            <a:r>
              <a:rPr lang="fr-FR" sz="1100" b="1">
                <a:solidFill>
                  <a:srgbClr val="FFFFFF"/>
                </a:solidFill>
                <a:latin typeface="Segoe UI" panose="020B0502040204020203" pitchFamily="34" charset="0"/>
              </a:rPr>
              <a:t>The Rigid Bones</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Hollow metal tubes, brackets, and gussets. If your arm bends even 2 millimeters under load, your gripper misses its target.</a:t>
            </a:r>
            <a:endParaRPr lang="fr-FR" sz="1000" b="1">
              <a:solidFill>
                <a:srgbClr val="94A3B8"/>
              </a:solidFill>
              <a:latin typeface="Segoe UI" panose="020B0502040204020203" pitchFamily="34" charset="0"/>
            </a:endParaRPr>
          </a:p>
        </p:txBody>
      </p:sp>
      <p:sp>
        <p:nvSpPr>
          <p:cNvPr id="15" name="Rectangle : coins arrondis 14">
            <a:extLst>
              <a:ext uri="{FF2B5EF4-FFF2-40B4-BE49-F238E27FC236}">
                <a16:creationId xmlns:a16="http://schemas.microsoft.com/office/drawing/2014/main" id="{2C8551D4-917F-8F96-35F6-D12531EA40CD}"/>
              </a:ext>
            </a:extLst>
          </p:cNvPr>
          <p:cNvSpPr/>
          <p:nvPr/>
        </p:nvSpPr>
        <p:spPr>
          <a:xfrm>
            <a:off x="508000" y="4889500"/>
            <a:ext cx="11176000" cy="1460500"/>
          </a:xfrm>
          <a:prstGeom prst="roundRect">
            <a:avLst/>
          </a:prstGeom>
          <a:solidFill>
            <a:srgbClr val="161410"/>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EC514FBC-0F10-30CC-49ED-71702043A1DB}"/>
              </a:ext>
            </a:extLst>
          </p:cNvPr>
          <p:cNvSpPr txBox="1"/>
          <p:nvPr/>
        </p:nvSpPr>
        <p:spPr>
          <a:xfrm>
            <a:off x="711200" y="5041900"/>
            <a:ext cx="10769600" cy="600164"/>
          </a:xfrm>
          <a:prstGeom prst="rect">
            <a:avLst/>
          </a:prstGeom>
          <a:noFill/>
        </p:spPr>
        <p:txBody>
          <a:bodyPr vert="horz" wrap="square" rtlCol="0">
            <a:spAutoFit/>
          </a:bodyPr>
          <a:lstStyle/>
          <a:p>
            <a:r>
              <a:rPr lang="en-US" sz="1300" b="1">
                <a:solidFill>
                  <a:srgbClr val="34D399"/>
                </a:solidFill>
                <a:latin typeface="Segoe UI Semibold" panose="020B0702040204020203" pitchFamily="34" charset="0"/>
              </a:rPr>
              <a:t>💡 Human Body Analogy: Muscles vs Bones</a:t>
            </a:r>
          </a:p>
          <a:p>
            <a:r>
              <a:rPr lang="en-US" sz="1000">
                <a:solidFill>
                  <a:srgbClr val="E2E8F0"/>
                </a:solidFill>
                <a:latin typeface="Segoe UI" panose="020B0502040204020203" pitchFamily="34" charset="0"/>
              </a:rPr>
              <a:t>Think of lifting a heavy 10 kg grocery bag. Your bicep muscle (the motor) pulls the tendon, but your elbow joint cartilage and forearm bones (the bearings and structure) take the entire physical bending load! A motor without structural bearings is like a muscle with no bones to hold it.</a:t>
            </a:r>
            <a:endParaRPr lang="fr-FR"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6379697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0C7627-3080-F350-8110-2F1720054AE4}"/>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195B04BB-1585-9696-800A-E57EEA2C6073}"/>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96983224-9919-D8DA-0DEE-7FFFF0660E34}"/>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8AD40C95-DC95-21EC-889F-843E71439E84}"/>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PHYSICAL INTUITION  </a:t>
            </a:r>
          </a:p>
        </p:txBody>
      </p:sp>
      <p:sp>
        <p:nvSpPr>
          <p:cNvPr id="6" name="ZoneTexte 5">
            <a:extLst>
              <a:ext uri="{FF2B5EF4-FFF2-40B4-BE49-F238E27FC236}">
                <a16:creationId xmlns:a16="http://schemas.microsoft.com/office/drawing/2014/main" id="{DA215BBA-0F8B-8F09-3108-930AD778EBF0}"/>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WHY DO ROBOT ARMS BEND? (THE DIVING BOARD EFFECT)</a:t>
            </a:r>
            <a:endParaRPr lang="fr-FR" sz="2200" b="1">
              <a:solidFill>
                <a:srgbClr val="FFFFFF"/>
              </a:solidFill>
              <a:latin typeface="Segoe UI Semibold" panose="020B0702040204020203" pitchFamily="34" charset="0"/>
            </a:endParaRPr>
          </a:p>
        </p:txBody>
      </p:sp>
      <p:pic>
        <p:nvPicPr>
          <p:cNvPr id="8" name="Image 7">
            <a:extLst>
              <a:ext uri="{FF2B5EF4-FFF2-40B4-BE49-F238E27FC236}">
                <a16:creationId xmlns:a16="http://schemas.microsoft.com/office/drawing/2014/main" id="{12714BD1-A235-9AFF-5327-0B1B0D27F53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1143000"/>
            <a:ext cx="6096000" cy="3175000"/>
          </a:xfrm>
          <a:prstGeom prst="rect">
            <a:avLst/>
          </a:prstGeom>
          <a:ln w="15240">
            <a:solidFill>
              <a:srgbClr val="A855F7"/>
            </a:solidFill>
          </a:ln>
        </p:spPr>
      </p:pic>
      <p:sp>
        <p:nvSpPr>
          <p:cNvPr id="9" name="Rectangle : coins arrondis 8">
            <a:extLst>
              <a:ext uri="{FF2B5EF4-FFF2-40B4-BE49-F238E27FC236}">
                <a16:creationId xmlns:a16="http://schemas.microsoft.com/office/drawing/2014/main" id="{0384979A-00DD-6C21-6741-447E1BEBBFDB}"/>
              </a:ext>
            </a:extLst>
          </p:cNvPr>
          <p:cNvSpPr/>
          <p:nvPr/>
        </p:nvSpPr>
        <p:spPr>
          <a:xfrm>
            <a:off x="6858000" y="1143000"/>
            <a:ext cx="4826000" cy="1778000"/>
          </a:xfrm>
          <a:prstGeom prst="roundRect">
            <a:avLst/>
          </a:prstGeom>
          <a:solidFill>
            <a:srgbClr val="161020"/>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F1889406-F6C4-A50B-F567-65B60A4E1CF8}"/>
              </a:ext>
            </a:extLst>
          </p:cNvPr>
          <p:cNvSpPr txBox="1"/>
          <p:nvPr/>
        </p:nvSpPr>
        <p:spPr>
          <a:xfrm>
            <a:off x="7061200" y="1270000"/>
            <a:ext cx="4419600" cy="1169551"/>
          </a:xfrm>
          <a:prstGeom prst="rect">
            <a:avLst/>
          </a:prstGeom>
          <a:noFill/>
        </p:spPr>
        <p:txBody>
          <a:bodyPr vert="horz" wrap="square" rtlCol="0">
            <a:spAutoFit/>
          </a:bodyPr>
          <a:lstStyle/>
          <a:p>
            <a:r>
              <a:rPr lang="fr-FR" sz="2000" b="1">
                <a:solidFill>
                  <a:srgbClr val="A855F7"/>
                </a:solidFill>
                <a:latin typeface="Segoe UI Semibold" panose="020B0702040204020203" pitchFamily="34" charset="0"/>
              </a:rPr>
              <a:t>Deflection  ∝  (Force × Length³) / Stiffness</a:t>
            </a:r>
          </a:p>
          <a:p>
            <a:r>
              <a:rPr lang="en-US" sz="1000">
                <a:solidFill>
                  <a:srgbClr val="94A3B8"/>
                </a:solidFill>
                <a:latin typeface="Segoe UI" panose="020B0502040204020203" pitchFamily="34" charset="0"/>
              </a:rPr>
              <a:t>• Force = Weight of payload &amp; arm links</a:t>
            </a:r>
          </a:p>
          <a:p>
            <a:r>
              <a:rPr lang="en-US" sz="1000">
                <a:solidFill>
                  <a:srgbClr val="94A3B8"/>
                </a:solidFill>
                <a:latin typeface="Segoe UI" panose="020B0502040204020203" pitchFamily="34" charset="0"/>
              </a:rPr>
              <a:t>• Length = Arm reach (Notice Length is CUBED: L³!)</a:t>
            </a:r>
          </a:p>
          <a:p>
            <a:r>
              <a:rPr lang="en-US" sz="1000">
                <a:solidFill>
                  <a:srgbClr val="94A3B8"/>
                </a:solidFill>
                <a:latin typeface="Segoe UI" panose="020B0502040204020203" pitchFamily="34" charset="0"/>
              </a:rPr>
              <a:t>• Stiffness = Material rigidity &amp; tube cross-section shape</a:t>
            </a:r>
            <a:endParaRPr lang="fr-FR" sz="1000">
              <a:solidFill>
                <a:srgbClr val="94A3B8"/>
              </a:solidFill>
              <a:latin typeface="Segoe UI" panose="020B0502040204020203" pitchFamily="34" charset="0"/>
            </a:endParaRPr>
          </a:p>
        </p:txBody>
      </p:sp>
      <p:sp>
        <p:nvSpPr>
          <p:cNvPr id="11" name="Rectangle : coins arrondis 10">
            <a:extLst>
              <a:ext uri="{FF2B5EF4-FFF2-40B4-BE49-F238E27FC236}">
                <a16:creationId xmlns:a16="http://schemas.microsoft.com/office/drawing/2014/main" id="{A64CDC49-C6A2-80B4-2267-F8EA2723E116}"/>
              </a:ext>
            </a:extLst>
          </p:cNvPr>
          <p:cNvSpPr/>
          <p:nvPr/>
        </p:nvSpPr>
        <p:spPr>
          <a:xfrm>
            <a:off x="6858000" y="3111500"/>
            <a:ext cx="4826000" cy="1206500"/>
          </a:xfrm>
          <a:prstGeom prst="roundRect">
            <a:avLst/>
          </a:prstGeom>
          <a:solidFill>
            <a:srgbClr val="161410"/>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850A6D7A-A227-3B05-4BDB-B21CAB0B6142}"/>
              </a:ext>
            </a:extLst>
          </p:cNvPr>
          <p:cNvSpPr txBox="1"/>
          <p:nvPr/>
        </p:nvSpPr>
        <p:spPr>
          <a:xfrm>
            <a:off x="7061200" y="3263900"/>
            <a:ext cx="4419600" cy="754053"/>
          </a:xfrm>
          <a:prstGeom prst="rect">
            <a:avLst/>
          </a:prstGeom>
          <a:noFill/>
        </p:spPr>
        <p:txBody>
          <a:bodyPr vert="horz" wrap="square" rtlCol="0">
            <a:spAutoFit/>
          </a:bodyPr>
          <a:lstStyle/>
          <a:p>
            <a:r>
              <a:rPr lang="en-US" sz="1300" b="1">
                <a:solidFill>
                  <a:srgbClr val="FBBF24"/>
                </a:solidFill>
                <a:latin typeface="Segoe UI Semibold" panose="020B0702040204020203" pitchFamily="34" charset="0"/>
              </a:rPr>
              <a:t>💡 The Diving Board Analogy</a:t>
            </a:r>
          </a:p>
          <a:p>
            <a:r>
              <a:rPr lang="en-US" sz="1000">
                <a:solidFill>
                  <a:srgbClr val="E2E8F0"/>
                </a:solidFill>
                <a:latin typeface="Segoe UI" panose="020B0502040204020203" pitchFamily="34" charset="0"/>
              </a:rPr>
              <a:t>Stand at the edge of a swimming pool diving board. Near the wall, it feels solid. Walk out to the tip, and it bounces dramatically! Robot arms behave the exact same way.</a:t>
            </a:r>
            <a:endParaRPr lang="fr-FR" sz="1000">
              <a:solidFill>
                <a:srgbClr val="E2E8F0"/>
              </a:solidFill>
              <a:latin typeface="Segoe UI" panose="020B0502040204020203" pitchFamily="34" charset="0"/>
            </a:endParaRPr>
          </a:p>
        </p:txBody>
      </p:sp>
      <p:sp>
        <p:nvSpPr>
          <p:cNvPr id="13" name="Rectangle : coins arrondis 12">
            <a:extLst>
              <a:ext uri="{FF2B5EF4-FFF2-40B4-BE49-F238E27FC236}">
                <a16:creationId xmlns:a16="http://schemas.microsoft.com/office/drawing/2014/main" id="{0EAA51EB-1733-6AC6-5B02-B32FBAE056FE}"/>
              </a:ext>
            </a:extLst>
          </p:cNvPr>
          <p:cNvSpPr/>
          <p:nvPr/>
        </p:nvSpPr>
        <p:spPr>
          <a:xfrm>
            <a:off x="508000" y="4508500"/>
            <a:ext cx="11176000" cy="1841500"/>
          </a:xfrm>
          <a:prstGeom prst="roundRect">
            <a:avLst/>
          </a:prstGeom>
          <a:solidFill>
            <a:srgbClr val="1A1016"/>
          </a:solidFill>
          <a:ln w="12700">
            <a:solidFill>
              <a:srgbClr val="F43F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E5D4004F-B89F-30C6-7ADA-48F5C003F80E}"/>
              </a:ext>
            </a:extLst>
          </p:cNvPr>
          <p:cNvSpPr txBox="1"/>
          <p:nvPr/>
        </p:nvSpPr>
        <p:spPr>
          <a:xfrm>
            <a:off x="698500" y="4635500"/>
            <a:ext cx="10795000" cy="984885"/>
          </a:xfrm>
          <a:prstGeom prst="rect">
            <a:avLst/>
          </a:prstGeom>
          <a:noFill/>
        </p:spPr>
        <p:txBody>
          <a:bodyPr vert="horz" wrap="square" rtlCol="0">
            <a:spAutoFit/>
          </a:bodyPr>
          <a:lstStyle/>
          <a:p>
            <a:r>
              <a:rPr lang="en-US" sz="1400" b="1">
                <a:solidFill>
                  <a:srgbClr val="F43F5E"/>
                </a:solidFill>
                <a:latin typeface="Segoe UI Semibold" panose="020B0702040204020203" pitchFamily="34" charset="0"/>
              </a:rPr>
              <a:t>⚠️ THE L³ DANGER: DOUBLE THE LENGTH = 8× THE WOBBLE!</a:t>
            </a:r>
          </a:p>
          <a:p>
            <a:r>
              <a:rPr lang="en-US" sz="1100" b="1">
                <a:solidFill>
                  <a:srgbClr val="FFFFFF"/>
                </a:solidFill>
                <a:latin typeface="Segoe UI" panose="020B0502040204020203" pitchFamily="34" charset="0"/>
              </a:rPr>
              <a:t>If your 30 cm robot arm deflects 1 mm under load, making it 60 cm (2× longer) doesn't just double the bend to 2 mm...</a:t>
            </a:r>
          </a:p>
          <a:p>
            <a:r>
              <a:rPr lang="en-US" sz="1100" b="1">
                <a:solidFill>
                  <a:srgbClr val="FFFFFF"/>
                </a:solidFill>
                <a:latin typeface="Segoe UI" panose="020B0502040204020203" pitchFamily="34" charset="0"/>
              </a:rPr>
              <a:t>Because of (2)³ = 8, the tip will sag by EIGHT MILLIMETERS (8 mm)!</a:t>
            </a:r>
          </a:p>
          <a:p>
            <a:r>
              <a:rPr lang="en-US" sz="1100" b="1">
                <a:solidFill>
                  <a:srgbClr val="FFFFFF"/>
                </a:solidFill>
                <a:latin typeface="Segoe UI" panose="020B0502040204020203" pitchFamily="34" charset="0"/>
              </a:rPr>
              <a:t>
👉 Pro Solution: Use hollow square tubes or cylindrical extrusions. Placing material far from the center axis gives 10× more stiffness without adding weight!</a:t>
            </a:r>
            <a:endParaRPr lang="fr-FR" sz="1100" b="1">
              <a:solidFill>
                <a:srgbClr val="FFFFFF"/>
              </a:solidFill>
              <a:latin typeface="Segoe UI" panose="020B0502040204020203" pitchFamily="34" charset="0"/>
            </a:endParaRPr>
          </a:p>
        </p:txBody>
      </p:sp>
    </p:spTree>
    <p:extLst>
      <p:ext uri="{BB962C8B-B14F-4D97-AF65-F5344CB8AC3E}">
        <p14:creationId xmlns:p14="http://schemas.microsoft.com/office/powerpoint/2010/main" val="3649835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0345976-EC7C-45D9-DC76-FD010E762808}"/>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921786B3-F7D8-3CAD-E825-0CFFEEA3C22C}"/>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F739F5C2-A0D8-BDE9-5538-5C838D16842E}"/>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C792F964-3106-CDC7-A175-758C40F40EE5}"/>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MATERIAL GUIDE  </a:t>
            </a:r>
          </a:p>
        </p:txBody>
      </p:sp>
      <p:sp>
        <p:nvSpPr>
          <p:cNvPr id="6" name="ZoneTexte 5">
            <a:extLst>
              <a:ext uri="{FF2B5EF4-FFF2-40B4-BE49-F238E27FC236}">
                <a16:creationId xmlns:a16="http://schemas.microsoft.com/office/drawing/2014/main" id="{44AADC23-7C31-9881-6C67-88B72CEC993D}"/>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CHOOSING MATERIALS: WHAT SHOULD YOU BUILD WITH?</a:t>
            </a:r>
            <a:endParaRPr lang="fr-FR" sz="2200" b="1">
              <a:solidFill>
                <a:srgbClr val="FFFFFF"/>
              </a:solidFill>
              <a:latin typeface="Segoe UI Semibold" panose="020B0702040204020203" pitchFamily="34" charset="0"/>
            </a:endParaRPr>
          </a:p>
        </p:txBody>
      </p:sp>
      <p:sp>
        <p:nvSpPr>
          <p:cNvPr id="7" name="Rectangle : coins arrondis 6">
            <a:extLst>
              <a:ext uri="{FF2B5EF4-FFF2-40B4-BE49-F238E27FC236}">
                <a16:creationId xmlns:a16="http://schemas.microsoft.com/office/drawing/2014/main" id="{DFE5C8C0-B4AE-0919-E051-AC1A3AA239D0}"/>
              </a:ext>
            </a:extLst>
          </p:cNvPr>
          <p:cNvSpPr/>
          <p:nvPr/>
        </p:nvSpPr>
        <p:spPr>
          <a:xfrm>
            <a:off x="508000" y="1143000"/>
            <a:ext cx="2603500" cy="3492500"/>
          </a:xfrm>
          <a:prstGeom prst="roundRect">
            <a:avLst/>
          </a:prstGeom>
          <a:solidFill>
            <a:srgbClr val="101622"/>
          </a:solidFill>
          <a:ln w="12700">
            <a:solidFill>
              <a:srgbClr val="94A3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1C60C186-2B7D-DAEB-2C78-1C8A5B8C3ED1}"/>
              </a:ext>
            </a:extLst>
          </p:cNvPr>
          <p:cNvSpPr txBox="1"/>
          <p:nvPr/>
        </p:nvSpPr>
        <p:spPr>
          <a:xfrm>
            <a:off x="711200" y="1320800"/>
            <a:ext cx="2197100" cy="1569660"/>
          </a:xfrm>
          <a:prstGeom prst="rect">
            <a:avLst/>
          </a:prstGeom>
          <a:noFill/>
        </p:spPr>
        <p:txBody>
          <a:bodyPr vert="horz" wrap="square" rtlCol="0">
            <a:spAutoFit/>
          </a:bodyPr>
          <a:lstStyle/>
          <a:p>
            <a:r>
              <a:rPr lang="fr-FR" sz="1400" b="1">
                <a:solidFill>
                  <a:srgbClr val="94A3B8"/>
                </a:solidFill>
                <a:latin typeface="Segoe UI Semibold" panose="020B0702040204020203" pitchFamily="34" charset="0"/>
              </a:rPr>
              <a:t>PLA (3D PRINT)</a:t>
            </a:r>
          </a:p>
          <a:p>
            <a:r>
              <a:rPr lang="fr-FR" sz="1100" b="1">
                <a:solidFill>
                  <a:srgbClr val="FFFFFF"/>
                </a:solidFill>
                <a:latin typeface="Segoe UI" panose="020B0502040204020203" pitchFamily="34" charset="0"/>
              </a:rPr>
              <a:t>Rapid Prototyping</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Super cheap, prints in hours
• Perfect for checking fit &amp; shapes
• ⚠️ Softens at 55°C (car in sun!)
• Creeps &amp; sags under constant load</a:t>
            </a:r>
            <a:endParaRPr lang="fr-FR" sz="1000" b="1">
              <a:solidFill>
                <a:srgbClr val="94A3B8"/>
              </a:solidFill>
              <a:latin typeface="Segoe UI" panose="020B0502040204020203" pitchFamily="34" charset="0"/>
            </a:endParaRPr>
          </a:p>
        </p:txBody>
      </p:sp>
      <p:sp>
        <p:nvSpPr>
          <p:cNvPr id="9" name="Rectangle : coins arrondis 8">
            <a:extLst>
              <a:ext uri="{FF2B5EF4-FFF2-40B4-BE49-F238E27FC236}">
                <a16:creationId xmlns:a16="http://schemas.microsoft.com/office/drawing/2014/main" id="{AA3A0AD7-51C2-CDA7-0F88-5C1D4A65EC18}"/>
              </a:ext>
            </a:extLst>
          </p:cNvPr>
          <p:cNvSpPr/>
          <p:nvPr/>
        </p:nvSpPr>
        <p:spPr>
          <a:xfrm>
            <a:off x="3302000" y="1143000"/>
            <a:ext cx="2603500" cy="3492500"/>
          </a:xfrm>
          <a:prstGeom prst="roundRect">
            <a:avLst/>
          </a:prstGeom>
          <a:solidFill>
            <a:srgbClr val="101622"/>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901CC98F-9D3D-E2EB-4269-86C0B8FE809D}"/>
              </a:ext>
            </a:extLst>
          </p:cNvPr>
          <p:cNvSpPr txBox="1"/>
          <p:nvPr/>
        </p:nvSpPr>
        <p:spPr>
          <a:xfrm>
            <a:off x="3505200" y="1320800"/>
            <a:ext cx="2197100" cy="1723549"/>
          </a:xfrm>
          <a:prstGeom prst="rect">
            <a:avLst/>
          </a:prstGeom>
          <a:noFill/>
        </p:spPr>
        <p:txBody>
          <a:bodyPr vert="horz" wrap="square" rtlCol="0">
            <a:spAutoFit/>
          </a:bodyPr>
          <a:lstStyle/>
          <a:p>
            <a:r>
              <a:rPr lang="fr-FR" sz="1400" b="1">
                <a:solidFill>
                  <a:srgbClr val="FBBF24"/>
                </a:solidFill>
                <a:latin typeface="Segoe UI Semibold" panose="020B0702040204020203" pitchFamily="34" charset="0"/>
              </a:rPr>
              <a:t>PETG / ABS</a:t>
            </a:r>
          </a:p>
          <a:p>
            <a:r>
              <a:rPr lang="fr-FR" sz="1100" b="1">
                <a:solidFill>
                  <a:srgbClr val="FFFFFF"/>
                </a:solidFill>
                <a:latin typeface="Segoe UI" panose="020B0502040204020203" pitchFamily="34" charset="0"/>
              </a:rPr>
              <a:t>Functional Prints</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Higher temperature resistance (80°C)
• Tougher impact strength
• Great for sensor brackets &amp; gears
• ⚠️ Still too flexible for long arms</a:t>
            </a:r>
            <a:endParaRPr lang="fr-FR" sz="1000" b="1">
              <a:solidFill>
                <a:srgbClr val="94A3B8"/>
              </a:solidFill>
              <a:latin typeface="Segoe UI" panose="020B0502040204020203" pitchFamily="34" charset="0"/>
            </a:endParaRPr>
          </a:p>
        </p:txBody>
      </p:sp>
      <p:sp>
        <p:nvSpPr>
          <p:cNvPr id="11" name="Rectangle : coins arrondis 10">
            <a:extLst>
              <a:ext uri="{FF2B5EF4-FFF2-40B4-BE49-F238E27FC236}">
                <a16:creationId xmlns:a16="http://schemas.microsoft.com/office/drawing/2014/main" id="{07C3BBE8-F493-0176-5A46-F49F567E13B4}"/>
              </a:ext>
            </a:extLst>
          </p:cNvPr>
          <p:cNvSpPr/>
          <p:nvPr/>
        </p:nvSpPr>
        <p:spPr>
          <a:xfrm>
            <a:off x="6096000" y="1143000"/>
            <a:ext cx="2603500" cy="34925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2E0358FA-AAAD-54EF-D2C6-649AA77519AC}"/>
              </a:ext>
            </a:extLst>
          </p:cNvPr>
          <p:cNvSpPr txBox="1"/>
          <p:nvPr/>
        </p:nvSpPr>
        <p:spPr>
          <a:xfrm>
            <a:off x="6299200" y="1320800"/>
            <a:ext cx="2197100" cy="1261884"/>
          </a:xfrm>
          <a:prstGeom prst="rect">
            <a:avLst/>
          </a:prstGeom>
          <a:noFill/>
        </p:spPr>
        <p:txBody>
          <a:bodyPr vert="horz" wrap="square" rtlCol="0">
            <a:spAutoFit/>
          </a:bodyPr>
          <a:lstStyle/>
          <a:p>
            <a:r>
              <a:rPr lang="fr-FR" sz="1400" b="1">
                <a:solidFill>
                  <a:srgbClr val="38BDF8"/>
                </a:solidFill>
                <a:latin typeface="Segoe UI Semibold" panose="020B0702040204020203" pitchFamily="34" charset="0"/>
              </a:rPr>
              <a:t>ALUMINUM 6061</a:t>
            </a:r>
          </a:p>
          <a:p>
            <a:r>
              <a:rPr lang="fr-FR" sz="1100" b="1">
                <a:solidFill>
                  <a:srgbClr val="FFFFFF"/>
                </a:solidFill>
                <a:latin typeface="Segoe UI" panose="020B0502040204020203" pitchFamily="34" charset="0"/>
              </a:rPr>
              <a:t>The Industry Standard!</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20× STIFFER than plastic!
• Lightweight, strong, affordable
• Dissipates motor heat easily
• Clean tapped threads hold bolts</a:t>
            </a:r>
            <a:endParaRPr lang="fr-FR" sz="1000" b="1">
              <a:solidFill>
                <a:srgbClr val="94A3B8"/>
              </a:solidFill>
              <a:latin typeface="Segoe UI" panose="020B0502040204020203" pitchFamily="34" charset="0"/>
            </a:endParaRPr>
          </a:p>
        </p:txBody>
      </p:sp>
      <p:sp>
        <p:nvSpPr>
          <p:cNvPr id="13" name="Rectangle : coins arrondis 12">
            <a:extLst>
              <a:ext uri="{FF2B5EF4-FFF2-40B4-BE49-F238E27FC236}">
                <a16:creationId xmlns:a16="http://schemas.microsoft.com/office/drawing/2014/main" id="{8D297F71-50FB-FE9D-9E3C-CFD5520A8A42}"/>
              </a:ext>
            </a:extLst>
          </p:cNvPr>
          <p:cNvSpPr/>
          <p:nvPr/>
        </p:nvSpPr>
        <p:spPr>
          <a:xfrm>
            <a:off x="8890000" y="1143000"/>
            <a:ext cx="2603500" cy="3492500"/>
          </a:xfrm>
          <a:prstGeom prst="roundRect">
            <a:avLst/>
          </a:prstGeom>
          <a:solidFill>
            <a:srgbClr val="101622"/>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656A74DF-11FB-C5E3-2D57-B34EEFFB5A13}"/>
              </a:ext>
            </a:extLst>
          </p:cNvPr>
          <p:cNvSpPr txBox="1"/>
          <p:nvPr/>
        </p:nvSpPr>
        <p:spPr>
          <a:xfrm>
            <a:off x="9093200" y="1320800"/>
            <a:ext cx="2197100" cy="1569660"/>
          </a:xfrm>
          <a:prstGeom prst="rect">
            <a:avLst/>
          </a:prstGeom>
          <a:noFill/>
        </p:spPr>
        <p:txBody>
          <a:bodyPr vert="horz" wrap="square" rtlCol="0">
            <a:spAutoFit/>
          </a:bodyPr>
          <a:lstStyle/>
          <a:p>
            <a:r>
              <a:rPr lang="fr-FR" sz="1400" b="1">
                <a:solidFill>
                  <a:srgbClr val="A855F7"/>
                </a:solidFill>
                <a:latin typeface="Segoe UI Semibold" panose="020B0702040204020203" pitchFamily="34" charset="0"/>
              </a:rPr>
              <a:t>CARBON FIBER</a:t>
            </a:r>
          </a:p>
          <a:p>
            <a:r>
              <a:rPr lang="fr-FR" sz="1100" b="1">
                <a:solidFill>
                  <a:srgbClr val="FFFFFF"/>
                </a:solidFill>
                <a:latin typeface="Segoe UI" panose="020B0502040204020203" pitchFamily="34" charset="0"/>
              </a:rPr>
              <a:t>Ultra-Light &amp; Rigid</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Supreme stiffness-to-weight ratio
• Zero bending under fast moves
• ⚠️ Expensive &amp; brittle on crash
• Dust is conductive and hazardous</a:t>
            </a:r>
            <a:endParaRPr lang="fr-FR" sz="1000" b="1">
              <a:solidFill>
                <a:srgbClr val="94A3B8"/>
              </a:solidFill>
              <a:latin typeface="Segoe UI" panose="020B0502040204020203" pitchFamily="34" charset="0"/>
            </a:endParaRPr>
          </a:p>
        </p:txBody>
      </p:sp>
      <p:sp>
        <p:nvSpPr>
          <p:cNvPr id="15" name="Rectangle : coins arrondis 14">
            <a:extLst>
              <a:ext uri="{FF2B5EF4-FFF2-40B4-BE49-F238E27FC236}">
                <a16:creationId xmlns:a16="http://schemas.microsoft.com/office/drawing/2014/main" id="{AB122DD2-4B4B-2792-6D36-B2D908206772}"/>
              </a:ext>
            </a:extLst>
          </p:cNvPr>
          <p:cNvSpPr/>
          <p:nvPr/>
        </p:nvSpPr>
        <p:spPr>
          <a:xfrm>
            <a:off x="508000" y="4826000"/>
            <a:ext cx="11176000" cy="1524000"/>
          </a:xfrm>
          <a:prstGeom prst="roundRect">
            <a:avLst/>
          </a:prstGeom>
          <a:solidFill>
            <a:srgbClr val="161410"/>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4AFBFE89-D87E-1AB7-DF0A-7B77CC5FB769}"/>
              </a:ext>
            </a:extLst>
          </p:cNvPr>
          <p:cNvSpPr txBox="1"/>
          <p:nvPr/>
        </p:nvSpPr>
        <p:spPr>
          <a:xfrm>
            <a:off x="711200" y="4978400"/>
            <a:ext cx="10769600" cy="600164"/>
          </a:xfrm>
          <a:prstGeom prst="rect">
            <a:avLst/>
          </a:prstGeom>
          <a:noFill/>
        </p:spPr>
        <p:txBody>
          <a:bodyPr vert="horz" wrap="square" rtlCol="0">
            <a:spAutoFit/>
          </a:bodyPr>
          <a:lstStyle/>
          <a:p>
            <a:r>
              <a:rPr lang="en-US" sz="1300" b="1">
                <a:solidFill>
                  <a:srgbClr val="34D399"/>
                </a:solidFill>
                <a:latin typeface="Segoe UI Semibold" panose="020B0702040204020203" pitchFamily="34" charset="0"/>
              </a:rPr>
              <a:t>💡 The Beginner's Winning Hybrid Strategy</a:t>
            </a:r>
          </a:p>
          <a:p>
            <a:r>
              <a:rPr lang="en-US" sz="1000">
                <a:solidFill>
                  <a:srgbClr val="E2E8F0"/>
                </a:solidFill>
                <a:latin typeface="Segoe UI" panose="020B0502040204020203" pitchFamily="34" charset="0"/>
              </a:rPr>
              <a:t>Don't build 100% out of 3D printing, and don't spend €1,000 machining solid metal! The winning recipe for student robotics: 3D print your motor brackets, sensor mounts, and custom clips on your home printer, but bolt them onto off-the-shelf hollow aluminum tubes for your structural arms. Maximum stiffness, minimum cost!</a:t>
            </a:r>
            <a:endParaRPr lang="fr-FR"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17228744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011699-2FDA-DF75-5DB0-E49B90954F22}"/>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9AFC2421-4655-FC0C-28EB-7246C1A57A92}"/>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679199E7-57B8-BA10-D55A-7A4803045F00}"/>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E6277E7D-6A18-0654-FC68-CF034BC88FE8}"/>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ENGINEERING REALITY  </a:t>
            </a:r>
          </a:p>
        </p:txBody>
      </p:sp>
      <p:sp>
        <p:nvSpPr>
          <p:cNvPr id="6" name="ZoneTexte 5">
            <a:extLst>
              <a:ext uri="{FF2B5EF4-FFF2-40B4-BE49-F238E27FC236}">
                <a16:creationId xmlns:a16="http://schemas.microsoft.com/office/drawing/2014/main" id="{ADD56C4C-5714-9815-E589-D08ED383AC05}"/>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THE ENGINEERING TRIANGLE: PICK ANY TWO!</a:t>
            </a:r>
            <a:endParaRPr lang="fr-FR" sz="2200" b="1">
              <a:solidFill>
                <a:srgbClr val="FFFFFF"/>
              </a:solidFill>
              <a:latin typeface="Segoe UI Semibold" panose="020B0702040204020203" pitchFamily="34" charset="0"/>
            </a:endParaRPr>
          </a:p>
        </p:txBody>
      </p:sp>
      <p:sp>
        <p:nvSpPr>
          <p:cNvPr id="7" name="Rectangle : coins arrondis 6">
            <a:extLst>
              <a:ext uri="{FF2B5EF4-FFF2-40B4-BE49-F238E27FC236}">
                <a16:creationId xmlns:a16="http://schemas.microsoft.com/office/drawing/2014/main" id="{E545FAC6-AEC8-2311-0C58-DB0D78626521}"/>
              </a:ext>
            </a:extLst>
          </p:cNvPr>
          <p:cNvSpPr/>
          <p:nvPr/>
        </p:nvSpPr>
        <p:spPr>
          <a:xfrm>
            <a:off x="508000" y="1143000"/>
            <a:ext cx="5334000" cy="19050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4C8F03EC-3264-7C02-E9D3-7ADD8EF2748C}"/>
              </a:ext>
            </a:extLst>
          </p:cNvPr>
          <p:cNvSpPr txBox="1"/>
          <p:nvPr/>
        </p:nvSpPr>
        <p:spPr>
          <a:xfrm>
            <a:off x="711200" y="1320800"/>
            <a:ext cx="4927600" cy="984885"/>
          </a:xfrm>
          <a:prstGeom prst="rect">
            <a:avLst/>
          </a:prstGeom>
          <a:noFill/>
        </p:spPr>
        <p:txBody>
          <a:bodyPr vert="horz" wrap="square" rtlCol="0">
            <a:spAutoFit/>
          </a:bodyPr>
          <a:lstStyle/>
          <a:p>
            <a:r>
              <a:rPr lang="fr-FR" sz="1400" b="1">
                <a:solidFill>
                  <a:srgbClr val="38BDF8"/>
                </a:solidFill>
                <a:latin typeface="Segoe UI Semibold" panose="020B0702040204020203" pitchFamily="34" charset="0"/>
              </a:rPr>
              <a:t>▲  HIGH PRECISION</a:t>
            </a:r>
          </a:p>
          <a:p>
            <a:r>
              <a:rPr lang="fr-FR" sz="1100" b="1">
                <a:solidFill>
                  <a:srgbClr val="FFFFFF"/>
                </a:solidFill>
                <a:latin typeface="Segoe UI" panose="020B0502040204020203" pitchFamily="34" charset="0"/>
              </a:rPr>
              <a:t>Sub-Millimeter Repeatability</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Rigid machined aluminum or steel, zero-backlash harmonic gearboxes, preloaded bearings, absolute encoders.</a:t>
            </a:r>
            <a:endParaRPr lang="fr-FR" sz="1000" b="1">
              <a:solidFill>
                <a:srgbClr val="94A3B8"/>
              </a:solidFill>
              <a:latin typeface="Segoe UI" panose="020B0502040204020203" pitchFamily="34" charset="0"/>
            </a:endParaRPr>
          </a:p>
        </p:txBody>
      </p:sp>
      <p:sp>
        <p:nvSpPr>
          <p:cNvPr id="9" name="Rectangle : coins arrondis 8">
            <a:extLst>
              <a:ext uri="{FF2B5EF4-FFF2-40B4-BE49-F238E27FC236}">
                <a16:creationId xmlns:a16="http://schemas.microsoft.com/office/drawing/2014/main" id="{F9FFBCA1-DC14-24AA-4E4E-7C578EBEC1EA}"/>
              </a:ext>
            </a:extLst>
          </p:cNvPr>
          <p:cNvSpPr/>
          <p:nvPr/>
        </p:nvSpPr>
        <p:spPr>
          <a:xfrm>
            <a:off x="6350000" y="1143000"/>
            <a:ext cx="5334000" cy="1905000"/>
          </a:xfrm>
          <a:prstGeom prst="roundRect">
            <a:avLst/>
          </a:prstGeom>
          <a:solidFill>
            <a:srgbClr val="101622"/>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26E251BD-DA8D-196E-574B-B9D9968ABC3B}"/>
              </a:ext>
            </a:extLst>
          </p:cNvPr>
          <p:cNvSpPr txBox="1"/>
          <p:nvPr/>
        </p:nvSpPr>
        <p:spPr>
          <a:xfrm>
            <a:off x="6553200" y="1320800"/>
            <a:ext cx="4927600" cy="984885"/>
          </a:xfrm>
          <a:prstGeom prst="rect">
            <a:avLst/>
          </a:prstGeom>
          <a:noFill/>
        </p:spPr>
        <p:txBody>
          <a:bodyPr vert="horz" wrap="square" rtlCol="0">
            <a:spAutoFit/>
          </a:bodyPr>
          <a:lstStyle/>
          <a:p>
            <a:r>
              <a:rPr lang="fr-FR" sz="1400" b="1">
                <a:solidFill>
                  <a:srgbClr val="34D399"/>
                </a:solidFill>
                <a:latin typeface="Segoe UI Semibold" panose="020B0702040204020203" pitchFamily="34" charset="0"/>
              </a:rPr>
              <a:t>▲  LIGHT WEIGHT</a:t>
            </a:r>
          </a:p>
          <a:p>
            <a:r>
              <a:rPr lang="fr-FR" sz="1100" b="1">
                <a:solidFill>
                  <a:srgbClr val="FFFFFF"/>
                </a:solidFill>
                <a:latin typeface="Segoe UI" panose="020B0502040204020203" pitchFamily="34" charset="0"/>
              </a:rPr>
              <a:t>Fast &amp; Agile Dynamics</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Carbon fiber composites, hollow aerospace links, high-power-density motors, ultra-compact batteries.</a:t>
            </a:r>
            <a:endParaRPr lang="fr-FR" sz="1000" b="1">
              <a:solidFill>
                <a:srgbClr val="94A3B8"/>
              </a:solidFill>
              <a:latin typeface="Segoe UI" panose="020B0502040204020203" pitchFamily="34" charset="0"/>
            </a:endParaRPr>
          </a:p>
        </p:txBody>
      </p:sp>
      <p:sp>
        <p:nvSpPr>
          <p:cNvPr id="11" name="Rectangle : coins arrondis 10">
            <a:extLst>
              <a:ext uri="{FF2B5EF4-FFF2-40B4-BE49-F238E27FC236}">
                <a16:creationId xmlns:a16="http://schemas.microsoft.com/office/drawing/2014/main" id="{A2854E2D-DA4C-7015-1C78-E6E633E2E3C5}"/>
              </a:ext>
            </a:extLst>
          </p:cNvPr>
          <p:cNvSpPr/>
          <p:nvPr/>
        </p:nvSpPr>
        <p:spPr>
          <a:xfrm>
            <a:off x="3429000" y="3238500"/>
            <a:ext cx="5334000" cy="1905000"/>
          </a:xfrm>
          <a:prstGeom prst="roundRect">
            <a:avLst/>
          </a:prstGeom>
          <a:solidFill>
            <a:srgbClr val="101622"/>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BDEEA8B4-D1A9-F52C-185C-6A13334088BD}"/>
              </a:ext>
            </a:extLst>
          </p:cNvPr>
          <p:cNvSpPr txBox="1"/>
          <p:nvPr/>
        </p:nvSpPr>
        <p:spPr>
          <a:xfrm>
            <a:off x="3632200" y="3416300"/>
            <a:ext cx="4927600" cy="984885"/>
          </a:xfrm>
          <a:prstGeom prst="rect">
            <a:avLst/>
          </a:prstGeom>
          <a:noFill/>
        </p:spPr>
        <p:txBody>
          <a:bodyPr vert="horz" wrap="square" rtlCol="0">
            <a:spAutoFit/>
          </a:bodyPr>
          <a:lstStyle/>
          <a:p>
            <a:r>
              <a:rPr lang="fr-FR" sz="1400" b="1">
                <a:solidFill>
                  <a:srgbClr val="FBBF24"/>
                </a:solidFill>
                <a:latin typeface="Segoe UI Semibold" panose="020B0702040204020203" pitchFamily="34" charset="0"/>
              </a:rPr>
              <a:t>▲  LOW COST</a:t>
            </a:r>
          </a:p>
          <a:p>
            <a:r>
              <a:rPr lang="fr-FR" sz="1100" b="1">
                <a:solidFill>
                  <a:srgbClr val="FFFFFF"/>
                </a:solidFill>
                <a:latin typeface="Segoe UI" panose="020B0502040204020203" pitchFamily="34" charset="0"/>
              </a:rPr>
              <a:t>Budget Friendly (&lt; €300)</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Off-the-shelf stepper motors, 3D printed brackets, hobby timing belts, standard hardware store fasteners.</a:t>
            </a:r>
            <a:endParaRPr lang="fr-FR" sz="1000" b="1">
              <a:solidFill>
                <a:srgbClr val="94A3B8"/>
              </a:solidFill>
              <a:latin typeface="Segoe UI" panose="020B0502040204020203" pitchFamily="34" charset="0"/>
            </a:endParaRPr>
          </a:p>
        </p:txBody>
      </p:sp>
      <p:sp>
        <p:nvSpPr>
          <p:cNvPr id="13" name="Rectangle : coins arrondis 12">
            <a:extLst>
              <a:ext uri="{FF2B5EF4-FFF2-40B4-BE49-F238E27FC236}">
                <a16:creationId xmlns:a16="http://schemas.microsoft.com/office/drawing/2014/main" id="{0B612671-55F1-A4CA-3344-C71C759FDB4D}"/>
              </a:ext>
            </a:extLst>
          </p:cNvPr>
          <p:cNvSpPr/>
          <p:nvPr/>
        </p:nvSpPr>
        <p:spPr>
          <a:xfrm>
            <a:off x="508000" y="5334000"/>
            <a:ext cx="11176000" cy="1079500"/>
          </a:xfrm>
          <a:prstGeom prst="roundRect">
            <a:avLst/>
          </a:prstGeom>
          <a:solidFill>
            <a:srgbClr val="1A1016"/>
          </a:solidFill>
          <a:ln w="12700">
            <a:solidFill>
              <a:srgbClr val="F43F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5A43D4D8-0480-032E-7638-4033778554BD}"/>
              </a:ext>
            </a:extLst>
          </p:cNvPr>
          <p:cNvSpPr txBox="1"/>
          <p:nvPr/>
        </p:nvSpPr>
        <p:spPr>
          <a:xfrm>
            <a:off x="698500" y="5461000"/>
            <a:ext cx="10795000" cy="630942"/>
          </a:xfrm>
          <a:prstGeom prst="rect">
            <a:avLst/>
          </a:prstGeom>
          <a:noFill/>
        </p:spPr>
        <p:txBody>
          <a:bodyPr vert="horz" wrap="square" rtlCol="0">
            <a:spAutoFit/>
          </a:bodyPr>
          <a:lstStyle/>
          <a:p>
            <a:r>
              <a:rPr lang="en-US" sz="1300" b="1">
                <a:solidFill>
                  <a:srgbClr val="F43F5E"/>
                </a:solidFill>
                <a:latin typeface="Segoe UI Semibold" panose="020B0702040204020203" pitchFamily="34" charset="0"/>
              </a:rPr>
              <a:t>💡 THE GOLDEN RULE OF ENGINEERING COMPROMISE:</a:t>
            </a:r>
          </a:p>
          <a:p>
            <a:r>
              <a:rPr lang="en-US" sz="1100" b="1">
                <a:solidFill>
                  <a:srgbClr val="FFFFFF"/>
                </a:solidFill>
                <a:latin typeface="Segoe UI" panose="020B0502040204020203" pitchFamily="34" charset="0"/>
              </a:rPr>
              <a:t>You CANNOT have NASA precision, featherweight agility, and a €100 price tag simultaneously! Great engineering isn't spending infinite money—it's picking the two that truly matter for your mission.</a:t>
            </a:r>
            <a:endParaRPr lang="fr-FR" sz="1100" b="1">
              <a:solidFill>
                <a:srgbClr val="FFFFFF"/>
              </a:solidFill>
              <a:latin typeface="Segoe UI" panose="020B0502040204020203" pitchFamily="34" charset="0"/>
            </a:endParaRPr>
          </a:p>
        </p:txBody>
      </p:sp>
    </p:spTree>
    <p:extLst>
      <p:ext uri="{BB962C8B-B14F-4D97-AF65-F5344CB8AC3E}">
        <p14:creationId xmlns:p14="http://schemas.microsoft.com/office/powerpoint/2010/main" val="31194165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D0A1B9-E94D-88F6-BECB-9811D3DF523C}"/>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E8B3417F-4D14-BFE5-1986-5FEEACBB64CC}"/>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A05EEEDE-297D-BC65-E9ED-E2C61123B40F}"/>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48C48BA7-94AF-7908-5916-6B457CB1BA37}"/>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SIDE-BY-SIDE  </a:t>
            </a:r>
          </a:p>
        </p:txBody>
      </p:sp>
      <p:sp>
        <p:nvSpPr>
          <p:cNvPr id="6" name="ZoneTexte 5">
            <a:extLst>
              <a:ext uri="{FF2B5EF4-FFF2-40B4-BE49-F238E27FC236}">
                <a16:creationId xmlns:a16="http://schemas.microsoft.com/office/drawing/2014/main" id="{6E85A5C9-3B4A-DFE5-8408-B4EAA7CDA834}"/>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WHAT HAPPENS WHEN YOU DOUBLE THE ARM LENGTH?</a:t>
            </a:r>
            <a:endParaRPr lang="fr-FR" sz="2200" b="1">
              <a:solidFill>
                <a:srgbClr val="FFFFFF"/>
              </a:solidFill>
              <a:latin typeface="Segoe UI Semibold" panose="020B0702040204020203" pitchFamily="34" charset="0"/>
            </a:endParaRPr>
          </a:p>
        </p:txBody>
      </p:sp>
      <p:sp>
        <p:nvSpPr>
          <p:cNvPr id="7" name="Rectangle : coins arrondis 6">
            <a:extLst>
              <a:ext uri="{FF2B5EF4-FFF2-40B4-BE49-F238E27FC236}">
                <a16:creationId xmlns:a16="http://schemas.microsoft.com/office/drawing/2014/main" id="{BBE3E4D0-B883-6567-277E-A462443BB5A6}"/>
              </a:ext>
            </a:extLst>
          </p:cNvPr>
          <p:cNvSpPr/>
          <p:nvPr/>
        </p:nvSpPr>
        <p:spPr>
          <a:xfrm>
            <a:off x="508000" y="1143000"/>
            <a:ext cx="5334000" cy="39370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C1CB3ABD-D3CD-5E55-F6B0-4A8974D4547D}"/>
              </a:ext>
            </a:extLst>
          </p:cNvPr>
          <p:cNvSpPr txBox="1"/>
          <p:nvPr/>
        </p:nvSpPr>
        <p:spPr>
          <a:xfrm>
            <a:off x="698500" y="1333500"/>
            <a:ext cx="4953000" cy="1354217"/>
          </a:xfrm>
          <a:prstGeom prst="rect">
            <a:avLst/>
          </a:prstGeom>
          <a:noFill/>
        </p:spPr>
        <p:txBody>
          <a:bodyPr vert="horz" wrap="square" rtlCol="0">
            <a:spAutoFit/>
          </a:bodyPr>
          <a:lstStyle/>
          <a:p>
            <a:r>
              <a:rPr lang="en-US" sz="1600" b="1">
                <a:solidFill>
                  <a:srgbClr val="38BDF8"/>
                </a:solidFill>
                <a:latin typeface="Segoe UI Semibold" panose="020B0702040204020203" pitchFamily="34" charset="0"/>
              </a:rPr>
              <a:t>ARM A: 25 cm Reach (Compact)</a:t>
            </a:r>
          </a:p>
          <a:p>
            <a:r>
              <a:rPr lang="fr-FR" sz="1100" b="1">
                <a:solidFill>
                  <a:srgbClr val="FFFFFF"/>
                </a:solidFill>
                <a:latin typeface="Segoe UI" panose="020B0502040204020203" pitchFamily="34" charset="0"/>
              </a:rPr>
              <a:t>• Target Payload: 1.0 kg</a:t>
            </a:r>
          </a:p>
          <a:p>
            <a:r>
              <a:rPr lang="fr-FR" sz="1100" b="1">
                <a:solidFill>
                  <a:srgbClr val="FFFFFF"/>
                </a:solidFill>
                <a:latin typeface="Segoe UI" panose="020B0502040204020203" pitchFamily="34" charset="0"/>
              </a:rPr>
              <a:t>• Motor Torque Needed: 2.5 N·m (Small, cheap motor!)</a:t>
            </a:r>
          </a:p>
          <a:p>
            <a:r>
              <a:rPr lang="fr-FR" sz="1100" b="1">
                <a:solidFill>
                  <a:srgbClr val="FFFFFF"/>
                </a:solidFill>
                <a:latin typeface="Segoe UI" panose="020B0502040204020203" pitchFamily="34" charset="0"/>
              </a:rPr>
              <a:t>• Tip Deflection: 1.0 mm (Barely noticeable sag)</a:t>
            </a:r>
          </a:p>
          <a:p>
            <a:r>
              <a:rPr lang="fr-FR" sz="1100" b="1">
                <a:solidFill>
                  <a:srgbClr val="FFFFFF"/>
                </a:solidFill>
                <a:latin typeface="Segoe UI" panose="020B0502040204020203" pitchFamily="34" charset="0"/>
              </a:rPr>
              <a:t>• Rotational Inertia: Low (Easy to accelerate &amp; stop)</a:t>
            </a:r>
          </a:p>
          <a:p>
            <a:r>
              <a:rPr lang="fr-FR" sz="1100" b="1">
                <a:solidFill>
                  <a:srgbClr val="FFFFFF"/>
                </a:solidFill>
                <a:latin typeface="Segoe UI" panose="020B0502040204020203" pitchFamily="34" charset="0"/>
              </a:rPr>
              <a:t>• Settling Time: 0.15s (Rock steady position!)</a:t>
            </a:r>
          </a:p>
          <a:p>
            <a:r>
              <a:rPr lang="fr-FR" sz="1100" b="1">
                <a:solidFill>
                  <a:srgbClr val="FFFFFF"/>
                </a:solidFill>
                <a:latin typeface="Segoe UI" panose="020B0502040204020203" pitchFamily="34" charset="0"/>
              </a:rPr>
              <a:t>• Total Joint Cost: ~€45</a:t>
            </a:r>
          </a:p>
        </p:txBody>
      </p:sp>
      <p:sp>
        <p:nvSpPr>
          <p:cNvPr id="9" name="Rectangle : coins arrondis 8">
            <a:extLst>
              <a:ext uri="{FF2B5EF4-FFF2-40B4-BE49-F238E27FC236}">
                <a16:creationId xmlns:a16="http://schemas.microsoft.com/office/drawing/2014/main" id="{45331E41-DEBC-5C71-6472-D594659F5C90}"/>
              </a:ext>
            </a:extLst>
          </p:cNvPr>
          <p:cNvSpPr/>
          <p:nvPr/>
        </p:nvSpPr>
        <p:spPr>
          <a:xfrm>
            <a:off x="6350000" y="1143000"/>
            <a:ext cx="5334000" cy="3937000"/>
          </a:xfrm>
          <a:prstGeom prst="roundRect">
            <a:avLst/>
          </a:prstGeom>
          <a:solidFill>
            <a:srgbClr val="1C1016"/>
          </a:solidFill>
          <a:ln w="12700">
            <a:solidFill>
              <a:srgbClr val="F43F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EEC1ACE8-BB7E-B080-9F6B-0BF6EC7B440D}"/>
              </a:ext>
            </a:extLst>
          </p:cNvPr>
          <p:cNvSpPr txBox="1"/>
          <p:nvPr/>
        </p:nvSpPr>
        <p:spPr>
          <a:xfrm>
            <a:off x="6540500" y="1333500"/>
            <a:ext cx="4953000" cy="1354217"/>
          </a:xfrm>
          <a:prstGeom prst="rect">
            <a:avLst/>
          </a:prstGeom>
          <a:noFill/>
        </p:spPr>
        <p:txBody>
          <a:bodyPr vert="horz" wrap="square" rtlCol="0">
            <a:spAutoFit/>
          </a:bodyPr>
          <a:lstStyle/>
          <a:p>
            <a:r>
              <a:rPr lang="en-US" sz="1600" b="1">
                <a:solidFill>
                  <a:srgbClr val="F43F5E"/>
                </a:solidFill>
                <a:latin typeface="Segoe UI Semibold" panose="020B0702040204020203" pitchFamily="34" charset="0"/>
              </a:rPr>
              <a:t>ARM B: 50 cm Reach (2× Doubled Length!)</a:t>
            </a:r>
          </a:p>
          <a:p>
            <a:r>
              <a:rPr lang="fr-FR" sz="1100" b="1">
                <a:solidFill>
                  <a:srgbClr val="FFFFFF"/>
                </a:solidFill>
                <a:latin typeface="Segoe UI" panose="020B0502040204020203" pitchFamily="34" charset="0"/>
              </a:rPr>
              <a:t>• Target Payload: 1.0 kg (Exact same payload!)</a:t>
            </a:r>
          </a:p>
          <a:p>
            <a:r>
              <a:rPr lang="fr-FR" sz="1100" b="1">
                <a:solidFill>
                  <a:srgbClr val="FFFFFF"/>
                </a:solidFill>
                <a:latin typeface="Segoe UI" panose="020B0502040204020203" pitchFamily="34" charset="0"/>
              </a:rPr>
              <a:t>• Motor Torque Needed: 5.0 N·m (2× bigger, hotter motor!)</a:t>
            </a:r>
          </a:p>
          <a:p>
            <a:r>
              <a:rPr lang="fr-FR" sz="1100" b="1">
                <a:solidFill>
                  <a:srgbClr val="FFFFFF"/>
                </a:solidFill>
                <a:latin typeface="Segoe UI" panose="020B0502040204020203" pitchFamily="34" charset="0"/>
              </a:rPr>
              <a:t>• Tip Deflection: 8.0 mm! (8× worse sag due to L³! 🚨)</a:t>
            </a:r>
          </a:p>
          <a:p>
            <a:r>
              <a:rPr lang="fr-FR" sz="1100" b="1">
                <a:solidFill>
                  <a:srgbClr val="FFFFFF"/>
                </a:solidFill>
                <a:latin typeface="Segoe UI" panose="020B0502040204020203" pitchFamily="34" charset="0"/>
              </a:rPr>
              <a:t>• Rotational Inertia: 4× Higher (Mass × Radius²)</a:t>
            </a:r>
          </a:p>
          <a:p>
            <a:r>
              <a:rPr lang="fr-FR" sz="1100" b="1">
                <a:solidFill>
                  <a:srgbClr val="FFFFFF"/>
                </a:solidFill>
                <a:latin typeface="Segoe UI" panose="020B0502040204020203" pitchFamily="34" charset="0"/>
              </a:rPr>
              <a:t>• Settling Time: Vibrates for 1.5s like a tuning fork!</a:t>
            </a:r>
          </a:p>
          <a:p>
            <a:r>
              <a:rPr lang="fr-FR" sz="1100" b="1">
                <a:solidFill>
                  <a:srgbClr val="FFFFFF"/>
                </a:solidFill>
                <a:latin typeface="Segoe UI" panose="020B0502040204020203" pitchFamily="34" charset="0"/>
              </a:rPr>
              <a:t>• Total Joint Cost: ~€180 (Needs heavy harmonic gearbox)</a:t>
            </a:r>
          </a:p>
        </p:txBody>
      </p:sp>
      <p:sp>
        <p:nvSpPr>
          <p:cNvPr id="11" name="Rectangle : coins arrondis 10">
            <a:extLst>
              <a:ext uri="{FF2B5EF4-FFF2-40B4-BE49-F238E27FC236}">
                <a16:creationId xmlns:a16="http://schemas.microsoft.com/office/drawing/2014/main" id="{ABBC4407-0BD3-E8DB-A51B-B398F29378DA}"/>
              </a:ext>
            </a:extLst>
          </p:cNvPr>
          <p:cNvSpPr/>
          <p:nvPr/>
        </p:nvSpPr>
        <p:spPr>
          <a:xfrm>
            <a:off x="508000" y="5270500"/>
            <a:ext cx="11176000" cy="1143000"/>
          </a:xfrm>
          <a:prstGeom prst="roundRect">
            <a:avLst/>
          </a:prstGeom>
          <a:solidFill>
            <a:srgbClr val="161410"/>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161F24CF-EFB4-C759-3E8F-0878728C9AF1}"/>
              </a:ext>
            </a:extLst>
          </p:cNvPr>
          <p:cNvSpPr txBox="1"/>
          <p:nvPr/>
        </p:nvSpPr>
        <p:spPr>
          <a:xfrm>
            <a:off x="711200" y="5422900"/>
            <a:ext cx="10769600" cy="446276"/>
          </a:xfrm>
          <a:prstGeom prst="rect">
            <a:avLst/>
          </a:prstGeom>
          <a:noFill/>
        </p:spPr>
        <p:txBody>
          <a:bodyPr vert="horz" wrap="square" rtlCol="0">
            <a:spAutoFit/>
          </a:bodyPr>
          <a:lstStyle/>
          <a:p>
            <a:r>
              <a:rPr lang="en-US" sz="1300" b="1">
                <a:solidFill>
                  <a:srgbClr val="FBBF24"/>
                </a:solidFill>
                <a:latin typeface="Segoe UI Semibold" panose="020B0702040204020203" pitchFamily="34" charset="0"/>
              </a:rPr>
              <a:t>💡 Mechanical Design Rule of Thumb</a:t>
            </a:r>
          </a:p>
          <a:p>
            <a:r>
              <a:rPr lang="en-US" sz="1000">
                <a:solidFill>
                  <a:srgbClr val="E2E8F0"/>
                </a:solidFill>
                <a:latin typeface="Segoe UI" panose="020B0502040204020203" pitchFamily="34" charset="0"/>
              </a:rPr>
              <a:t>Never make a robot arm longer than it strictly needs to be! Every extra 10 centimeters demands a significantly larger motor, heavier bearings, and thicker links to avoid ringing oscillations.</a:t>
            </a:r>
            <a:endParaRPr lang="fr-FR"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30799755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536F6F-3B65-3B30-011B-C9A125A641BC}"/>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E7C6D321-D04C-3970-88FF-05F2534697D0}"/>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8EECA604-0054-2150-FD68-BCCEEAD7EF86}"/>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6C7716DA-F234-BAAA-4290-5393C8EBE9C5}"/>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5-MIN SPRINT  </a:t>
            </a:r>
          </a:p>
        </p:txBody>
      </p:sp>
      <p:sp>
        <p:nvSpPr>
          <p:cNvPr id="6" name="ZoneTexte 5">
            <a:extLst>
              <a:ext uri="{FF2B5EF4-FFF2-40B4-BE49-F238E27FC236}">
                <a16:creationId xmlns:a16="http://schemas.microsoft.com/office/drawing/2014/main" id="{70CCBCED-FA79-DB2B-AE43-35051F770913}"/>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DESIGN CHALLENGE: SPECIFY THIS ROBOT ARM!</a:t>
            </a:r>
            <a:endParaRPr lang="fr-FR" sz="2200" b="1">
              <a:solidFill>
                <a:srgbClr val="FFFFFF"/>
              </a:solidFill>
              <a:latin typeface="Segoe UI Semibold" panose="020B0702040204020203" pitchFamily="34" charset="0"/>
            </a:endParaRPr>
          </a:p>
        </p:txBody>
      </p:sp>
      <p:sp>
        <p:nvSpPr>
          <p:cNvPr id="7" name="Rectangle : coins arrondis 6">
            <a:extLst>
              <a:ext uri="{FF2B5EF4-FFF2-40B4-BE49-F238E27FC236}">
                <a16:creationId xmlns:a16="http://schemas.microsoft.com/office/drawing/2014/main" id="{2F2CE4AC-4105-7AB2-AF72-8CD0FB6AB639}"/>
              </a:ext>
            </a:extLst>
          </p:cNvPr>
          <p:cNvSpPr/>
          <p:nvPr/>
        </p:nvSpPr>
        <p:spPr>
          <a:xfrm>
            <a:off x="508000" y="1143000"/>
            <a:ext cx="5334000" cy="3937000"/>
          </a:xfrm>
          <a:prstGeom prst="roundRect">
            <a:avLst/>
          </a:prstGeom>
          <a:solidFill>
            <a:srgbClr val="161020"/>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D5A37EAC-415F-5150-FFA7-99D0E4B41BC0}"/>
              </a:ext>
            </a:extLst>
          </p:cNvPr>
          <p:cNvSpPr txBox="1"/>
          <p:nvPr/>
        </p:nvSpPr>
        <p:spPr>
          <a:xfrm>
            <a:off x="698500" y="1333500"/>
            <a:ext cx="4953000" cy="1862048"/>
          </a:xfrm>
          <a:prstGeom prst="rect">
            <a:avLst/>
          </a:prstGeom>
          <a:noFill/>
        </p:spPr>
        <p:txBody>
          <a:bodyPr vert="horz" wrap="square" rtlCol="0">
            <a:spAutoFit/>
          </a:bodyPr>
          <a:lstStyle/>
          <a:p>
            <a:r>
              <a:rPr lang="fr-FR" sz="1600" b="1">
                <a:solidFill>
                  <a:srgbClr val="A855F7"/>
                </a:solidFill>
                <a:latin typeface="Segoe UI Semibold" panose="020B0702040204020203" pitchFamily="34" charset="0"/>
              </a:rPr>
              <a:t>THE CLIENT'S SPECS</a:t>
            </a:r>
          </a:p>
          <a:p>
            <a:r>
              <a:rPr lang="fr-FR" sz="1100" b="1">
                <a:solidFill>
                  <a:srgbClr val="FFFFFF"/>
                </a:solidFill>
                <a:latin typeface="Segoe UI" panose="020B0502040204020203" pitchFamily="34" charset="0"/>
              </a:rPr>
              <a:t>• Task: Pick up 2.0 kg metal parts on an assembly line</a:t>
            </a:r>
          </a:p>
          <a:p>
            <a:r>
              <a:rPr lang="fr-FR" sz="1100" b="1">
                <a:solidFill>
                  <a:srgbClr val="FFFFFF"/>
                </a:solidFill>
                <a:latin typeface="Segoe UI" panose="020B0502040204020203" pitchFamily="34" charset="0"/>
              </a:rPr>
              <a:t>• Required Reach: 60 cm (0.60 m)</a:t>
            </a:r>
          </a:p>
          <a:p>
            <a:r>
              <a:rPr lang="fr-FR" sz="1100" b="1">
                <a:solidFill>
                  <a:srgbClr val="FFFFFF"/>
                </a:solidFill>
                <a:latin typeface="Segoe UI" panose="020B0502040204020203" pitchFamily="34" charset="0"/>
              </a:rPr>
              <a:t>• Accuracy Goal: Within 1.5 mm</a:t>
            </a:r>
          </a:p>
          <a:p>
            <a:r>
              <a:rPr lang="fr-FR" sz="1100" b="1">
                <a:solidFill>
                  <a:srgbClr val="FFFFFF"/>
                </a:solidFill>
                <a:latin typeface="Segoe UI" panose="020B0502040204020203" pitchFamily="34" charset="0"/>
              </a:rPr>
              <a:t>• Maximum Parts Budget: €400</a:t>
            </a:r>
          </a:p>
          <a:p>
            <a:r>
              <a:rPr lang="fr-FR" sz="1100" b="1">
                <a:solidFill>
                  <a:srgbClr val="FFFFFF"/>
                </a:solidFill>
                <a:latin typeface="Segoe UI" panose="020B0502040204020203" pitchFamily="34" charset="0"/>
              </a:rPr>
              <a:t>
👉 YOUR DECISIONS IN CHAT:</a:t>
            </a:r>
          </a:p>
          <a:p>
            <a:r>
              <a:rPr lang="fr-FR" sz="1100" b="1">
                <a:solidFill>
                  <a:srgbClr val="FFFFFF"/>
                </a:solidFill>
                <a:latin typeface="Segoe UI" panose="020B0502040204020203" pitchFamily="34" charset="0"/>
              </a:rPr>
              <a:t>1. Material: 3D printed plastic vs Aluminum vs Carbon?</a:t>
            </a:r>
          </a:p>
          <a:p>
            <a:r>
              <a:rPr lang="fr-FR" sz="1100" b="1">
                <a:solidFill>
                  <a:srgbClr val="FFFFFF"/>
                </a:solidFill>
                <a:latin typeface="Segoe UI" panose="020B0502040204020203" pitchFamily="34" charset="0"/>
              </a:rPr>
              <a:t>2. Motor: Stepper vs Hobby Servo vs Geared DC / BLDC?</a:t>
            </a:r>
          </a:p>
          <a:p>
            <a:r>
              <a:rPr lang="fr-FR" sz="1100" b="1">
                <a:solidFill>
                  <a:srgbClr val="FFFFFF"/>
                </a:solidFill>
                <a:latin typeface="Segoe UI" panose="020B0502040204020203" pitchFamily="34" charset="0"/>
              </a:rPr>
              <a:t>3. Transmission: Direct drive shaft vs Timing belt vs Gears?</a:t>
            </a:r>
          </a:p>
        </p:txBody>
      </p:sp>
      <p:sp>
        <p:nvSpPr>
          <p:cNvPr id="9" name="Rectangle : coins arrondis 8">
            <a:extLst>
              <a:ext uri="{FF2B5EF4-FFF2-40B4-BE49-F238E27FC236}">
                <a16:creationId xmlns:a16="http://schemas.microsoft.com/office/drawing/2014/main" id="{88F9D82B-ED8E-D642-F40E-EF58E66E0FDA}"/>
              </a:ext>
            </a:extLst>
          </p:cNvPr>
          <p:cNvSpPr/>
          <p:nvPr/>
        </p:nvSpPr>
        <p:spPr>
          <a:xfrm>
            <a:off x="6350000" y="1143000"/>
            <a:ext cx="5334000" cy="3937000"/>
          </a:xfrm>
          <a:prstGeom prst="roundRect">
            <a:avLst/>
          </a:prstGeom>
          <a:solidFill>
            <a:srgbClr val="101622"/>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4EE4B600-F766-09DD-2441-9FFD6C5A9E75}"/>
              </a:ext>
            </a:extLst>
          </p:cNvPr>
          <p:cNvSpPr txBox="1"/>
          <p:nvPr/>
        </p:nvSpPr>
        <p:spPr>
          <a:xfrm>
            <a:off x="6540500" y="1333500"/>
            <a:ext cx="4953000" cy="1877437"/>
          </a:xfrm>
          <a:prstGeom prst="rect">
            <a:avLst/>
          </a:prstGeom>
          <a:noFill/>
        </p:spPr>
        <p:txBody>
          <a:bodyPr vert="horz" wrap="square" rtlCol="0">
            <a:spAutoFit/>
          </a:bodyPr>
          <a:lstStyle/>
          <a:p>
            <a:r>
              <a:rPr lang="fr-FR" sz="1600" b="1">
                <a:solidFill>
                  <a:srgbClr val="FBBF24"/>
                </a:solidFill>
                <a:latin typeface="Segoe UI Semibold" panose="020B0702040204020203" pitchFamily="34" charset="0"/>
              </a:rPr>
              <a:t>BEWARE BEGINNER TRAPS!</a:t>
            </a:r>
          </a:p>
          <a:p>
            <a:r>
              <a:rPr lang="fr-FR" sz="1000" b="1">
                <a:solidFill>
                  <a:srgbClr val="FFFFFF"/>
                </a:solidFill>
                <a:latin typeface="Segoe UI" panose="020B0502040204020203" pitchFamily="34" charset="0"/>
              </a:rPr>
              <a:t>❌ Rookie Mistake 1: 'I'll 3D print the 60 cm arm in PLA!'
   → At 60 cm, plastic will sag 12 mm under 2 kg. Disqualified!</a:t>
            </a:r>
          </a:p>
          <a:p>
            <a:r>
              <a:rPr lang="fr-FR" sz="1000" b="1">
                <a:solidFill>
                  <a:srgbClr val="FFFFFF"/>
                </a:solidFill>
                <a:latin typeface="Segoe UI" panose="020B0502040204020203" pitchFamily="34" charset="0"/>
              </a:rPr>
              <a:t>
❌ Rookie Mistake 2: 'I'll connect directly to a hobby servo!'
   → 2 kg at 0.6 m = 12 N·m torque! Plastic gears will strip instantly.</a:t>
            </a:r>
          </a:p>
          <a:p>
            <a:r>
              <a:rPr lang="fr-FR" sz="1000" b="1">
                <a:solidFill>
                  <a:srgbClr val="FFFFFF"/>
                </a:solidFill>
                <a:latin typeface="Segoe UI" panose="020B0502040204020203" pitchFamily="34" charset="0"/>
              </a:rPr>
              <a:t>
✅ The Professional Answer:
   • Extruded hollow aluminum square tubes
   • NEMA 23 stepper or BLDC with 10:1 planetary gearbox
   • Dual ball bearings supporting the main shoulder pivot!</a:t>
            </a:r>
          </a:p>
        </p:txBody>
      </p:sp>
      <p:sp>
        <p:nvSpPr>
          <p:cNvPr id="11" name="Rectangle : coins arrondis 10">
            <a:extLst>
              <a:ext uri="{FF2B5EF4-FFF2-40B4-BE49-F238E27FC236}">
                <a16:creationId xmlns:a16="http://schemas.microsoft.com/office/drawing/2014/main" id="{B554F20F-9ED7-6325-4354-63D9273EDDB2}"/>
              </a:ext>
            </a:extLst>
          </p:cNvPr>
          <p:cNvSpPr/>
          <p:nvPr/>
        </p:nvSpPr>
        <p:spPr>
          <a:xfrm>
            <a:off x="508000" y="5270500"/>
            <a:ext cx="11176000" cy="1143000"/>
          </a:xfrm>
          <a:prstGeom prst="roundRect">
            <a:avLst/>
          </a:prstGeom>
          <a:solidFill>
            <a:srgbClr val="101826"/>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755B55D3-8C42-1A85-991F-FF168BDCB18B}"/>
              </a:ext>
            </a:extLst>
          </p:cNvPr>
          <p:cNvSpPr txBox="1"/>
          <p:nvPr/>
        </p:nvSpPr>
        <p:spPr>
          <a:xfrm>
            <a:off x="698500" y="5397500"/>
            <a:ext cx="10795000" cy="292388"/>
          </a:xfrm>
          <a:prstGeom prst="rect">
            <a:avLst/>
          </a:prstGeom>
          <a:noFill/>
        </p:spPr>
        <p:txBody>
          <a:bodyPr vert="horz" rtlCol="0">
            <a:spAutoFit/>
          </a:bodyPr>
          <a:lstStyle/>
          <a:p>
            <a:r>
              <a:rPr lang="en-US" sz="1300" b="1">
                <a:solidFill>
                  <a:srgbClr val="38BDF8"/>
                </a:solidFill>
                <a:latin typeface="Segoe UI Semibold" panose="020B0702040204020203" pitchFamily="34" charset="0"/>
              </a:rPr>
              <a:t>⏱️ YOUR TURN: Drop your proposed material + motor choice in the chat now!</a:t>
            </a:r>
            <a:endParaRPr lang="fr-FR" sz="1300" b="1">
              <a:solidFill>
                <a:srgbClr val="38BDF8"/>
              </a:solidFill>
              <a:latin typeface="Segoe UI Semibold" panose="020B0702040204020203" pitchFamily="34" charset="0"/>
            </a:endParaRPr>
          </a:p>
        </p:txBody>
      </p:sp>
    </p:spTree>
    <p:extLst>
      <p:ext uri="{BB962C8B-B14F-4D97-AF65-F5344CB8AC3E}">
        <p14:creationId xmlns:p14="http://schemas.microsoft.com/office/powerpoint/2010/main" val="22676978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814C141-83AC-D835-2916-226C6E3A0CBA}"/>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73AE9F38-4201-BDB9-E3DC-A58771BC986E}"/>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73767620-656C-4C18-D661-C1AC10A8C6FB}"/>
              </a:ext>
            </a:extLst>
          </p:cNvPr>
          <p:cNvSpPr txBox="1"/>
          <p:nvPr/>
        </p:nvSpPr>
        <p:spPr>
          <a:xfrm>
            <a:off x="635000" y="1778000"/>
            <a:ext cx="5080000" cy="1415772"/>
          </a:xfrm>
          <a:prstGeom prst="rect">
            <a:avLst/>
          </a:prstGeom>
          <a:noFill/>
        </p:spPr>
        <p:txBody>
          <a:bodyPr vert="horz" wrap="square" rtlCol="0">
            <a:spAutoFit/>
          </a:bodyPr>
          <a:lstStyle/>
          <a:p>
            <a:r>
              <a:rPr lang="fr-FR" sz="1300" b="1">
                <a:solidFill>
                  <a:srgbClr val="FBBF24"/>
                </a:solidFill>
                <a:latin typeface="Segoe UI" panose="020B0502040204020203" pitchFamily="34" charset="0"/>
              </a:rPr>
              <a:t>PART 04 • ELECTRICAL SYSTEMS</a:t>
            </a:r>
          </a:p>
          <a:p>
            <a:r>
              <a:rPr lang="fr-FR" sz="3000" b="1">
                <a:solidFill>
                  <a:srgbClr val="FFFFFF"/>
                </a:solidFill>
                <a:latin typeface="Segoe UI Semibold" panose="020B0702040204020203" pitchFamily="34" charset="0"/>
              </a:rPr>
              <a:t>POWER &amp; ELECTRICAL
SYSTEMS</a:t>
            </a:r>
          </a:p>
          <a:p>
            <a:r>
              <a:rPr lang="en-US" sz="1300">
                <a:solidFill>
                  <a:srgbClr val="E2E8F0"/>
                </a:solidFill>
                <a:latin typeface="Segoe UI" panose="020B0502040204020203" pitchFamily="34" charset="0"/>
              </a:rPr>
              <a:t>Voltage • Current • Batteries • The Dreaded Brownout Mystery</a:t>
            </a:r>
            <a:endParaRPr lang="fr-FR" sz="1300">
              <a:solidFill>
                <a:srgbClr val="E2E8F0"/>
              </a:solidFill>
              <a:latin typeface="Segoe UI" panose="020B0502040204020203" pitchFamily="34" charset="0"/>
            </a:endParaRPr>
          </a:p>
        </p:txBody>
      </p:sp>
    </p:spTree>
    <p:extLst>
      <p:ext uri="{BB962C8B-B14F-4D97-AF65-F5344CB8AC3E}">
        <p14:creationId xmlns:p14="http://schemas.microsoft.com/office/powerpoint/2010/main" val="16135469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2065426-01F8-B2C2-E52D-32E9576631BB}"/>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643CBE2B-3763-3DD1-B75A-2615BAC12B47}"/>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B5554755-01D5-E6B0-7792-4D816C66F53B}"/>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31E64F44-DC16-4F1F-C306-F457B340D65D}"/>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INTUITIVE PHYSICS  </a:t>
            </a:r>
          </a:p>
        </p:txBody>
      </p:sp>
      <p:sp>
        <p:nvSpPr>
          <p:cNvPr id="6" name="ZoneTexte 5">
            <a:extLst>
              <a:ext uri="{FF2B5EF4-FFF2-40B4-BE49-F238E27FC236}">
                <a16:creationId xmlns:a16="http://schemas.microsoft.com/office/drawing/2014/main" id="{B1CC448D-01BA-E337-DB4B-E060C882FBC1}"/>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ELECTRICAL FUNDAMENTALS: THE WATER PIPE ANALOGY</a:t>
            </a:r>
            <a:endParaRPr lang="fr-FR" sz="2200" b="1">
              <a:solidFill>
                <a:srgbClr val="FFFFFF"/>
              </a:solidFill>
              <a:latin typeface="Segoe UI Semibold" panose="020B0702040204020203" pitchFamily="34" charset="0"/>
            </a:endParaRPr>
          </a:p>
        </p:txBody>
      </p:sp>
      <p:sp>
        <p:nvSpPr>
          <p:cNvPr id="7" name="Rectangle : coins arrondis 6">
            <a:extLst>
              <a:ext uri="{FF2B5EF4-FFF2-40B4-BE49-F238E27FC236}">
                <a16:creationId xmlns:a16="http://schemas.microsoft.com/office/drawing/2014/main" id="{DC95A4EF-A987-D495-35E0-1E9173763C85}"/>
              </a:ext>
            </a:extLst>
          </p:cNvPr>
          <p:cNvSpPr/>
          <p:nvPr/>
        </p:nvSpPr>
        <p:spPr>
          <a:xfrm>
            <a:off x="508000" y="1143000"/>
            <a:ext cx="3429000" cy="33020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B1993DFD-BF30-4532-2E47-44132BF94509}"/>
              </a:ext>
            </a:extLst>
          </p:cNvPr>
          <p:cNvSpPr txBox="1"/>
          <p:nvPr/>
        </p:nvSpPr>
        <p:spPr>
          <a:xfrm>
            <a:off x="711200" y="1320800"/>
            <a:ext cx="3022600" cy="1569660"/>
          </a:xfrm>
          <a:prstGeom prst="rect">
            <a:avLst/>
          </a:prstGeom>
          <a:noFill/>
        </p:spPr>
        <p:txBody>
          <a:bodyPr vert="horz" wrap="square" rtlCol="0">
            <a:spAutoFit/>
          </a:bodyPr>
          <a:lstStyle/>
          <a:p>
            <a:r>
              <a:rPr lang="fr-FR" sz="1400" b="1">
                <a:solidFill>
                  <a:srgbClr val="38BDF8"/>
                </a:solidFill>
                <a:latin typeface="Segoe UI Semibold" panose="020B0702040204020203" pitchFamily="34" charset="0"/>
              </a:rPr>
              <a:t>VOLTAGE (Volts)</a:t>
            </a:r>
          </a:p>
          <a:p>
            <a:r>
              <a:rPr lang="fr-FR" sz="1100" b="1">
                <a:solidFill>
                  <a:srgbClr val="FFFFFF"/>
                </a:solidFill>
                <a:latin typeface="Segoe UI" panose="020B0502040204020203" pitchFamily="34" charset="0"/>
              </a:rPr>
              <a:t>Water Pressure</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The electrical pressure pushing electrons through the wires
• Higher Voltage = Higher maximum motor RPM!
• Standard robot rails: 5V (sensors), 12V (motors), 24V/48V (industrial)</a:t>
            </a:r>
            <a:endParaRPr lang="fr-FR" sz="1000" b="1">
              <a:solidFill>
                <a:srgbClr val="94A3B8"/>
              </a:solidFill>
              <a:latin typeface="Segoe UI" panose="020B0502040204020203" pitchFamily="34" charset="0"/>
            </a:endParaRPr>
          </a:p>
        </p:txBody>
      </p:sp>
      <p:sp>
        <p:nvSpPr>
          <p:cNvPr id="9" name="Rectangle : coins arrondis 8">
            <a:extLst>
              <a:ext uri="{FF2B5EF4-FFF2-40B4-BE49-F238E27FC236}">
                <a16:creationId xmlns:a16="http://schemas.microsoft.com/office/drawing/2014/main" id="{FC6840BA-D79C-DEC4-D590-C239A8172BA7}"/>
              </a:ext>
            </a:extLst>
          </p:cNvPr>
          <p:cNvSpPr/>
          <p:nvPr/>
        </p:nvSpPr>
        <p:spPr>
          <a:xfrm>
            <a:off x="4381500" y="1143000"/>
            <a:ext cx="3429000" cy="3302000"/>
          </a:xfrm>
          <a:prstGeom prst="roundRect">
            <a:avLst/>
          </a:prstGeom>
          <a:solidFill>
            <a:srgbClr val="101622"/>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6D6FF19D-3310-FE74-FA6C-14CD0CC7B15F}"/>
              </a:ext>
            </a:extLst>
          </p:cNvPr>
          <p:cNvSpPr txBox="1"/>
          <p:nvPr/>
        </p:nvSpPr>
        <p:spPr>
          <a:xfrm>
            <a:off x="4584700" y="1320800"/>
            <a:ext cx="3022600" cy="1415772"/>
          </a:xfrm>
          <a:prstGeom prst="rect">
            <a:avLst/>
          </a:prstGeom>
          <a:noFill/>
        </p:spPr>
        <p:txBody>
          <a:bodyPr vert="horz" wrap="square" rtlCol="0">
            <a:spAutoFit/>
          </a:bodyPr>
          <a:lstStyle/>
          <a:p>
            <a:r>
              <a:rPr lang="fr-FR" sz="1400" b="1">
                <a:solidFill>
                  <a:srgbClr val="FBBF24"/>
                </a:solidFill>
                <a:latin typeface="Segoe UI Semibold" panose="020B0702040204020203" pitchFamily="34" charset="0"/>
              </a:rPr>
              <a:t>CURRENT (Amps)</a:t>
            </a:r>
          </a:p>
          <a:p>
            <a:r>
              <a:rPr lang="fr-FR" sz="1100" b="1">
                <a:solidFill>
                  <a:srgbClr val="FFFFFF"/>
                </a:solidFill>
                <a:latin typeface="Segoe UI" panose="020B0502040204020203" pitchFamily="34" charset="0"/>
              </a:rPr>
              <a:t>Water Flow Volume</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The physical amount of electrons flowing per second
• More Current = STRONGER MOTOR TORQUE!
• Current creates heat: Wires need to be thick enough to avoid melting!</a:t>
            </a:r>
            <a:endParaRPr lang="fr-FR" sz="1000" b="1">
              <a:solidFill>
                <a:srgbClr val="94A3B8"/>
              </a:solidFill>
              <a:latin typeface="Segoe UI" panose="020B0502040204020203" pitchFamily="34" charset="0"/>
            </a:endParaRPr>
          </a:p>
        </p:txBody>
      </p:sp>
      <p:sp>
        <p:nvSpPr>
          <p:cNvPr id="11" name="Rectangle : coins arrondis 10">
            <a:extLst>
              <a:ext uri="{FF2B5EF4-FFF2-40B4-BE49-F238E27FC236}">
                <a16:creationId xmlns:a16="http://schemas.microsoft.com/office/drawing/2014/main" id="{4A51B5B4-8D33-2539-8635-D90E4767BCF1}"/>
              </a:ext>
            </a:extLst>
          </p:cNvPr>
          <p:cNvSpPr/>
          <p:nvPr/>
        </p:nvSpPr>
        <p:spPr>
          <a:xfrm>
            <a:off x="8255000" y="1143000"/>
            <a:ext cx="3429000" cy="3302000"/>
          </a:xfrm>
          <a:prstGeom prst="roundRect">
            <a:avLst/>
          </a:prstGeom>
          <a:solidFill>
            <a:srgbClr val="101622"/>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7CF04435-9AF1-BA52-F9B8-89EA7E5B9C8A}"/>
              </a:ext>
            </a:extLst>
          </p:cNvPr>
          <p:cNvSpPr txBox="1"/>
          <p:nvPr/>
        </p:nvSpPr>
        <p:spPr>
          <a:xfrm>
            <a:off x="8458200" y="1320800"/>
            <a:ext cx="3022600" cy="1261884"/>
          </a:xfrm>
          <a:prstGeom prst="rect">
            <a:avLst/>
          </a:prstGeom>
          <a:noFill/>
        </p:spPr>
        <p:txBody>
          <a:bodyPr vert="horz" wrap="square" rtlCol="0">
            <a:spAutoFit/>
          </a:bodyPr>
          <a:lstStyle/>
          <a:p>
            <a:r>
              <a:rPr lang="fr-FR" sz="1400" b="1">
                <a:solidFill>
                  <a:srgbClr val="A855F7"/>
                </a:solidFill>
                <a:latin typeface="Segoe UI Semibold" panose="020B0702040204020203" pitchFamily="34" charset="0"/>
              </a:rPr>
              <a:t>POWER (Watts)</a:t>
            </a:r>
          </a:p>
          <a:p>
            <a:r>
              <a:rPr lang="fr-FR" sz="1100" b="1">
                <a:solidFill>
                  <a:srgbClr val="FFFFFF"/>
                </a:solidFill>
                <a:latin typeface="Segoe UI" panose="020B0502040204020203" pitchFamily="34" charset="0"/>
              </a:rPr>
              <a:t>Total Work Rate</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Power = Voltage × Current (P = V × I)
• Example: 12V motor drawing 2A consumes 24 Watts (12 × 2 = 24W)
• 1 Horsepower = 746 Watts of electrical power</a:t>
            </a:r>
            <a:endParaRPr lang="fr-FR" sz="1000" b="1">
              <a:solidFill>
                <a:srgbClr val="94A3B8"/>
              </a:solidFill>
              <a:latin typeface="Segoe UI" panose="020B0502040204020203" pitchFamily="34" charset="0"/>
            </a:endParaRPr>
          </a:p>
        </p:txBody>
      </p:sp>
      <p:sp>
        <p:nvSpPr>
          <p:cNvPr id="13" name="Rectangle : coins arrondis 12">
            <a:extLst>
              <a:ext uri="{FF2B5EF4-FFF2-40B4-BE49-F238E27FC236}">
                <a16:creationId xmlns:a16="http://schemas.microsoft.com/office/drawing/2014/main" id="{C67E7EE4-10CE-DD26-48B1-5BCBEF99DCC0}"/>
              </a:ext>
            </a:extLst>
          </p:cNvPr>
          <p:cNvSpPr/>
          <p:nvPr/>
        </p:nvSpPr>
        <p:spPr>
          <a:xfrm>
            <a:off x="508000" y="4699000"/>
            <a:ext cx="11176000" cy="1714500"/>
          </a:xfrm>
          <a:prstGeom prst="roundRect">
            <a:avLst/>
          </a:prstGeom>
          <a:solidFill>
            <a:srgbClr val="161410"/>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4D8155D3-CFB4-62D0-977B-9AA1240004DB}"/>
              </a:ext>
            </a:extLst>
          </p:cNvPr>
          <p:cNvSpPr txBox="1"/>
          <p:nvPr/>
        </p:nvSpPr>
        <p:spPr>
          <a:xfrm>
            <a:off x="711200" y="4851400"/>
            <a:ext cx="10769600" cy="600164"/>
          </a:xfrm>
          <a:prstGeom prst="rect">
            <a:avLst/>
          </a:prstGeom>
          <a:noFill/>
        </p:spPr>
        <p:txBody>
          <a:bodyPr vert="horz" wrap="square" rtlCol="0">
            <a:spAutoFit/>
          </a:bodyPr>
          <a:lstStyle/>
          <a:p>
            <a:r>
              <a:rPr lang="en-US" sz="1300" b="1">
                <a:solidFill>
                  <a:srgbClr val="34D399"/>
                </a:solidFill>
                <a:latin typeface="Segoe UI Semibold" panose="020B0702040204020203" pitchFamily="34" charset="0"/>
              </a:rPr>
              <a:t>💡 Think of a High-Pressure Garden Hose</a:t>
            </a:r>
          </a:p>
          <a:p>
            <a:r>
              <a:rPr lang="en-US" sz="1000">
                <a:solidFill>
                  <a:srgbClr val="E2E8F0"/>
                </a:solidFill>
                <a:latin typeface="Segoe UI" panose="020B0502040204020203" pitchFamily="34" charset="0"/>
              </a:rPr>
              <a:t>Voltage is how hard the water pressure pushes at the nozzle. Current is how many gallons of water pour out every minute. If you have high pressure (Voltage) and huge water volume (Current), you have massive power washing force (Watts)! In motors: Voltage gives you SPEED, while Current gives you STRENGTH (Torque).</a:t>
            </a:r>
            <a:endParaRPr lang="fr-FR"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1928714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70621C-F91B-22DA-018D-99CE8CFECC19}"/>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0446160E-F0B9-8E9D-D401-23EC8D29E9D0}"/>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F89FDA75-6806-23F1-ABC3-A1EE2C88E4F5}"/>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865F2E41-61A2-4DBE-66E1-5EBE1A3D5AB0}"/>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CRITICAL GOTCHA  </a:t>
            </a:r>
          </a:p>
        </p:txBody>
      </p:sp>
      <p:sp>
        <p:nvSpPr>
          <p:cNvPr id="6" name="ZoneTexte 5">
            <a:extLst>
              <a:ext uri="{FF2B5EF4-FFF2-40B4-BE49-F238E27FC236}">
                <a16:creationId xmlns:a16="http://schemas.microsoft.com/office/drawing/2014/main" id="{20F615F1-052B-A9D5-E06F-3601F646D950}"/>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THE 4-MOTOR TRAP: WHY DO ROBOTS SHUT DOWN ON STARTUP?</a:t>
            </a:r>
            <a:endParaRPr lang="fr-FR" sz="2200" b="1">
              <a:solidFill>
                <a:srgbClr val="FFFFFF"/>
              </a:solidFill>
              <a:latin typeface="Segoe UI Semibold" panose="020B0702040204020203" pitchFamily="34" charset="0"/>
            </a:endParaRPr>
          </a:p>
        </p:txBody>
      </p:sp>
      <p:sp>
        <p:nvSpPr>
          <p:cNvPr id="7" name="Rectangle : coins arrondis 6">
            <a:extLst>
              <a:ext uri="{FF2B5EF4-FFF2-40B4-BE49-F238E27FC236}">
                <a16:creationId xmlns:a16="http://schemas.microsoft.com/office/drawing/2014/main" id="{BBF7086B-1CFC-6588-9AF6-5D77431BEF2B}"/>
              </a:ext>
            </a:extLst>
          </p:cNvPr>
          <p:cNvSpPr/>
          <p:nvPr/>
        </p:nvSpPr>
        <p:spPr>
          <a:xfrm>
            <a:off x="508000" y="1143000"/>
            <a:ext cx="5334000" cy="3683000"/>
          </a:xfrm>
          <a:prstGeom prst="roundRect">
            <a:avLst/>
          </a:prstGeom>
          <a:solidFill>
            <a:srgbClr val="1C1016"/>
          </a:solidFill>
          <a:ln w="12700">
            <a:solidFill>
              <a:srgbClr val="F43F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369E86A0-3A00-D601-59DA-1285A77F42DB}"/>
              </a:ext>
            </a:extLst>
          </p:cNvPr>
          <p:cNvSpPr txBox="1"/>
          <p:nvPr/>
        </p:nvSpPr>
        <p:spPr>
          <a:xfrm>
            <a:off x="698500" y="1333500"/>
            <a:ext cx="4953000" cy="1846659"/>
          </a:xfrm>
          <a:prstGeom prst="rect">
            <a:avLst/>
          </a:prstGeom>
          <a:noFill/>
        </p:spPr>
        <p:txBody>
          <a:bodyPr vert="horz" wrap="square" rtlCol="0">
            <a:spAutoFit/>
          </a:bodyPr>
          <a:lstStyle/>
          <a:p>
            <a:r>
              <a:rPr lang="en-US" sz="1500" b="1">
                <a:solidFill>
                  <a:srgbClr val="F43F5E"/>
                </a:solidFill>
                <a:latin typeface="Segoe UI Semibold" panose="020B0702040204020203" pitchFamily="34" charset="0"/>
              </a:rPr>
              <a:t>THE ROOKIE CALCULATION (On Paper)</a:t>
            </a:r>
          </a:p>
          <a:p>
            <a:r>
              <a:rPr lang="en-US" sz="1100" b="1">
                <a:solidFill>
                  <a:srgbClr val="FFFFFF"/>
                </a:solidFill>
                <a:latin typeface="Segoe UI" panose="020B0502040204020203" pitchFamily="34" charset="0"/>
              </a:rPr>
              <a:t>• 1 Motor: 12V × 2A normal driving = 24 Watts</a:t>
            </a:r>
          </a:p>
          <a:p>
            <a:r>
              <a:rPr lang="en-US" sz="1100" b="1">
                <a:solidFill>
                  <a:srgbClr val="FFFFFF"/>
                </a:solidFill>
                <a:latin typeface="Segoe UI" panose="020B0502040204020203" pitchFamily="34" charset="0"/>
              </a:rPr>
              <a:t>• 4 Motors: 4 × 24W = 96 Watts</a:t>
            </a:r>
          </a:p>
          <a:p>
            <a:r>
              <a:rPr lang="en-US" sz="1100" b="1">
                <a:solidFill>
                  <a:srgbClr val="FFFFFF"/>
                </a:solidFill>
                <a:latin typeface="Segoe UI" panose="020B0502040204020203" pitchFamily="34" charset="0"/>
              </a:rPr>
              <a:t>
Naive Conclusion:</a:t>
            </a:r>
          </a:p>
          <a:p>
            <a:r>
              <a:rPr lang="en-US" sz="1100" b="1">
                <a:solidFill>
                  <a:srgbClr val="FFFFFF"/>
                </a:solidFill>
                <a:latin typeface="Segoe UI" panose="020B0502040204020203" pitchFamily="34" charset="0"/>
              </a:rPr>
              <a:t>'A 100W power supply or small battery pack will be plenty!'</a:t>
            </a:r>
          </a:p>
          <a:p>
            <a:r>
              <a:rPr lang="en-US" sz="1100" b="1">
                <a:solidFill>
                  <a:srgbClr val="FFFFFF"/>
                </a:solidFill>
                <a:latin typeface="Segoe UI" panose="020B0502040204020203" pitchFamily="34" charset="0"/>
              </a:rPr>
              <a:t>
🚨 WHAT HAPPENS IN REALITY:</a:t>
            </a:r>
          </a:p>
          <a:p>
            <a:r>
              <a:rPr lang="en-US" sz="1100" b="1">
                <a:solidFill>
                  <a:srgbClr val="FFFFFF"/>
                </a:solidFill>
                <a:latin typeface="Segoe UI" panose="020B0502040204020203" pitchFamily="34" charset="0"/>
              </a:rPr>
              <a:t>The robot sits on the carpet. You push the joystick forward. The motors emit a tiny click, and the entire robot instantly reboots and shuts off!</a:t>
            </a:r>
            <a:endParaRPr lang="fr-FR" sz="1100" b="1">
              <a:solidFill>
                <a:srgbClr val="FFFFFF"/>
              </a:solidFill>
              <a:latin typeface="Segoe UI" panose="020B0502040204020203" pitchFamily="34" charset="0"/>
            </a:endParaRPr>
          </a:p>
        </p:txBody>
      </p:sp>
      <p:sp>
        <p:nvSpPr>
          <p:cNvPr id="9" name="Rectangle : coins arrondis 8">
            <a:extLst>
              <a:ext uri="{FF2B5EF4-FFF2-40B4-BE49-F238E27FC236}">
                <a16:creationId xmlns:a16="http://schemas.microsoft.com/office/drawing/2014/main" id="{F04C55FD-097D-2574-FA0E-49B550598DAA}"/>
              </a:ext>
            </a:extLst>
          </p:cNvPr>
          <p:cNvSpPr/>
          <p:nvPr/>
        </p:nvSpPr>
        <p:spPr>
          <a:xfrm>
            <a:off x="6350000" y="1143000"/>
            <a:ext cx="5334000" cy="3683000"/>
          </a:xfrm>
          <a:prstGeom prst="roundRect">
            <a:avLst/>
          </a:prstGeom>
          <a:solidFill>
            <a:srgbClr val="101622"/>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11885A60-2DEB-9E9D-231B-1C8FC139AA70}"/>
              </a:ext>
            </a:extLst>
          </p:cNvPr>
          <p:cNvSpPr txBox="1"/>
          <p:nvPr/>
        </p:nvSpPr>
        <p:spPr>
          <a:xfrm>
            <a:off x="6540500" y="1333500"/>
            <a:ext cx="4953000" cy="1677382"/>
          </a:xfrm>
          <a:prstGeom prst="rect">
            <a:avLst/>
          </a:prstGeom>
          <a:noFill/>
        </p:spPr>
        <p:txBody>
          <a:bodyPr vert="horz" wrap="square" rtlCol="0">
            <a:spAutoFit/>
          </a:bodyPr>
          <a:lstStyle/>
          <a:p>
            <a:r>
              <a:rPr lang="en-US" sz="1500" b="1">
                <a:solidFill>
                  <a:srgbClr val="FBBF24"/>
                </a:solidFill>
                <a:latin typeface="Segoe UI Semibold" panose="020B0702040204020203" pitchFamily="34" charset="0"/>
              </a:rPr>
              <a:t>THE REALITY: MOTOR STARTUP SURGE</a:t>
            </a:r>
          </a:p>
          <a:p>
            <a:r>
              <a:rPr lang="en-US" sz="1100" b="1">
                <a:solidFill>
                  <a:srgbClr val="FFFFFF"/>
                </a:solidFill>
                <a:latin typeface="Segoe UI" panose="020B0502040204020203" pitchFamily="34" charset="0"/>
              </a:rPr>
              <a:t>• At 0 RPM, a stationary motor acts like a direct short circuit!</a:t>
            </a:r>
          </a:p>
          <a:p>
            <a:r>
              <a:rPr lang="en-US" sz="1100" b="1">
                <a:solidFill>
                  <a:srgbClr val="FFFFFF"/>
                </a:solidFill>
                <a:latin typeface="Segoe UI" panose="020B0502040204020203" pitchFamily="34" charset="0"/>
              </a:rPr>
              <a:t>• To accelerate from a dead stop, each motor draws STALL CURRENT (5× to 6× rated current!).</a:t>
            </a:r>
          </a:p>
          <a:p>
            <a:r>
              <a:rPr lang="en-US" sz="1100" b="1">
                <a:solidFill>
                  <a:srgbClr val="FFFFFF"/>
                </a:solidFill>
                <a:latin typeface="Segoe UI" panose="020B0502040204020203" pitchFamily="34" charset="0"/>
              </a:rPr>
              <a:t>
💥 THE REAL POWER SPIKE:</a:t>
            </a:r>
          </a:p>
          <a:p>
            <a:r>
              <a:rPr lang="en-US" sz="1100" b="1">
                <a:solidFill>
                  <a:srgbClr val="FFFFFF"/>
                </a:solidFill>
                <a:latin typeface="Segoe UI" panose="020B0502040204020203" pitchFamily="34" charset="0"/>
              </a:rPr>
              <a:t>• 4 Motors × 10A stall spike = 40 AMPS peak!</a:t>
            </a:r>
          </a:p>
          <a:p>
            <a:r>
              <a:rPr lang="en-US" sz="1100" b="1">
                <a:solidFill>
                  <a:srgbClr val="FFFFFF"/>
                </a:solidFill>
                <a:latin typeface="Segoe UI" panose="020B0502040204020203" pitchFamily="34" charset="0"/>
              </a:rPr>
              <a:t>• 12V × 40A = 480 WATTS of instantaneous power!</a:t>
            </a:r>
          </a:p>
          <a:p>
            <a:r>
              <a:rPr lang="en-US" sz="1100" b="1">
                <a:solidFill>
                  <a:srgbClr val="FFFFFF"/>
                </a:solidFill>
                <a:latin typeface="Segoe UI" panose="020B0502040204020203" pitchFamily="34" charset="0"/>
              </a:rPr>
              <a:t>• Your 100W battery's voltage collapses instantly.</a:t>
            </a:r>
            <a:endParaRPr lang="fr-FR" sz="1100" b="1">
              <a:solidFill>
                <a:srgbClr val="FFFFFF"/>
              </a:solidFill>
              <a:latin typeface="Segoe UI" panose="020B0502040204020203" pitchFamily="34" charset="0"/>
            </a:endParaRPr>
          </a:p>
        </p:txBody>
      </p:sp>
      <p:sp>
        <p:nvSpPr>
          <p:cNvPr id="11" name="Rectangle : coins arrondis 10">
            <a:extLst>
              <a:ext uri="{FF2B5EF4-FFF2-40B4-BE49-F238E27FC236}">
                <a16:creationId xmlns:a16="http://schemas.microsoft.com/office/drawing/2014/main" id="{946E2622-537B-736C-A7F6-D2D1FFAE5AEC}"/>
              </a:ext>
            </a:extLst>
          </p:cNvPr>
          <p:cNvSpPr/>
          <p:nvPr/>
        </p:nvSpPr>
        <p:spPr>
          <a:xfrm>
            <a:off x="508000" y="5016500"/>
            <a:ext cx="11176000" cy="1397000"/>
          </a:xfrm>
          <a:prstGeom prst="roundRect">
            <a:avLst/>
          </a:prstGeom>
          <a:solidFill>
            <a:srgbClr val="161410"/>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76EA92D0-18DB-4D4C-EA6F-B3F4414E4C79}"/>
              </a:ext>
            </a:extLst>
          </p:cNvPr>
          <p:cNvSpPr txBox="1"/>
          <p:nvPr/>
        </p:nvSpPr>
        <p:spPr>
          <a:xfrm>
            <a:off x="711200" y="5168900"/>
            <a:ext cx="10769600" cy="600164"/>
          </a:xfrm>
          <a:prstGeom prst="rect">
            <a:avLst/>
          </a:prstGeom>
          <a:noFill/>
        </p:spPr>
        <p:txBody>
          <a:bodyPr vert="horz" wrap="square" rtlCol="0">
            <a:spAutoFit/>
          </a:bodyPr>
          <a:lstStyle/>
          <a:p>
            <a:r>
              <a:rPr lang="en-US" sz="1300" b="1">
                <a:solidFill>
                  <a:srgbClr val="38BDF8"/>
                </a:solidFill>
                <a:latin typeface="Segoe UI Semibold" panose="020B0702040204020203" pitchFamily="34" charset="0"/>
              </a:rPr>
              <a:t>💡 The Golden Power Sizing Rule</a:t>
            </a:r>
          </a:p>
          <a:p>
            <a:r>
              <a:rPr lang="en-US" sz="1000">
                <a:solidFill>
                  <a:srgbClr val="E2E8F0"/>
                </a:solidFill>
                <a:latin typeface="Segoe UI" panose="020B0502040204020203" pitchFamily="34" charset="0"/>
              </a:rPr>
              <a:t>Always size your batteries, wires, motor controllers, and fuses for PEAK STARTUP SURGE (400W+), never for average cruising speed (96W). If your power system cannot deliver the 0.5-second acceleration burst, your robot will never drive forward!</a:t>
            </a:r>
            <a:endParaRPr lang="fr-FR"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22135119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E733D8-7BE0-BFCD-6482-5FFEBDB4A16F}"/>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86623AFD-D99F-6659-AFEA-2D6561A7F36B}"/>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C89F4368-8CD9-D6B2-2ACE-F16BF15F6328}"/>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F547FBB7-C39B-B01C-EF1F-71C512F5EF1C}"/>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REAL RUNTIME  </a:t>
            </a:r>
          </a:p>
        </p:txBody>
      </p:sp>
      <p:sp>
        <p:nvSpPr>
          <p:cNvPr id="6" name="ZoneTexte 5">
            <a:extLst>
              <a:ext uri="{FF2B5EF4-FFF2-40B4-BE49-F238E27FC236}">
                <a16:creationId xmlns:a16="http://schemas.microsoft.com/office/drawing/2014/main" id="{D0A669C1-7932-2E9D-78A0-09865CCFEA94}"/>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BATTERY RUNTIME: WHY DOES 1 HOUR BECOME 35 MINUTES?</a:t>
            </a:r>
            <a:endParaRPr lang="fr-FR" sz="2200" b="1">
              <a:solidFill>
                <a:srgbClr val="FFFFFF"/>
              </a:solidFill>
              <a:latin typeface="Segoe UI Semibold" panose="020B0702040204020203" pitchFamily="34" charset="0"/>
            </a:endParaRPr>
          </a:p>
        </p:txBody>
      </p:sp>
      <p:sp>
        <p:nvSpPr>
          <p:cNvPr id="7" name="Rectangle : coins arrondis 6">
            <a:extLst>
              <a:ext uri="{FF2B5EF4-FFF2-40B4-BE49-F238E27FC236}">
                <a16:creationId xmlns:a16="http://schemas.microsoft.com/office/drawing/2014/main" id="{43A2491D-AD3C-8593-D195-25F3902B0F16}"/>
              </a:ext>
            </a:extLst>
          </p:cNvPr>
          <p:cNvSpPr/>
          <p:nvPr/>
        </p:nvSpPr>
        <p:spPr>
          <a:xfrm>
            <a:off x="508000" y="1143000"/>
            <a:ext cx="5334000" cy="35560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177D7423-F399-CFBB-FA1F-1ADBB747F2FC}"/>
              </a:ext>
            </a:extLst>
          </p:cNvPr>
          <p:cNvSpPr txBox="1"/>
          <p:nvPr/>
        </p:nvSpPr>
        <p:spPr>
          <a:xfrm>
            <a:off x="698500" y="1333500"/>
            <a:ext cx="4953000" cy="1677382"/>
          </a:xfrm>
          <a:prstGeom prst="rect">
            <a:avLst/>
          </a:prstGeom>
          <a:noFill/>
        </p:spPr>
        <p:txBody>
          <a:bodyPr vert="horz" wrap="square" rtlCol="0">
            <a:spAutoFit/>
          </a:bodyPr>
          <a:lstStyle/>
          <a:p>
            <a:r>
              <a:rPr lang="fr-FR" sz="1500" b="1">
                <a:solidFill>
                  <a:srgbClr val="38BDF8"/>
                </a:solidFill>
                <a:latin typeface="Segoe UI Semibold" panose="020B0702040204020203" pitchFamily="34" charset="0"/>
              </a:rPr>
              <a:t>THE THEORETICAL MATH (Watt-Hours)</a:t>
            </a:r>
          </a:p>
          <a:p>
            <a:r>
              <a:rPr lang="en-US" sz="1100" b="1">
                <a:solidFill>
                  <a:srgbClr val="FFFFFF"/>
                </a:solidFill>
                <a:latin typeface="Segoe UI" panose="020B0502040204020203" pitchFamily="34" charset="0"/>
              </a:rPr>
              <a:t>• Battery Capacity: 12 Volts × 10 Amp-hours (Ah)</a:t>
            </a:r>
          </a:p>
          <a:p>
            <a:r>
              <a:rPr lang="en-US" sz="1100" b="1">
                <a:solidFill>
                  <a:srgbClr val="FFFFFF"/>
                </a:solidFill>
                <a:latin typeface="Segoe UI" panose="020B0502040204020203" pitchFamily="34" charset="0"/>
              </a:rPr>
              <a:t>• Total Energy = 120 Watt-Hours (Wh)</a:t>
            </a:r>
          </a:p>
          <a:p>
            <a:r>
              <a:rPr lang="en-US" sz="1100" b="1">
                <a:solidFill>
                  <a:srgbClr val="FFFFFF"/>
                </a:solidFill>
                <a:latin typeface="Segoe UI" panose="020B0502040204020203" pitchFamily="34" charset="0"/>
              </a:rPr>
              <a:t>• Robot Power Draw: 120 Watts continuous</a:t>
            </a:r>
          </a:p>
          <a:p>
            <a:r>
              <a:rPr lang="en-US" sz="1100" b="1">
                <a:solidFill>
                  <a:srgbClr val="FFFFFF"/>
                </a:solidFill>
                <a:latin typeface="Segoe UI" panose="020B0502040204020203" pitchFamily="34" charset="0"/>
              </a:rPr>
              <a:t>
Ideal Paper Runtime:</a:t>
            </a:r>
          </a:p>
          <a:p>
            <a:r>
              <a:rPr lang="en-US" sz="1100" b="1">
                <a:solidFill>
                  <a:srgbClr val="FFFFFF"/>
                </a:solidFill>
                <a:latin typeface="Segoe UI" panose="020B0502040204020203" pitchFamily="34" charset="0"/>
              </a:rPr>
              <a:t>120 Wh ÷ 120 W = Exactly 1.0 Hour (60 Minutes)!</a:t>
            </a:r>
          </a:p>
          <a:p>
            <a:r>
              <a:rPr lang="en-US" sz="1100" b="1">
                <a:solidFill>
                  <a:srgbClr val="FFFFFF"/>
                </a:solidFill>
                <a:latin typeface="Segoe UI" panose="020B0502040204020203" pitchFamily="34" charset="0"/>
              </a:rPr>
              <a:t>
Seems simple, right? Let's meet reality...</a:t>
            </a:r>
            <a:endParaRPr lang="fr-FR" sz="1100" b="1">
              <a:solidFill>
                <a:srgbClr val="FFFFFF"/>
              </a:solidFill>
              <a:latin typeface="Segoe UI" panose="020B0502040204020203" pitchFamily="34" charset="0"/>
            </a:endParaRPr>
          </a:p>
        </p:txBody>
      </p:sp>
      <p:sp>
        <p:nvSpPr>
          <p:cNvPr id="9" name="Rectangle : coins arrondis 8">
            <a:extLst>
              <a:ext uri="{FF2B5EF4-FFF2-40B4-BE49-F238E27FC236}">
                <a16:creationId xmlns:a16="http://schemas.microsoft.com/office/drawing/2014/main" id="{B3571960-3FB3-BC2C-4A7B-6B9A9C214363}"/>
              </a:ext>
            </a:extLst>
          </p:cNvPr>
          <p:cNvSpPr/>
          <p:nvPr/>
        </p:nvSpPr>
        <p:spPr>
          <a:xfrm>
            <a:off x="6350000" y="1143000"/>
            <a:ext cx="5334000" cy="3556000"/>
          </a:xfrm>
          <a:prstGeom prst="roundRect">
            <a:avLst/>
          </a:prstGeom>
          <a:solidFill>
            <a:srgbClr val="101622"/>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24BD7A2A-4887-DEC5-E7F5-9D1DE7202CAA}"/>
              </a:ext>
            </a:extLst>
          </p:cNvPr>
          <p:cNvSpPr txBox="1"/>
          <p:nvPr/>
        </p:nvSpPr>
        <p:spPr>
          <a:xfrm>
            <a:off x="6540500" y="1333500"/>
            <a:ext cx="4953000" cy="1554272"/>
          </a:xfrm>
          <a:prstGeom prst="rect">
            <a:avLst/>
          </a:prstGeom>
          <a:noFill/>
        </p:spPr>
        <p:txBody>
          <a:bodyPr vert="horz" wrap="square" rtlCol="0">
            <a:spAutoFit/>
          </a:bodyPr>
          <a:lstStyle/>
          <a:p>
            <a:r>
              <a:rPr lang="fr-FR" sz="1500" b="1">
                <a:solidFill>
                  <a:srgbClr val="F59E0B"/>
                </a:solidFill>
                <a:latin typeface="Segoe UI Semibold" panose="020B0702040204020203" pitchFamily="34" charset="0"/>
              </a:rPr>
              <a:t>THE 4 RUNTIME THIEVES</a:t>
            </a:r>
          </a:p>
          <a:p>
            <a:r>
              <a:rPr lang="en-US" sz="1000" b="1">
                <a:solidFill>
                  <a:srgbClr val="FFFFFF"/>
                </a:solidFill>
                <a:latin typeface="Segoe UI" panose="020B0502040204020203" pitchFamily="34" charset="0"/>
              </a:rPr>
              <a:t>1. Safety Reserve: Draining lithium batteries below 20% ruins them. Real usable capacity is ~80%!</a:t>
            </a:r>
          </a:p>
          <a:p>
            <a:r>
              <a:rPr lang="en-US" sz="1000" b="1">
                <a:solidFill>
                  <a:srgbClr val="FFFFFF"/>
                </a:solidFill>
                <a:latin typeface="Segoe UI" panose="020B0502040204020203" pitchFamily="34" charset="0"/>
              </a:rPr>
              <a:t>2. Heavy Load Sag: High currents create internal heat, losing ~10% of battery capacity.</a:t>
            </a:r>
          </a:p>
          <a:p>
            <a:r>
              <a:rPr lang="en-US" sz="1000" b="1">
                <a:solidFill>
                  <a:srgbClr val="FFFFFF"/>
                </a:solidFill>
                <a:latin typeface="Segoe UI" panose="020B0502040204020203" pitchFamily="34" charset="0"/>
              </a:rPr>
              <a:t>3. DC-DC Converter Losses: Stepping down 12V to 5V for computers wastes 12% as heat.</a:t>
            </a:r>
          </a:p>
          <a:p>
            <a:r>
              <a:rPr lang="en-US" sz="1000" b="1">
                <a:solidFill>
                  <a:srgbClr val="FFFFFF"/>
                </a:solidFill>
                <a:latin typeface="Segoe UI" panose="020B0502040204020203" pitchFamily="34" charset="0"/>
              </a:rPr>
              <a:t>4. Sensor Overhead: Cameras, LiDAR, and microcontrollers consume continuous base power.</a:t>
            </a:r>
            <a:endParaRPr lang="fr-FR" sz="1000" b="1">
              <a:solidFill>
                <a:srgbClr val="FFFFFF"/>
              </a:solidFill>
              <a:latin typeface="Segoe UI" panose="020B0502040204020203" pitchFamily="34" charset="0"/>
            </a:endParaRPr>
          </a:p>
        </p:txBody>
      </p:sp>
      <p:sp>
        <p:nvSpPr>
          <p:cNvPr id="11" name="Rectangle : coins arrondis 10">
            <a:extLst>
              <a:ext uri="{FF2B5EF4-FFF2-40B4-BE49-F238E27FC236}">
                <a16:creationId xmlns:a16="http://schemas.microsoft.com/office/drawing/2014/main" id="{9E5DF95F-7D96-F13A-10B9-CFF6FA9324D9}"/>
              </a:ext>
            </a:extLst>
          </p:cNvPr>
          <p:cNvSpPr/>
          <p:nvPr/>
        </p:nvSpPr>
        <p:spPr>
          <a:xfrm>
            <a:off x="508000" y="4889500"/>
            <a:ext cx="11176000" cy="1524000"/>
          </a:xfrm>
          <a:prstGeom prst="roundRect">
            <a:avLst/>
          </a:prstGeom>
          <a:solidFill>
            <a:srgbClr val="161410"/>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049AE0F4-4184-581B-EFEF-2632D771C470}"/>
              </a:ext>
            </a:extLst>
          </p:cNvPr>
          <p:cNvSpPr txBox="1"/>
          <p:nvPr/>
        </p:nvSpPr>
        <p:spPr>
          <a:xfrm>
            <a:off x="711200" y="5041900"/>
            <a:ext cx="10769600" cy="600164"/>
          </a:xfrm>
          <a:prstGeom prst="rect">
            <a:avLst/>
          </a:prstGeom>
          <a:noFill/>
        </p:spPr>
        <p:txBody>
          <a:bodyPr vert="horz" wrap="square" rtlCol="0">
            <a:spAutoFit/>
          </a:bodyPr>
          <a:lstStyle/>
          <a:p>
            <a:r>
              <a:rPr lang="en-US" sz="1300" b="1">
                <a:solidFill>
                  <a:srgbClr val="34D399"/>
                </a:solidFill>
                <a:latin typeface="Segoe UI Semibold" panose="020B0702040204020203" pitchFamily="34" charset="0"/>
              </a:rPr>
              <a:t>💡 The 70% Real-World Derating Rule</a:t>
            </a:r>
          </a:p>
          <a:p>
            <a:r>
              <a:rPr lang="en-US" sz="1000">
                <a:solidFill>
                  <a:srgbClr val="E2E8F0"/>
                </a:solidFill>
                <a:latin typeface="Segoe UI" panose="020B0502040204020203" pitchFamily="34" charset="0"/>
              </a:rPr>
              <a:t>Rule of Thumb for Robotics: Take your ideal textbook runtime and multiply it by 0.65× to 0.70×. If your math predicts 60 minutes, expect around 38 to 42 minutes in actual field operation. Always plan battery swaps or charging stations around real runtime, not datasheet marketing!</a:t>
            </a:r>
            <a:endParaRPr lang="fr-FR"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19075306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A707F7-A0E0-660E-7DC5-CF4D1D0775B7}"/>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33A5FA8D-5355-C3C2-6A21-0040D1D28C87}"/>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2D8C3A71-704C-7929-361B-C5417A115564}"/>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F05BDAD9-A5A1-4A35-824D-AC0AA432107B}"/>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DEBUGGING DETECTIVE  </a:t>
            </a:r>
          </a:p>
        </p:txBody>
      </p:sp>
      <p:sp>
        <p:nvSpPr>
          <p:cNvPr id="6" name="ZoneTexte 5">
            <a:extLst>
              <a:ext uri="{FF2B5EF4-FFF2-40B4-BE49-F238E27FC236}">
                <a16:creationId xmlns:a16="http://schemas.microsoft.com/office/drawing/2014/main" id="{0F22CABB-7EFA-57C0-52B0-07FBF8F62D23}"/>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THE BROWNOUT MYSTERY: WHY DID MY ROBOT REBOOT?</a:t>
            </a:r>
            <a:endParaRPr lang="fr-FR" sz="2200" b="1">
              <a:solidFill>
                <a:srgbClr val="FFFFFF"/>
              </a:solidFill>
              <a:latin typeface="Segoe UI Semibold" panose="020B0702040204020203" pitchFamily="34" charset="0"/>
            </a:endParaRPr>
          </a:p>
        </p:txBody>
      </p:sp>
      <p:sp>
        <p:nvSpPr>
          <p:cNvPr id="7" name="Rectangle : coins arrondis 6">
            <a:extLst>
              <a:ext uri="{FF2B5EF4-FFF2-40B4-BE49-F238E27FC236}">
                <a16:creationId xmlns:a16="http://schemas.microsoft.com/office/drawing/2014/main" id="{454F4B63-22B6-A3D4-84B0-1E6865630FC4}"/>
              </a:ext>
            </a:extLst>
          </p:cNvPr>
          <p:cNvSpPr/>
          <p:nvPr/>
        </p:nvSpPr>
        <p:spPr>
          <a:xfrm>
            <a:off x="508000" y="1143000"/>
            <a:ext cx="5334000" cy="3556000"/>
          </a:xfrm>
          <a:prstGeom prst="roundRect">
            <a:avLst/>
          </a:prstGeom>
          <a:solidFill>
            <a:srgbClr val="1C1016"/>
          </a:solidFill>
          <a:ln w="12700">
            <a:solidFill>
              <a:srgbClr val="F43F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99BA3D7F-F96E-CDE1-F4BB-D1AE882D98D1}"/>
              </a:ext>
            </a:extLst>
          </p:cNvPr>
          <p:cNvSpPr txBox="1"/>
          <p:nvPr/>
        </p:nvSpPr>
        <p:spPr>
          <a:xfrm>
            <a:off x="698500" y="1333500"/>
            <a:ext cx="4953000" cy="1400383"/>
          </a:xfrm>
          <a:prstGeom prst="rect">
            <a:avLst/>
          </a:prstGeom>
          <a:noFill/>
        </p:spPr>
        <p:txBody>
          <a:bodyPr vert="horz" wrap="square" rtlCol="0">
            <a:spAutoFit/>
          </a:bodyPr>
          <a:lstStyle/>
          <a:p>
            <a:r>
              <a:rPr lang="fr-FR" sz="1500" b="1">
                <a:solidFill>
                  <a:srgbClr val="F43F5E"/>
                </a:solidFill>
                <a:latin typeface="Segoe UI Semibold" panose="020B0702040204020203" pitchFamily="34" charset="0"/>
              </a:rPr>
              <a:t>THE BROWNOUT CHAIN REACTION</a:t>
            </a:r>
          </a:p>
          <a:p>
            <a:r>
              <a:rPr lang="fr-FR" sz="1000" b="1">
                <a:solidFill>
                  <a:srgbClr val="FFFFFF"/>
                </a:solidFill>
                <a:latin typeface="Segoe UI" panose="020B0502040204020203" pitchFamily="34" charset="0"/>
              </a:rPr>
              <a:t>1. Robot accelerates forward or turns hard.</a:t>
            </a:r>
          </a:p>
          <a:p>
            <a:r>
              <a:rPr lang="fr-FR" sz="1000" b="1">
                <a:solidFill>
                  <a:srgbClr val="FFFFFF"/>
                </a:solidFill>
                <a:latin typeface="Segoe UI" panose="020B0502040204020203" pitchFamily="34" charset="0"/>
              </a:rPr>
              <a:t>   ↓ Motors draw a large current spike (30A+)</a:t>
            </a:r>
          </a:p>
          <a:p>
            <a:r>
              <a:rPr lang="fr-FR" sz="1000" b="1">
                <a:solidFill>
                  <a:srgbClr val="FFFFFF"/>
                </a:solidFill>
                <a:latin typeface="Segoe UI" panose="020B0502040204020203" pitchFamily="34" charset="0"/>
              </a:rPr>
              <a:t>2. Battery terminal voltage droops (12V drops to 9V)</a:t>
            </a:r>
          </a:p>
          <a:p>
            <a:r>
              <a:rPr lang="fr-FR" sz="1000" b="1">
                <a:solidFill>
                  <a:srgbClr val="FFFFFF"/>
                </a:solidFill>
                <a:latin typeface="Segoe UI" panose="020B0502040204020203" pitchFamily="34" charset="0"/>
              </a:rPr>
              <a:t>   ↓ DC-DC voltage regulator for brain can't cope</a:t>
            </a:r>
          </a:p>
          <a:p>
            <a:r>
              <a:rPr lang="fr-FR" sz="1000" b="1">
                <a:solidFill>
                  <a:srgbClr val="FFFFFF"/>
                </a:solidFill>
                <a:latin typeface="Segoe UI" panose="020B0502040204020203" pitchFamily="34" charset="0"/>
              </a:rPr>
              <a:t>3. 5V logic rail drops below 4.5V for just 2 milliseconds!</a:t>
            </a:r>
          </a:p>
          <a:p>
            <a:r>
              <a:rPr lang="fr-FR" sz="1000" b="1">
                <a:solidFill>
                  <a:srgbClr val="FFFFFF"/>
                </a:solidFill>
                <a:latin typeface="Segoe UI" panose="020B0502040204020203" pitchFamily="34" charset="0"/>
              </a:rPr>
              <a:t>   ↓ Microcontroller triggers 'Brownout Reset' (BOR)</a:t>
            </a:r>
          </a:p>
          <a:p>
            <a:r>
              <a:rPr lang="fr-FR" sz="1000" b="1">
                <a:solidFill>
                  <a:srgbClr val="FFFFFF"/>
                </a:solidFill>
                <a:latin typeface="Segoe UI" panose="020B0502040204020203" pitchFamily="34" charset="0"/>
              </a:rPr>
              <a:t>4. Brain shuts down &amp; reboots → Motors freeze dead!</a:t>
            </a:r>
          </a:p>
        </p:txBody>
      </p:sp>
      <p:sp>
        <p:nvSpPr>
          <p:cNvPr id="9" name="Rectangle : coins arrondis 8">
            <a:extLst>
              <a:ext uri="{FF2B5EF4-FFF2-40B4-BE49-F238E27FC236}">
                <a16:creationId xmlns:a16="http://schemas.microsoft.com/office/drawing/2014/main" id="{878D7356-010D-7C55-3174-EB68C3B7C0E8}"/>
              </a:ext>
            </a:extLst>
          </p:cNvPr>
          <p:cNvSpPr/>
          <p:nvPr/>
        </p:nvSpPr>
        <p:spPr>
          <a:xfrm>
            <a:off x="6350000" y="1143000"/>
            <a:ext cx="5334000" cy="3556000"/>
          </a:xfrm>
          <a:prstGeom prst="roundRect">
            <a:avLst/>
          </a:prstGeom>
          <a:solidFill>
            <a:srgbClr val="101622"/>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876F4AAE-43D5-0332-9C0C-B509049D2F55}"/>
              </a:ext>
            </a:extLst>
          </p:cNvPr>
          <p:cNvSpPr txBox="1"/>
          <p:nvPr/>
        </p:nvSpPr>
        <p:spPr>
          <a:xfrm>
            <a:off x="6540500" y="1333500"/>
            <a:ext cx="4953000" cy="1862048"/>
          </a:xfrm>
          <a:prstGeom prst="rect">
            <a:avLst/>
          </a:prstGeom>
          <a:noFill/>
        </p:spPr>
        <p:txBody>
          <a:bodyPr vert="horz" wrap="square" rtlCol="0">
            <a:spAutoFit/>
          </a:bodyPr>
          <a:lstStyle/>
          <a:p>
            <a:r>
              <a:rPr lang="en-US" sz="1500" b="1">
                <a:solidFill>
                  <a:srgbClr val="34D399"/>
                </a:solidFill>
                <a:latin typeface="Segoe UI Semibold" panose="020B0702040204020203" pitchFamily="34" charset="0"/>
              </a:rPr>
              <a:t>HOW TO FIX IT (3 PRO HABITS)</a:t>
            </a:r>
          </a:p>
          <a:p>
            <a:r>
              <a:rPr lang="en-US" sz="1000" b="1">
                <a:solidFill>
                  <a:srgbClr val="FFFFFF"/>
                </a:solidFill>
                <a:latin typeface="Segoe UI" panose="020B0502040204020203" pitchFamily="34" charset="0"/>
              </a:rPr>
              <a:t>✅ 1. ISOLATE POWER RAILS:</a:t>
            </a:r>
          </a:p>
          <a:p>
            <a:r>
              <a:rPr lang="en-US" sz="1000" b="1">
                <a:solidFill>
                  <a:srgbClr val="FFFFFF"/>
                </a:solidFill>
                <a:latin typeface="Segoe UI" panose="020B0502040204020203" pitchFamily="34" charset="0"/>
              </a:rPr>
              <a:t>   Use a separate small battery for your computer/brain, or use an isolated buck-boost regulator that stays at 5V even if input drops to 6V!</a:t>
            </a:r>
          </a:p>
          <a:p>
            <a:r>
              <a:rPr lang="en-US" sz="1000" b="1">
                <a:solidFill>
                  <a:srgbClr val="FFFFFF"/>
                </a:solidFill>
                <a:latin typeface="Segoe UI" panose="020B0502040204020203" pitchFamily="34" charset="0"/>
              </a:rPr>
              <a:t>
✅ 2. ADD BULK CAPACITORS:</a:t>
            </a:r>
          </a:p>
          <a:p>
            <a:r>
              <a:rPr lang="en-US" sz="1000" b="1">
                <a:solidFill>
                  <a:srgbClr val="FFFFFF"/>
                </a:solidFill>
                <a:latin typeface="Segoe UI" panose="020B0502040204020203" pitchFamily="34" charset="0"/>
              </a:rPr>
              <a:t>   Place a fat 1000 µF capacitor right at each motor driver to absorb instantaneous current spikes.</a:t>
            </a:r>
          </a:p>
          <a:p>
            <a:r>
              <a:rPr lang="en-US" sz="1000" b="1">
                <a:solidFill>
                  <a:srgbClr val="FFFFFF"/>
                </a:solidFill>
                <a:latin typeface="Segoe UI" panose="020B0502040204020203" pitchFamily="34" charset="0"/>
              </a:rPr>
              <a:t>
✅ 3. SEPARATE SIGNAL &amp; POWER GROUNDS:</a:t>
            </a:r>
          </a:p>
          <a:p>
            <a:r>
              <a:rPr lang="en-US" sz="1000" b="1">
                <a:solidFill>
                  <a:srgbClr val="FFFFFF"/>
                </a:solidFill>
                <a:latin typeface="Segoe UI" panose="020B0502040204020203" pitchFamily="34" charset="0"/>
              </a:rPr>
              <a:t>   Star-grounding prevents motor noise from confusing sensors.</a:t>
            </a:r>
            <a:endParaRPr lang="fr-FR" sz="1000" b="1">
              <a:solidFill>
                <a:srgbClr val="FFFFFF"/>
              </a:solidFill>
              <a:latin typeface="Segoe UI" panose="020B0502040204020203" pitchFamily="34" charset="0"/>
            </a:endParaRPr>
          </a:p>
        </p:txBody>
      </p:sp>
      <p:sp>
        <p:nvSpPr>
          <p:cNvPr id="11" name="Rectangle : coins arrondis 10">
            <a:extLst>
              <a:ext uri="{FF2B5EF4-FFF2-40B4-BE49-F238E27FC236}">
                <a16:creationId xmlns:a16="http://schemas.microsoft.com/office/drawing/2014/main" id="{E3F8E28F-26B1-A99E-A0D6-A9A7A7C6FF6D}"/>
              </a:ext>
            </a:extLst>
          </p:cNvPr>
          <p:cNvSpPr/>
          <p:nvPr/>
        </p:nvSpPr>
        <p:spPr>
          <a:xfrm>
            <a:off x="508000" y="4889500"/>
            <a:ext cx="11176000" cy="1524000"/>
          </a:xfrm>
          <a:prstGeom prst="roundRect">
            <a:avLst/>
          </a:prstGeom>
          <a:solidFill>
            <a:srgbClr val="161410"/>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B47A9705-D533-40FA-CE45-3EE17DAEFA5A}"/>
              </a:ext>
            </a:extLst>
          </p:cNvPr>
          <p:cNvSpPr txBox="1"/>
          <p:nvPr/>
        </p:nvSpPr>
        <p:spPr>
          <a:xfrm>
            <a:off x="711200" y="5041900"/>
            <a:ext cx="10769600" cy="600164"/>
          </a:xfrm>
          <a:prstGeom prst="rect">
            <a:avLst/>
          </a:prstGeom>
          <a:noFill/>
        </p:spPr>
        <p:txBody>
          <a:bodyPr vert="horz" wrap="square" rtlCol="0">
            <a:spAutoFit/>
          </a:bodyPr>
          <a:lstStyle/>
          <a:p>
            <a:r>
              <a:rPr lang="fr-FR" sz="1300" b="1">
                <a:solidFill>
                  <a:srgbClr val="A855F7"/>
                </a:solidFill>
                <a:latin typeface="Segoe UI Semibold" panose="020B0702040204020203" pitchFamily="34" charset="0"/>
              </a:rPr>
              <a:t>💡 Inside Engineering Joke</a:t>
            </a:r>
          </a:p>
          <a:p>
            <a:r>
              <a:rPr lang="en-US" sz="1000">
                <a:solidFill>
                  <a:srgbClr val="E2E8F0"/>
                </a:solidFill>
                <a:latin typeface="Segoe UI" panose="020B0502040204020203" pitchFamily="34" charset="0"/>
              </a:rPr>
              <a:t>"It worked perfectly on my desk!" — Every robotics student right before putting their robot on the carpet. On the desk, wheels spin in mid-air with zero resistance. On the carpet, friction demands full motor torque, triggering the brownout! Always test power systems under real floor loads.</a:t>
            </a:r>
            <a:endParaRPr lang="fr-FR"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17107143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0FE9CF8-3538-EB6C-4FB3-25DB5B1D36D5}"/>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2A5692A5-9D19-901E-0A5E-B5F63B8A51CC}"/>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83A62CE7-8189-1FA9-3982-79FD87A43C2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04000" y="1524000"/>
            <a:ext cx="4064000" cy="3302000"/>
          </a:xfrm>
          <a:prstGeom prst="rect">
            <a:avLst/>
          </a:prstGeom>
        </p:spPr>
      </p:pic>
      <p:sp>
        <p:nvSpPr>
          <p:cNvPr id="6" name="ZoneTexte 5">
            <a:extLst>
              <a:ext uri="{FF2B5EF4-FFF2-40B4-BE49-F238E27FC236}">
                <a16:creationId xmlns:a16="http://schemas.microsoft.com/office/drawing/2014/main" id="{22856601-156F-F3F8-4CE6-AF6EE42C7108}"/>
              </a:ext>
            </a:extLst>
          </p:cNvPr>
          <p:cNvSpPr txBox="1"/>
          <p:nvPr/>
        </p:nvSpPr>
        <p:spPr>
          <a:xfrm>
            <a:off x="635000" y="1778000"/>
            <a:ext cx="5588000" cy="1415772"/>
          </a:xfrm>
          <a:prstGeom prst="rect">
            <a:avLst/>
          </a:prstGeom>
          <a:noFill/>
        </p:spPr>
        <p:txBody>
          <a:bodyPr vert="horz" wrap="square" rtlCol="0">
            <a:spAutoFit/>
          </a:bodyPr>
          <a:lstStyle/>
          <a:p>
            <a:r>
              <a:rPr lang="fr-FR" sz="1300" b="1">
                <a:solidFill>
                  <a:srgbClr val="A855F7"/>
                </a:solidFill>
                <a:latin typeface="Segoe UI" panose="020B0502040204020203" pitchFamily="34" charset="0"/>
              </a:rPr>
              <a:t>PART 05 • SOFTWARE ARCHITECTURE</a:t>
            </a:r>
          </a:p>
          <a:p>
            <a:r>
              <a:rPr lang="fr-FR" sz="3000" b="1">
                <a:solidFill>
                  <a:srgbClr val="FFFFFF"/>
                </a:solidFill>
                <a:latin typeface="Segoe UI Semibold" panose="020B0702040204020203" pitchFamily="34" charset="0"/>
              </a:rPr>
              <a:t>SOFTWARE STACKS
&amp; SIMULATION</a:t>
            </a:r>
          </a:p>
          <a:p>
            <a:r>
              <a:rPr lang="en-US" sz="1300">
                <a:solidFill>
                  <a:srgbClr val="E2E8F0"/>
                </a:solidFill>
                <a:latin typeface="Segoe UI" panose="020B0502040204020203" pitchFamily="34" charset="0"/>
              </a:rPr>
              <a:t>CAD • Free Tools • Firmware • ROS 2 • Where Does Code Live?</a:t>
            </a:r>
            <a:endParaRPr lang="fr-FR" sz="1300">
              <a:solidFill>
                <a:srgbClr val="E2E8F0"/>
              </a:solidFill>
              <a:latin typeface="Segoe UI" panose="020B0502040204020203" pitchFamily="34" charset="0"/>
            </a:endParaRPr>
          </a:p>
        </p:txBody>
      </p:sp>
    </p:spTree>
    <p:extLst>
      <p:ext uri="{BB962C8B-B14F-4D97-AF65-F5344CB8AC3E}">
        <p14:creationId xmlns:p14="http://schemas.microsoft.com/office/powerpoint/2010/main" val="16535313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E0FB7E-7314-4D64-5E95-A22EB7BB56B5}"/>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D73D183A-2452-6B9B-184C-9A187F63F254}"/>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BE4F4F2C-FD60-4F0A-9979-762E2977F072}"/>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0EDAED53-99CD-3A65-7041-593621B1D117}"/>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ARCHITECTURE  </a:t>
            </a:r>
          </a:p>
        </p:txBody>
      </p:sp>
      <p:sp>
        <p:nvSpPr>
          <p:cNvPr id="6" name="ZoneTexte 5">
            <a:extLst>
              <a:ext uri="{FF2B5EF4-FFF2-40B4-BE49-F238E27FC236}">
                <a16:creationId xmlns:a16="http://schemas.microsoft.com/office/drawing/2014/main" id="{C39E4A9E-96A0-D73C-BDE4-017E668C0E82}"/>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THE SOFTWARE STACK: LAYERS OF THE ROBOT BRAIN</a:t>
            </a:r>
            <a:endParaRPr lang="fr-FR" sz="2200" b="1">
              <a:solidFill>
                <a:srgbClr val="FFFFFF"/>
              </a:solidFill>
              <a:latin typeface="Segoe UI Semibold" panose="020B0702040204020203" pitchFamily="34" charset="0"/>
            </a:endParaRPr>
          </a:p>
        </p:txBody>
      </p:sp>
      <p:sp>
        <p:nvSpPr>
          <p:cNvPr id="7" name="Rectangle : coins arrondis 6">
            <a:extLst>
              <a:ext uri="{FF2B5EF4-FFF2-40B4-BE49-F238E27FC236}">
                <a16:creationId xmlns:a16="http://schemas.microsoft.com/office/drawing/2014/main" id="{E6D43D1B-F555-D3D6-0BF2-03ACDB69D95B}"/>
              </a:ext>
            </a:extLst>
          </p:cNvPr>
          <p:cNvSpPr/>
          <p:nvPr/>
        </p:nvSpPr>
        <p:spPr>
          <a:xfrm>
            <a:off x="508000" y="1079500"/>
            <a:ext cx="11176000" cy="787400"/>
          </a:xfrm>
          <a:prstGeom prst="roundRect">
            <a:avLst/>
          </a:prstGeom>
          <a:solidFill>
            <a:srgbClr val="101622"/>
          </a:solidFill>
          <a:ln w="12700">
            <a:solidFill>
              <a:srgbClr val="F43F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05630ADD-CC23-93D6-058B-F593351C0582}"/>
              </a:ext>
            </a:extLst>
          </p:cNvPr>
          <p:cNvSpPr txBox="1"/>
          <p:nvPr/>
        </p:nvSpPr>
        <p:spPr>
          <a:xfrm>
            <a:off x="698500" y="1181100"/>
            <a:ext cx="10795000" cy="292388"/>
          </a:xfrm>
          <a:prstGeom prst="rect">
            <a:avLst/>
          </a:prstGeom>
          <a:noFill/>
        </p:spPr>
        <p:txBody>
          <a:bodyPr vert="horz" wrap="square" rtlCol="0">
            <a:spAutoFit/>
          </a:bodyPr>
          <a:lstStyle/>
          <a:p>
            <a:r>
              <a:rPr lang="fr-FR" sz="1300" b="1">
                <a:solidFill>
                  <a:srgbClr val="F43F5E"/>
                </a:solidFill>
                <a:latin typeface="Segoe UI Semibold" panose="020B0702040204020203" pitchFamily="34" charset="0"/>
              </a:rPr>
              <a:t>05. AI &amp; AUTONOMY  </a:t>
            </a:r>
            <a:r>
              <a:rPr lang="fr-FR" sz="1100" b="1">
                <a:solidFill>
                  <a:srgbClr val="FFFFFF"/>
                </a:solidFill>
                <a:latin typeface="Segoe UI" panose="020B0502040204020203" pitchFamily="34" charset="0"/>
              </a:rPr>
              <a:t>[High-Level Decisions]  </a:t>
            </a:r>
            <a:r>
              <a:rPr lang="en-US" sz="1000" b="1">
                <a:solidFill>
                  <a:srgbClr val="E2E8F0"/>
                </a:solidFill>
                <a:latin typeface="Segoe UI" panose="020B0502040204020203" pitchFamily="34" charset="0"/>
              </a:rPr>
              <a:t>—  • 'Deliver coffee to Room 204' • Object detection (YOLO) • Semantic voice understanding</a:t>
            </a:r>
            <a:endParaRPr lang="fr-FR" sz="1000" b="1">
              <a:solidFill>
                <a:srgbClr val="E2E8F0"/>
              </a:solidFill>
              <a:latin typeface="Segoe UI" panose="020B0502040204020203" pitchFamily="34" charset="0"/>
            </a:endParaRPr>
          </a:p>
        </p:txBody>
      </p:sp>
      <p:sp>
        <p:nvSpPr>
          <p:cNvPr id="9" name="Rectangle : coins arrondis 8">
            <a:extLst>
              <a:ext uri="{FF2B5EF4-FFF2-40B4-BE49-F238E27FC236}">
                <a16:creationId xmlns:a16="http://schemas.microsoft.com/office/drawing/2014/main" id="{67158C09-9447-89D0-054A-A09BCC86ADC4}"/>
              </a:ext>
            </a:extLst>
          </p:cNvPr>
          <p:cNvSpPr/>
          <p:nvPr/>
        </p:nvSpPr>
        <p:spPr>
          <a:xfrm>
            <a:off x="508000" y="1993900"/>
            <a:ext cx="11176000" cy="787400"/>
          </a:xfrm>
          <a:prstGeom prst="roundRect">
            <a:avLst/>
          </a:prstGeom>
          <a:solidFill>
            <a:srgbClr val="101622"/>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DEE0CB7D-C091-553D-D0A6-B03C56A0996B}"/>
              </a:ext>
            </a:extLst>
          </p:cNvPr>
          <p:cNvSpPr txBox="1"/>
          <p:nvPr/>
        </p:nvSpPr>
        <p:spPr>
          <a:xfrm>
            <a:off x="698500" y="2095500"/>
            <a:ext cx="10795000" cy="292388"/>
          </a:xfrm>
          <a:prstGeom prst="rect">
            <a:avLst/>
          </a:prstGeom>
          <a:noFill/>
        </p:spPr>
        <p:txBody>
          <a:bodyPr vert="horz" wrap="square" rtlCol="0">
            <a:spAutoFit/>
          </a:bodyPr>
          <a:lstStyle/>
          <a:p>
            <a:r>
              <a:rPr lang="fr-FR" sz="1300" b="1">
                <a:solidFill>
                  <a:srgbClr val="A855F7"/>
                </a:solidFill>
                <a:latin typeface="Segoe UI Semibold" panose="020B0702040204020203" pitchFamily="34" charset="0"/>
              </a:rPr>
              <a:t>04. ROS 2 MIDDLEWARE  </a:t>
            </a:r>
            <a:r>
              <a:rPr lang="fr-FR" sz="1100" b="1">
                <a:solidFill>
                  <a:srgbClr val="FFFFFF"/>
                </a:solidFill>
                <a:latin typeface="Segoe UI" panose="020B0502040204020203" pitchFamily="34" charset="0"/>
              </a:rPr>
              <a:t>[The Telephone Network]  </a:t>
            </a:r>
            <a:r>
              <a:rPr lang="en-US" sz="1000" b="1">
                <a:solidFill>
                  <a:srgbClr val="E2E8F0"/>
                </a:solidFill>
                <a:latin typeface="Segoe UI" panose="020B0502040204020203" pitchFamily="34" charset="0"/>
              </a:rPr>
              <a:t>—  • Connects independent software nodes cleanly using Publish / Subscribe messaging</a:t>
            </a:r>
            <a:endParaRPr lang="fr-FR" sz="1000" b="1">
              <a:solidFill>
                <a:srgbClr val="E2E8F0"/>
              </a:solidFill>
              <a:latin typeface="Segoe UI" panose="020B0502040204020203" pitchFamily="34" charset="0"/>
            </a:endParaRPr>
          </a:p>
        </p:txBody>
      </p:sp>
      <p:sp>
        <p:nvSpPr>
          <p:cNvPr id="11" name="Rectangle : coins arrondis 10">
            <a:extLst>
              <a:ext uri="{FF2B5EF4-FFF2-40B4-BE49-F238E27FC236}">
                <a16:creationId xmlns:a16="http://schemas.microsoft.com/office/drawing/2014/main" id="{6836B196-1F83-E638-6C18-2394F9863D9A}"/>
              </a:ext>
            </a:extLst>
          </p:cNvPr>
          <p:cNvSpPr/>
          <p:nvPr/>
        </p:nvSpPr>
        <p:spPr>
          <a:xfrm>
            <a:off x="508000" y="2908300"/>
            <a:ext cx="11176000" cy="7874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CB045A74-8433-878A-6BEF-D5418A7FB2F2}"/>
              </a:ext>
            </a:extLst>
          </p:cNvPr>
          <p:cNvSpPr txBox="1"/>
          <p:nvPr/>
        </p:nvSpPr>
        <p:spPr>
          <a:xfrm>
            <a:off x="698500" y="3009900"/>
            <a:ext cx="10795000" cy="292388"/>
          </a:xfrm>
          <a:prstGeom prst="rect">
            <a:avLst/>
          </a:prstGeom>
          <a:noFill/>
        </p:spPr>
        <p:txBody>
          <a:bodyPr vert="horz" wrap="square" rtlCol="0">
            <a:spAutoFit/>
          </a:bodyPr>
          <a:lstStyle/>
          <a:p>
            <a:r>
              <a:rPr lang="fr-FR" sz="1300" b="1">
                <a:solidFill>
                  <a:srgbClr val="38BDF8"/>
                </a:solidFill>
                <a:latin typeface="Segoe UI Semibold" panose="020B0702040204020203" pitchFamily="34" charset="0"/>
              </a:rPr>
              <a:t>03. MOTION PLANNING  </a:t>
            </a:r>
            <a:r>
              <a:rPr lang="fr-FR" sz="1100" b="1">
                <a:solidFill>
                  <a:srgbClr val="FFFFFF"/>
                </a:solidFill>
                <a:latin typeface="Segoe UI" panose="020B0502040204020203" pitchFamily="34" charset="0"/>
              </a:rPr>
              <a:t>[Smooth Trajectories]  </a:t>
            </a:r>
            <a:r>
              <a:rPr lang="en-US" sz="1000" b="1">
                <a:solidFill>
                  <a:srgbClr val="E2E8F0"/>
                </a:solidFill>
                <a:latin typeface="Segoe UI" panose="020B0502040204020203" pitchFamily="34" charset="0"/>
              </a:rPr>
              <a:t>—  • Calculates smooth paths (Nav2, MoveIt) so wheels and arms avoid bumping into walls</a:t>
            </a:r>
            <a:endParaRPr lang="fr-FR" sz="1000" b="1">
              <a:solidFill>
                <a:srgbClr val="E2E8F0"/>
              </a:solidFill>
              <a:latin typeface="Segoe UI" panose="020B0502040204020203" pitchFamily="34" charset="0"/>
            </a:endParaRPr>
          </a:p>
        </p:txBody>
      </p:sp>
      <p:sp>
        <p:nvSpPr>
          <p:cNvPr id="13" name="Rectangle : coins arrondis 12">
            <a:extLst>
              <a:ext uri="{FF2B5EF4-FFF2-40B4-BE49-F238E27FC236}">
                <a16:creationId xmlns:a16="http://schemas.microsoft.com/office/drawing/2014/main" id="{4B71A040-3E1C-A14C-D5A4-BA32924F5EA0}"/>
              </a:ext>
            </a:extLst>
          </p:cNvPr>
          <p:cNvSpPr/>
          <p:nvPr/>
        </p:nvSpPr>
        <p:spPr>
          <a:xfrm>
            <a:off x="508000" y="3822700"/>
            <a:ext cx="11176000" cy="787400"/>
          </a:xfrm>
          <a:prstGeom prst="roundRect">
            <a:avLst/>
          </a:prstGeom>
          <a:solidFill>
            <a:srgbClr val="101622"/>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5AC7A883-F4F1-AD93-EF25-5323C2F9FE2B}"/>
              </a:ext>
            </a:extLst>
          </p:cNvPr>
          <p:cNvSpPr txBox="1"/>
          <p:nvPr/>
        </p:nvSpPr>
        <p:spPr>
          <a:xfrm>
            <a:off x="698500" y="3924300"/>
            <a:ext cx="10795000" cy="292388"/>
          </a:xfrm>
          <a:prstGeom prst="rect">
            <a:avLst/>
          </a:prstGeom>
          <a:noFill/>
        </p:spPr>
        <p:txBody>
          <a:bodyPr vert="horz" wrap="square" rtlCol="0">
            <a:spAutoFit/>
          </a:bodyPr>
          <a:lstStyle/>
          <a:p>
            <a:r>
              <a:rPr lang="fr-FR" sz="1300" b="1">
                <a:solidFill>
                  <a:srgbClr val="34D399"/>
                </a:solidFill>
                <a:latin typeface="Segoe UI Semibold" panose="020B0702040204020203" pitchFamily="34" charset="0"/>
              </a:rPr>
              <a:t>02. EMBEDDED FIRMWARE  </a:t>
            </a:r>
            <a:r>
              <a:rPr lang="fr-FR" sz="1100" b="1">
                <a:solidFill>
                  <a:srgbClr val="FFFFFF"/>
                </a:solidFill>
                <a:latin typeface="Segoe UI" panose="020B0502040204020203" pitchFamily="34" charset="0"/>
              </a:rPr>
              <a:t>[Real-Time Reflexes]  </a:t>
            </a:r>
            <a:r>
              <a:rPr lang="en-US" sz="1000" b="1">
                <a:solidFill>
                  <a:srgbClr val="E2E8F0"/>
                </a:solidFill>
                <a:latin typeface="Segoe UI" panose="020B0502040204020203" pitchFamily="34" charset="0"/>
              </a:rPr>
              <a:t>—  • C/C++ on microcontroller (STM32/ESP32) reading encoders and pulsing motor PWM every millisecond</a:t>
            </a:r>
            <a:endParaRPr lang="fr-FR" sz="1000" b="1">
              <a:solidFill>
                <a:srgbClr val="E2E8F0"/>
              </a:solidFill>
              <a:latin typeface="Segoe UI" panose="020B0502040204020203" pitchFamily="34" charset="0"/>
            </a:endParaRPr>
          </a:p>
        </p:txBody>
      </p:sp>
      <p:sp>
        <p:nvSpPr>
          <p:cNvPr id="15" name="Rectangle : coins arrondis 14">
            <a:extLst>
              <a:ext uri="{FF2B5EF4-FFF2-40B4-BE49-F238E27FC236}">
                <a16:creationId xmlns:a16="http://schemas.microsoft.com/office/drawing/2014/main" id="{385C69F7-79A0-CAA1-CE23-0199D9C258E9}"/>
              </a:ext>
            </a:extLst>
          </p:cNvPr>
          <p:cNvSpPr/>
          <p:nvPr/>
        </p:nvSpPr>
        <p:spPr>
          <a:xfrm>
            <a:off x="508000" y="4737100"/>
            <a:ext cx="11176000" cy="787400"/>
          </a:xfrm>
          <a:prstGeom prst="roundRect">
            <a:avLst/>
          </a:prstGeom>
          <a:solidFill>
            <a:srgbClr val="101622"/>
          </a:solidFill>
          <a:ln w="12700">
            <a:solidFill>
              <a:srgbClr val="94A3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46379110-0C8A-A4D8-42C0-A342C3909259}"/>
              </a:ext>
            </a:extLst>
          </p:cNvPr>
          <p:cNvSpPr txBox="1"/>
          <p:nvPr/>
        </p:nvSpPr>
        <p:spPr>
          <a:xfrm>
            <a:off x="698500" y="4838700"/>
            <a:ext cx="10795000" cy="292388"/>
          </a:xfrm>
          <a:prstGeom prst="rect">
            <a:avLst/>
          </a:prstGeom>
          <a:noFill/>
        </p:spPr>
        <p:txBody>
          <a:bodyPr vert="horz" wrap="square" rtlCol="0">
            <a:spAutoFit/>
          </a:bodyPr>
          <a:lstStyle/>
          <a:p>
            <a:r>
              <a:rPr lang="fr-FR" sz="1300" b="1">
                <a:solidFill>
                  <a:srgbClr val="94A3B8"/>
                </a:solidFill>
                <a:latin typeface="Segoe UI Semibold" panose="020B0702040204020203" pitchFamily="34" charset="0"/>
              </a:rPr>
              <a:t>01. PHYSICAL HARDWARE  </a:t>
            </a:r>
            <a:r>
              <a:rPr lang="fr-FR" sz="1100" b="1">
                <a:solidFill>
                  <a:srgbClr val="FFFFFF"/>
                </a:solidFill>
                <a:latin typeface="Segoe UI" panose="020B0502040204020203" pitchFamily="34" charset="0"/>
              </a:rPr>
              <a:t>[The Real World]  </a:t>
            </a:r>
            <a:r>
              <a:rPr lang="en-US" sz="1000" b="1">
                <a:solidFill>
                  <a:srgbClr val="E2E8F0"/>
                </a:solidFill>
                <a:latin typeface="Segoe UI" panose="020B0502040204020203" pitchFamily="34" charset="0"/>
              </a:rPr>
              <a:t>—  • MOSFET drivers, motor coils, wheel traction, and floor physics</a:t>
            </a:r>
            <a:endParaRPr lang="fr-FR" sz="1000" b="1">
              <a:solidFill>
                <a:srgbClr val="E2E8F0"/>
              </a:solidFill>
              <a:latin typeface="Segoe UI" panose="020B0502040204020203" pitchFamily="34" charset="0"/>
            </a:endParaRPr>
          </a:p>
        </p:txBody>
      </p:sp>
      <p:sp>
        <p:nvSpPr>
          <p:cNvPr id="17" name="Rectangle : coins arrondis 16">
            <a:extLst>
              <a:ext uri="{FF2B5EF4-FFF2-40B4-BE49-F238E27FC236}">
                <a16:creationId xmlns:a16="http://schemas.microsoft.com/office/drawing/2014/main" id="{08C05B2D-09DA-9585-9D03-377FEAAA5BE9}"/>
              </a:ext>
            </a:extLst>
          </p:cNvPr>
          <p:cNvSpPr/>
          <p:nvPr/>
        </p:nvSpPr>
        <p:spPr>
          <a:xfrm>
            <a:off x="508000" y="5778500"/>
            <a:ext cx="11176000" cy="635000"/>
          </a:xfrm>
          <a:prstGeom prst="roundRect">
            <a:avLst/>
          </a:prstGeom>
          <a:solidFill>
            <a:srgbClr val="181410"/>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3765C3F5-45C5-5D2E-80EE-7A8C1340D4A3}"/>
              </a:ext>
            </a:extLst>
          </p:cNvPr>
          <p:cNvSpPr txBox="1"/>
          <p:nvPr/>
        </p:nvSpPr>
        <p:spPr>
          <a:xfrm>
            <a:off x="698500" y="5867400"/>
            <a:ext cx="10795000" cy="261610"/>
          </a:xfrm>
          <a:prstGeom prst="rect">
            <a:avLst/>
          </a:prstGeom>
          <a:noFill/>
        </p:spPr>
        <p:txBody>
          <a:bodyPr vert="horz" rtlCol="0">
            <a:spAutoFit/>
          </a:bodyPr>
          <a:lstStyle/>
          <a:p>
            <a:r>
              <a:rPr lang="en-US" sz="1100">
                <a:solidFill>
                  <a:srgbClr val="FBBF24"/>
                </a:solidFill>
                <a:latin typeface="Segoe UI Semibold" panose="020B0702040204020203" pitchFamily="34" charset="0"/>
              </a:rPr>
              <a:t>💡 Beginner Rule: Never try to run heavy AI models on an Arduino, and never pulse microsecond motor pins from desktop Python!</a:t>
            </a:r>
            <a:endParaRPr lang="fr-FR" sz="1100">
              <a:solidFill>
                <a:srgbClr val="FBBF24"/>
              </a:solidFill>
              <a:latin typeface="Segoe UI Semibold" panose="020B0702040204020203" pitchFamily="34" charset="0"/>
            </a:endParaRPr>
          </a:p>
        </p:txBody>
      </p:sp>
    </p:spTree>
    <p:extLst>
      <p:ext uri="{BB962C8B-B14F-4D97-AF65-F5344CB8AC3E}">
        <p14:creationId xmlns:p14="http://schemas.microsoft.com/office/powerpoint/2010/main" val="32126363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EC9073-FFC3-0EEB-200D-AFBBE4508698}"/>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434EBF38-75B6-9857-A26E-A135F35DCE53}"/>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729DD647-626A-5AD7-11C5-2A438137E90A}"/>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FDD68617-393F-7BBF-4BEA-30386879ABAF}"/>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TOOLBOX  </a:t>
            </a:r>
          </a:p>
        </p:txBody>
      </p:sp>
      <p:sp>
        <p:nvSpPr>
          <p:cNvPr id="6" name="ZoneTexte 5">
            <a:extLst>
              <a:ext uri="{FF2B5EF4-FFF2-40B4-BE49-F238E27FC236}">
                <a16:creationId xmlns:a16="http://schemas.microsoft.com/office/drawing/2014/main" id="{1B5DEEC0-B3A2-A1F6-5ACE-551C9703B17D}"/>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YOUR FREE ROBOTICS STARTER KIT (ZERO LICENSING COST!)</a:t>
            </a:r>
            <a:endParaRPr lang="fr-FR" sz="2200" b="1">
              <a:solidFill>
                <a:srgbClr val="FFFFFF"/>
              </a:solidFill>
              <a:latin typeface="Segoe UI Semibold" panose="020B0702040204020203" pitchFamily="34" charset="0"/>
            </a:endParaRPr>
          </a:p>
        </p:txBody>
      </p:sp>
      <p:sp>
        <p:nvSpPr>
          <p:cNvPr id="7" name="Rectangle : coins arrondis 6">
            <a:extLst>
              <a:ext uri="{FF2B5EF4-FFF2-40B4-BE49-F238E27FC236}">
                <a16:creationId xmlns:a16="http://schemas.microsoft.com/office/drawing/2014/main" id="{18EB4FA1-0965-5670-6885-87753E12E212}"/>
              </a:ext>
            </a:extLst>
          </p:cNvPr>
          <p:cNvSpPr/>
          <p:nvPr/>
        </p:nvSpPr>
        <p:spPr>
          <a:xfrm>
            <a:off x="508000" y="1143000"/>
            <a:ext cx="2603500" cy="34925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FBF02AA2-4556-E553-C8AF-CDEDCB484438}"/>
              </a:ext>
            </a:extLst>
          </p:cNvPr>
          <p:cNvSpPr txBox="1"/>
          <p:nvPr/>
        </p:nvSpPr>
        <p:spPr>
          <a:xfrm>
            <a:off x="711200" y="1320800"/>
            <a:ext cx="2197100" cy="1415772"/>
          </a:xfrm>
          <a:prstGeom prst="rect">
            <a:avLst/>
          </a:prstGeom>
          <a:noFill/>
        </p:spPr>
        <p:txBody>
          <a:bodyPr vert="horz" wrap="square" rtlCol="0">
            <a:spAutoFit/>
          </a:bodyPr>
          <a:lstStyle/>
          <a:p>
            <a:r>
              <a:rPr lang="fr-FR" sz="1400" b="1">
                <a:solidFill>
                  <a:srgbClr val="38BDF8"/>
                </a:solidFill>
                <a:latin typeface="Segoe UI Semibold" panose="020B0702040204020203" pitchFamily="34" charset="0"/>
              </a:rPr>
              <a:t>3D MECHANICAL CAD</a:t>
            </a:r>
          </a:p>
          <a:p>
            <a:r>
              <a:rPr lang="fr-FR" sz="1100" b="1">
                <a:solidFill>
                  <a:srgbClr val="FFFFFF"/>
                </a:solidFill>
                <a:latin typeface="Segoe UI" panose="020B0502040204020203" pitchFamily="34" charset="0"/>
              </a:rPr>
              <a:t>Fusion (Free) / FreeCAD</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Model your robot in full 3D
• Check clearances before printing
• Export STL files for 3D printers
• Check center-of-mass balance</a:t>
            </a:r>
            <a:endParaRPr lang="fr-FR" sz="1000" b="1">
              <a:solidFill>
                <a:srgbClr val="94A3B8"/>
              </a:solidFill>
              <a:latin typeface="Segoe UI" panose="020B0502040204020203" pitchFamily="34" charset="0"/>
            </a:endParaRPr>
          </a:p>
        </p:txBody>
      </p:sp>
      <p:sp>
        <p:nvSpPr>
          <p:cNvPr id="9" name="Rectangle : coins arrondis 8">
            <a:extLst>
              <a:ext uri="{FF2B5EF4-FFF2-40B4-BE49-F238E27FC236}">
                <a16:creationId xmlns:a16="http://schemas.microsoft.com/office/drawing/2014/main" id="{DFF4A7F4-4036-F501-C5DB-885483E76492}"/>
              </a:ext>
            </a:extLst>
          </p:cNvPr>
          <p:cNvSpPr/>
          <p:nvPr/>
        </p:nvSpPr>
        <p:spPr>
          <a:xfrm>
            <a:off x="3302000" y="1143000"/>
            <a:ext cx="2603500" cy="3492500"/>
          </a:xfrm>
          <a:prstGeom prst="roundRect">
            <a:avLst/>
          </a:prstGeom>
          <a:solidFill>
            <a:srgbClr val="101622"/>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39D7AD97-24E6-6161-A4FF-154D5431F049}"/>
              </a:ext>
            </a:extLst>
          </p:cNvPr>
          <p:cNvSpPr txBox="1"/>
          <p:nvPr/>
        </p:nvSpPr>
        <p:spPr>
          <a:xfrm>
            <a:off x="3505200" y="1320800"/>
            <a:ext cx="2197100" cy="1415772"/>
          </a:xfrm>
          <a:prstGeom prst="rect">
            <a:avLst/>
          </a:prstGeom>
          <a:noFill/>
        </p:spPr>
        <p:txBody>
          <a:bodyPr vert="horz" wrap="square" rtlCol="0">
            <a:spAutoFit/>
          </a:bodyPr>
          <a:lstStyle/>
          <a:p>
            <a:r>
              <a:rPr lang="fr-FR" sz="1400" b="1">
                <a:solidFill>
                  <a:srgbClr val="FBBF24"/>
                </a:solidFill>
                <a:latin typeface="Segoe UI Semibold" panose="020B0702040204020203" pitchFamily="34" charset="0"/>
              </a:rPr>
              <a:t>ELECTRONICS &amp; PCB</a:t>
            </a:r>
          </a:p>
          <a:p>
            <a:r>
              <a:rPr lang="fr-FR" sz="1100" b="1">
                <a:solidFill>
                  <a:srgbClr val="FFFFFF"/>
                </a:solidFill>
                <a:latin typeface="Segoe UI" panose="020B0502040204020203" pitchFamily="34" charset="0"/>
              </a:rPr>
              <a:t>KiCad (100% Open-Source)</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Draw clean circuit schematics
• Design custom motor boards
• Order real printed circuit boards
• No part limits or paywalls</a:t>
            </a:r>
            <a:endParaRPr lang="fr-FR" sz="1000" b="1">
              <a:solidFill>
                <a:srgbClr val="94A3B8"/>
              </a:solidFill>
              <a:latin typeface="Segoe UI" panose="020B0502040204020203" pitchFamily="34" charset="0"/>
            </a:endParaRPr>
          </a:p>
        </p:txBody>
      </p:sp>
      <p:sp>
        <p:nvSpPr>
          <p:cNvPr id="11" name="Rectangle : coins arrondis 10">
            <a:extLst>
              <a:ext uri="{FF2B5EF4-FFF2-40B4-BE49-F238E27FC236}">
                <a16:creationId xmlns:a16="http://schemas.microsoft.com/office/drawing/2014/main" id="{18426698-CBC2-A6B7-2DCA-DC47394D32E3}"/>
              </a:ext>
            </a:extLst>
          </p:cNvPr>
          <p:cNvSpPr/>
          <p:nvPr/>
        </p:nvSpPr>
        <p:spPr>
          <a:xfrm>
            <a:off x="6096000" y="1143000"/>
            <a:ext cx="2603500" cy="3492500"/>
          </a:xfrm>
          <a:prstGeom prst="roundRect">
            <a:avLst/>
          </a:prstGeom>
          <a:solidFill>
            <a:srgbClr val="101622"/>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FA17C98B-3601-7C94-C405-4C401FEBA58E}"/>
              </a:ext>
            </a:extLst>
          </p:cNvPr>
          <p:cNvSpPr txBox="1"/>
          <p:nvPr/>
        </p:nvSpPr>
        <p:spPr>
          <a:xfrm>
            <a:off x="6299200" y="1320800"/>
            <a:ext cx="2197100" cy="1415772"/>
          </a:xfrm>
          <a:prstGeom prst="rect">
            <a:avLst/>
          </a:prstGeom>
          <a:noFill/>
        </p:spPr>
        <p:txBody>
          <a:bodyPr vert="horz" wrap="square" rtlCol="0">
            <a:spAutoFit/>
          </a:bodyPr>
          <a:lstStyle/>
          <a:p>
            <a:r>
              <a:rPr lang="fr-FR" sz="1400" b="1">
                <a:solidFill>
                  <a:srgbClr val="34D399"/>
                </a:solidFill>
                <a:latin typeface="Segoe UI Semibold" panose="020B0702040204020203" pitchFamily="34" charset="0"/>
              </a:rPr>
              <a:t>PHYSICS SIMULATION</a:t>
            </a:r>
          </a:p>
          <a:p>
            <a:r>
              <a:rPr lang="fr-FR" sz="1100" b="1">
                <a:solidFill>
                  <a:srgbClr val="FFFFFF"/>
                </a:solidFill>
                <a:latin typeface="Segoe UI" panose="020B0502040204020203" pitchFamily="34" charset="0"/>
              </a:rPr>
              <a:t>Webots / Gazebo</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Simulate robot physics in 3D
• Test navigation &amp; obstacle avoidance
• Break virtual robots without paying for repairs!</a:t>
            </a:r>
            <a:endParaRPr lang="fr-FR" sz="1000" b="1">
              <a:solidFill>
                <a:srgbClr val="94A3B8"/>
              </a:solidFill>
              <a:latin typeface="Segoe UI" panose="020B0502040204020203" pitchFamily="34" charset="0"/>
            </a:endParaRPr>
          </a:p>
        </p:txBody>
      </p:sp>
      <p:sp>
        <p:nvSpPr>
          <p:cNvPr id="13" name="Rectangle : coins arrondis 12">
            <a:extLst>
              <a:ext uri="{FF2B5EF4-FFF2-40B4-BE49-F238E27FC236}">
                <a16:creationId xmlns:a16="http://schemas.microsoft.com/office/drawing/2014/main" id="{6F6D19E1-B7B7-0CF7-5A44-26F5A6EFFEFA}"/>
              </a:ext>
            </a:extLst>
          </p:cNvPr>
          <p:cNvSpPr/>
          <p:nvPr/>
        </p:nvSpPr>
        <p:spPr>
          <a:xfrm>
            <a:off x="8890000" y="1143000"/>
            <a:ext cx="2603500" cy="3492500"/>
          </a:xfrm>
          <a:prstGeom prst="roundRect">
            <a:avLst/>
          </a:prstGeom>
          <a:solidFill>
            <a:srgbClr val="101622"/>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86888C90-E14C-9E6A-1ECA-B13F9458D546}"/>
              </a:ext>
            </a:extLst>
          </p:cNvPr>
          <p:cNvSpPr txBox="1"/>
          <p:nvPr/>
        </p:nvSpPr>
        <p:spPr>
          <a:xfrm>
            <a:off x="9093200" y="1320800"/>
            <a:ext cx="2197100" cy="1569660"/>
          </a:xfrm>
          <a:prstGeom prst="rect">
            <a:avLst/>
          </a:prstGeom>
          <a:noFill/>
        </p:spPr>
        <p:txBody>
          <a:bodyPr vert="horz" wrap="square" rtlCol="0">
            <a:spAutoFit/>
          </a:bodyPr>
          <a:lstStyle/>
          <a:p>
            <a:r>
              <a:rPr lang="fr-FR" sz="1400" b="1">
                <a:solidFill>
                  <a:srgbClr val="A855F7"/>
                </a:solidFill>
                <a:latin typeface="Segoe UI Semibold" panose="020B0702040204020203" pitchFamily="34" charset="0"/>
              </a:rPr>
              <a:t>ROBOT MIDDLEWARE</a:t>
            </a:r>
          </a:p>
          <a:p>
            <a:r>
              <a:rPr lang="fr-FR" sz="1100" b="1">
                <a:solidFill>
                  <a:srgbClr val="FFFFFF"/>
                </a:solidFill>
                <a:latin typeface="Segoe UI" panose="020B0502040204020203" pitchFamily="34" charset="0"/>
              </a:rPr>
              <a:t>ROS 2 (Humble / Jazzy)</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Industry-standard framework
• Pre-built SLAM navigation (Nav2)
• Arm motion planning (MoveIt)
• Used by NASA and Boston Dynamics</a:t>
            </a:r>
            <a:endParaRPr lang="fr-FR" sz="1000" b="1">
              <a:solidFill>
                <a:srgbClr val="94A3B8"/>
              </a:solidFill>
              <a:latin typeface="Segoe UI" panose="020B0502040204020203" pitchFamily="34" charset="0"/>
            </a:endParaRPr>
          </a:p>
        </p:txBody>
      </p:sp>
      <p:sp>
        <p:nvSpPr>
          <p:cNvPr id="15" name="Rectangle : coins arrondis 14">
            <a:extLst>
              <a:ext uri="{FF2B5EF4-FFF2-40B4-BE49-F238E27FC236}">
                <a16:creationId xmlns:a16="http://schemas.microsoft.com/office/drawing/2014/main" id="{2DFFA7F0-7FF7-2FC1-B2E8-BE29C3CE1FA8}"/>
              </a:ext>
            </a:extLst>
          </p:cNvPr>
          <p:cNvSpPr/>
          <p:nvPr/>
        </p:nvSpPr>
        <p:spPr>
          <a:xfrm>
            <a:off x="508000" y="4826000"/>
            <a:ext cx="11176000" cy="1524000"/>
          </a:xfrm>
          <a:prstGeom prst="roundRect">
            <a:avLst/>
          </a:prstGeom>
          <a:solidFill>
            <a:srgbClr val="161410"/>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F827F0DC-2118-1774-33BB-F1F1C0200050}"/>
              </a:ext>
            </a:extLst>
          </p:cNvPr>
          <p:cNvSpPr txBox="1"/>
          <p:nvPr/>
        </p:nvSpPr>
        <p:spPr>
          <a:xfrm>
            <a:off x="711200" y="4978400"/>
            <a:ext cx="10769600" cy="600164"/>
          </a:xfrm>
          <a:prstGeom prst="rect">
            <a:avLst/>
          </a:prstGeom>
          <a:noFill/>
        </p:spPr>
        <p:txBody>
          <a:bodyPr vert="horz" wrap="square" rtlCol="0">
            <a:spAutoFit/>
          </a:bodyPr>
          <a:lstStyle/>
          <a:p>
            <a:r>
              <a:rPr lang="en-US" sz="1300" b="1">
                <a:solidFill>
                  <a:srgbClr val="38BDF8"/>
                </a:solidFill>
                <a:latin typeface="Segoe UI Semibold" panose="020B0702040204020203" pitchFamily="34" charset="0"/>
              </a:rPr>
              <a:t>💡 Good News: You Don't Need Expensive Licenses!</a:t>
            </a:r>
          </a:p>
          <a:p>
            <a:r>
              <a:rPr lang="en-US" sz="1000">
                <a:solidFill>
                  <a:srgbClr val="E2E8F0"/>
                </a:solidFill>
                <a:latin typeface="Segoe UI" panose="020B0502040204020203" pitchFamily="34" charset="0"/>
              </a:rPr>
              <a:t>Ten years ago, robotics software cost tens of thousands of dollars. Today, every single tool shown above is 100% free for students and makers. You can design an entire industrial-grade autonomous robot using open-source tools without spending a single dollar on software licenses!</a:t>
            </a:r>
            <a:endParaRPr lang="fr-FR"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17249329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E3E2060-7E5E-E98A-F45C-E01A83A2570D}"/>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E8737418-41AE-8D0C-4190-FC757E45E7C4}"/>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6AE70D0C-202E-4BF4-7B8B-448211852529}"/>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5E265BAE-BDB7-1E7C-30E5-5CF3534053E6}"/>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WISDOM  </a:t>
            </a:r>
          </a:p>
        </p:txBody>
      </p:sp>
      <p:sp>
        <p:nvSpPr>
          <p:cNvPr id="6" name="ZoneTexte 5">
            <a:extLst>
              <a:ext uri="{FF2B5EF4-FFF2-40B4-BE49-F238E27FC236}">
                <a16:creationId xmlns:a16="http://schemas.microsoft.com/office/drawing/2014/main" id="{AC7EE7F4-463D-EAEB-446D-C7FFE30B0FC5}"/>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THE ROOKIE TRAP: DON'T CONFUSE CAD, SIM &amp; REALITY!</a:t>
            </a:r>
            <a:endParaRPr lang="fr-FR" sz="2200" b="1">
              <a:solidFill>
                <a:srgbClr val="FFFFFF"/>
              </a:solidFill>
              <a:latin typeface="Segoe UI Semibold" panose="020B0702040204020203" pitchFamily="34" charset="0"/>
            </a:endParaRPr>
          </a:p>
        </p:txBody>
      </p:sp>
      <p:sp>
        <p:nvSpPr>
          <p:cNvPr id="7" name="Rectangle : coins arrondis 6">
            <a:extLst>
              <a:ext uri="{FF2B5EF4-FFF2-40B4-BE49-F238E27FC236}">
                <a16:creationId xmlns:a16="http://schemas.microsoft.com/office/drawing/2014/main" id="{4F44296A-1170-3E99-C317-EEC4E6CCCB5C}"/>
              </a:ext>
            </a:extLst>
          </p:cNvPr>
          <p:cNvSpPr/>
          <p:nvPr/>
        </p:nvSpPr>
        <p:spPr>
          <a:xfrm>
            <a:off x="508000" y="1143000"/>
            <a:ext cx="3429000" cy="33020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7076E524-8985-BD96-CD70-41AC1A6FCD32}"/>
              </a:ext>
            </a:extLst>
          </p:cNvPr>
          <p:cNvSpPr txBox="1"/>
          <p:nvPr/>
        </p:nvSpPr>
        <p:spPr>
          <a:xfrm>
            <a:off x="711200" y="1320800"/>
            <a:ext cx="3022600" cy="1415772"/>
          </a:xfrm>
          <a:prstGeom prst="rect">
            <a:avLst/>
          </a:prstGeom>
          <a:noFill/>
        </p:spPr>
        <p:txBody>
          <a:bodyPr vert="horz" wrap="square" rtlCol="0">
            <a:spAutoFit/>
          </a:bodyPr>
          <a:lstStyle/>
          <a:p>
            <a:r>
              <a:rPr lang="fr-FR" sz="1400" b="1">
                <a:solidFill>
                  <a:srgbClr val="38BDF8"/>
                </a:solidFill>
                <a:latin typeface="Segoe UI Semibold" panose="020B0702040204020203" pitchFamily="34" charset="0"/>
              </a:rPr>
              <a:t>IN CAD DESIGN</a:t>
            </a:r>
          </a:p>
          <a:p>
            <a:r>
              <a:rPr lang="fr-FR" sz="1100" b="1">
                <a:solidFill>
                  <a:srgbClr val="FFFFFF"/>
                </a:solidFill>
                <a:latin typeface="Segoe UI" panose="020B0502040204020203" pitchFamily="34" charset="0"/>
              </a:rPr>
              <a:t>The Ideal Fantasy</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Zero friction
• Zero thermal expansion
• Infinite structural stiffness
• Perfect zero-tolerance fits
• Everything looks gorgeous!</a:t>
            </a:r>
            <a:endParaRPr lang="fr-FR" sz="1000" b="1">
              <a:solidFill>
                <a:srgbClr val="94A3B8"/>
              </a:solidFill>
              <a:latin typeface="Segoe UI" panose="020B0502040204020203" pitchFamily="34" charset="0"/>
            </a:endParaRPr>
          </a:p>
        </p:txBody>
      </p:sp>
      <p:sp>
        <p:nvSpPr>
          <p:cNvPr id="9" name="Rectangle : coins arrondis 8">
            <a:extLst>
              <a:ext uri="{FF2B5EF4-FFF2-40B4-BE49-F238E27FC236}">
                <a16:creationId xmlns:a16="http://schemas.microsoft.com/office/drawing/2014/main" id="{912C041B-AD48-0047-D31F-D88B4C449ACC}"/>
              </a:ext>
            </a:extLst>
          </p:cNvPr>
          <p:cNvSpPr/>
          <p:nvPr/>
        </p:nvSpPr>
        <p:spPr>
          <a:xfrm>
            <a:off x="4381500" y="1143000"/>
            <a:ext cx="3429000" cy="3302000"/>
          </a:xfrm>
          <a:prstGeom prst="roundRect">
            <a:avLst/>
          </a:prstGeom>
          <a:solidFill>
            <a:srgbClr val="101622"/>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EF97F510-C81A-7AEC-0505-8DABE7539577}"/>
              </a:ext>
            </a:extLst>
          </p:cNvPr>
          <p:cNvSpPr txBox="1"/>
          <p:nvPr/>
        </p:nvSpPr>
        <p:spPr>
          <a:xfrm>
            <a:off x="4584700" y="1320800"/>
            <a:ext cx="3022600" cy="1415772"/>
          </a:xfrm>
          <a:prstGeom prst="rect">
            <a:avLst/>
          </a:prstGeom>
          <a:noFill/>
        </p:spPr>
        <p:txBody>
          <a:bodyPr vert="horz" wrap="square" rtlCol="0">
            <a:spAutoFit/>
          </a:bodyPr>
          <a:lstStyle/>
          <a:p>
            <a:r>
              <a:rPr lang="fr-FR" sz="1400" b="1">
                <a:solidFill>
                  <a:srgbClr val="FBBF24"/>
                </a:solidFill>
                <a:latin typeface="Segoe UI Semibold" panose="020B0702040204020203" pitchFamily="34" charset="0"/>
              </a:rPr>
              <a:t>IN SIMULATION</a:t>
            </a:r>
          </a:p>
          <a:p>
            <a:r>
              <a:rPr lang="fr-FR" sz="1100" b="1">
                <a:solidFill>
                  <a:srgbClr val="FFFFFF"/>
                </a:solidFill>
                <a:latin typeface="Segoe UI" panose="020B0502040204020203" pitchFamily="34" charset="0"/>
              </a:rPr>
              <a:t>The Math Approximation</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Physics is simulated
• Contact dynamics are modeled
• ⚠️ Friction is just a guessed number
• Wheels never get dust or hair wrapped around axles!</a:t>
            </a:r>
            <a:endParaRPr lang="fr-FR" sz="1000" b="1">
              <a:solidFill>
                <a:srgbClr val="94A3B8"/>
              </a:solidFill>
              <a:latin typeface="Segoe UI" panose="020B0502040204020203" pitchFamily="34" charset="0"/>
            </a:endParaRPr>
          </a:p>
        </p:txBody>
      </p:sp>
      <p:sp>
        <p:nvSpPr>
          <p:cNvPr id="11" name="Rectangle : coins arrondis 10">
            <a:extLst>
              <a:ext uri="{FF2B5EF4-FFF2-40B4-BE49-F238E27FC236}">
                <a16:creationId xmlns:a16="http://schemas.microsoft.com/office/drawing/2014/main" id="{069B9FAC-CE17-FC62-0AD1-4D9484FC812D}"/>
              </a:ext>
            </a:extLst>
          </p:cNvPr>
          <p:cNvSpPr/>
          <p:nvPr/>
        </p:nvSpPr>
        <p:spPr>
          <a:xfrm>
            <a:off x="8255000" y="1143000"/>
            <a:ext cx="3429000" cy="3302000"/>
          </a:xfrm>
          <a:prstGeom prst="roundRect">
            <a:avLst/>
          </a:prstGeom>
          <a:solidFill>
            <a:srgbClr val="101622"/>
          </a:solidFill>
          <a:ln w="12700">
            <a:solidFill>
              <a:srgbClr val="F43F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B44A2CCB-95F2-BC60-5C3B-48A21B43A874}"/>
              </a:ext>
            </a:extLst>
          </p:cNvPr>
          <p:cNvSpPr txBox="1"/>
          <p:nvPr/>
        </p:nvSpPr>
        <p:spPr>
          <a:xfrm>
            <a:off x="8458200" y="1320800"/>
            <a:ext cx="3022600" cy="1415772"/>
          </a:xfrm>
          <a:prstGeom prst="rect">
            <a:avLst/>
          </a:prstGeom>
          <a:noFill/>
        </p:spPr>
        <p:txBody>
          <a:bodyPr vert="horz" wrap="square" rtlCol="0">
            <a:spAutoFit/>
          </a:bodyPr>
          <a:lstStyle/>
          <a:p>
            <a:r>
              <a:rPr lang="fr-FR" sz="1400" b="1">
                <a:solidFill>
                  <a:srgbClr val="F43F5E"/>
                </a:solidFill>
                <a:latin typeface="Segoe UI Semibold" panose="020B0702040204020203" pitchFamily="34" charset="0"/>
              </a:rPr>
              <a:t>IN PHYSICAL REALITY</a:t>
            </a:r>
          </a:p>
          <a:p>
            <a:r>
              <a:rPr lang="fr-FR" sz="1100" b="1">
                <a:solidFill>
                  <a:srgbClr val="FFFFFF"/>
                </a:solidFill>
                <a:latin typeface="Segoe UI" panose="020B0502040204020203" pitchFamily="34" charset="0"/>
              </a:rPr>
              <a:t>Where Truth Lives</a:t>
            </a:r>
          </a:p>
          <a:p>
            <a:r>
              <a:rPr lang="fr-FR" sz="1100" b="1">
                <a:solidFill>
                  <a:srgbClr val="FFFFFF"/>
                </a:solidFill>
                <a:latin typeface="Segoe UI" panose="020B0502040204020203" pitchFamily="34" charset="0"/>
              </a:rPr>
              <a:t>
</a:t>
            </a:r>
            <a:r>
              <a:rPr lang="en-US" sz="1000" b="1">
                <a:solidFill>
                  <a:srgbClr val="94A3B8"/>
                </a:solidFill>
                <a:latin typeface="Segoe UI" panose="020B0502040204020203" pitchFamily="34" charset="0"/>
              </a:rPr>
              <a:t>• Screws vibrate loose
• Batteries lose voltage under load
• 3D prints flex and warp
• Carpet has 3× more drag than tile
• Wires get pulled during turns!</a:t>
            </a:r>
            <a:endParaRPr lang="fr-FR" sz="1000" b="1">
              <a:solidFill>
                <a:srgbClr val="94A3B8"/>
              </a:solidFill>
              <a:latin typeface="Segoe UI" panose="020B0502040204020203" pitchFamily="34" charset="0"/>
            </a:endParaRPr>
          </a:p>
        </p:txBody>
      </p:sp>
      <p:sp>
        <p:nvSpPr>
          <p:cNvPr id="13" name="Rectangle : coins arrondis 12">
            <a:extLst>
              <a:ext uri="{FF2B5EF4-FFF2-40B4-BE49-F238E27FC236}">
                <a16:creationId xmlns:a16="http://schemas.microsoft.com/office/drawing/2014/main" id="{17D358FE-7638-FF9E-27B5-19D9E6F23C37}"/>
              </a:ext>
            </a:extLst>
          </p:cNvPr>
          <p:cNvSpPr/>
          <p:nvPr/>
        </p:nvSpPr>
        <p:spPr>
          <a:xfrm>
            <a:off x="508000" y="4699000"/>
            <a:ext cx="11176000" cy="1714500"/>
          </a:xfrm>
          <a:prstGeom prst="roundRect">
            <a:avLst/>
          </a:prstGeom>
          <a:solidFill>
            <a:srgbClr val="161410"/>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922CB1F9-057C-7E00-8497-0A7801D03A80}"/>
              </a:ext>
            </a:extLst>
          </p:cNvPr>
          <p:cNvSpPr txBox="1"/>
          <p:nvPr/>
        </p:nvSpPr>
        <p:spPr>
          <a:xfrm>
            <a:off x="711200" y="4851400"/>
            <a:ext cx="10769600" cy="754053"/>
          </a:xfrm>
          <a:prstGeom prst="rect">
            <a:avLst/>
          </a:prstGeom>
          <a:noFill/>
        </p:spPr>
        <p:txBody>
          <a:bodyPr vert="horz" wrap="square" rtlCol="0">
            <a:spAutoFit/>
          </a:bodyPr>
          <a:lstStyle/>
          <a:p>
            <a:r>
              <a:rPr lang="fr-FR" sz="1300" b="1">
                <a:solidFill>
                  <a:srgbClr val="A855F7"/>
                </a:solidFill>
                <a:latin typeface="Segoe UI Semibold" panose="020B0702040204020203" pitchFamily="34" charset="0"/>
              </a:rPr>
              <a:t>💡 Famous Robotics Quote</a:t>
            </a:r>
          </a:p>
          <a:p>
            <a:r>
              <a:rPr lang="fr-FR" sz="1000">
                <a:solidFill>
                  <a:srgbClr val="E2E8F0"/>
                </a:solidFill>
                <a:latin typeface="Segoe UI" panose="020B0502040204020203" pitchFamily="34" charset="0"/>
              </a:rPr>
              <a:t>"Installing ROS doesn't make your robot autonomous — just like installing Photoshop doesn't make you Leonardo da Vinci!"
ROS is a powerful plumbing toolkit, not magic autonomy. A great robot requires sound mechanical physics, clean electronics, and real-world testing. Software cannot fix bad hardware physics!</a:t>
            </a:r>
          </a:p>
        </p:txBody>
      </p:sp>
    </p:spTree>
    <p:extLst>
      <p:ext uri="{BB962C8B-B14F-4D97-AF65-F5344CB8AC3E}">
        <p14:creationId xmlns:p14="http://schemas.microsoft.com/office/powerpoint/2010/main" val="797025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A5B192-B87A-23F8-D096-50EB669C4800}"/>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38C453A5-0C26-CFE3-BFEB-D72D024D81F0}"/>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37F57710-E484-0B42-7964-3532762BC87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969000" y="698500"/>
            <a:ext cx="5715000" cy="5461000"/>
          </a:xfrm>
          <a:prstGeom prst="rect">
            <a:avLst/>
          </a:prstGeom>
          <a:ln w="19050">
            <a:solidFill>
              <a:srgbClr val="34D399"/>
            </a:solidFill>
          </a:ln>
        </p:spPr>
      </p:pic>
      <p:sp>
        <p:nvSpPr>
          <p:cNvPr id="6" name="ZoneTexte 5">
            <a:extLst>
              <a:ext uri="{FF2B5EF4-FFF2-40B4-BE49-F238E27FC236}">
                <a16:creationId xmlns:a16="http://schemas.microsoft.com/office/drawing/2014/main" id="{C3C2E1C6-AABF-5578-6C2D-06154954B082}"/>
              </a:ext>
            </a:extLst>
          </p:cNvPr>
          <p:cNvSpPr txBox="1"/>
          <p:nvPr/>
        </p:nvSpPr>
        <p:spPr>
          <a:xfrm>
            <a:off x="635000" y="1778000"/>
            <a:ext cx="5080000" cy="1615827"/>
          </a:xfrm>
          <a:prstGeom prst="rect">
            <a:avLst/>
          </a:prstGeom>
          <a:noFill/>
        </p:spPr>
        <p:txBody>
          <a:bodyPr vert="horz" wrap="square" rtlCol="0">
            <a:spAutoFit/>
          </a:bodyPr>
          <a:lstStyle/>
          <a:p>
            <a:r>
              <a:rPr lang="fr-FR" sz="1300" b="1">
                <a:solidFill>
                  <a:srgbClr val="34D399"/>
                </a:solidFill>
                <a:latin typeface="Segoe UI" panose="020B0502040204020203" pitchFamily="34" charset="0"/>
              </a:rPr>
              <a:t>PART 06 • PROTOTYPING &amp; REALITY</a:t>
            </a:r>
          </a:p>
          <a:p>
            <a:r>
              <a:rPr lang="en-US" sz="3000" b="1">
                <a:solidFill>
                  <a:srgbClr val="FFFFFF"/>
                </a:solidFill>
                <a:latin typeface="Segoe UI Semibold" panose="020B0702040204020203" pitchFamily="34" charset="0"/>
              </a:rPr>
              <a:t>FROM IDEA TO
WORKING ROBOT</a:t>
            </a:r>
          </a:p>
          <a:p>
            <a:r>
              <a:rPr lang="en-US" sz="1300">
                <a:solidFill>
                  <a:srgbClr val="E2E8F0"/>
                </a:solidFill>
                <a:latin typeface="Segoe UI" panose="020B0502040204020203" pitchFamily="34" charset="0"/>
              </a:rPr>
              <a:t>The Engineering Loop • Why Prototypes Fail • The Capstone Challenge</a:t>
            </a:r>
            <a:endParaRPr lang="fr-FR" sz="1300">
              <a:solidFill>
                <a:srgbClr val="E2E8F0"/>
              </a:solidFill>
              <a:latin typeface="Segoe UI" panose="020B0502040204020203" pitchFamily="34" charset="0"/>
            </a:endParaRPr>
          </a:p>
        </p:txBody>
      </p:sp>
    </p:spTree>
    <p:extLst>
      <p:ext uri="{BB962C8B-B14F-4D97-AF65-F5344CB8AC3E}">
        <p14:creationId xmlns:p14="http://schemas.microsoft.com/office/powerpoint/2010/main" val="30299189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EBBA172-84EC-12CF-C7AD-95F240DC65C2}"/>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F9DBF7B1-9F04-6EA3-BD9D-B45879D352FB}"/>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7D7CC70A-1559-FE05-329A-09F3721E824A}"/>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9DC9DD64-EB7E-49CD-60E6-AEEC05B9B653}"/>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MINDSET  </a:t>
            </a:r>
          </a:p>
        </p:txBody>
      </p:sp>
      <p:sp>
        <p:nvSpPr>
          <p:cNvPr id="6" name="ZoneTexte 5">
            <a:extLst>
              <a:ext uri="{FF2B5EF4-FFF2-40B4-BE49-F238E27FC236}">
                <a16:creationId xmlns:a16="http://schemas.microsoft.com/office/drawing/2014/main" id="{0F6821E4-3BA3-9D45-897C-56F8797A7B33}"/>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THE REAL ROBOTICS LOOP: FAILURE IS A STAGE, NOT A MISTAKE</a:t>
            </a:r>
            <a:endParaRPr lang="fr-FR" sz="2200" b="1">
              <a:solidFill>
                <a:srgbClr val="FFFFFF"/>
              </a:solidFill>
              <a:latin typeface="Segoe UI Semibold" panose="020B0702040204020203" pitchFamily="34" charset="0"/>
            </a:endParaRPr>
          </a:p>
        </p:txBody>
      </p:sp>
      <p:sp>
        <p:nvSpPr>
          <p:cNvPr id="7" name="Rectangle : coins arrondis 6">
            <a:extLst>
              <a:ext uri="{FF2B5EF4-FFF2-40B4-BE49-F238E27FC236}">
                <a16:creationId xmlns:a16="http://schemas.microsoft.com/office/drawing/2014/main" id="{F393DA4E-7C6B-04A1-1BEC-BE565FC66F03}"/>
              </a:ext>
            </a:extLst>
          </p:cNvPr>
          <p:cNvSpPr/>
          <p:nvPr/>
        </p:nvSpPr>
        <p:spPr>
          <a:xfrm>
            <a:off x="508000" y="1079500"/>
            <a:ext cx="5461000" cy="9525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B7A14434-3C7D-7688-22EB-45766E46CB7A}"/>
              </a:ext>
            </a:extLst>
          </p:cNvPr>
          <p:cNvSpPr txBox="1"/>
          <p:nvPr/>
        </p:nvSpPr>
        <p:spPr>
          <a:xfrm>
            <a:off x="698500" y="1206500"/>
            <a:ext cx="5080000" cy="461665"/>
          </a:xfrm>
          <a:prstGeom prst="rect">
            <a:avLst/>
          </a:prstGeom>
          <a:noFill/>
        </p:spPr>
        <p:txBody>
          <a:bodyPr vert="horz" wrap="square" rtlCol="0">
            <a:spAutoFit/>
          </a:bodyPr>
          <a:lstStyle/>
          <a:p>
            <a:r>
              <a:rPr lang="fr-FR" sz="1300" b="1">
                <a:solidFill>
                  <a:srgbClr val="38BDF8"/>
                </a:solidFill>
                <a:latin typeface="Segoe UI Semibold" panose="020B0702040204020203" pitchFamily="34" charset="0"/>
              </a:rPr>
              <a:t>1. REQUIREMENTS</a:t>
            </a:r>
          </a:p>
          <a:p>
            <a:r>
              <a:rPr lang="en-US" sz="1100">
                <a:solidFill>
                  <a:srgbClr val="FFFFFF"/>
                </a:solidFill>
                <a:latin typeface="Segoe UI" panose="020B0502040204020203" pitchFamily="34" charset="0"/>
              </a:rPr>
              <a:t>Define the payload, speed, and budget first.</a:t>
            </a:r>
            <a:endParaRPr lang="fr-FR" sz="1100">
              <a:solidFill>
                <a:srgbClr val="FFFFFF"/>
              </a:solidFill>
              <a:latin typeface="Segoe UI" panose="020B0502040204020203" pitchFamily="34" charset="0"/>
            </a:endParaRPr>
          </a:p>
        </p:txBody>
      </p:sp>
      <p:sp>
        <p:nvSpPr>
          <p:cNvPr id="9" name="Rectangle : coins arrondis 8">
            <a:extLst>
              <a:ext uri="{FF2B5EF4-FFF2-40B4-BE49-F238E27FC236}">
                <a16:creationId xmlns:a16="http://schemas.microsoft.com/office/drawing/2014/main" id="{86C56A5A-3553-BE31-21E9-EE6E1790AD8F}"/>
              </a:ext>
            </a:extLst>
          </p:cNvPr>
          <p:cNvSpPr/>
          <p:nvPr/>
        </p:nvSpPr>
        <p:spPr>
          <a:xfrm>
            <a:off x="6223000" y="1079500"/>
            <a:ext cx="5461000" cy="9525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8CA54FAB-8302-BD68-965D-79CC49DF6F5E}"/>
              </a:ext>
            </a:extLst>
          </p:cNvPr>
          <p:cNvSpPr txBox="1"/>
          <p:nvPr/>
        </p:nvSpPr>
        <p:spPr>
          <a:xfrm>
            <a:off x="6413500" y="1206500"/>
            <a:ext cx="5080000" cy="461665"/>
          </a:xfrm>
          <a:prstGeom prst="rect">
            <a:avLst/>
          </a:prstGeom>
          <a:noFill/>
        </p:spPr>
        <p:txBody>
          <a:bodyPr vert="horz" wrap="square" rtlCol="0">
            <a:spAutoFit/>
          </a:bodyPr>
          <a:lstStyle/>
          <a:p>
            <a:r>
              <a:rPr lang="fr-FR" sz="1300" b="1">
                <a:solidFill>
                  <a:srgbClr val="38BDF8"/>
                </a:solidFill>
                <a:latin typeface="Segoe UI Semibold" panose="020B0702040204020203" pitchFamily="34" charset="0"/>
              </a:rPr>
              <a:t>2. CAD SKELETON</a:t>
            </a:r>
          </a:p>
          <a:p>
            <a:r>
              <a:rPr lang="en-US" sz="1100">
                <a:solidFill>
                  <a:srgbClr val="FFFFFF"/>
                </a:solidFill>
                <a:latin typeface="Segoe UI" panose="020B0502040204020203" pitchFamily="34" charset="0"/>
              </a:rPr>
              <a:t>Model links, gear ratios, and bearings in 3D.</a:t>
            </a:r>
            <a:endParaRPr lang="fr-FR" sz="1100">
              <a:solidFill>
                <a:srgbClr val="FFFFFF"/>
              </a:solidFill>
              <a:latin typeface="Segoe UI" panose="020B0502040204020203" pitchFamily="34" charset="0"/>
            </a:endParaRPr>
          </a:p>
        </p:txBody>
      </p:sp>
      <p:sp>
        <p:nvSpPr>
          <p:cNvPr id="11" name="Rectangle : coins arrondis 10">
            <a:extLst>
              <a:ext uri="{FF2B5EF4-FFF2-40B4-BE49-F238E27FC236}">
                <a16:creationId xmlns:a16="http://schemas.microsoft.com/office/drawing/2014/main" id="{E54F1417-83A2-3B7C-535C-3AC683361A35}"/>
              </a:ext>
            </a:extLst>
          </p:cNvPr>
          <p:cNvSpPr/>
          <p:nvPr/>
        </p:nvSpPr>
        <p:spPr>
          <a:xfrm>
            <a:off x="508000" y="2197100"/>
            <a:ext cx="5461000" cy="952500"/>
          </a:xfrm>
          <a:prstGeom prst="roundRect">
            <a:avLst/>
          </a:prstGeom>
          <a:solidFill>
            <a:srgbClr val="101622"/>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FEBF0BB8-0462-91DF-9878-2C6C66DD642E}"/>
              </a:ext>
            </a:extLst>
          </p:cNvPr>
          <p:cNvSpPr txBox="1"/>
          <p:nvPr/>
        </p:nvSpPr>
        <p:spPr>
          <a:xfrm>
            <a:off x="698500" y="2324100"/>
            <a:ext cx="5080000" cy="461665"/>
          </a:xfrm>
          <a:prstGeom prst="rect">
            <a:avLst/>
          </a:prstGeom>
          <a:noFill/>
        </p:spPr>
        <p:txBody>
          <a:bodyPr vert="horz" wrap="square" rtlCol="0">
            <a:spAutoFit/>
          </a:bodyPr>
          <a:lstStyle/>
          <a:p>
            <a:r>
              <a:rPr lang="fr-FR" sz="1300" b="1">
                <a:solidFill>
                  <a:srgbClr val="FBBF24"/>
                </a:solidFill>
                <a:latin typeface="Segoe UI Semibold" panose="020B0702040204020203" pitchFamily="34" charset="0"/>
              </a:rPr>
              <a:t>3. BENCH PROTOTYPE</a:t>
            </a:r>
          </a:p>
          <a:p>
            <a:r>
              <a:rPr lang="en-US" sz="1100">
                <a:solidFill>
                  <a:srgbClr val="FFFFFF"/>
                </a:solidFill>
                <a:latin typeface="Segoe UI" panose="020B0502040204020203" pitchFamily="34" charset="0"/>
              </a:rPr>
              <a:t>3D print brackets and wire up motor controllers.</a:t>
            </a:r>
            <a:endParaRPr lang="fr-FR" sz="1100">
              <a:solidFill>
                <a:srgbClr val="FFFFFF"/>
              </a:solidFill>
              <a:latin typeface="Segoe UI" panose="020B0502040204020203" pitchFamily="34" charset="0"/>
            </a:endParaRPr>
          </a:p>
        </p:txBody>
      </p:sp>
      <p:sp>
        <p:nvSpPr>
          <p:cNvPr id="13" name="Rectangle : coins arrondis 12">
            <a:extLst>
              <a:ext uri="{FF2B5EF4-FFF2-40B4-BE49-F238E27FC236}">
                <a16:creationId xmlns:a16="http://schemas.microsoft.com/office/drawing/2014/main" id="{F7D1B53D-80CB-E9F3-B6B0-B242A79286CC}"/>
              </a:ext>
            </a:extLst>
          </p:cNvPr>
          <p:cNvSpPr/>
          <p:nvPr/>
        </p:nvSpPr>
        <p:spPr>
          <a:xfrm>
            <a:off x="6223000" y="2197100"/>
            <a:ext cx="5461000" cy="952500"/>
          </a:xfrm>
          <a:prstGeom prst="roundRect">
            <a:avLst/>
          </a:prstGeom>
          <a:solidFill>
            <a:srgbClr val="101622"/>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4C0E5B46-D0A5-3273-4116-EE5F3D670021}"/>
              </a:ext>
            </a:extLst>
          </p:cNvPr>
          <p:cNvSpPr txBox="1"/>
          <p:nvPr/>
        </p:nvSpPr>
        <p:spPr>
          <a:xfrm>
            <a:off x="6413500" y="2324100"/>
            <a:ext cx="5080000" cy="461665"/>
          </a:xfrm>
          <a:prstGeom prst="rect">
            <a:avLst/>
          </a:prstGeom>
          <a:noFill/>
        </p:spPr>
        <p:txBody>
          <a:bodyPr vert="horz" wrap="square" rtlCol="0">
            <a:spAutoFit/>
          </a:bodyPr>
          <a:lstStyle/>
          <a:p>
            <a:r>
              <a:rPr lang="fr-FR" sz="1300" b="1">
                <a:solidFill>
                  <a:srgbClr val="FBBF24"/>
                </a:solidFill>
                <a:latin typeface="Segoe UI Semibold" panose="020B0702040204020203" pitchFamily="34" charset="0"/>
              </a:rPr>
              <a:t>4. LOAD TESTING</a:t>
            </a:r>
          </a:p>
          <a:p>
            <a:r>
              <a:rPr lang="en-US" sz="1100">
                <a:solidFill>
                  <a:srgbClr val="FFFFFF"/>
                </a:solidFill>
                <a:latin typeface="Segoe UI" panose="020B0502040204020203" pitchFamily="34" charset="0"/>
              </a:rPr>
              <a:t>Test with 100% full payload on the actual floor.</a:t>
            </a:r>
            <a:endParaRPr lang="fr-FR" sz="1100">
              <a:solidFill>
                <a:srgbClr val="FFFFFF"/>
              </a:solidFill>
              <a:latin typeface="Segoe UI" panose="020B0502040204020203" pitchFamily="34" charset="0"/>
            </a:endParaRPr>
          </a:p>
        </p:txBody>
      </p:sp>
      <p:sp>
        <p:nvSpPr>
          <p:cNvPr id="15" name="Rectangle : coins arrondis 14">
            <a:extLst>
              <a:ext uri="{FF2B5EF4-FFF2-40B4-BE49-F238E27FC236}">
                <a16:creationId xmlns:a16="http://schemas.microsoft.com/office/drawing/2014/main" id="{485CF734-A9E6-6502-4063-F04BAD0BE319}"/>
              </a:ext>
            </a:extLst>
          </p:cNvPr>
          <p:cNvSpPr/>
          <p:nvPr/>
        </p:nvSpPr>
        <p:spPr>
          <a:xfrm>
            <a:off x="508000" y="3314700"/>
            <a:ext cx="5461000" cy="952500"/>
          </a:xfrm>
          <a:prstGeom prst="roundRect">
            <a:avLst/>
          </a:prstGeom>
          <a:solidFill>
            <a:srgbClr val="101622"/>
          </a:solidFill>
          <a:ln w="12700">
            <a:solidFill>
              <a:srgbClr val="F43F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8280AC3A-2DC4-B0AD-8EB6-6C7B5B7DE1BF}"/>
              </a:ext>
            </a:extLst>
          </p:cNvPr>
          <p:cNvSpPr txBox="1"/>
          <p:nvPr/>
        </p:nvSpPr>
        <p:spPr>
          <a:xfrm>
            <a:off x="698500" y="3441700"/>
            <a:ext cx="5080000" cy="461665"/>
          </a:xfrm>
          <a:prstGeom prst="rect">
            <a:avLst/>
          </a:prstGeom>
          <a:noFill/>
        </p:spPr>
        <p:txBody>
          <a:bodyPr vert="horz" wrap="square" rtlCol="0">
            <a:spAutoFit/>
          </a:bodyPr>
          <a:lstStyle/>
          <a:p>
            <a:r>
              <a:rPr lang="fr-FR" sz="1300" b="1">
                <a:solidFill>
                  <a:srgbClr val="F43F5E"/>
                </a:solidFill>
                <a:latin typeface="Segoe UI Semibold" panose="020B0702040204020203" pitchFamily="34" charset="0"/>
              </a:rPr>
              <a:t>5. CATASTROPHIC BREAK! 💥</a:t>
            </a:r>
          </a:p>
          <a:p>
            <a:r>
              <a:rPr lang="en-US" sz="1100">
                <a:solidFill>
                  <a:srgbClr val="FFFFFF"/>
                </a:solidFill>
                <a:latin typeface="Segoe UI" panose="020B0502040204020203" pitchFamily="34" charset="0"/>
              </a:rPr>
              <a:t>A plastic gear strips or motor controller browns out!</a:t>
            </a:r>
            <a:endParaRPr lang="fr-FR" sz="1100">
              <a:solidFill>
                <a:srgbClr val="FFFFFF"/>
              </a:solidFill>
              <a:latin typeface="Segoe UI" panose="020B0502040204020203" pitchFamily="34" charset="0"/>
            </a:endParaRPr>
          </a:p>
        </p:txBody>
      </p:sp>
      <p:sp>
        <p:nvSpPr>
          <p:cNvPr id="17" name="Rectangle : coins arrondis 16">
            <a:extLst>
              <a:ext uri="{FF2B5EF4-FFF2-40B4-BE49-F238E27FC236}">
                <a16:creationId xmlns:a16="http://schemas.microsoft.com/office/drawing/2014/main" id="{24A791EB-BF02-4411-7D55-76F3A4B1297D}"/>
              </a:ext>
            </a:extLst>
          </p:cNvPr>
          <p:cNvSpPr/>
          <p:nvPr/>
        </p:nvSpPr>
        <p:spPr>
          <a:xfrm>
            <a:off x="6223000" y="3314700"/>
            <a:ext cx="5461000" cy="952500"/>
          </a:xfrm>
          <a:prstGeom prst="roundRect">
            <a:avLst/>
          </a:prstGeom>
          <a:solidFill>
            <a:srgbClr val="101622"/>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37712C9A-A01A-76EE-BA66-05BA36BC1A0A}"/>
              </a:ext>
            </a:extLst>
          </p:cNvPr>
          <p:cNvSpPr txBox="1"/>
          <p:nvPr/>
        </p:nvSpPr>
        <p:spPr>
          <a:xfrm>
            <a:off x="6413500" y="3441700"/>
            <a:ext cx="5080000" cy="461665"/>
          </a:xfrm>
          <a:prstGeom prst="rect">
            <a:avLst/>
          </a:prstGeom>
          <a:noFill/>
        </p:spPr>
        <p:txBody>
          <a:bodyPr vert="horz" wrap="square" rtlCol="0">
            <a:spAutoFit/>
          </a:bodyPr>
          <a:lstStyle/>
          <a:p>
            <a:r>
              <a:rPr lang="fr-FR" sz="1300" b="1">
                <a:solidFill>
                  <a:srgbClr val="34D399"/>
                </a:solidFill>
                <a:latin typeface="Segoe UI Semibold" panose="020B0702040204020203" pitchFamily="34" charset="0"/>
              </a:rPr>
              <a:t>6. REDESIGN &amp; WIN ↺</a:t>
            </a:r>
          </a:p>
          <a:p>
            <a:r>
              <a:rPr lang="en-US" sz="1100">
                <a:solidFill>
                  <a:srgbClr val="FFFFFF"/>
                </a:solidFill>
                <a:latin typeface="Segoe UI" panose="020B0502040204020203" pitchFamily="34" charset="0"/>
              </a:rPr>
              <a:t>Reinforce the weak joint with metal and deploy V2!</a:t>
            </a:r>
            <a:endParaRPr lang="fr-FR" sz="1100">
              <a:solidFill>
                <a:srgbClr val="FFFFFF"/>
              </a:solidFill>
              <a:latin typeface="Segoe UI" panose="020B0502040204020203" pitchFamily="34" charset="0"/>
            </a:endParaRPr>
          </a:p>
        </p:txBody>
      </p:sp>
      <p:sp>
        <p:nvSpPr>
          <p:cNvPr id="19" name="Rectangle : coins arrondis 18">
            <a:extLst>
              <a:ext uri="{FF2B5EF4-FFF2-40B4-BE49-F238E27FC236}">
                <a16:creationId xmlns:a16="http://schemas.microsoft.com/office/drawing/2014/main" id="{924FA8F8-105C-3CE1-7E43-C63207E0291D}"/>
              </a:ext>
            </a:extLst>
          </p:cNvPr>
          <p:cNvSpPr/>
          <p:nvPr/>
        </p:nvSpPr>
        <p:spPr>
          <a:xfrm>
            <a:off x="508000" y="4635500"/>
            <a:ext cx="11176000" cy="1778000"/>
          </a:xfrm>
          <a:prstGeom prst="roundRect">
            <a:avLst/>
          </a:prstGeom>
          <a:solidFill>
            <a:srgbClr val="161410"/>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a:extLst>
              <a:ext uri="{FF2B5EF4-FFF2-40B4-BE49-F238E27FC236}">
                <a16:creationId xmlns:a16="http://schemas.microsoft.com/office/drawing/2014/main" id="{AABE6494-7CC0-BAE9-DA4D-F6997386EE71}"/>
              </a:ext>
            </a:extLst>
          </p:cNvPr>
          <p:cNvSpPr txBox="1"/>
          <p:nvPr/>
        </p:nvSpPr>
        <p:spPr>
          <a:xfrm>
            <a:off x="711200" y="4787900"/>
            <a:ext cx="10769600" cy="600164"/>
          </a:xfrm>
          <a:prstGeom prst="rect">
            <a:avLst/>
          </a:prstGeom>
          <a:noFill/>
        </p:spPr>
        <p:txBody>
          <a:bodyPr vert="horz" wrap="square" rtlCol="0">
            <a:spAutoFit/>
          </a:bodyPr>
          <a:lstStyle/>
          <a:p>
            <a:r>
              <a:rPr lang="en-US" sz="1300" b="1">
                <a:solidFill>
                  <a:srgbClr val="34D399"/>
                </a:solidFill>
                <a:latin typeface="Segoe UI Semibold" panose="020B0702040204020203" pitchFamily="34" charset="0"/>
              </a:rPr>
              <a:t>💡 The Professional Maker Philosophy</a:t>
            </a:r>
          </a:p>
          <a:p>
            <a:r>
              <a:rPr lang="en-US" sz="1000">
                <a:solidFill>
                  <a:srgbClr val="E2E8F0"/>
                </a:solidFill>
                <a:latin typeface="Segoe UI" panose="020B0502040204020203" pitchFamily="34" charset="0"/>
              </a:rPr>
              <a:t>If your first prototype doesn't break, you didn't test it hard enough! Breaking a 3D-printed gear on your workbench costs €2 and 20 minutes to fix. It reveals your exact weak spot so you can reinforce it before showing the robot to your client or professor. Celebrate the break, find the root cause, and iterate!</a:t>
            </a:r>
            <a:endParaRPr lang="fr-FR"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40149885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E976F1-EF8F-C2ED-2FAA-34A8C9825E4C}"/>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3795D90F-7BBE-4E6D-F542-0225C7C1935C}"/>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EBAC7A4-53C3-7A17-9C06-18E65F56C7DB}"/>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DD13D50E-890D-E0F6-ED20-B0321B755713}"/>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FUN MEME  </a:t>
            </a:r>
          </a:p>
        </p:txBody>
      </p:sp>
      <p:sp>
        <p:nvSpPr>
          <p:cNvPr id="6" name="ZoneTexte 5">
            <a:extLst>
              <a:ext uri="{FF2B5EF4-FFF2-40B4-BE49-F238E27FC236}">
                <a16:creationId xmlns:a16="http://schemas.microsoft.com/office/drawing/2014/main" id="{7263B17D-356F-E920-4E79-3955C34BCF3C}"/>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"IT WORKED IN CAD!" — REALITY HAS ENTERED THE ROOM</a:t>
            </a:r>
            <a:endParaRPr lang="fr-FR" sz="2200" b="1">
              <a:solidFill>
                <a:srgbClr val="FFFFFF"/>
              </a:solidFill>
              <a:latin typeface="Segoe UI Semibold" panose="020B0702040204020203" pitchFamily="34" charset="0"/>
            </a:endParaRPr>
          </a:p>
        </p:txBody>
      </p:sp>
      <p:pic>
        <p:nvPicPr>
          <p:cNvPr id="8" name="Image 7">
            <a:extLst>
              <a:ext uri="{FF2B5EF4-FFF2-40B4-BE49-F238E27FC236}">
                <a16:creationId xmlns:a16="http://schemas.microsoft.com/office/drawing/2014/main" id="{13C0D708-EA73-32F6-6BF6-A39114CAFA0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1143000"/>
            <a:ext cx="11176000" cy="3937000"/>
          </a:xfrm>
          <a:prstGeom prst="rect">
            <a:avLst/>
          </a:prstGeom>
          <a:ln w="19050">
            <a:solidFill>
              <a:srgbClr val="A855F7"/>
            </a:solidFill>
          </a:ln>
        </p:spPr>
      </p:pic>
      <p:sp>
        <p:nvSpPr>
          <p:cNvPr id="9" name="Rectangle : coins arrondis 8">
            <a:extLst>
              <a:ext uri="{FF2B5EF4-FFF2-40B4-BE49-F238E27FC236}">
                <a16:creationId xmlns:a16="http://schemas.microsoft.com/office/drawing/2014/main" id="{A2DFF36C-E233-29FA-848F-B5E76CC70856}"/>
              </a:ext>
            </a:extLst>
          </p:cNvPr>
          <p:cNvSpPr/>
          <p:nvPr/>
        </p:nvSpPr>
        <p:spPr>
          <a:xfrm>
            <a:off x="508000" y="5270500"/>
            <a:ext cx="11176000" cy="1143000"/>
          </a:xfrm>
          <a:prstGeom prst="roundRect">
            <a:avLst/>
          </a:prstGeom>
          <a:solidFill>
            <a:srgbClr val="101826"/>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B29C6882-5877-9C71-93D8-7BFF96EAF930}"/>
              </a:ext>
            </a:extLst>
          </p:cNvPr>
          <p:cNvSpPr txBox="1"/>
          <p:nvPr/>
        </p:nvSpPr>
        <p:spPr>
          <a:xfrm>
            <a:off x="698500" y="5397500"/>
            <a:ext cx="10795000" cy="584775"/>
          </a:xfrm>
          <a:prstGeom prst="rect">
            <a:avLst/>
          </a:prstGeom>
          <a:noFill/>
        </p:spPr>
        <p:txBody>
          <a:bodyPr vert="horz" wrap="square" rtlCol="0">
            <a:spAutoFit/>
          </a:bodyPr>
          <a:lstStyle/>
          <a:p>
            <a:r>
              <a:rPr lang="en-US" sz="1200" b="1">
                <a:solidFill>
                  <a:srgbClr val="38BDF8"/>
                </a:solidFill>
                <a:latin typeface="Segoe UI Semibold" panose="020B0702040204020203" pitchFamily="34" charset="0"/>
              </a:rPr>
              <a:t>LEFT: Clean CAD model (Zero gravity, perfect tolerances, zero wire clutter)</a:t>
            </a:r>
          </a:p>
          <a:p>
            <a:r>
              <a:rPr lang="en-US" sz="1000" b="1">
                <a:solidFill>
                  <a:srgbClr val="FFFFFF"/>
                </a:solidFill>
                <a:latin typeface="Segoe UI" panose="020B0502040204020203" pitchFamily="34" charset="0"/>
              </a:rPr>
              <a:t>RIGHT: Physical reality (3D print layer lines, zip ties, hot glue, wire resistance, and real-world floor friction!) Always design with generous clearances and wire strain reliefs from day one.</a:t>
            </a:r>
            <a:endParaRPr lang="fr-FR" sz="1000" b="1">
              <a:solidFill>
                <a:srgbClr val="FFFFFF"/>
              </a:solidFill>
              <a:latin typeface="Segoe UI" panose="020B0502040204020203" pitchFamily="34" charset="0"/>
            </a:endParaRPr>
          </a:p>
        </p:txBody>
      </p:sp>
    </p:spTree>
    <p:extLst>
      <p:ext uri="{BB962C8B-B14F-4D97-AF65-F5344CB8AC3E}">
        <p14:creationId xmlns:p14="http://schemas.microsoft.com/office/powerpoint/2010/main" val="21075472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35FB90-A247-4A09-B551-0F0D1417B2F6}"/>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C3333F8A-B448-8749-F3BB-B28DDACEB560}"/>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8A02AFB-AE66-9A23-DFFC-81F04E7384D2}"/>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3CC79EE4-B17D-6993-3D13-8A98182347ED}"/>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CASE STUDY  </a:t>
            </a:r>
          </a:p>
        </p:txBody>
      </p:sp>
      <p:sp>
        <p:nvSpPr>
          <p:cNvPr id="6" name="ZoneTexte 5">
            <a:extLst>
              <a:ext uri="{FF2B5EF4-FFF2-40B4-BE49-F238E27FC236}">
                <a16:creationId xmlns:a16="http://schemas.microsoft.com/office/drawing/2014/main" id="{E0A77A9D-1F2E-7ADF-C243-7B5A022C309D}"/>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CASE STUDY: 3D PRINTED V1 FAILURE ➔ METAL V2 REDESIGN</a:t>
            </a:r>
            <a:endParaRPr lang="fr-FR" sz="2200" b="1">
              <a:solidFill>
                <a:srgbClr val="FFFFFF"/>
              </a:solidFill>
              <a:latin typeface="Segoe UI Semibold" panose="020B0702040204020203" pitchFamily="34" charset="0"/>
            </a:endParaRPr>
          </a:p>
        </p:txBody>
      </p:sp>
      <p:pic>
        <p:nvPicPr>
          <p:cNvPr id="8" name="Image 7">
            <a:extLst>
              <a:ext uri="{FF2B5EF4-FFF2-40B4-BE49-F238E27FC236}">
                <a16:creationId xmlns:a16="http://schemas.microsoft.com/office/drawing/2014/main" id="{DCA3226F-086D-C7D5-7647-725EF7B9134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1143000"/>
            <a:ext cx="6096000" cy="5143500"/>
          </a:xfrm>
          <a:prstGeom prst="rect">
            <a:avLst/>
          </a:prstGeom>
          <a:ln w="15240">
            <a:solidFill>
              <a:srgbClr val="38BDF8"/>
            </a:solidFill>
          </a:ln>
        </p:spPr>
      </p:pic>
      <p:sp>
        <p:nvSpPr>
          <p:cNvPr id="9" name="Rectangle : coins arrondis 8">
            <a:extLst>
              <a:ext uri="{FF2B5EF4-FFF2-40B4-BE49-F238E27FC236}">
                <a16:creationId xmlns:a16="http://schemas.microsoft.com/office/drawing/2014/main" id="{C60CB36D-631E-4997-8986-5936AFF98795}"/>
              </a:ext>
            </a:extLst>
          </p:cNvPr>
          <p:cNvSpPr/>
          <p:nvPr/>
        </p:nvSpPr>
        <p:spPr>
          <a:xfrm>
            <a:off x="6858000" y="1143000"/>
            <a:ext cx="4826000" cy="5143500"/>
          </a:xfrm>
          <a:prstGeom prst="roundRect">
            <a:avLst/>
          </a:prstGeom>
          <a:solidFill>
            <a:srgbClr val="1A1016"/>
          </a:solidFill>
          <a:ln w="12700">
            <a:solidFill>
              <a:srgbClr val="F43F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EA7EABE2-89C3-4534-344B-B522AD9EF43C}"/>
              </a:ext>
            </a:extLst>
          </p:cNvPr>
          <p:cNvSpPr txBox="1"/>
          <p:nvPr/>
        </p:nvSpPr>
        <p:spPr>
          <a:xfrm>
            <a:off x="7048500" y="1333500"/>
            <a:ext cx="4445000" cy="2477601"/>
          </a:xfrm>
          <a:prstGeom prst="rect">
            <a:avLst/>
          </a:prstGeom>
          <a:noFill/>
        </p:spPr>
        <p:txBody>
          <a:bodyPr vert="horz" wrap="square" rtlCol="0">
            <a:spAutoFit/>
          </a:bodyPr>
          <a:lstStyle/>
          <a:p>
            <a:r>
              <a:rPr lang="fr-FR" sz="1500" b="1">
                <a:solidFill>
                  <a:srgbClr val="F43F5E"/>
                </a:solidFill>
                <a:latin typeface="Segoe UI Semibold" panose="020B0702040204020203" pitchFamily="34" charset="0"/>
              </a:rPr>
              <a:t>THE FAILURE BREAKDOWN</a:t>
            </a:r>
          </a:p>
          <a:p>
            <a:r>
              <a:rPr lang="en-US" sz="1000" b="1">
                <a:solidFill>
                  <a:srgbClr val="FFFFFF"/>
                </a:solidFill>
                <a:latin typeface="Segoe UI" panose="020B0502040204020203" pitchFamily="34" charset="0"/>
              </a:rPr>
              <a:t>🔴 WHAT HAPPENED TO V1:</a:t>
            </a:r>
          </a:p>
          <a:p>
            <a:r>
              <a:rPr lang="en-US" sz="1000" b="1">
                <a:solidFill>
                  <a:srgbClr val="FFFFFF"/>
                </a:solidFill>
                <a:latin typeface="Segoe UI" panose="020B0502040204020203" pitchFamily="34" charset="0"/>
              </a:rPr>
              <a:t>• The arm was 100% 3D-printed in ABS plastic.</a:t>
            </a:r>
          </a:p>
          <a:p>
            <a:r>
              <a:rPr lang="en-US" sz="1000" b="1">
                <a:solidFill>
                  <a:srgbClr val="FFFFFF"/>
                </a:solidFill>
                <a:latin typeface="Segoe UI" panose="020B0502040204020203" pitchFamily="34" charset="0"/>
              </a:rPr>
              <a:t>• Under a 2.0 kg payload, the plastic gear teeth stripped clean off.</a:t>
            </a:r>
          </a:p>
          <a:p>
            <a:r>
              <a:rPr lang="en-US" sz="1000" b="1">
                <a:solidFill>
                  <a:srgbClr val="FFFFFF"/>
                </a:solidFill>
                <a:latin typeface="Segoe UI" panose="020B0502040204020203" pitchFamily="34" charset="0"/>
              </a:rPr>
              <a:t>• The shoulder joint deflected 15° sideways because there was no supporting bearing!</a:t>
            </a:r>
          </a:p>
          <a:p>
            <a:r>
              <a:rPr lang="en-US" sz="1000" b="1">
                <a:solidFill>
                  <a:srgbClr val="FFFFFF"/>
                </a:solidFill>
                <a:latin typeface="Segoe UI" panose="020B0502040204020203" pitchFamily="34" charset="0"/>
              </a:rPr>
              <a:t>
🟢 THE V2 REDESIGN:</a:t>
            </a:r>
          </a:p>
          <a:p>
            <a:r>
              <a:rPr lang="en-US" sz="1000" b="1">
                <a:solidFill>
                  <a:srgbClr val="FFFFFF"/>
                </a:solidFill>
                <a:latin typeface="Segoe UI" panose="020B0502040204020203" pitchFamily="34" charset="0"/>
              </a:rPr>
              <a:t>• Replaced stripped plastic gears with hardened steel planetary reduction (15:1).</a:t>
            </a:r>
          </a:p>
          <a:p>
            <a:r>
              <a:rPr lang="en-US" sz="1000" b="1">
                <a:solidFill>
                  <a:srgbClr val="FFFFFF"/>
                </a:solidFill>
                <a:latin typeface="Segoe UI" panose="020B0502040204020203" pitchFamily="34" charset="0"/>
              </a:rPr>
              <a:t>• Replaced plastic arm joint with CNC aluminum bracket + dual ball bearings.</a:t>
            </a:r>
          </a:p>
          <a:p>
            <a:r>
              <a:rPr lang="en-US" sz="1000" b="1">
                <a:solidFill>
                  <a:srgbClr val="FFFFFF"/>
                </a:solidFill>
                <a:latin typeface="Segoe UI" panose="020B0502040204020203" pitchFamily="34" charset="0"/>
              </a:rPr>
              <a:t>• RESULT: Easily holds 2.5 kg with zero sag and &lt; 0.5 mm repeatability!</a:t>
            </a:r>
          </a:p>
          <a:p>
            <a:r>
              <a:rPr lang="en-US" sz="1000" b="1">
                <a:solidFill>
                  <a:srgbClr val="FFFFFF"/>
                </a:solidFill>
                <a:latin typeface="Segoe UI" panose="020B0502040204020203" pitchFamily="34" charset="0"/>
              </a:rPr>
              <a:t>
👉 Lesson: V1 failed so V2 could fly.</a:t>
            </a:r>
            <a:endParaRPr lang="fr-FR" sz="1000" b="1">
              <a:solidFill>
                <a:srgbClr val="FFFFFF"/>
              </a:solidFill>
              <a:latin typeface="Segoe UI" panose="020B0502040204020203" pitchFamily="34" charset="0"/>
            </a:endParaRPr>
          </a:p>
        </p:txBody>
      </p:sp>
    </p:spTree>
    <p:extLst>
      <p:ext uri="{BB962C8B-B14F-4D97-AF65-F5344CB8AC3E}">
        <p14:creationId xmlns:p14="http://schemas.microsoft.com/office/powerpoint/2010/main" val="16613133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A86B58-E0B6-B793-C400-3E2F010CCAC4}"/>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3439D877-B6FE-935E-571D-314D07B54F34}"/>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D72ACFA0-99E9-D5F3-AA58-C89512F35FE3}"/>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6A379167-66C4-AB00-2941-D424A390BFCF}"/>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DESIGN SPRINT  </a:t>
            </a:r>
          </a:p>
        </p:txBody>
      </p:sp>
      <p:sp>
        <p:nvSpPr>
          <p:cNvPr id="6" name="ZoneTexte 5">
            <a:extLst>
              <a:ext uri="{FF2B5EF4-FFF2-40B4-BE49-F238E27FC236}">
                <a16:creationId xmlns:a16="http://schemas.microsoft.com/office/drawing/2014/main" id="{F418951C-3D3E-5912-5985-30AE1DFC94D5}"/>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CAPSTONE CHALLENGE: DESIGN A CAMPUS DELIVERY ROBOT!</a:t>
            </a:r>
            <a:endParaRPr lang="fr-FR" sz="2200" b="1">
              <a:solidFill>
                <a:srgbClr val="FFFFFF"/>
              </a:solidFill>
              <a:latin typeface="Segoe UI Semibold" panose="020B0702040204020203" pitchFamily="34" charset="0"/>
            </a:endParaRPr>
          </a:p>
        </p:txBody>
      </p:sp>
      <p:pic>
        <p:nvPicPr>
          <p:cNvPr id="8" name="Image 7">
            <a:extLst>
              <a:ext uri="{FF2B5EF4-FFF2-40B4-BE49-F238E27FC236}">
                <a16:creationId xmlns:a16="http://schemas.microsoft.com/office/drawing/2014/main" id="{88F4C793-1171-C74C-F0BF-F5B6040B470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0" y="1143000"/>
            <a:ext cx="5588000" cy="5143500"/>
          </a:xfrm>
          <a:prstGeom prst="rect">
            <a:avLst/>
          </a:prstGeom>
          <a:ln w="15240">
            <a:solidFill>
              <a:srgbClr val="38BDF8"/>
            </a:solidFill>
          </a:ln>
        </p:spPr>
      </p:pic>
      <p:sp>
        <p:nvSpPr>
          <p:cNvPr id="9" name="Rectangle : coins arrondis 8">
            <a:extLst>
              <a:ext uri="{FF2B5EF4-FFF2-40B4-BE49-F238E27FC236}">
                <a16:creationId xmlns:a16="http://schemas.microsoft.com/office/drawing/2014/main" id="{232454B1-9AAC-5FA6-7B31-385AD3D52873}"/>
              </a:ext>
            </a:extLst>
          </p:cNvPr>
          <p:cNvSpPr/>
          <p:nvPr/>
        </p:nvSpPr>
        <p:spPr>
          <a:xfrm>
            <a:off x="508000" y="1143000"/>
            <a:ext cx="5334000" cy="51435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E5A2F604-8902-31A7-52CE-9D83249F1BE0}"/>
              </a:ext>
            </a:extLst>
          </p:cNvPr>
          <p:cNvSpPr txBox="1"/>
          <p:nvPr/>
        </p:nvSpPr>
        <p:spPr>
          <a:xfrm>
            <a:off x="698500" y="1333500"/>
            <a:ext cx="4953000" cy="2708434"/>
          </a:xfrm>
          <a:prstGeom prst="rect">
            <a:avLst/>
          </a:prstGeom>
          <a:noFill/>
        </p:spPr>
        <p:txBody>
          <a:bodyPr vert="horz" wrap="square" rtlCol="0">
            <a:spAutoFit/>
          </a:bodyPr>
          <a:lstStyle/>
          <a:p>
            <a:r>
              <a:rPr lang="fr-FR" sz="1600" b="1">
                <a:solidFill>
                  <a:srgbClr val="38BDF8"/>
                </a:solidFill>
                <a:latin typeface="Segoe UI Semibold" panose="020B0702040204020203" pitchFamily="34" charset="0"/>
              </a:rPr>
              <a:t>THE CLIENT MISSION BRIEF</a:t>
            </a:r>
          </a:p>
          <a:p>
            <a:r>
              <a:rPr lang="fr-FR" sz="1100" b="1">
                <a:solidFill>
                  <a:srgbClr val="FFFFFF"/>
                </a:solidFill>
                <a:latin typeface="Segoe UI" panose="020B0502040204020203" pitchFamily="34" charset="0"/>
              </a:rPr>
              <a:t>• Mission: Autonomous food &amp; book delivery on campus</a:t>
            </a:r>
          </a:p>
          <a:p>
            <a:r>
              <a:rPr lang="fr-FR" sz="1100" b="1">
                <a:solidFill>
                  <a:srgbClr val="FFFFFF"/>
                </a:solidFill>
                <a:latin typeface="Segoe UI" panose="020B0502040204020203" pitchFamily="34" charset="0"/>
              </a:rPr>
              <a:t>• Target Payload: 5.0 kg package capacity</a:t>
            </a:r>
          </a:p>
          <a:p>
            <a:r>
              <a:rPr lang="fr-FR" sz="1100" b="1">
                <a:solidFill>
                  <a:srgbClr val="FFFFFF"/>
                </a:solidFill>
                <a:latin typeface="Segoe UI" panose="020B0502040204020203" pitchFamily="34" charset="0"/>
              </a:rPr>
              <a:t>• Cruising Speed: 1.0 m/s (Brisk walking pace)</a:t>
            </a:r>
          </a:p>
          <a:p>
            <a:r>
              <a:rPr lang="fr-FR" sz="1100" b="1">
                <a:solidFill>
                  <a:srgbClr val="FFFFFF"/>
                </a:solidFill>
                <a:latin typeface="Segoe UI" panose="020B0502040204020203" pitchFamily="34" charset="0"/>
              </a:rPr>
              <a:t>• Target Runtime: 1.0 Hour continuous driving</a:t>
            </a:r>
          </a:p>
          <a:p>
            <a:r>
              <a:rPr lang="fr-FR" sz="1100" b="1">
                <a:solidFill>
                  <a:srgbClr val="FFFFFF"/>
                </a:solidFill>
                <a:latin typeface="Segoe UI" panose="020B0502040204020203" pitchFamily="34" charset="0"/>
              </a:rPr>
              <a:t>• Environment: Flat indoor linoleum hallways</a:t>
            </a:r>
          </a:p>
          <a:p>
            <a:r>
              <a:rPr lang="fr-FR" sz="1100" b="1">
                <a:solidFill>
                  <a:srgbClr val="FFFFFF"/>
                </a:solidFill>
                <a:latin typeface="Segoe UI" panose="020B0502040204020203" pitchFamily="34" charset="0"/>
              </a:rPr>
              <a:t>• Parts Budget Limit: €300</a:t>
            </a:r>
          </a:p>
          <a:p>
            <a:r>
              <a:rPr lang="fr-FR" sz="1100" b="1">
                <a:solidFill>
                  <a:srgbClr val="FFFFFF"/>
                </a:solidFill>
                <a:latin typeface="Segoe UI" panose="020B0502040204020203" pitchFamily="34" charset="0"/>
              </a:rPr>
              <a:t>
👉 ASSEMBLE YOUR SYSTEM IN CHAT:</a:t>
            </a:r>
          </a:p>
          <a:p>
            <a:r>
              <a:rPr lang="fr-FR" sz="1100" b="1">
                <a:solidFill>
                  <a:srgbClr val="FFFFFF"/>
                </a:solidFill>
                <a:latin typeface="Segoe UI" panose="020B0502040204020203" pitchFamily="34" charset="0"/>
              </a:rPr>
              <a:t>1. Drive: Differential 2WD + Caster vs 4WD Skid-Steer?</a:t>
            </a:r>
          </a:p>
          <a:p>
            <a:r>
              <a:rPr lang="fr-FR" sz="1100" b="1">
                <a:solidFill>
                  <a:srgbClr val="FFFFFF"/>
                </a:solidFill>
                <a:latin typeface="Segoe UI" panose="020B0502040204020203" pitchFamily="34" charset="0"/>
              </a:rPr>
              <a:t>2. Motors: Geared DC vs Steppers vs Brushless?</a:t>
            </a:r>
          </a:p>
          <a:p>
            <a:r>
              <a:rPr lang="fr-FR" sz="1100" b="1">
                <a:solidFill>
                  <a:srgbClr val="FFFFFF"/>
                </a:solidFill>
                <a:latin typeface="Segoe UI" panose="020B0502040204020203" pitchFamily="34" charset="0"/>
              </a:rPr>
              <a:t>3. Battery: 12V 5Ah vs 12V 10Ah LiFePO4?</a:t>
            </a:r>
          </a:p>
          <a:p>
            <a:r>
              <a:rPr lang="fr-FR" sz="1100" b="1">
                <a:solidFill>
                  <a:srgbClr val="FFFFFF"/>
                </a:solidFill>
                <a:latin typeface="Segoe UI" panose="020B0502040204020203" pitchFamily="34" charset="0"/>
              </a:rPr>
              <a:t>4. Sensors: Ultrasonic bumpers vs 2D LiDAR?</a:t>
            </a:r>
          </a:p>
          <a:p>
            <a:r>
              <a:rPr lang="fr-FR" sz="1100" b="1">
                <a:solidFill>
                  <a:srgbClr val="FFFFFF"/>
                </a:solidFill>
                <a:latin typeface="Segoe UI" panose="020B0502040204020203" pitchFamily="34" charset="0"/>
              </a:rPr>
              <a:t>
⏱️ Post your team's spec in the chat right now!</a:t>
            </a:r>
          </a:p>
        </p:txBody>
      </p:sp>
    </p:spTree>
    <p:extLst>
      <p:ext uri="{BB962C8B-B14F-4D97-AF65-F5344CB8AC3E}">
        <p14:creationId xmlns:p14="http://schemas.microsoft.com/office/powerpoint/2010/main" val="3540856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7FF9836-C178-B366-C42C-50EA0EEE1AE3}"/>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4E913105-6C1B-B539-F3BE-AFC395256D15}"/>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F3A023A4-FDD2-A928-F9F1-97D1342465B5}"/>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05E3F63C-8747-F114-81F2-A96780D60D02}"/>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THE TWIST  </a:t>
            </a:r>
          </a:p>
        </p:txBody>
      </p:sp>
      <p:sp>
        <p:nvSpPr>
          <p:cNvPr id="6" name="ZoneTexte 5">
            <a:extLst>
              <a:ext uri="{FF2B5EF4-FFF2-40B4-BE49-F238E27FC236}">
                <a16:creationId xmlns:a16="http://schemas.microsoft.com/office/drawing/2014/main" id="{438796FC-9C0A-DADE-09D8-8CBFB3B5DBA2}"/>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NEW CLIENT REQUIREMENT: THE 15° RAMP TWIST! 🚨</a:t>
            </a:r>
            <a:endParaRPr lang="fr-FR" sz="2200" b="1">
              <a:solidFill>
                <a:srgbClr val="FFFFFF"/>
              </a:solidFill>
              <a:latin typeface="Segoe UI Semibold" panose="020B0702040204020203" pitchFamily="34" charset="0"/>
            </a:endParaRPr>
          </a:p>
        </p:txBody>
      </p:sp>
      <p:pic>
        <p:nvPicPr>
          <p:cNvPr id="8" name="Image 7">
            <a:extLst>
              <a:ext uri="{FF2B5EF4-FFF2-40B4-BE49-F238E27FC236}">
                <a16:creationId xmlns:a16="http://schemas.microsoft.com/office/drawing/2014/main" id="{24850309-1AF6-4FC1-744F-9B415D623BD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1143000"/>
            <a:ext cx="5588000" cy="5143500"/>
          </a:xfrm>
          <a:prstGeom prst="rect">
            <a:avLst/>
          </a:prstGeom>
          <a:ln w="19050">
            <a:solidFill>
              <a:srgbClr val="F43F5E"/>
            </a:solidFill>
          </a:ln>
        </p:spPr>
      </p:pic>
      <p:sp>
        <p:nvSpPr>
          <p:cNvPr id="9" name="Rectangle : coins arrondis 8">
            <a:extLst>
              <a:ext uri="{FF2B5EF4-FFF2-40B4-BE49-F238E27FC236}">
                <a16:creationId xmlns:a16="http://schemas.microsoft.com/office/drawing/2014/main" id="{188008FF-583A-5369-3F77-A130192E6289}"/>
              </a:ext>
            </a:extLst>
          </p:cNvPr>
          <p:cNvSpPr/>
          <p:nvPr/>
        </p:nvSpPr>
        <p:spPr>
          <a:xfrm>
            <a:off x="6350000" y="1143000"/>
            <a:ext cx="5334000" cy="5143500"/>
          </a:xfrm>
          <a:prstGeom prst="roundRect">
            <a:avLst/>
          </a:prstGeom>
          <a:solidFill>
            <a:srgbClr val="1C1016"/>
          </a:solidFill>
          <a:ln w="12700">
            <a:solidFill>
              <a:srgbClr val="F43F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90E3114D-DFA5-3888-E383-EE6B008EEFD3}"/>
              </a:ext>
            </a:extLst>
          </p:cNvPr>
          <p:cNvSpPr txBox="1"/>
          <p:nvPr/>
        </p:nvSpPr>
        <p:spPr>
          <a:xfrm>
            <a:off x="6540500" y="1333500"/>
            <a:ext cx="4953000" cy="3093154"/>
          </a:xfrm>
          <a:prstGeom prst="rect">
            <a:avLst/>
          </a:prstGeom>
          <a:noFill/>
        </p:spPr>
        <p:txBody>
          <a:bodyPr vert="horz" wrap="square" rtlCol="0">
            <a:spAutoFit/>
          </a:bodyPr>
          <a:lstStyle/>
          <a:p>
            <a:r>
              <a:rPr lang="en-US" sz="1500" b="1">
                <a:solidFill>
                  <a:srgbClr val="F43F5E"/>
                </a:solidFill>
                <a:latin typeface="Segoe UI Semibold" panose="020B0702040204020203" pitchFamily="34" charset="0"/>
              </a:rPr>
              <a:t>THE CLIENT: "IT MUST CLIMB A 15° RAMP!"</a:t>
            </a:r>
          </a:p>
          <a:p>
            <a:r>
              <a:rPr lang="en-US" sz="1000" b="1">
                <a:solidFill>
                  <a:srgbClr val="FFFFFF"/>
                </a:solidFill>
                <a:latin typeface="Segoe UI" panose="020B0502040204020203" pitchFamily="34" charset="0"/>
              </a:rPr>
              <a:t>💥 WHAT JUST BROKE ON YOUR €300 ROBOT:</a:t>
            </a:r>
          </a:p>
          <a:p>
            <a:r>
              <a:rPr lang="en-US" sz="1000" b="1">
                <a:solidFill>
                  <a:srgbClr val="FFFFFF"/>
                </a:solidFill>
                <a:latin typeface="Segoe UI" panose="020B0502040204020203" pitchFamily="34" charset="0"/>
              </a:rPr>
              <a:t>
1. GRAVITY PULLS BACKWARD:</a:t>
            </a:r>
          </a:p>
          <a:p>
            <a:r>
              <a:rPr lang="en-US" sz="1000" b="1">
                <a:solidFill>
                  <a:srgbClr val="FFFFFF"/>
                </a:solidFill>
                <a:latin typeface="Segoe UI" panose="020B0502040204020203" pitchFamily="34" charset="0"/>
              </a:rPr>
              <a:t>   Climbing a 15° slope adds 26% of your robot's total weight as direct backward drag! Flat-ground motors will stall out!</a:t>
            </a:r>
          </a:p>
          <a:p>
            <a:r>
              <a:rPr lang="en-US" sz="1000" b="1">
                <a:solidFill>
                  <a:srgbClr val="FFFFFF"/>
                </a:solidFill>
                <a:latin typeface="Segoe UI" panose="020B0502040204020203" pitchFamily="34" charset="0"/>
              </a:rPr>
              <a:t>
2. WHEEL SLIP &amp; TRACTION:</a:t>
            </a:r>
          </a:p>
          <a:p>
            <a:r>
              <a:rPr lang="en-US" sz="1000" b="1">
                <a:solidFill>
                  <a:srgbClr val="FFFFFF"/>
                </a:solidFill>
                <a:latin typeface="Segoe UI" panose="020B0502040204020203" pitchFamily="34" charset="0"/>
              </a:rPr>
              <a:t>   Smooth plastic or omni-wheels will spin out without rubber grip!</a:t>
            </a:r>
          </a:p>
          <a:p>
            <a:r>
              <a:rPr lang="en-US" sz="1000" b="1">
                <a:solidFill>
                  <a:srgbClr val="FFFFFF"/>
                </a:solidFill>
                <a:latin typeface="Segoe UI" panose="020B0502040204020203" pitchFamily="34" charset="0"/>
              </a:rPr>
              <a:t>
3. BACKWARD TIP-OVER RISK:</a:t>
            </a:r>
          </a:p>
          <a:p>
            <a:r>
              <a:rPr lang="en-US" sz="1000" b="1">
                <a:solidFill>
                  <a:srgbClr val="FFFFFF"/>
                </a:solidFill>
                <a:latin typeface="Segoe UI" panose="020B0502040204020203" pitchFamily="34" charset="0"/>
              </a:rPr>
              <a:t>   If the heavy battery is mounted high or rearward, the robot flips backward down the ramp!</a:t>
            </a:r>
          </a:p>
          <a:p>
            <a:r>
              <a:rPr lang="en-US" sz="1000" b="1">
                <a:solidFill>
                  <a:srgbClr val="FFFFFF"/>
                </a:solidFill>
                <a:latin typeface="Segoe UI" panose="020B0502040204020203" pitchFamily="34" charset="0"/>
              </a:rPr>
              <a:t>
4. BATTERY CURRENT SURGE:</a:t>
            </a:r>
          </a:p>
          <a:p>
            <a:r>
              <a:rPr lang="en-US" sz="1000" b="1">
                <a:solidFill>
                  <a:srgbClr val="FFFFFF"/>
                </a:solidFill>
                <a:latin typeface="Segoe UI" panose="020B0502040204020203" pitchFamily="34" charset="0"/>
              </a:rPr>
              <a:t>   Climbing draws 3× more current → Runtime drops to 20 mins!</a:t>
            </a:r>
          </a:p>
          <a:p>
            <a:r>
              <a:rPr lang="en-US" sz="1000" b="1">
                <a:solidFill>
                  <a:srgbClr val="FFFFFF"/>
                </a:solidFill>
                <a:latin typeface="Segoe UI" panose="020B0502040204020203" pitchFamily="34" charset="0"/>
              </a:rPr>
              <a:t>
👉 FIX: Add rubber tires, mount battery low and forward, and increase motor gear ratio!</a:t>
            </a:r>
            <a:endParaRPr lang="fr-FR" sz="1000" b="1">
              <a:solidFill>
                <a:srgbClr val="FFFFFF"/>
              </a:solidFill>
              <a:latin typeface="Segoe UI" panose="020B0502040204020203" pitchFamily="34" charset="0"/>
            </a:endParaRPr>
          </a:p>
        </p:txBody>
      </p:sp>
    </p:spTree>
    <p:extLst>
      <p:ext uri="{BB962C8B-B14F-4D97-AF65-F5344CB8AC3E}">
        <p14:creationId xmlns:p14="http://schemas.microsoft.com/office/powerpoint/2010/main" val="14517391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C3E428A-1C37-26D2-0273-D4B9B81A290E}"/>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1C632724-8D6D-706B-54CA-9CFF1CBF456C}"/>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BB236033-5AF9-98E2-DD98-8064EA3F4267}"/>
              </a:ext>
            </a:extLst>
          </p:cNvPr>
          <p:cNvSpPr/>
          <p:nvPr/>
        </p:nvSpPr>
        <p:spPr>
          <a:xfrm>
            <a:off x="508000" y="254000"/>
            <a:ext cx="3302000" cy="228600"/>
          </a:xfrm>
          <a:prstGeom prst="rect">
            <a:avLst/>
          </a:prstGeom>
          <a:solidFill>
            <a:srgbClr val="181226"/>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A855F7"/>
                </a:solidFill>
                <a:latin typeface="Segoe UI" panose="020B0502040204020203" pitchFamily="34" charset="0"/>
              </a:rPr>
              <a:t>  ROBOTICS FUNDAMENTALS • SESSION 01/04  </a:t>
            </a:r>
          </a:p>
        </p:txBody>
      </p:sp>
      <p:sp>
        <p:nvSpPr>
          <p:cNvPr id="5" name="Rectangle 4">
            <a:extLst>
              <a:ext uri="{FF2B5EF4-FFF2-40B4-BE49-F238E27FC236}">
                <a16:creationId xmlns:a16="http://schemas.microsoft.com/office/drawing/2014/main" id="{9B093C8E-EDA7-85A4-DD15-8985E1D9EE18}"/>
              </a:ext>
            </a:extLst>
          </p:cNvPr>
          <p:cNvSpPr/>
          <p:nvPr/>
        </p:nvSpPr>
        <p:spPr>
          <a:xfrm>
            <a:off x="3937000" y="254000"/>
            <a:ext cx="1778000" cy="228600"/>
          </a:xfrm>
          <a:prstGeom prst="rect">
            <a:avLst/>
          </a:prstGeom>
          <a:solidFill>
            <a:srgbClr val="F43F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800" b="1">
                <a:solidFill>
                  <a:srgbClr val="FFFFFF"/>
                </a:solidFill>
                <a:latin typeface="Segoe UI" panose="020B0502040204020203" pitchFamily="34" charset="0"/>
              </a:rPr>
              <a:t>  ⚡ CHEATSHEET  </a:t>
            </a:r>
          </a:p>
        </p:txBody>
      </p:sp>
      <p:sp>
        <p:nvSpPr>
          <p:cNvPr id="6" name="ZoneTexte 5">
            <a:extLst>
              <a:ext uri="{FF2B5EF4-FFF2-40B4-BE49-F238E27FC236}">
                <a16:creationId xmlns:a16="http://schemas.microsoft.com/office/drawing/2014/main" id="{6D5F92D1-462D-DD83-244F-8B29337BC345}"/>
              </a:ext>
            </a:extLst>
          </p:cNvPr>
          <p:cNvSpPr txBox="1"/>
          <p:nvPr/>
        </p:nvSpPr>
        <p:spPr>
          <a:xfrm>
            <a:off x="508000" y="533400"/>
            <a:ext cx="11176000" cy="338554"/>
          </a:xfrm>
          <a:prstGeom prst="rect">
            <a:avLst/>
          </a:prstGeom>
          <a:noFill/>
        </p:spPr>
        <p:txBody>
          <a:bodyPr vert="horz" lIns="0" tIns="0" rIns="0" bIns="0" rtlCol="0">
            <a:spAutoFit/>
          </a:bodyPr>
          <a:lstStyle/>
          <a:p>
            <a:r>
              <a:rPr lang="en-US" sz="2200" b="1">
                <a:solidFill>
                  <a:srgbClr val="FFFFFF"/>
                </a:solidFill>
                <a:latin typeface="Segoe UI Semibold" panose="020B0702040204020203" pitchFamily="34" charset="0"/>
              </a:rPr>
              <a:t>SESSION SUMMARY: THE 10 GOLDEN RULES OF ROBOTICS</a:t>
            </a:r>
            <a:endParaRPr lang="fr-FR" sz="2200" b="1">
              <a:solidFill>
                <a:srgbClr val="FFFFFF"/>
              </a:solidFill>
              <a:latin typeface="Segoe UI Semibold" panose="020B0702040204020203" pitchFamily="34" charset="0"/>
            </a:endParaRPr>
          </a:p>
        </p:txBody>
      </p:sp>
      <p:sp>
        <p:nvSpPr>
          <p:cNvPr id="7" name="Rectangle : coins arrondis 6">
            <a:extLst>
              <a:ext uri="{FF2B5EF4-FFF2-40B4-BE49-F238E27FC236}">
                <a16:creationId xmlns:a16="http://schemas.microsoft.com/office/drawing/2014/main" id="{CB729AC6-518E-7BEA-AE0A-E4830A4109FD}"/>
              </a:ext>
            </a:extLst>
          </p:cNvPr>
          <p:cNvSpPr/>
          <p:nvPr/>
        </p:nvSpPr>
        <p:spPr>
          <a:xfrm>
            <a:off x="508000" y="1079500"/>
            <a:ext cx="5461000" cy="889000"/>
          </a:xfrm>
          <a:prstGeom prst="roundRect">
            <a:avLst/>
          </a:prstGeom>
          <a:solidFill>
            <a:srgbClr val="101622"/>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F034D80A-9842-048E-5411-E0B473EE80DF}"/>
              </a:ext>
            </a:extLst>
          </p:cNvPr>
          <p:cNvSpPr txBox="1"/>
          <p:nvPr/>
        </p:nvSpPr>
        <p:spPr>
          <a:xfrm>
            <a:off x="660400" y="1155700"/>
            <a:ext cx="5143500" cy="415498"/>
          </a:xfrm>
          <a:prstGeom prst="rect">
            <a:avLst/>
          </a:prstGeom>
          <a:noFill/>
        </p:spPr>
        <p:txBody>
          <a:bodyPr vert="horz" wrap="square" rtlCol="0">
            <a:spAutoFit/>
          </a:bodyPr>
          <a:lstStyle/>
          <a:p>
            <a:r>
              <a:rPr lang="en-US" sz="1200" b="1">
                <a:solidFill>
                  <a:srgbClr val="A855F7"/>
                </a:solidFill>
                <a:latin typeface="Segoe UI Semibold" panose="020B0702040204020203" pitchFamily="34" charset="0"/>
              </a:rPr>
              <a:t>1. Define the task first</a:t>
            </a:r>
          </a:p>
          <a:p>
            <a:r>
              <a:rPr lang="en-US" sz="900">
                <a:solidFill>
                  <a:srgbClr val="FFFFFF"/>
                </a:solidFill>
                <a:latin typeface="Segoe UI" panose="020B0502040204020203" pitchFamily="34" charset="0"/>
              </a:rPr>
              <a:t>Never buy motors before knowing payload, reach, and speed.</a:t>
            </a:r>
            <a:endParaRPr lang="fr-FR" sz="900">
              <a:solidFill>
                <a:srgbClr val="FFFFFF"/>
              </a:solidFill>
              <a:latin typeface="Segoe UI" panose="020B0502040204020203" pitchFamily="34" charset="0"/>
            </a:endParaRPr>
          </a:p>
        </p:txBody>
      </p:sp>
      <p:sp>
        <p:nvSpPr>
          <p:cNvPr id="9" name="Rectangle : coins arrondis 8">
            <a:extLst>
              <a:ext uri="{FF2B5EF4-FFF2-40B4-BE49-F238E27FC236}">
                <a16:creationId xmlns:a16="http://schemas.microsoft.com/office/drawing/2014/main" id="{229E3217-5666-E2E8-0BF4-D0AB9C76DC55}"/>
              </a:ext>
            </a:extLst>
          </p:cNvPr>
          <p:cNvSpPr/>
          <p:nvPr/>
        </p:nvSpPr>
        <p:spPr>
          <a:xfrm>
            <a:off x="508000" y="2095500"/>
            <a:ext cx="5461000" cy="889000"/>
          </a:xfrm>
          <a:prstGeom prst="roundRect">
            <a:avLst/>
          </a:prstGeom>
          <a:solidFill>
            <a:srgbClr val="101622"/>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73F404F1-EB87-D329-2CE2-4E9C5FAD7B36}"/>
              </a:ext>
            </a:extLst>
          </p:cNvPr>
          <p:cNvSpPr txBox="1"/>
          <p:nvPr/>
        </p:nvSpPr>
        <p:spPr>
          <a:xfrm>
            <a:off x="660400" y="2171700"/>
            <a:ext cx="5143500" cy="415498"/>
          </a:xfrm>
          <a:prstGeom prst="rect">
            <a:avLst/>
          </a:prstGeom>
          <a:noFill/>
        </p:spPr>
        <p:txBody>
          <a:bodyPr vert="horz" wrap="square" rtlCol="0">
            <a:spAutoFit/>
          </a:bodyPr>
          <a:lstStyle/>
          <a:p>
            <a:r>
              <a:rPr lang="fr-FR" sz="1200" b="1">
                <a:solidFill>
                  <a:srgbClr val="A855F7"/>
                </a:solidFill>
                <a:latin typeface="Segoe UI Semibold" panose="020B0702040204020203" pitchFamily="34" charset="0"/>
              </a:rPr>
              <a:t>2. Minimize DOF</a:t>
            </a:r>
          </a:p>
          <a:p>
            <a:r>
              <a:rPr lang="en-US" sz="900">
                <a:solidFill>
                  <a:srgbClr val="FFFFFF"/>
                </a:solidFill>
                <a:latin typeface="Segoe UI" panose="020B0502040204020203" pitchFamily="34" charset="0"/>
              </a:rPr>
              <a:t>Use the smallest number of joints strictly necessary.</a:t>
            </a:r>
            <a:endParaRPr lang="fr-FR" sz="900">
              <a:solidFill>
                <a:srgbClr val="FFFFFF"/>
              </a:solidFill>
              <a:latin typeface="Segoe UI" panose="020B0502040204020203" pitchFamily="34" charset="0"/>
            </a:endParaRPr>
          </a:p>
        </p:txBody>
      </p:sp>
      <p:sp>
        <p:nvSpPr>
          <p:cNvPr id="11" name="Rectangle : coins arrondis 10">
            <a:extLst>
              <a:ext uri="{FF2B5EF4-FFF2-40B4-BE49-F238E27FC236}">
                <a16:creationId xmlns:a16="http://schemas.microsoft.com/office/drawing/2014/main" id="{A8F4DD29-058C-6F93-B526-CEA6072CCE1A}"/>
              </a:ext>
            </a:extLst>
          </p:cNvPr>
          <p:cNvSpPr/>
          <p:nvPr/>
        </p:nvSpPr>
        <p:spPr>
          <a:xfrm>
            <a:off x="508000" y="3111500"/>
            <a:ext cx="5461000" cy="889000"/>
          </a:xfrm>
          <a:prstGeom prst="roundRect">
            <a:avLst/>
          </a:prstGeom>
          <a:solidFill>
            <a:srgbClr val="101622"/>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C7C9240F-67B3-E04D-AF28-0E6E2D17A77F}"/>
              </a:ext>
            </a:extLst>
          </p:cNvPr>
          <p:cNvSpPr txBox="1"/>
          <p:nvPr/>
        </p:nvSpPr>
        <p:spPr>
          <a:xfrm>
            <a:off x="660400" y="3187700"/>
            <a:ext cx="5143500" cy="415498"/>
          </a:xfrm>
          <a:prstGeom prst="rect">
            <a:avLst/>
          </a:prstGeom>
          <a:noFill/>
        </p:spPr>
        <p:txBody>
          <a:bodyPr vert="horz" wrap="square" rtlCol="0">
            <a:spAutoFit/>
          </a:bodyPr>
          <a:lstStyle/>
          <a:p>
            <a:r>
              <a:rPr lang="en-US" sz="1200" b="1">
                <a:solidFill>
                  <a:srgbClr val="A855F7"/>
                </a:solidFill>
                <a:latin typeface="Segoe UI Semibold" panose="020B0702040204020203" pitchFamily="34" charset="0"/>
              </a:rPr>
              <a:t>3. 2× Safety Factor on Torque</a:t>
            </a:r>
          </a:p>
          <a:p>
            <a:r>
              <a:rPr lang="en-US" sz="900">
                <a:solidFill>
                  <a:srgbClr val="FFFFFF"/>
                </a:solidFill>
                <a:latin typeface="Segoe UI" panose="020B0502040204020203" pitchFamily="34" charset="0"/>
              </a:rPr>
              <a:t>Always multiply static torque calculations by 2× for acceleration.</a:t>
            </a:r>
            <a:endParaRPr lang="fr-FR" sz="900">
              <a:solidFill>
                <a:srgbClr val="FFFFFF"/>
              </a:solidFill>
              <a:latin typeface="Segoe UI" panose="020B0502040204020203" pitchFamily="34" charset="0"/>
            </a:endParaRPr>
          </a:p>
        </p:txBody>
      </p:sp>
      <p:sp>
        <p:nvSpPr>
          <p:cNvPr id="13" name="Rectangle : coins arrondis 12">
            <a:extLst>
              <a:ext uri="{FF2B5EF4-FFF2-40B4-BE49-F238E27FC236}">
                <a16:creationId xmlns:a16="http://schemas.microsoft.com/office/drawing/2014/main" id="{3523D6A0-255A-F9DC-7892-84B16BF58DA7}"/>
              </a:ext>
            </a:extLst>
          </p:cNvPr>
          <p:cNvSpPr/>
          <p:nvPr/>
        </p:nvSpPr>
        <p:spPr>
          <a:xfrm>
            <a:off x="508000" y="4127500"/>
            <a:ext cx="5461000" cy="889000"/>
          </a:xfrm>
          <a:prstGeom prst="roundRect">
            <a:avLst/>
          </a:prstGeom>
          <a:solidFill>
            <a:srgbClr val="101622"/>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57D2E5D5-24BD-D407-1856-1193FABC71F8}"/>
              </a:ext>
            </a:extLst>
          </p:cNvPr>
          <p:cNvSpPr txBox="1"/>
          <p:nvPr/>
        </p:nvSpPr>
        <p:spPr>
          <a:xfrm>
            <a:off x="660400" y="4203700"/>
            <a:ext cx="5143500" cy="415498"/>
          </a:xfrm>
          <a:prstGeom prst="rect">
            <a:avLst/>
          </a:prstGeom>
          <a:noFill/>
        </p:spPr>
        <p:txBody>
          <a:bodyPr vert="horz" wrap="square" rtlCol="0">
            <a:spAutoFit/>
          </a:bodyPr>
          <a:lstStyle/>
          <a:p>
            <a:r>
              <a:rPr lang="fr-FR" sz="1200" b="1">
                <a:solidFill>
                  <a:srgbClr val="A855F7"/>
                </a:solidFill>
                <a:latin typeface="Segoe UI Semibold" panose="020B0702040204020203" pitchFamily="34" charset="0"/>
              </a:rPr>
              <a:t>4. Resolution ≠ Accuracy</a:t>
            </a:r>
          </a:p>
          <a:p>
            <a:r>
              <a:rPr lang="en-US" sz="900">
                <a:solidFill>
                  <a:srgbClr val="FFFFFF"/>
                </a:solidFill>
                <a:latin typeface="Segoe UI" panose="020B0502040204020203" pitchFamily="34" charset="0"/>
              </a:rPr>
              <a:t>A high-count encoder does not fix mechanical flexing.</a:t>
            </a:r>
            <a:endParaRPr lang="fr-FR" sz="900">
              <a:solidFill>
                <a:srgbClr val="FFFFFF"/>
              </a:solidFill>
              <a:latin typeface="Segoe UI" panose="020B0502040204020203" pitchFamily="34" charset="0"/>
            </a:endParaRPr>
          </a:p>
        </p:txBody>
      </p:sp>
      <p:sp>
        <p:nvSpPr>
          <p:cNvPr id="15" name="Rectangle : coins arrondis 14">
            <a:extLst>
              <a:ext uri="{FF2B5EF4-FFF2-40B4-BE49-F238E27FC236}">
                <a16:creationId xmlns:a16="http://schemas.microsoft.com/office/drawing/2014/main" id="{B542C7AF-C0BD-AC23-DCB2-1851BF22065D}"/>
              </a:ext>
            </a:extLst>
          </p:cNvPr>
          <p:cNvSpPr/>
          <p:nvPr/>
        </p:nvSpPr>
        <p:spPr>
          <a:xfrm>
            <a:off x="508000" y="5143500"/>
            <a:ext cx="5461000" cy="889000"/>
          </a:xfrm>
          <a:prstGeom prst="roundRect">
            <a:avLst/>
          </a:prstGeom>
          <a:solidFill>
            <a:srgbClr val="101622"/>
          </a:solidFill>
          <a:ln w="12700">
            <a:solidFill>
              <a:srgbClr val="A855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B3A9695C-5D7E-F83A-032A-F59B8C76AEF0}"/>
              </a:ext>
            </a:extLst>
          </p:cNvPr>
          <p:cNvSpPr txBox="1"/>
          <p:nvPr/>
        </p:nvSpPr>
        <p:spPr>
          <a:xfrm>
            <a:off x="660400" y="5219700"/>
            <a:ext cx="5143500" cy="415498"/>
          </a:xfrm>
          <a:prstGeom prst="rect">
            <a:avLst/>
          </a:prstGeom>
          <a:noFill/>
        </p:spPr>
        <p:txBody>
          <a:bodyPr vert="horz" wrap="square" rtlCol="0">
            <a:spAutoFit/>
          </a:bodyPr>
          <a:lstStyle/>
          <a:p>
            <a:r>
              <a:rPr lang="fr-FR" sz="1200" b="1">
                <a:solidFill>
                  <a:srgbClr val="A855F7"/>
                </a:solidFill>
                <a:latin typeface="Segoe UI Semibold" panose="020B0702040204020203" pitchFamily="34" charset="0"/>
              </a:rPr>
              <a:t>5. Beware Gear Backlash</a:t>
            </a:r>
          </a:p>
          <a:p>
            <a:r>
              <a:rPr lang="en-US" sz="900">
                <a:solidFill>
                  <a:srgbClr val="FFFFFF"/>
                </a:solidFill>
                <a:latin typeface="Segoe UI" panose="020B0502040204020203" pitchFamily="34" charset="0"/>
              </a:rPr>
              <a:t>Loose gear teeth destroy precision; use belts or zero-backlash gears.</a:t>
            </a:r>
            <a:endParaRPr lang="fr-FR" sz="900">
              <a:solidFill>
                <a:srgbClr val="FFFFFF"/>
              </a:solidFill>
              <a:latin typeface="Segoe UI" panose="020B0502040204020203" pitchFamily="34" charset="0"/>
            </a:endParaRPr>
          </a:p>
        </p:txBody>
      </p:sp>
      <p:sp>
        <p:nvSpPr>
          <p:cNvPr id="17" name="Rectangle : coins arrondis 16">
            <a:extLst>
              <a:ext uri="{FF2B5EF4-FFF2-40B4-BE49-F238E27FC236}">
                <a16:creationId xmlns:a16="http://schemas.microsoft.com/office/drawing/2014/main" id="{D35E13BF-EB36-E2A3-4D5F-43409C414DEE}"/>
              </a:ext>
            </a:extLst>
          </p:cNvPr>
          <p:cNvSpPr/>
          <p:nvPr/>
        </p:nvSpPr>
        <p:spPr>
          <a:xfrm>
            <a:off x="6223000" y="1079500"/>
            <a:ext cx="5461000" cy="8890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58747B7D-EFF1-F80C-5808-A961F472E326}"/>
              </a:ext>
            </a:extLst>
          </p:cNvPr>
          <p:cNvSpPr txBox="1"/>
          <p:nvPr/>
        </p:nvSpPr>
        <p:spPr>
          <a:xfrm>
            <a:off x="6375400" y="1155700"/>
            <a:ext cx="5143500" cy="415498"/>
          </a:xfrm>
          <a:prstGeom prst="rect">
            <a:avLst/>
          </a:prstGeom>
          <a:noFill/>
        </p:spPr>
        <p:txBody>
          <a:bodyPr vert="horz" wrap="square" rtlCol="0">
            <a:spAutoFit/>
          </a:bodyPr>
          <a:lstStyle/>
          <a:p>
            <a:r>
              <a:rPr lang="fr-FR" sz="1200" b="1">
                <a:solidFill>
                  <a:srgbClr val="38BDF8"/>
                </a:solidFill>
                <a:latin typeface="Segoe UI Semibold" panose="020B0702040204020203" pitchFamily="34" charset="0"/>
              </a:rPr>
              <a:t>6. Structure &gt; Motor Size</a:t>
            </a:r>
          </a:p>
          <a:p>
            <a:r>
              <a:rPr lang="en-US" sz="900">
                <a:solidFill>
                  <a:srgbClr val="FFFFFF"/>
                </a:solidFill>
                <a:latin typeface="Segoe UI" panose="020B0502040204020203" pitchFamily="34" charset="0"/>
              </a:rPr>
              <a:t>A hollow aluminum tube beats solid plastic 3D prints every time.</a:t>
            </a:r>
            <a:endParaRPr lang="fr-FR" sz="900">
              <a:solidFill>
                <a:srgbClr val="FFFFFF"/>
              </a:solidFill>
              <a:latin typeface="Segoe UI" panose="020B0502040204020203" pitchFamily="34" charset="0"/>
            </a:endParaRPr>
          </a:p>
        </p:txBody>
      </p:sp>
      <p:sp>
        <p:nvSpPr>
          <p:cNvPr id="19" name="Rectangle : coins arrondis 18">
            <a:extLst>
              <a:ext uri="{FF2B5EF4-FFF2-40B4-BE49-F238E27FC236}">
                <a16:creationId xmlns:a16="http://schemas.microsoft.com/office/drawing/2014/main" id="{3FE76036-1BD4-AC84-495F-88C9E7F79DE1}"/>
              </a:ext>
            </a:extLst>
          </p:cNvPr>
          <p:cNvSpPr/>
          <p:nvPr/>
        </p:nvSpPr>
        <p:spPr>
          <a:xfrm>
            <a:off x="6223000" y="2095500"/>
            <a:ext cx="5461000" cy="8890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a:extLst>
              <a:ext uri="{FF2B5EF4-FFF2-40B4-BE49-F238E27FC236}">
                <a16:creationId xmlns:a16="http://schemas.microsoft.com/office/drawing/2014/main" id="{4FA0D16C-2981-F3FC-445A-FA044AB04699}"/>
              </a:ext>
            </a:extLst>
          </p:cNvPr>
          <p:cNvSpPr txBox="1"/>
          <p:nvPr/>
        </p:nvSpPr>
        <p:spPr>
          <a:xfrm>
            <a:off x="6375400" y="2171700"/>
            <a:ext cx="5143500" cy="415498"/>
          </a:xfrm>
          <a:prstGeom prst="rect">
            <a:avLst/>
          </a:prstGeom>
          <a:noFill/>
        </p:spPr>
        <p:txBody>
          <a:bodyPr vert="horz" wrap="square" rtlCol="0">
            <a:spAutoFit/>
          </a:bodyPr>
          <a:lstStyle/>
          <a:p>
            <a:r>
              <a:rPr lang="en-US" sz="1200" b="1">
                <a:solidFill>
                  <a:srgbClr val="38BDF8"/>
                </a:solidFill>
                <a:latin typeface="Segoe UI Semibold" panose="020B0702040204020203" pitchFamily="34" charset="0"/>
              </a:rPr>
              <a:t>7. Size for Peak Surge</a:t>
            </a:r>
          </a:p>
          <a:p>
            <a:r>
              <a:rPr lang="en-US" sz="900">
                <a:solidFill>
                  <a:srgbClr val="FFFFFF"/>
                </a:solidFill>
                <a:latin typeface="Segoe UI" panose="020B0502040204020203" pitchFamily="34" charset="0"/>
              </a:rPr>
              <a:t>Motors draw 5× stall current on startup; size batteries for peak surge.</a:t>
            </a:r>
            <a:endParaRPr lang="fr-FR" sz="900">
              <a:solidFill>
                <a:srgbClr val="FFFFFF"/>
              </a:solidFill>
              <a:latin typeface="Segoe UI" panose="020B0502040204020203" pitchFamily="34" charset="0"/>
            </a:endParaRPr>
          </a:p>
        </p:txBody>
      </p:sp>
      <p:sp>
        <p:nvSpPr>
          <p:cNvPr id="21" name="Rectangle : coins arrondis 20">
            <a:extLst>
              <a:ext uri="{FF2B5EF4-FFF2-40B4-BE49-F238E27FC236}">
                <a16:creationId xmlns:a16="http://schemas.microsoft.com/office/drawing/2014/main" id="{D9AEB7B4-F2B0-AC06-B829-B3E393EAD0F8}"/>
              </a:ext>
            </a:extLst>
          </p:cNvPr>
          <p:cNvSpPr/>
          <p:nvPr/>
        </p:nvSpPr>
        <p:spPr>
          <a:xfrm>
            <a:off x="6223000" y="3111500"/>
            <a:ext cx="5461000" cy="8890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F7F58D4D-2336-0062-E330-2A548CF1AD7E}"/>
              </a:ext>
            </a:extLst>
          </p:cNvPr>
          <p:cNvSpPr txBox="1"/>
          <p:nvPr/>
        </p:nvSpPr>
        <p:spPr>
          <a:xfrm>
            <a:off x="6375400" y="3187700"/>
            <a:ext cx="5143500" cy="415498"/>
          </a:xfrm>
          <a:prstGeom prst="rect">
            <a:avLst/>
          </a:prstGeom>
          <a:noFill/>
        </p:spPr>
        <p:txBody>
          <a:bodyPr vert="horz" wrap="square" rtlCol="0">
            <a:spAutoFit/>
          </a:bodyPr>
          <a:lstStyle/>
          <a:p>
            <a:r>
              <a:rPr lang="en-US" sz="1200" b="1">
                <a:solidFill>
                  <a:srgbClr val="38BDF8"/>
                </a:solidFill>
                <a:latin typeface="Segoe UI Semibold" panose="020B0702040204020203" pitchFamily="34" charset="0"/>
              </a:rPr>
              <a:t>8. Isolate Logic from Power</a:t>
            </a:r>
          </a:p>
          <a:p>
            <a:r>
              <a:rPr lang="en-US" sz="900">
                <a:solidFill>
                  <a:srgbClr val="FFFFFF"/>
                </a:solidFill>
                <a:latin typeface="Segoe UI" panose="020B0502040204020203" pitchFamily="34" charset="0"/>
              </a:rPr>
              <a:t>Separate computer power from noisy motors to prevent brownouts.</a:t>
            </a:r>
            <a:endParaRPr lang="fr-FR" sz="900">
              <a:solidFill>
                <a:srgbClr val="FFFFFF"/>
              </a:solidFill>
              <a:latin typeface="Segoe UI" panose="020B0502040204020203" pitchFamily="34" charset="0"/>
            </a:endParaRPr>
          </a:p>
        </p:txBody>
      </p:sp>
      <p:sp>
        <p:nvSpPr>
          <p:cNvPr id="23" name="Rectangle : coins arrondis 22">
            <a:extLst>
              <a:ext uri="{FF2B5EF4-FFF2-40B4-BE49-F238E27FC236}">
                <a16:creationId xmlns:a16="http://schemas.microsoft.com/office/drawing/2014/main" id="{3F14F3BF-132A-F0A8-6198-E6F431D26751}"/>
              </a:ext>
            </a:extLst>
          </p:cNvPr>
          <p:cNvSpPr/>
          <p:nvPr/>
        </p:nvSpPr>
        <p:spPr>
          <a:xfrm>
            <a:off x="6223000" y="4127500"/>
            <a:ext cx="5461000" cy="8890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3169D203-5820-877F-E5A4-6936F1A1AEF4}"/>
              </a:ext>
            </a:extLst>
          </p:cNvPr>
          <p:cNvSpPr txBox="1"/>
          <p:nvPr/>
        </p:nvSpPr>
        <p:spPr>
          <a:xfrm>
            <a:off x="6375400" y="4203700"/>
            <a:ext cx="5143500" cy="415498"/>
          </a:xfrm>
          <a:prstGeom prst="rect">
            <a:avLst/>
          </a:prstGeom>
          <a:noFill/>
        </p:spPr>
        <p:txBody>
          <a:bodyPr vert="horz" wrap="square" rtlCol="0">
            <a:spAutoFit/>
          </a:bodyPr>
          <a:lstStyle/>
          <a:p>
            <a:r>
              <a:rPr lang="en-US" sz="1200" b="1">
                <a:solidFill>
                  <a:srgbClr val="38BDF8"/>
                </a:solidFill>
                <a:latin typeface="Segoe UI Semibold" panose="020B0702040204020203" pitchFamily="34" charset="0"/>
              </a:rPr>
              <a:t>9. Test with Physical Loads</a:t>
            </a:r>
          </a:p>
          <a:p>
            <a:r>
              <a:rPr lang="en-US" sz="900">
                <a:solidFill>
                  <a:srgbClr val="FFFFFF"/>
                </a:solidFill>
                <a:latin typeface="Segoe UI" panose="020B0502040204020203" pitchFamily="34" charset="0"/>
              </a:rPr>
              <a:t>Simulation is great, but carpet friction and loose screws only happen in reality.</a:t>
            </a:r>
            <a:endParaRPr lang="fr-FR" sz="900">
              <a:solidFill>
                <a:srgbClr val="FFFFFF"/>
              </a:solidFill>
              <a:latin typeface="Segoe UI" panose="020B0502040204020203" pitchFamily="34" charset="0"/>
            </a:endParaRPr>
          </a:p>
        </p:txBody>
      </p:sp>
      <p:sp>
        <p:nvSpPr>
          <p:cNvPr id="25" name="Rectangle : coins arrondis 24">
            <a:extLst>
              <a:ext uri="{FF2B5EF4-FFF2-40B4-BE49-F238E27FC236}">
                <a16:creationId xmlns:a16="http://schemas.microsoft.com/office/drawing/2014/main" id="{2FB44455-EC8C-4EDE-D364-28D0D9149B74}"/>
              </a:ext>
            </a:extLst>
          </p:cNvPr>
          <p:cNvSpPr/>
          <p:nvPr/>
        </p:nvSpPr>
        <p:spPr>
          <a:xfrm>
            <a:off x="6223000" y="5143500"/>
            <a:ext cx="5461000" cy="889000"/>
          </a:xfrm>
          <a:prstGeom prst="roundRect">
            <a:avLst/>
          </a:prstGeom>
          <a:solidFill>
            <a:srgbClr val="101622"/>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218027E6-F89B-2C95-9989-06378C6C9D6C}"/>
              </a:ext>
            </a:extLst>
          </p:cNvPr>
          <p:cNvSpPr txBox="1"/>
          <p:nvPr/>
        </p:nvSpPr>
        <p:spPr>
          <a:xfrm>
            <a:off x="6375400" y="5219700"/>
            <a:ext cx="5143500" cy="415498"/>
          </a:xfrm>
          <a:prstGeom prst="rect">
            <a:avLst/>
          </a:prstGeom>
          <a:noFill/>
        </p:spPr>
        <p:txBody>
          <a:bodyPr vert="horz" wrap="square" rtlCol="0">
            <a:spAutoFit/>
          </a:bodyPr>
          <a:lstStyle/>
          <a:p>
            <a:r>
              <a:rPr lang="fr-FR" sz="1200" b="1">
                <a:solidFill>
                  <a:srgbClr val="38BDF8"/>
                </a:solidFill>
                <a:latin typeface="Segoe UI Semibold" panose="020B0702040204020203" pitchFamily="34" charset="0"/>
              </a:rPr>
              <a:t>10. Iterate Without Fear</a:t>
            </a:r>
          </a:p>
          <a:p>
            <a:r>
              <a:rPr lang="en-US" sz="900">
                <a:solidFill>
                  <a:srgbClr val="FFFFFF"/>
                </a:solidFill>
                <a:latin typeface="Segoe UI" panose="020B0502040204020203" pitchFamily="34" charset="0"/>
              </a:rPr>
              <a:t>Breaking V1 is step 5 of the design process. Learn, redesign, and win!</a:t>
            </a:r>
            <a:endParaRPr lang="fr-FR" sz="900">
              <a:solidFill>
                <a:srgbClr val="FFFFFF"/>
              </a:solidFill>
              <a:latin typeface="Segoe UI" panose="020B0502040204020203" pitchFamily="34" charset="0"/>
            </a:endParaRPr>
          </a:p>
        </p:txBody>
      </p:sp>
    </p:spTree>
    <p:extLst>
      <p:ext uri="{BB962C8B-B14F-4D97-AF65-F5344CB8AC3E}">
        <p14:creationId xmlns:p14="http://schemas.microsoft.com/office/powerpoint/2010/main" val="6240054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90C1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3A2B91-29B9-6B55-9E81-095024EC44AF}"/>
              </a:ext>
            </a:extLst>
          </p:cNvPr>
          <p:cNvSpPr/>
          <p:nvPr/>
        </p:nvSpPr>
        <p:spPr>
          <a:xfrm>
            <a:off x="0" y="0"/>
            <a:ext cx="12192000" cy="6858000"/>
          </a:xfrm>
          <a:prstGeom prst="rect">
            <a:avLst/>
          </a:prstGeom>
          <a:solidFill>
            <a:srgbClr val="090C1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D26BDB91-CDC3-7EC0-A6CD-59BEDE391C04}"/>
              </a:ext>
            </a:extLst>
          </p:cNvPr>
          <p:cNvSpPr/>
          <p:nvPr/>
        </p:nvSpPr>
        <p:spPr>
          <a:xfrm>
            <a:off x="0" y="0"/>
            <a:ext cx="12192000" cy="38100"/>
          </a:xfrm>
          <a:prstGeom prst="rect">
            <a:avLst/>
          </a:prstGeom>
          <a:solidFill>
            <a:srgbClr val="A85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61E1152B-095C-E9CA-FDEC-61564BCA36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969000" y="635000"/>
            <a:ext cx="5715000" cy="5588000"/>
          </a:xfrm>
          <a:prstGeom prst="rect">
            <a:avLst/>
          </a:prstGeom>
          <a:ln w="19050">
            <a:solidFill>
              <a:srgbClr val="A855F7"/>
            </a:solidFill>
          </a:ln>
        </p:spPr>
      </p:pic>
      <p:sp>
        <p:nvSpPr>
          <p:cNvPr id="6" name="ZoneTexte 5">
            <a:extLst>
              <a:ext uri="{FF2B5EF4-FFF2-40B4-BE49-F238E27FC236}">
                <a16:creationId xmlns:a16="http://schemas.microsoft.com/office/drawing/2014/main" id="{CC91EE06-5569-40FE-4967-003FBB6CB1A6}"/>
              </a:ext>
            </a:extLst>
          </p:cNvPr>
          <p:cNvSpPr txBox="1"/>
          <p:nvPr/>
        </p:nvSpPr>
        <p:spPr>
          <a:xfrm>
            <a:off x="635000" y="889000"/>
            <a:ext cx="5080000" cy="3847207"/>
          </a:xfrm>
          <a:prstGeom prst="rect">
            <a:avLst/>
          </a:prstGeom>
          <a:noFill/>
        </p:spPr>
        <p:txBody>
          <a:bodyPr vert="horz" wrap="square" rtlCol="0">
            <a:spAutoFit/>
          </a:bodyPr>
          <a:lstStyle/>
          <a:p>
            <a:r>
              <a:rPr lang="en-US" b="1">
                <a:solidFill>
                  <a:srgbClr val="38BDF8"/>
                </a:solidFill>
                <a:latin typeface="Segoe UI Semibold" panose="020B0702040204020203" pitchFamily="34" charset="0"/>
              </a:rPr>
              <a:t>DEFINE</a:t>
            </a:r>
          </a:p>
          <a:p>
            <a:r>
              <a:rPr lang="en-US" b="1">
                <a:solidFill>
                  <a:srgbClr val="38BDF8"/>
                </a:solidFill>
                <a:latin typeface="Segoe UI Semibold" panose="020B0702040204020203" pitchFamily="34" charset="0"/>
              </a:rPr>
              <a:t>DESIGN</a:t>
            </a:r>
          </a:p>
          <a:p>
            <a:r>
              <a:rPr lang="en-US" b="1">
                <a:solidFill>
                  <a:srgbClr val="38BDF8"/>
                </a:solidFill>
                <a:latin typeface="Segoe UI Semibold" panose="020B0702040204020203" pitchFamily="34" charset="0"/>
              </a:rPr>
              <a:t>CALCULATE</a:t>
            </a:r>
          </a:p>
          <a:p>
            <a:r>
              <a:rPr lang="en-US" b="1">
                <a:solidFill>
                  <a:srgbClr val="38BDF8"/>
                </a:solidFill>
                <a:latin typeface="Segoe UI Semibold" panose="020B0702040204020203" pitchFamily="34" charset="0"/>
              </a:rPr>
              <a:t>BUILD</a:t>
            </a:r>
          </a:p>
          <a:p>
            <a:r>
              <a:rPr lang="en-US" b="1">
                <a:solidFill>
                  <a:srgbClr val="38BDF8"/>
                </a:solidFill>
                <a:latin typeface="Segoe UI Semibold" panose="020B0702040204020203" pitchFamily="34" charset="0"/>
              </a:rPr>
              <a:t>TEST</a:t>
            </a:r>
          </a:p>
          <a:p>
            <a:r>
              <a:rPr lang="en-US" b="1">
                <a:solidFill>
                  <a:srgbClr val="38BDF8"/>
                </a:solidFill>
                <a:latin typeface="Segoe UI Semibold" panose="020B0702040204020203" pitchFamily="34" charset="0"/>
              </a:rPr>
              <a:t>BREAK</a:t>
            </a:r>
          </a:p>
          <a:p>
            <a:r>
              <a:rPr lang="en-US" b="1">
                <a:solidFill>
                  <a:srgbClr val="38BDF8"/>
                </a:solidFill>
                <a:latin typeface="Segoe UI Semibold" panose="020B0702040204020203" pitchFamily="34" charset="0"/>
              </a:rPr>
              <a:t>IMPROVE</a:t>
            </a:r>
          </a:p>
          <a:p>
            <a:r>
              <a:rPr lang="en-US" b="1">
                <a:solidFill>
                  <a:srgbClr val="38BDF8"/>
                </a:solidFill>
                <a:latin typeface="Segoe UI Semibold" panose="020B0702040204020203" pitchFamily="34" charset="0"/>
              </a:rPr>
              <a:t>
</a:t>
            </a:r>
            <a:r>
              <a:rPr lang="en-US" sz="2800" b="1">
                <a:solidFill>
                  <a:srgbClr val="A855F7"/>
                </a:solidFill>
                <a:latin typeface="Segoe UI Semibold" panose="020B0702040204020203" pitchFamily="34" charset="0"/>
              </a:rPr>
              <a:t>THAT'S ROBOTICS.</a:t>
            </a:r>
          </a:p>
          <a:p>
            <a:r>
              <a:rPr lang="en-US" sz="2800" b="1">
                <a:solidFill>
                  <a:srgbClr val="A855F7"/>
                </a:solidFill>
                <a:latin typeface="Segoe UI Semibold" panose="020B0702040204020203" pitchFamily="34" charset="0"/>
              </a:rPr>
              <a:t>
</a:t>
            </a:r>
            <a:r>
              <a:rPr lang="en-US" sz="1100" b="1">
                <a:solidFill>
                  <a:srgbClr val="FFFFFF"/>
                </a:solidFill>
                <a:latin typeface="Segoe UI" panose="020B0502040204020203" pitchFamily="34" charset="0"/>
              </a:rPr>
              <a:t>See you next Thursday for Session 02 / 04:
"Sensors, Perception &amp; State Estimation"
Thank you for attending! Let's open the floor for Q&amp;A.</a:t>
            </a:r>
            <a:endParaRPr lang="fr-FR" sz="1100" b="1">
              <a:solidFill>
                <a:srgbClr val="FFFFFF"/>
              </a:solidFill>
              <a:latin typeface="Segoe UI" panose="020B0502040204020203" pitchFamily="34" charset="0"/>
            </a:endParaRPr>
          </a:p>
        </p:txBody>
      </p:sp>
    </p:spTree>
    <p:extLst>
      <p:ext uri="{BB962C8B-B14F-4D97-AF65-F5344CB8AC3E}">
        <p14:creationId xmlns:p14="http://schemas.microsoft.com/office/powerpoint/2010/main" val="346998693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10497</Words>
  <Application>Microsoft Office PowerPoint</Application>
  <PresentationFormat>Personnalisé</PresentationFormat>
  <Paragraphs>651</Paragraphs>
  <Slides>44</Slides>
  <Notes>44</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44</vt:i4>
      </vt:variant>
    </vt:vector>
  </HeadingPairs>
  <TitlesOfParts>
    <vt:vector size="50" baseType="lpstr">
      <vt:lpstr>Aptos</vt:lpstr>
      <vt:lpstr>Aptos Display</vt:lpstr>
      <vt:lpstr>Arial</vt:lpstr>
      <vt:lpstr>Segoe UI</vt:lpstr>
      <vt:lpstr>Segoe UI Semibold</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MOUHAMED  BOUGHRARA</dc:creator>
  <cp:lastModifiedBy>MOUHAMED  BOUGHRARA</cp:lastModifiedBy>
  <cp:revision>1</cp:revision>
  <dcterms:created xsi:type="dcterms:W3CDTF">2026-09-07T16:16:15Z</dcterms:created>
  <dcterms:modified xsi:type="dcterms:W3CDTF">2026-09-07T16:16:15Z</dcterms:modified>
</cp:coreProperties>
</file>