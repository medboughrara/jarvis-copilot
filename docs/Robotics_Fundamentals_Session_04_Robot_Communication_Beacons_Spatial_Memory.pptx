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303520" cy="5120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43F5E"/>
                </a:solidFill>
                <a:latin typeface="Segoe UI"/>
              </a:defRPr>
            </a:pPr>
            <a:r>
              <a:t>ROBOTICS BOOTCAMP SERIES • SESSION 04 / 04 (CAPSTONE)</a:t>
            </a:r>
          </a:p>
          <a:p>
            <a:pPr>
              <a:spcAft>
                <a:spcPts val="1200"/>
              </a:spcAft>
              <a:defRPr sz="2900" b="1">
                <a:solidFill>
                  <a:srgbClr val="FFFFFF"/>
                </a:solidFill>
                <a:latin typeface="Segoe UI Semibold"/>
              </a:defRPr>
            </a:pPr>
            <a:r>
              <a:t>ROBOT COMMUNICATION,</a:t>
            </a:r>
            <a:br/>
            <a:r>
              <a:t>BEACONS &amp; SPATIAL MEMORY</a:t>
            </a:r>
          </a:p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Synthesizing Multi-Robot Coordination and Persistent World Models</a:t>
            </a:r>
          </a:p>
          <a:p>
            <a:pPr>
              <a:spcAft>
                <a:spcPts val="1800"/>
              </a:spcAft>
              <a:defRPr sz="1000">
                <a:solidFill>
                  <a:srgbClr val="94A3B8"/>
                </a:solidFill>
                <a:latin typeface="Segoe UI"/>
              </a:defRPr>
            </a:pPr>
            <a:r>
              <a:t>From single-agent kinematic navigation to distributed multi-agent swarm consensus. Learn how industrial AMRs communicate via ROS 2 DDS, triangulate millimeter poses using UWB beacons, and fuse dynamic spatial memory for coordinated fleet autonomy.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251960"/>
            <a:ext cx="5257800" cy="1965960"/>
          </a:xfrm>
          <a:prstGeom prst="roundRect">
            <a:avLst/>
          </a:prstGeom>
          <a:solidFill>
            <a:srgbClr val="181226"/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370832"/>
            <a:ext cx="4892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A855F7"/>
                </a:solidFill>
                <a:latin typeface="Segoe UI Semibold"/>
              </a:defRPr>
            </a:pPr>
            <a:r>
              <a:t>PRESENTER &amp; TECHNICAL LEAD</a:t>
            </a:r>
          </a:p>
          <a:p>
            <a:pPr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Mouhamed Boughrara</a:t>
            </a:r>
          </a:p>
          <a:p>
            <a:pPr>
              <a:spcAft>
                <a:spcPts val="600"/>
              </a:spcAft>
              <a:defRPr sz="950">
                <a:solidFill>
                  <a:srgbClr val="34D399"/>
                </a:solidFill>
                <a:latin typeface="Segoe UI"/>
              </a:defRPr>
            </a:pPr>
            <a:r>
              <a:t>Tech Lead &amp; Autonomous Systems Engineer | Founder, Jarvis PCB</a:t>
            </a:r>
          </a:p>
          <a:p>
            <a:pPr>
              <a:defRPr sz="900" b="1">
                <a:solidFill>
                  <a:srgbClr val="FBBF24"/>
                </a:solidFill>
                <a:latin typeface="Segoe UI"/>
              </a:defRPr>
            </a:pPr>
            <a:r>
              <a:t>CO-HOSTED BY: IEEE FSB RAS SBC (Tunisia) × IEEE AESS (Jordan)</a:t>
            </a:r>
          </a:p>
        </p:txBody>
      </p:sp>
      <p:pic>
        <p:nvPicPr>
          <p:cNvPr id="7" name="Picture 6" descr="swarm_spatial_network_17905466633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51560"/>
            <a:ext cx="5532120" cy="5166360"/>
          </a:xfrm>
          <a:prstGeom prst="rect">
            <a:avLst/>
          </a:prstGeom>
          <a:ln w="19050">
            <a:solidFill>
              <a:srgbClr val="A855F7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CAPSTONE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BOOTCAMP SYNTHESIS &amp; SESSION 04 OBJECTIVES</a:t>
            </a:r>
          </a:p>
        </p:txBody>
      </p:sp>
      <p:pic>
        <p:nvPicPr>
          <p:cNvPr id="7" name="Picture 6" descr="slide2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51560"/>
            <a:ext cx="11173968" cy="20116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" y="3218688"/>
            <a:ext cx="3566160" cy="21945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328416"/>
            <a:ext cx="3273552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 Semibold"/>
              </a:defRPr>
            </a:pPr>
            <a:r>
              <a:t>01. INTER-ROBOT DDS COMM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Distributed P2P Telemetry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Eliminates single-point-of-failure brokers via DDS Domain segmentation.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High-rate state sharing: /robot_state pose, velocities, and operational modes.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Dynamic QoS: Throttled reliable state delivery vs. best-effort raw sensor 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218688"/>
            <a:ext cx="3566160" cy="21945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328416"/>
            <a:ext cx="3273552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Segoe UI Semibold"/>
              </a:defRPr>
            </a:pPr>
            <a:r>
              <a:t>02. BEACON-BASED LOCALIZATION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Drift-Free Global Ranging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Sub-nanosecond UWB Time-of-Flight ranging for absolute indoor reference.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Visual fiducials (ArUco / AprilTags) for high-precision 6-DOF docking.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Non-linear trilateration optimization fused with wheel odometry via EKF.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218688"/>
            <a:ext cx="3566160" cy="21945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328416"/>
            <a:ext cx="3273552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 Semibold"/>
              </a:defRPr>
            </a:pPr>
            <a:r>
              <a:t>03. DISTRIBUTED SPATIAL MEMORY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Persistent World Models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Persistent global occupancy grids shared across heterogeneous fleets.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Topological graph networks of traversable edges and key waypoints.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Multi-robot origin frame alignment &amp; cooperative map merging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" y="5522976"/>
            <a:ext cx="11173968" cy="1051560"/>
          </a:xfrm>
          <a:prstGeom prst="roundRect">
            <a:avLst/>
          </a:prstGeom>
          <a:solidFill>
            <a:srgbClr val="161410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5632704"/>
            <a:ext cx="10771632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Segoe UI Semibold"/>
              </a:defRPr>
            </a:pPr>
            <a:r>
              <a:t>💡 Bootcamp Synthesis Goal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Transitioning robotics students from single-agent kinematic silos into modern, scalable swarm autonomy. Today we connect individual actuators, sensors, and SLAM pipelines into a unified, collaborative swarm architecture capable of collective spatial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DDS MIDDLEWARE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MULTI-ROBOT COMMUNICATION INFRASTRUCTURE (ROS 2 &amp; DDS)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5486400" cy="246888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88720"/>
            <a:ext cx="512064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 Semibold"/>
              </a:defRPr>
            </a:pPr>
            <a:r>
              <a:t>DDS ARCHITECTURE &amp; QUALITY OF SERVICE (QoS)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Peer-to-Peer Discovery Without Master Node Bottlenecks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Middleware Standard: OMG DDS (FastDDS / CycloneDDS) leveraging UDP multicasting with distinct ROS_DOMAIN_ID partitions.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Reliable QoS Profile: History=KEEP_LAST(10), Reliability=RELIABLE, Durability=TRANSIENT_LOCAL for state &amp; waypoints.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Best-Effort QoS Profile: Reliability=BEST_EFFORT for 15-30 Hz raw LiDAR &amp; depth clouds to eliminate network queue lag.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Topic Throttling: High-frequency internal loops (100 Hz) downsampled to 20 Hz /robot_state payloads to conserve RF spectrum.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675887"/>
            <a:ext cx="5486400" cy="28803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785615"/>
            <a:ext cx="51206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SWARM TOPOLOGY &amp; BANDWIDTH CONSTRAINTS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Managing Network Attenuation, Packet Drops &amp; Jitter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Topic Isolation: Namespace separation (/amr_01, /amr_02) with dynamic cross-subscription to peer poses.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Custom Swarm Payload: Compact struct transmitting [x, y, theta, vx, vy, omega, battery_pct, active_task_id].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Latency Modeling: Simulated Rayleigh fading &amp; packet loss (1-5%) testing swarm consensus degradation.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Heartbeat Guard: 250 ms timeout triggers emergency stop / degraded standalone fallback mode.</a:t>
            </a:r>
          </a:p>
        </p:txBody>
      </p:sp>
      <p:pic>
        <p:nvPicPr>
          <p:cNvPr id="11" name="Picture 10" descr="slide3_d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078992"/>
            <a:ext cx="5504688" cy="5486400"/>
          </a:xfrm>
          <a:prstGeom prst="rect">
            <a:avLst/>
          </a:prstGeom>
          <a:ln w="19050">
            <a:solidFill>
              <a:srgbClr val="38BDF8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SENSOR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BEACON-BASED RELATIVE &amp; ABSOLUTE LOCALIZATION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5577840" cy="246888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88720"/>
            <a:ext cx="52120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 Semibold"/>
              </a:defRPr>
            </a:pPr>
            <a:r>
              <a:t>UWB RANGING &amp; VISUAL FIDUCIAL POSE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Time-of-Flight Ranging + 6-DOF Optical Tags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Ultra-Wideband (UWB) Anchors: Sub-nanosecond two-way ranging (TWR) provides absolute distance di (&lt; 10 cm error), penetrating smoke, dust, and optical occlusions.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Visual Tags (ArUco / AprilTag): Perspective-n-Point (PnP) solves full 6-DOF transformation matrix T_tag^cam for precision docking and inter-robot visual tracking.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Complementary Strengths: UWB provides global distance anchors; visual tags provide orientation (theta) and zero-backlash docking alignment.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675887"/>
            <a:ext cx="5577840" cy="28803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785615"/>
            <a:ext cx="52120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 Semibold"/>
              </a:defRPr>
            </a:pPr>
            <a:r>
              <a:t>TRILATERATION OPTIMIZATION &amp; EKF FUSION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Non-Linear Least Squares + Odometry State Estimation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Measurement Model: di = sqrt((x - xi)^2 + (y - yi)^2) + epsilon_TOF, where (xi, yi) are anchor coords.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Non-Linear Solver: Gauss-Newton / Levenberg-Marquardt minimizes residual norm: min_p sum(||p - ai|| - di)^2.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Extended Kalman Filter (EKF): Fuses high-rate wheel odometry prediction (x_dot = v*cos(theta)) with asynchronous UWB beacon range updates.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Drift Elimination: Completely bounds unbounded dead-reckoning drift in warehouse environments.</a:t>
            </a:r>
          </a:p>
        </p:txBody>
      </p:sp>
      <p:pic>
        <p:nvPicPr>
          <p:cNvPr id="11" name="Picture 10" descr="slide4_uw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78992"/>
            <a:ext cx="5413248" cy="5486400"/>
          </a:xfrm>
          <a:prstGeom prst="rect">
            <a:avLst/>
          </a:prstGeom>
          <a:ln w="19050">
            <a:solidFill>
              <a:srgbClr val="FBBF24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SHARED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SPATIAL MEMORY &amp; PERSISTENT WORLD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5440680" cy="233172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70432"/>
            <a:ext cx="507492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Segoe UI Semibold"/>
              </a:defRPr>
            </a:pPr>
            <a:r>
              <a:t>LOCAL ROLLING MEMORY (DYNAMIC)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High-Rate Tactical Costmap (20-50 Hz)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Ephemeral rolling grid (e.g., 4m x 4m) centered on robot base_link.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Voxel ray-clearing: Immediately wipes dynamic obstacles (pedestrians, forklifts).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Feeds reactive path execution (TEB / DWA local planner) with zero disk persistence.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1078992"/>
            <a:ext cx="5440680" cy="233172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9944" y="1170432"/>
            <a:ext cx="5074920" cy="2148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A855F7"/>
                </a:solidFill>
                <a:latin typeface="Segoe UI Semibold"/>
              </a:defRPr>
            </a:pPr>
            <a:r>
              <a:t>GLOBAL &amp; TOPOLOGICAL MEMORY (PERSISTENT)</a:t>
            </a:r>
          </a:p>
          <a:p>
            <a:pPr>
              <a:spcAft>
                <a:spcPts val="3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Shared Multi-Session World Models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Global Occupancy Grid: Trinary states (Free=0, Occupied=100, Unknown=-1) stored in SQLite / PGM.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Topological Waypoint Graph: Nodes V = {Charging, Docking, Waypoint} &amp; edges E with traversability costs.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Cross-Fleet Map Alignment: Resolves frame offsets T_A^B using iterative closest point (ICP) scan matching.</a:t>
            </a:r>
          </a:p>
        </p:txBody>
      </p:sp>
      <p:pic>
        <p:nvPicPr>
          <p:cNvPr id="11" name="Picture 10" descr="slide5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3547872"/>
            <a:ext cx="11173968" cy="1874519"/>
          </a:xfrm>
          <a:prstGeom prst="rect">
            <a:avLst/>
          </a:prstGeom>
          <a:ln w="19050">
            <a:solidFill>
              <a:srgbClr val="34D399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512064" y="5541264"/>
            <a:ext cx="11173968" cy="1051560"/>
          </a:xfrm>
          <a:prstGeom prst="roundRect">
            <a:avLst/>
          </a:prstGeom>
          <a:solidFill>
            <a:srgbClr val="161410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650992"/>
            <a:ext cx="10771632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Segoe UI Semibold"/>
              </a:defRPr>
            </a:pPr>
            <a:r>
              <a:t>💡 Spatial Memory Invariant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Robots cannot rely purely on reactive sensor buffers. By decoupling short-term dynamic obstacle costmaps from long-term topological waypoint graphs, a fleet can persist knowledge of warehouse topography across reboots, shift changes, and network outages.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F43F5E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MOTION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ALGORITHMIC LOGIC: PURE PURSUIT &amp; SAFETY ENVELOPES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5577840" cy="246888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88720"/>
            <a:ext cx="521208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 Semibold"/>
              </a:defRPr>
            </a:pPr>
            <a:r>
              <a:t>PURE PURSUIT KINEMATICS &amp; SKID-STEER SLIP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Curvature Calculation &amp; Wheel Scrub Compensation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Arc Curvature Formula: kappa = (2 * sin(alpha)) / L, steering robot toward goal at lookahead distance L.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Velocity-Adaptive Lookahead: L(v) = k_v * v + L_min, dynamically contracting for tight turns and expanding at speed.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4-Wheeled Skid-Steer ICR: Due to lateral tire scrub, effective track width B_eff = chi * B (with chi = 1.35).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Corrected Yaw Command: omega = chi * (v_right - v_left) / B prevents understeer during sharp warehouse pivots.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675887"/>
            <a:ext cx="5577840" cy="28803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785615"/>
            <a:ext cx="521208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 Semibold"/>
              </a:defRPr>
            </a:pPr>
            <a:r>
              <a:t>DUAL-STAGE ACTIVE SAFETY ENVELOPES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Deterministic Collision Mitigation on Hardware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Emergency Stop Zone (&lt; 0.45 m): Immediate zero-twist command dispatch (v=0, omega=0) and mechanical e-brake latch. Completely overrides high-level planners.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Proximity Corridor (0.45 m to 1.20 m): Linear velocity scaling v = v_cmd * ((r - 0.45)/0.75) accompanied by an artificial lateral repulsion bias away from obstacle normal.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Deadzone Latching: Hysteresis band prevents high-frequency actuator chatter at corridor boundaries.</a:t>
            </a:r>
          </a:p>
        </p:txBody>
      </p:sp>
      <p:pic>
        <p:nvPicPr>
          <p:cNvPr id="11" name="Picture 10" descr="slide6_pursu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078992"/>
            <a:ext cx="5413248" cy="5486400"/>
          </a:xfrm>
          <a:prstGeom prst="rect">
            <a:avLst/>
          </a:prstGeom>
          <a:ln w="19050">
            <a:solidFill>
              <a:srgbClr val="F43F5E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SIMULATION ARCHITECTURE IN NVIDIA ISAAC SIM 5.0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5394960" cy="246888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88720"/>
            <a:ext cx="502920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USD STAGE ENGINEERING &amp; PHYSX 5 DYNAMICS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Modular Hierarchy &amp; Micro-Physics Fidelity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Universal Scene Description (USD): Clean stage segregation separating Environment, UWB Anchors, Robot Articulations, and RTX Sensor Prims.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PhysX 5 Rigid Body Engine: Surface material friction parameters (mu_static=0.85, mu_kinetic=0.65) matching physical warehouse concrete.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Continuous Collision Detection (CCD): Eliminates mesh pass-through artifacts during high-speed AMR maneuvers.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675887"/>
            <a:ext cx="5394960" cy="28803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785615"/>
            <a:ext cx="502920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 Semibold"/>
              </a:defRPr>
            </a:pPr>
            <a:r>
              <a:t>OMNIGRAPH ROS 2 PIPELINE &amp; OPTIMIZATION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Zero-Copy GPU Sensors to ROS 2 Topics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OmniGraph Visual Action Nodes: Direct binding of ROS 2 Context, Twist subscriber, Odometry publisher, and TF tree broadcasters.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RTX Synthetic LiDAR: GPU-accelerated raytracing generates 360-degree point clouds and 2D laser scans (/scan) at 60 FPS with zero CPU overhead.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Physics Update Decoupling: Running physics sub-stepping at 120 Hz while rendering at 60 Hz to ensure real-time factor (RTF &gt;= 1.0) on workstation GPUs.</a:t>
            </a:r>
          </a:p>
        </p:txBody>
      </p:sp>
      <p:pic>
        <p:nvPicPr>
          <p:cNvPr id="11" name="Picture 10" descr="isaac_sim_architecture_17905468270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078992"/>
            <a:ext cx="5596128" cy="5486400"/>
          </a:xfrm>
          <a:prstGeom prst="rect">
            <a:avLst/>
          </a:prstGeom>
          <a:ln w="19050">
            <a:solidFill>
              <a:srgbClr val="38BDF8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SWARM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REAL-TIME NETWORK &amp; MAP OVERLAY DASHBOARD</a:t>
            </a:r>
          </a:p>
        </p:txBody>
      </p:sp>
      <p:pic>
        <p:nvPicPr>
          <p:cNvPr id="7" name="Picture 6" descr="network_map_dashboard_17905471981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78992"/>
            <a:ext cx="5760720" cy="5486400"/>
          </a:xfrm>
          <a:prstGeom prst="rect">
            <a:avLst/>
          </a:prstGeom>
          <a:ln w="19050">
            <a:solidFill>
              <a:srgbClr val="34D399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6446520" y="1078992"/>
            <a:ext cx="5230368" cy="260604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188720"/>
            <a:ext cx="4864608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4D399"/>
                </a:solidFill>
                <a:latin typeface="Segoe UI Semibold"/>
              </a:defRPr>
            </a:pPr>
            <a:r>
              <a:t>LIVE TELEMETRY COMPANION NODE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Asynchronous Python / WebSocket Telemetry Engine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Dynamic Robot Markers: Real-time tracking of AMR (x, y, theta) coordinates with oriented velocity vectors and battery SOC status.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Static Beacon Overlay: Visual anchors displaying active UWB ranging rays, estimated trilateration confidence, and anchor health.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Active Inter-Robot Links: Animated glowing links indicating active DDS packet exchange between robots and base coordinator.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Dual Map Canvas: Simultaneous rendering of static occupancy grid and dynamic rolling costmap obstacle 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822191"/>
            <a:ext cx="5230368" cy="274320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4864608" cy="2514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FBBF24"/>
                </a:solidFill>
                <a:latin typeface="Segoe UI Semibold"/>
              </a:defRPr>
            </a:pPr>
            <a:r>
              <a:t>FLEET HEALTH &amp; DIAGNOSTICS STREAM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Real-Time Telemetry Panels &amp; Mission Logging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Telemetry Metrics: Real-time velocity strip charts (v_x, omega_z) and signal RSSI (dBm) per robot.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Localization Error Monitor: Discrepancy metric between raw wheel odometry and filtered UWB pose (|p_odom - p_ekf|).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Emergency Fleet Intervention: One-click global e-stop command broadcasting /fleet/e_stop over DDS Reliable topic.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Mission Logs: Rolling FIFO console displaying node discovery, route completion, and network warnings.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SIM-TO-REAL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REAL-WORLD DEPLOYMENT &amp; HARDWARE CONSIDERATIONS</a:t>
            </a:r>
          </a:p>
        </p:txBody>
      </p:sp>
      <p:pic>
        <p:nvPicPr>
          <p:cNvPr id="7" name="Picture 6" descr="sim_to_real_amr_17905474688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078992"/>
            <a:ext cx="11173968" cy="2560320"/>
          </a:xfrm>
          <a:prstGeom prst="rect">
            <a:avLst/>
          </a:prstGeom>
          <a:ln w="19050">
            <a:solidFill>
              <a:srgbClr val="FBBF2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12064" y="3794760"/>
            <a:ext cx="3566160" cy="274320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904488"/>
            <a:ext cx="327355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 Semibold"/>
              </a:defRPr>
            </a:pPr>
            <a:r>
              <a:t>BRIDGING THE GAP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Simulation vs. Physical Physics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Wheel Slip &amp; Floor Transitions: Uneven warehouse floors, linoleum-to-concrete transitions alter friction coefficient mu.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RF Multipath Interference: Steel racks reflect UWB pulses, requiring robust outlier rejection filters (Mahalanobis gating).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Gear Backlash &amp; Wear: Mechanical gear play creates unmodeled deadbands during rapid pure pursuit reversals.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5968" y="3794760"/>
            <a:ext cx="3566160" cy="274320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62272" y="3904488"/>
            <a:ext cx="327355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  <a:latin typeface="Segoe UI Semibold"/>
              </a:defRPr>
            </a:pPr>
            <a:r>
              <a:t>HARDWARE INTEGRITY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Power &amp; Failsafe Architecture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Power Domain Isolation: Optocouplers and isolated DC-DC converters prevent motor surge brownouts on compute boards.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Hardware Watchdog: STM32 co-processor cuts motor H-bridge power if ROS 2 heartbeat stops for &gt; 200 ms.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Thermal Dissipation: Workstation compute and motor drivers require active fan cooling in closed industrial chassis.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794760"/>
            <a:ext cx="3566160" cy="274320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3904488"/>
            <a:ext cx="327355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34D399"/>
                </a:solidFill>
                <a:latin typeface="Segoe UI Semibold"/>
              </a:defRPr>
            </a:pPr>
            <a:r>
              <a:t>INDUSTRIAL DEPLOYMENTS</a:t>
            </a:r>
          </a:p>
          <a:p>
            <a:pPr>
              <a:spcAft>
                <a:spcPts val="4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From Bench to Swarm Operations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Automated Fulfillment Fleets: Kiva/Ocado-style grid navigation coordinating 50+ AMRs in high-density corridors.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Search-and-Rescue Teams: Collaborative ad-hoc RF mesh mapping collapsed or GPS-denied environments.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Agriculture &amp; Environmental: Coordinated multi-robot soil mapping and continuous canopy inspection.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C13"/>
          </a:solidFill>
          <a:ln>
            <a:solidFill>
              <a:srgbClr val="090C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12064" y="228600"/>
            <a:ext cx="3931920" cy="256032"/>
          </a:xfrm>
          <a:prstGeom prst="roundRect">
            <a:avLst/>
          </a:prstGeom>
          <a:solidFill>
            <a:srgbClr val="181226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A855F7"/>
                </a:solidFill>
                <a:latin typeface="Segoe UI"/>
              </a:defRPr>
            </a:pPr>
            <a:r>
              <a:t>ROBOTICS BOOTCAMP • SESSION 04 / 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3712" y="228600"/>
            <a:ext cx="2011680" cy="256032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⚡ IEEE OPEN FLOOR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530352"/>
            <a:ext cx="1117396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Segoe UI Semibold"/>
              </a:defRPr>
            </a:pPr>
            <a:r>
              <a:t>BOOTCAMP FINALE: CONCLUSION, RESOURCES &amp; Q&amp;A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078992"/>
            <a:ext cx="6583680" cy="246888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88720"/>
            <a:ext cx="6217920" cy="224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Segoe UI Semibold"/>
              </a:defRPr>
            </a:pPr>
            <a:r>
              <a:t>KEY TAKEAWAYS — SESSION 04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The Autonomous Swarm Blueprint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1. DDS Middlewares: Domain ID isolation and tailored QoS policies enable robust P2P inter-robot state passing without centralized brokers.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2. Absolute Beacon Fusion: Combining UWB Time-of-Flight trilateration with local odometry bounds drift and enables reliable multi-robot origin alignment.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3. Spatial Memory Hierarchy: Decoupling short-term dynamic costmaps from persistent topological graphs provides multi-session fleet intelligence.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4. Physics Validation First: Isaac Sim 5.0 GPU pipelines expose kinematics and network bottlenecks before burning hardware on the floor.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" y="3675887"/>
            <a:ext cx="6583680" cy="2880360"/>
          </a:xfrm>
          <a:prstGeom prst="roundRect">
            <a:avLst/>
          </a:prstGeom>
          <a:solidFill>
            <a:srgbClr val="101622"/>
          </a:solidFill>
          <a:ln w="1651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" y="3785615"/>
            <a:ext cx="621792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 Semibold"/>
              </a:defRPr>
            </a:pPr>
            <a:r>
              <a:t>OPEN SOURCE RESOURCES &amp; CODE REPOSITORIES</a:t>
            </a:r>
          </a:p>
          <a:p>
            <a:pPr>
              <a:spcAft>
                <a:spcPts val="400"/>
              </a:spcAft>
              <a:defRPr sz="1050" b="1">
                <a:solidFill>
                  <a:srgbClr val="FFFFFF"/>
                </a:solidFill>
                <a:latin typeface="Segoe UI"/>
              </a:defRPr>
            </a:pPr>
            <a:r>
              <a:t>Production Code, Isaac Sim Stages &amp; IEEE Guides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GitHub Repository: Complete ROS 2 swarm packages, custom OmniGraph action nodes, and telemetry visualizer code.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Isaac Sim 5.0 Assets: Pre-configured USD warehouse environment with UWB beacon anchor markers and 4WD AMR models.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IEEE Student Chapters: Full access to recorded sessions, slide decks, and hardware BOMs for IEEE FSB RAS SBC &amp; IEEE AESS Jordan.</a:t>
            </a:r>
          </a:p>
          <a:p>
            <a:pPr>
              <a:defRPr sz="850">
                <a:solidFill>
                  <a:srgbClr val="E2E8F0"/>
                </a:solidFill>
                <a:latin typeface="Segoe UI"/>
              </a:defRPr>
            </a:pPr>
            <a:r>
              <a:t>• Discord &amp; Telegram Channels: Join our engineering discussions for peer design reviews and project guidance.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33488" y="1078992"/>
            <a:ext cx="4343400" cy="5486400"/>
          </a:xfrm>
          <a:prstGeom prst="roundRect">
            <a:avLst/>
          </a:prstGeom>
          <a:solidFill>
            <a:srgbClr val="181226"/>
          </a:solidFill>
          <a:ln w="1651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qr_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25880"/>
            <a:ext cx="2377440" cy="2377440"/>
          </a:xfrm>
          <a:prstGeom prst="rect">
            <a:avLst/>
          </a:prstGeom>
          <a:ln w="19050">
            <a:solidFill>
              <a:srgbClr val="34D399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7516368" y="3840480"/>
            <a:ext cx="3977639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34D399"/>
                </a:solidFill>
                <a:latin typeface="Segoe UI Semibold"/>
              </a:defRPr>
            </a:pPr>
            <a:r>
              <a:t>SCAN FOR CODE &amp; ASSETS</a:t>
            </a:r>
          </a:p>
          <a:p>
            <a:pPr algn="ctr">
              <a:defRPr sz="1400" b="1">
                <a:solidFill>
                  <a:srgbClr val="FFFFFF"/>
                </a:solidFill>
                <a:latin typeface="Segoe UI Semibold"/>
              </a:defRPr>
            </a:pPr>
            <a:r>
              <a:t>Mouhamed Boughrara</a:t>
            </a:r>
          </a:p>
          <a:p>
            <a:pPr algn="ctr">
              <a:spcAft>
                <a:spcPts val="600"/>
              </a:spcAft>
              <a:defRPr sz="950">
                <a:solidFill>
                  <a:srgbClr val="94A3B8"/>
                </a:solidFill>
                <a:latin typeface="Segoe UI"/>
              </a:defRPr>
            </a:pPr>
            <a:r>
              <a:t>Tech Lead &amp; Autonomous Systems Engineer</a:t>
            </a:r>
          </a:p>
          <a:p>
            <a:pPr algn="ctr">
              <a:spcAft>
                <a:spcPts val="800"/>
              </a:spcAft>
              <a:defRPr sz="900">
                <a:solidFill>
                  <a:srgbClr val="38BDF8"/>
                </a:solidFill>
                <a:latin typeface="Segoe UI"/>
              </a:defRPr>
            </a:pPr>
            <a:r>
              <a:t>GitHub: github.com/medboughrara</a:t>
            </a:r>
            <a:br/>
            <a:r>
              <a:t>LinkedIn: linkedin.com/in/mouhamed-boughrara</a:t>
            </a:r>
            <a:br/>
            <a:r>
              <a:t>Portfolio: jarvis-pcb.ai</a:t>
            </a:r>
          </a:p>
          <a:p>
            <a:pPr algn="ctr">
              <a:defRPr sz="950" b="1">
                <a:solidFill>
                  <a:srgbClr val="FBBF24"/>
                </a:solidFill>
                <a:latin typeface="Segoe UI"/>
              </a:defRPr>
            </a:pPr>
            <a:r>
              <a:t>💬 Let's Open the Floor for Q&amp;A!</a:t>
            </a:r>
            <a:br/>
            <a:r>
              <a:t>IEEE FSB RAS SBC (Tunisia) × IEEE AESS (Jordan)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